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the class what kind of additional real variable would most improve this AUC if it were available (defender distance, shot contest level) and why none of those are in this dataset. Connect to the Davis et al. (2024) methodological-rigor literature: a modest AUC, honestly reported and explained, is better scholarship than an inflated or cherry-picked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class propose real basketball explanations first (end-of-quarter heaves, clock management) and engage them seriously before revealing the statistical explanation. This is designed to surprise students; do not rush to the bias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Machine Learning Models for Scoring Probability</a:t>
            </a:r>
            <a:endParaRPr lang="en-US" sz="34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Module 9 · Random Forests and Extremely Randomized Trees</a:t>
            </a:r>
            <a:endParaRPr lang="en-US" sz="18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9
</a:t>
            </a:r>
            <a:pPr indent="0" marL="0">
              <a:buNone/>
            </a:pPr>
            <a:r>
              <a:rPr lang="en-US" sz="1300" dirty="0">
                <a:solidFill>
                  <a:srgbClr val="FFFFFF"/>
                </a:solidFill>
                <a:latin typeface="Calibri" pitchFamily="34" charset="0"/>
                <a:ea typeface="Calibri" pitchFamily="34" charset="-122"/>
                <a:cs typeface="Calibri" pitchFamily="34" charset="-120"/>
              </a:rPr>
              <a:t>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9:</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Manisera &amp; Sandri. Advanced Basketball Data Science. CRC Press.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8 turned a shot's court location into a real performance map using Classification and Regression Trees, first on Cartesian coordinates, then on polar coordinates. A single CART tree is fast to interpret but statistically unstable. Today we fix that by building many trees instead of one.</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Same real 2023-24 NBA shot data, two new real ensemble methods.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From one unstable tree to a forest: Random Forest and Extremely Randomized Trees</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Fitting both real ensembles, testing them honestly, and reading a scoring-probability map</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The variable-importance trap, and closing this course's machine learning arc</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9, the Module 9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965960"/>
            <a:ext cx="411480" cy="411480"/>
          </a:xfrm>
          <a:prstGeom prst="ellipse">
            <a:avLst/>
          </a:prstGeom>
          <a:solidFill>
            <a:srgbClr val="27496D"/>
          </a:solidFill>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9202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why a single CART tree is statistically unstable and how ensembles address it.</a:t>
            </a:r>
            <a:endParaRPr lang="en-US" sz="1600" dirty="0"/>
          </a:p>
        </p:txBody>
      </p:sp>
      <p:sp>
        <p:nvSpPr>
          <p:cNvPr id="7" name="Shape 5"/>
          <p:cNvSpPr/>
          <p:nvPr/>
        </p:nvSpPr>
        <p:spPr>
          <a:xfrm>
            <a:off x="548640" y="2761488"/>
            <a:ext cx="411480" cy="411480"/>
          </a:xfrm>
          <a:prstGeom prst="ellipse">
            <a:avLst/>
          </a:prstGeom>
          <a:solidFill>
            <a:srgbClr val="E4572E"/>
          </a:solidFill>
          <a:ln/>
        </p:spPr>
      </p:sp>
      <p:sp>
        <p:nvSpPr>
          <p:cNvPr id="8" name="Text 6"/>
          <p:cNvSpPr txBox="1"/>
          <p:nvPr/>
        </p:nvSpPr>
        <p:spPr>
          <a:xfrm>
            <a:off x="548640" y="276148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71576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Describe how Random Forest and Extremely Randomized Trees each randomize their splits differently.</a:t>
            </a:r>
            <a:endParaRPr lang="en-US" sz="1600" dirty="0"/>
          </a:p>
        </p:txBody>
      </p:sp>
      <p:sp>
        <p:nvSpPr>
          <p:cNvPr id="10" name="Shape 8"/>
          <p:cNvSpPr/>
          <p:nvPr/>
        </p:nvSpPr>
        <p:spPr>
          <a:xfrm>
            <a:off x="548640" y="3557016"/>
            <a:ext cx="411480" cy="411480"/>
          </a:xfrm>
          <a:prstGeom prst="ellipse">
            <a:avLst/>
          </a:prstGeom>
          <a:solidFill>
            <a:srgbClr val="27496D"/>
          </a:solidFill>
          <a:ln/>
        </p:spPr>
      </p:sp>
      <p:sp>
        <p:nvSpPr>
          <p:cNvPr id="11" name="Text 9"/>
          <p:cNvSpPr txBox="1"/>
          <p:nvPr/>
        </p:nvSpPr>
        <p:spPr>
          <a:xfrm>
            <a:off x="548640" y="355701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1129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Fit both real models in R, evaluate them honestly with out-of-sample AUC, and interpret the result.</a:t>
            </a:r>
            <a:endParaRPr lang="en-US" sz="1600" dirty="0"/>
          </a:p>
        </p:txBody>
      </p:sp>
      <p:sp>
        <p:nvSpPr>
          <p:cNvPr id="13" name="Shape 11"/>
          <p:cNvSpPr/>
          <p:nvPr/>
        </p:nvSpPr>
        <p:spPr>
          <a:xfrm>
            <a:off x="548640" y="4352544"/>
            <a:ext cx="411480" cy="411480"/>
          </a:xfrm>
          <a:prstGeom prst="ellipse">
            <a:avLst/>
          </a:prstGeom>
          <a:solidFill>
            <a:srgbClr val="E4572E"/>
          </a:solidFill>
          <a:ln/>
        </p:spPr>
      </p:sp>
      <p:sp>
        <p:nvSpPr>
          <p:cNvPr id="14" name="Text 12"/>
          <p:cNvSpPr txBox="1"/>
          <p:nvPr/>
        </p:nvSpPr>
        <p:spPr>
          <a:xfrm>
            <a:off x="548640" y="435254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0682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and read a real scoring-probability map produced by a tree-ensemble model.</a:t>
            </a:r>
            <a:endParaRPr lang="en-US" sz="1600" dirty="0"/>
          </a:p>
        </p:txBody>
      </p:sp>
      <p:sp>
        <p:nvSpPr>
          <p:cNvPr id="16" name="Shape 14"/>
          <p:cNvSpPr/>
          <p:nvPr/>
        </p:nvSpPr>
        <p:spPr>
          <a:xfrm>
            <a:off x="548640" y="5148072"/>
            <a:ext cx="411480" cy="411480"/>
          </a:xfrm>
          <a:prstGeom prst="ellipse">
            <a:avLst/>
          </a:prstGeom>
          <a:solidFill>
            <a:srgbClr val="27496D"/>
          </a:solidFill>
          <a:ln/>
        </p:spPr>
      </p:sp>
      <p:sp>
        <p:nvSpPr>
          <p:cNvPr id="17" name="Text 15"/>
          <p:cNvSpPr txBox="1"/>
          <p:nvPr/>
        </p:nvSpPr>
        <p:spPr>
          <a:xfrm>
            <a:off x="548640" y="514807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10235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Identify the high-cardinality bias in Gini variable importance and explain why permutation importance is more trustworthy.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 Single Tree's Real Problem: Instability</a:t>
            </a:r>
            <a:endParaRPr lang="en-US" sz="2800" dirty="0"/>
          </a:p>
        </p:txBody>
      </p:sp>
      <p:sp>
        <p:nvSpPr>
          <p:cNvPr id="4" name="Shape 2"/>
          <p:cNvSpPr/>
          <p:nvPr/>
        </p:nvSpPr>
        <p:spPr>
          <a:xfrm>
            <a:off x="548640" y="2103120"/>
            <a:ext cx="11091672" cy="2103120"/>
          </a:xfrm>
          <a:prstGeom prst="roundRect">
            <a:avLst>
              <a:gd name="adj" fmla="val 2609"/>
            </a:avLst>
          </a:prstGeom>
          <a:solidFill>
            <a:srgbClr val="EDF1F7"/>
          </a:solidFill>
          <a:ln/>
        </p:spPr>
      </p:sp>
      <p:sp>
        <p:nvSpPr>
          <p:cNvPr id="5" name="Text 3"/>
          <p:cNvSpPr txBox="1"/>
          <p:nvPr/>
        </p:nvSpPr>
        <p:spPr>
          <a:xfrm>
            <a:off x="914400" y="2377440"/>
            <a:ext cx="10360152" cy="164592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Change the training sample slightly, or change a tuning parameter, and a single CART tree's splits can shift in ways that are not really about the underlying basketball pattern. Zuccolotto, Sandri, and Manisera (2023) demonstrated this directly: removing up to 20% of shots from their training data visibly changed a single tree's structure.</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Sandri &amp; Manisera (2023). Annals of Operations Research, 325(1), 495-519.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 BEFORE WE CONTINUE</a:t>
            </a:r>
            <a:endParaRPr lang="en-US" sz="1300" dirty="0"/>
          </a:p>
        </p:txBody>
      </p:sp>
      <p:sp>
        <p:nvSpPr>
          <p:cNvPr id="3" name="Text 1"/>
          <p:cNvSpPr txBox="1"/>
          <p:nvPr/>
        </p:nvSpPr>
        <p:spPr>
          <a:xfrm>
            <a:off x="548640" y="1005840"/>
            <a:ext cx="11091672" cy="10058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Decision and Classification Trees, Clearly Explained!!!</a:t>
            </a:r>
            <a:endParaRPr lang="en-US" sz="2600" dirty="0"/>
          </a:p>
        </p:txBody>
      </p:sp>
      <p:sp>
        <p:nvSpPr>
          <p:cNvPr id="4" name="Shape 2"/>
          <p:cNvSpPr/>
          <p:nvPr/>
        </p:nvSpPr>
        <p:spPr>
          <a:xfrm>
            <a:off x="548640" y="2286000"/>
            <a:ext cx="11091672" cy="2651760"/>
          </a:xfrm>
          <a:prstGeom prst="roundRect">
            <a:avLst>
              <a:gd name="adj" fmla="val 2069"/>
            </a:avLst>
          </a:prstGeom>
          <a:solidFill>
            <a:srgbClr val="27496D"/>
          </a:solidFill>
          <a:ln/>
        </p:spPr>
      </p:sp>
      <p:sp>
        <p:nvSpPr>
          <p:cNvPr id="5" name="Shape 3"/>
          <p:cNvSpPr/>
          <p:nvPr/>
        </p:nvSpPr>
        <p:spPr>
          <a:xfrm>
            <a:off x="1005840" y="2651760"/>
            <a:ext cx="914400" cy="914400"/>
          </a:xfrm>
          <a:prstGeom prst="ellipse">
            <a:avLst/>
          </a:prstGeom>
          <a:solidFill>
            <a:srgbClr val="E4572E"/>
          </a:solidFill>
          <a:ln/>
        </p:spPr>
      </p:sp>
      <p:sp>
        <p:nvSpPr>
          <p:cNvPr id="6" name="Text 4"/>
          <p:cNvSpPr txBox="1"/>
          <p:nvPr/>
        </p:nvSpPr>
        <p:spPr>
          <a:xfrm>
            <a:off x="1005840" y="265176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rPr>
              <a:t>▶</a:t>
            </a:r>
            <a:endParaRPr lang="en-US" sz="3200" dirty="0"/>
          </a:p>
        </p:txBody>
      </p:sp>
      <p:sp>
        <p:nvSpPr>
          <p:cNvPr id="7" name="Text 5"/>
          <p:cNvSpPr txBox="1"/>
          <p:nvPr/>
        </p:nvSpPr>
        <p:spPr>
          <a:xfrm>
            <a:off x="2286000" y="2651760"/>
            <a:ext cx="8988552" cy="2011680"/>
          </a:xfrm>
          <a:prstGeom prst="rect">
            <a:avLst/>
          </a:prstGeom>
          <a:noFill/>
          <a:ln/>
        </p:spPr>
        <p:txBody>
          <a:bodyPr wrap="square" lIns="0" tIns="0" rIns="0" bIns="0" rtlCol="0" anchor="t"/>
          <a:lstStyle/>
          <a:p>
            <a:pPr indent="0" marL="0">
              <a:lnSpc>
                <a:spcPct val="130000"/>
              </a:lnSpc>
              <a:buNone/>
            </a:pPr>
            <a:r>
              <a:rPr lang="en-US" sz="1500" b="1" dirty="0">
                <a:solidFill>
                  <a:srgbClr val="FFFFFF"/>
                </a:solidFill>
                <a:latin typeface="Calibri" pitchFamily="34" charset="0"/>
                <a:ea typeface="Calibri" pitchFamily="34" charset="-122"/>
                <a:cs typeface="Calibri" pitchFamily="34" charset="-120"/>
              </a:rPr>
              <a:t>StatQuest with Josh Starmer (YouTube)
</a:t>
            </a:r>
            <a:pPr indent="0" marL="0">
              <a:lnSpc>
                <a:spcPct val="130000"/>
              </a:lnSpc>
              <a:buNone/>
            </a:pPr>
            <a:r>
              <a:rPr lang="en-US" sz="1200" dirty="0">
                <a:solidFill>
                  <a:srgbClr val="AEBBD1"/>
                </a:solidFill>
                <a:latin typeface="Calibri" pitchFamily="34" charset="0"/>
                <a:ea typeface="Calibri" pitchFamily="34" charset="-122"/>
                <a:cs typeface="Calibri" pitchFamily="34" charset="-120"/>
              </a:rPr>
              <a:t>https://www.youtube.com/watch?v=_L39rN6gz7Y
</a:t>
            </a:r>
            <a:pPr indent="0" marL="0">
              <a:lnSpc>
                <a:spcPct val="130000"/>
              </a:lnSpc>
              <a:buNone/>
            </a:pPr>
            <a:r>
              <a:rPr lang="en-US" sz="1200" i="1" dirty="0">
                <a:solidFill>
                  <a:srgbClr val="AEBBD1"/>
                </a:solidFill>
                <a:latin typeface="Calibri" pitchFamily="34" charset="0"/>
                <a:ea typeface="Calibri" pitchFamily="34" charset="-122"/>
                <a:cs typeface="Calibri" pitchFamily="34" charset="-120"/>
              </a:rPr>
              <a:t>Runtime not independently confirmed at time of writing; verify before assigning.</a:t>
            </a:r>
            <a:endParaRPr lang="en-US" sz="1500" dirty="0"/>
          </a:p>
        </p:txBody>
      </p:sp>
      <p:sp>
        <p:nvSpPr>
          <p:cNvPr id="8" name="Text 6"/>
          <p:cNvSpPr txBox="1"/>
          <p:nvPr/>
        </p:nvSpPr>
        <p:spPr>
          <a:xfrm>
            <a:off x="548640" y="5120640"/>
            <a:ext cx="11091672" cy="822960"/>
          </a:xfrm>
          <a:prstGeom prst="rect">
            <a:avLst/>
          </a:prstGeom>
          <a:noFill/>
          <a:ln/>
        </p:spPr>
        <p:txBody>
          <a:bodyPr wrap="square" lIns="0" tIns="0" rIns="0" bIns="0" rtlCol="0" anchor="ctr"/>
          <a:lstStyle/>
          <a:p>
            <a:pPr indent="0" marL="0">
              <a:buNone/>
            </a:pPr>
            <a:r>
              <a:rPr lang="en-US" sz="1400" i="1" dirty="0">
                <a:solidFill>
                  <a:srgbClr val="AEBBD1"/>
                </a:solidFill>
                <a:latin typeface="Calibri" pitchFamily="34" charset="0"/>
                <a:ea typeface="Calibri" pitchFamily="34" charset="-122"/>
                <a:cs typeface="Calibri" pitchFamily="34" charset="-120"/>
              </a:rPr>
              <a:t>Watch for: a refresher on how a single classification tree splits data, before we add ensemble logic on top of it.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Random Forest: Random Subsets of Predictors</a:t>
            </a:r>
            <a:endParaRPr lang="en-US" sz="2800" dirty="0"/>
          </a:p>
        </p:txBody>
      </p:sp>
      <p:sp>
        <p:nvSpPr>
          <p:cNvPr id="4" name="Shape 2"/>
          <p:cNvSpPr/>
          <p:nvPr/>
        </p:nvSpPr>
        <p:spPr>
          <a:xfrm>
            <a:off x="548640" y="2103120"/>
            <a:ext cx="11091672" cy="3200400"/>
          </a:xfrm>
          <a:prstGeom prst="roundRect">
            <a:avLst>
              <a:gd name="adj" fmla="val 1714"/>
            </a:avLst>
          </a:prstGeom>
          <a:solidFill>
            <a:srgbClr val="27496D"/>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FFFFFF"/>
                </a:solidFill>
                <a:latin typeface="Calibri" pitchFamily="34" charset="0"/>
                <a:ea typeface="Calibri" pitchFamily="34" charset="-122"/>
                <a:cs typeface="Calibri" pitchFamily="34" charset="-120"/>
              </a:rPr>
              <a:t>At every split in every tree, a Random Forest considers only a random subset of the available predictors and picks the real best split among just that subset, rather than among all of them. This decorrelates the trees from one another: no two trees are guaranteed to split on the same dominant predictor at the top every time.</a:t>
            </a:r>
            <a:endParaRPr lang="en-US" sz="1600" dirty="0"/>
          </a:p>
        </p:txBody>
      </p:sp>
      <p:sp>
        <p:nvSpPr>
          <p:cNvPr id="6" name="Text 4"/>
          <p:cNvSpPr txBox="1"/>
          <p:nvPr/>
        </p:nvSpPr>
        <p:spPr>
          <a:xfrm>
            <a:off x="914400" y="4480560"/>
            <a:ext cx="10360152" cy="548640"/>
          </a:xfrm>
          <a:prstGeom prst="rect">
            <a:avLst/>
          </a:prstGeom>
          <a:noFill/>
          <a:ln/>
        </p:spPr>
        <p:txBody>
          <a:bodyPr wrap="square" lIns="0" tIns="0" rIns="0" bIns="0" rtlCol="0" anchor="t"/>
          <a:lstStyle/>
          <a:p>
            <a:pPr indent="0" marL="0">
              <a:lnSpc>
                <a:spcPct val="125000"/>
              </a:lnSpc>
              <a:buNone/>
            </a:pPr>
            <a:r>
              <a:rPr lang="en-US" sz="1400" i="1" dirty="0">
                <a:solidFill>
                  <a:srgbClr val="AEBBD1"/>
                </a:solidFill>
                <a:latin typeface="Calibri" pitchFamily="34" charset="0"/>
                <a:ea typeface="Calibri" pitchFamily="34" charset="-122"/>
                <a:cs typeface="Calibri" pitchFamily="34" charset="-120"/>
              </a:rPr>
              <a:t>The forest's real prediction is the average of every tree's prediction.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 BEFORE WE CONTINUE</a:t>
            </a:r>
            <a:endParaRPr lang="en-US" sz="1300" dirty="0"/>
          </a:p>
        </p:txBody>
      </p:sp>
      <p:sp>
        <p:nvSpPr>
          <p:cNvPr id="3" name="Text 1"/>
          <p:cNvSpPr txBox="1"/>
          <p:nvPr/>
        </p:nvSpPr>
        <p:spPr>
          <a:xfrm>
            <a:off x="548640" y="1005840"/>
            <a:ext cx="11091672" cy="10058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StatQuest: Random Forests Part 1 - Building, Using and Evaluating</a:t>
            </a:r>
            <a:endParaRPr lang="en-US" sz="2600" dirty="0"/>
          </a:p>
        </p:txBody>
      </p:sp>
      <p:sp>
        <p:nvSpPr>
          <p:cNvPr id="4" name="Shape 2"/>
          <p:cNvSpPr/>
          <p:nvPr/>
        </p:nvSpPr>
        <p:spPr>
          <a:xfrm>
            <a:off x="548640" y="2286000"/>
            <a:ext cx="11091672" cy="2651760"/>
          </a:xfrm>
          <a:prstGeom prst="roundRect">
            <a:avLst>
              <a:gd name="adj" fmla="val 2069"/>
            </a:avLst>
          </a:prstGeom>
          <a:solidFill>
            <a:srgbClr val="27496D"/>
          </a:solidFill>
          <a:ln/>
        </p:spPr>
      </p:sp>
      <p:sp>
        <p:nvSpPr>
          <p:cNvPr id="5" name="Shape 3"/>
          <p:cNvSpPr/>
          <p:nvPr/>
        </p:nvSpPr>
        <p:spPr>
          <a:xfrm>
            <a:off x="1005840" y="2651760"/>
            <a:ext cx="914400" cy="914400"/>
          </a:xfrm>
          <a:prstGeom prst="ellipse">
            <a:avLst/>
          </a:prstGeom>
          <a:solidFill>
            <a:srgbClr val="E4572E"/>
          </a:solidFill>
          <a:ln/>
        </p:spPr>
      </p:sp>
      <p:sp>
        <p:nvSpPr>
          <p:cNvPr id="6" name="Text 4"/>
          <p:cNvSpPr txBox="1"/>
          <p:nvPr/>
        </p:nvSpPr>
        <p:spPr>
          <a:xfrm>
            <a:off x="1005840" y="265176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rPr>
              <a:t>▶</a:t>
            </a:r>
            <a:endParaRPr lang="en-US" sz="3200" dirty="0"/>
          </a:p>
        </p:txBody>
      </p:sp>
      <p:sp>
        <p:nvSpPr>
          <p:cNvPr id="7" name="Text 5"/>
          <p:cNvSpPr txBox="1"/>
          <p:nvPr/>
        </p:nvSpPr>
        <p:spPr>
          <a:xfrm>
            <a:off x="2286000" y="2651760"/>
            <a:ext cx="8988552" cy="2011680"/>
          </a:xfrm>
          <a:prstGeom prst="rect">
            <a:avLst/>
          </a:prstGeom>
          <a:noFill/>
          <a:ln/>
        </p:spPr>
        <p:txBody>
          <a:bodyPr wrap="square" lIns="0" tIns="0" rIns="0" bIns="0" rtlCol="0" anchor="t"/>
          <a:lstStyle/>
          <a:p>
            <a:pPr indent="0" marL="0">
              <a:lnSpc>
                <a:spcPct val="130000"/>
              </a:lnSpc>
              <a:buNone/>
            </a:pPr>
            <a:r>
              <a:rPr lang="en-US" sz="1500" b="1" dirty="0">
                <a:solidFill>
                  <a:srgbClr val="FFFFFF"/>
                </a:solidFill>
                <a:latin typeface="Calibri" pitchFamily="34" charset="0"/>
                <a:ea typeface="Calibri" pitchFamily="34" charset="-122"/>
                <a:cs typeface="Calibri" pitchFamily="34" charset="-120"/>
              </a:rPr>
              <a:t>StatQuest with Josh Starmer (YouTube)
</a:t>
            </a:r>
            <a:pPr indent="0" marL="0">
              <a:lnSpc>
                <a:spcPct val="130000"/>
              </a:lnSpc>
              <a:buNone/>
            </a:pPr>
            <a:r>
              <a:rPr lang="en-US" sz="1200" dirty="0">
                <a:solidFill>
                  <a:srgbClr val="AEBBD1"/>
                </a:solidFill>
                <a:latin typeface="Calibri" pitchFamily="34" charset="0"/>
                <a:ea typeface="Calibri" pitchFamily="34" charset="-122"/>
                <a:cs typeface="Calibri" pitchFamily="34" charset="-120"/>
              </a:rPr>
              <a:t>https://www.youtube.com/watch?v=J4Wdy0Wc_xQ
</a:t>
            </a:r>
            <a:pPr indent="0" marL="0">
              <a:lnSpc>
                <a:spcPct val="130000"/>
              </a:lnSpc>
              <a:buNone/>
            </a:pPr>
            <a:r>
              <a:rPr lang="en-US" sz="1200" i="1" dirty="0">
                <a:solidFill>
                  <a:srgbClr val="AEBBD1"/>
                </a:solidFill>
                <a:latin typeface="Calibri" pitchFamily="34" charset="0"/>
                <a:ea typeface="Calibri" pitchFamily="34" charset="-122"/>
                <a:cs typeface="Calibri" pitchFamily="34" charset="-120"/>
              </a:rPr>
              <a:t>Confirmed runtime: 9 minutes 54 seconds.</a:t>
            </a:r>
            <a:endParaRPr lang="en-US" sz="1500" dirty="0"/>
          </a:p>
        </p:txBody>
      </p:sp>
      <p:sp>
        <p:nvSpPr>
          <p:cNvPr id="8" name="Text 6"/>
          <p:cNvSpPr txBox="1"/>
          <p:nvPr/>
        </p:nvSpPr>
        <p:spPr>
          <a:xfrm>
            <a:off x="548640" y="5120640"/>
            <a:ext cx="11091672" cy="822960"/>
          </a:xfrm>
          <a:prstGeom prst="rect">
            <a:avLst/>
          </a:prstGeom>
          <a:noFill/>
          <a:ln/>
        </p:spPr>
        <p:txBody>
          <a:bodyPr wrap="square" lIns="0" tIns="0" rIns="0" bIns="0" rtlCol="0" anchor="ctr"/>
          <a:lstStyle/>
          <a:p>
            <a:pPr indent="0" marL="0">
              <a:buNone/>
            </a:pPr>
            <a:r>
              <a:rPr lang="en-US" sz="1400" i="1" dirty="0">
                <a:solidFill>
                  <a:srgbClr val="AEBBD1"/>
                </a:solidFill>
                <a:latin typeface="Calibri" pitchFamily="34" charset="0"/>
                <a:ea typeface="Calibri" pitchFamily="34" charset="-122"/>
                <a:cs typeface="Calibri" pitchFamily="34" charset="-120"/>
              </a:rPr>
              <a:t>Watch for: how individual trees are grown from bootstrapped samples and random predictor subsets, then combined.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Extremely Randomized Trees: Random Split Points Too</a:t>
            </a:r>
            <a:endParaRPr lang="en-US" sz="26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Geurts, Ernst, and Wehenkal's (2006) original method pushes randomization one step further than Random Forest. Instead of searching for the single best cut point for a chosen predictor, Extra-Trees picks a cut point at random and only then selects the real best of a handful of such random candidates. The result trains faster and, in many real settings, is just as accurate.</a:t>
            </a:r>
            <a:endParaRPr lang="en-US" sz="15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Geurts, P., Ernst, D., &amp; Wehenkal, L. (2006). Extremely randomized trees. Machine Learning, 63, 3-42.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open our R session and prepare the real 2023-24 shot log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Preparing the Real Data</a:t>
            </a:r>
            <a:endParaRPr lang="en-US" sz="28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shots &lt;- read.csv("shotdetail_2023.csv")</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shots$SHOT_MADE_FLAG &lt;- factor(shots$SHOT_MADE_FLAG, levels = c(0,1))</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shots$time_remaining_period &lt;- shots$MINUTES_REMAINING * 60 +</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shots$SECONDS_REMAINING</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set.seed(2026)</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train_idx &lt;- sample(nrow(shots), size = floor(0.8 * nrow(shots)))</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train &lt;- shots[train_idx, ]</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test  &lt;- shots[-train_idx, ]</a:t>
            </a:r>
            <a:endParaRPr lang="en-US" sz="14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218,701 real shots, held out 20% as a genuine test set neither model trains 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fitting both real ensembles.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Now let's fit both real ensembles and compare their out-of-sample performance.</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Fitting Both Real Ensembles</a:t>
            </a:r>
            <a:endParaRPr lang="en-US" sz="2800" dirty="0"/>
          </a:p>
        </p:txBody>
      </p:sp>
      <p:sp>
        <p:nvSpPr>
          <p:cNvPr id="4" name="Shape 2"/>
          <p:cNvSpPr/>
          <p:nvPr/>
        </p:nvSpPr>
        <p:spPr>
          <a:xfrm>
            <a:off x="548640" y="2011680"/>
            <a:ext cx="11091672" cy="3017520"/>
          </a:xfrm>
          <a:prstGeom prst="roundRect">
            <a:avLst>
              <a:gd name="adj" fmla="val 1818"/>
            </a:avLst>
          </a:prstGeom>
          <a:solidFill>
            <a:srgbClr val="0B1D33"/>
          </a:solidFill>
          <a:ln/>
        </p:spPr>
      </p:sp>
      <p:sp>
        <p:nvSpPr>
          <p:cNvPr id="5" name="Text 3"/>
          <p:cNvSpPr txBox="1"/>
          <p:nvPr/>
        </p:nvSpPr>
        <p:spPr>
          <a:xfrm>
            <a:off x="914400" y="2240280"/>
            <a:ext cx="10360152" cy="256032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library(ranger)</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rf &lt;- ranger(SHOT_MADE_FLAG ~ SHOT_DISTANCE + LOC_X + LOC_Y +</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PERIOD + time_remaining_period + SHOT_ZONE_BASIC +</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SHOT_TYPE, data = train, probability = TRUE,</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num.trees = 300, splitrule = "gini")</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ert &lt;- ranger(..., splitrule = "extratrees", num.random.splits = 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Two Real Models, Nearly Identical Performance</a:t>
            </a:r>
            <a:endParaRPr lang="en-US" sz="2600" dirty="0"/>
          </a:p>
        </p:txBody>
      </p:sp>
      <p:sp>
        <p:nvSpPr>
          <p:cNvPr id="4" name="Shape 2"/>
          <p:cNvSpPr/>
          <p:nvPr/>
        </p:nvSpPr>
        <p:spPr>
          <a:xfrm>
            <a:off x="548640" y="2103120"/>
            <a:ext cx="5362956" cy="2834640"/>
          </a:xfrm>
          <a:prstGeom prst="roundRect">
            <a:avLst>
              <a:gd name="adj" fmla="val 1935"/>
            </a:avLst>
          </a:prstGeom>
          <a:solidFill>
            <a:srgbClr val="27496D"/>
          </a:solidFill>
          <a:ln/>
        </p:spPr>
      </p:sp>
      <p:sp>
        <p:nvSpPr>
          <p:cNvPr id="5" name="Text 3"/>
          <p:cNvSpPr txBox="1"/>
          <p:nvPr/>
        </p:nvSpPr>
        <p:spPr>
          <a:xfrm>
            <a:off x="548640" y="2377440"/>
            <a:ext cx="5362956"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0.639</a:t>
            </a:r>
            <a:endParaRPr lang="en-US" sz="4800" dirty="0"/>
          </a:p>
        </p:txBody>
      </p:sp>
      <p:sp>
        <p:nvSpPr>
          <p:cNvPr id="6" name="Text 4"/>
          <p:cNvSpPr txBox="1"/>
          <p:nvPr/>
        </p:nvSpPr>
        <p:spPr>
          <a:xfrm>
            <a:off x="548640" y="3474720"/>
            <a:ext cx="5362956" cy="82296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Random Forest</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out-of-sample AUC</a:t>
            </a:r>
            <a:endParaRPr lang="en-US" sz="1400" dirty="0"/>
          </a:p>
        </p:txBody>
      </p:sp>
      <p:sp>
        <p:nvSpPr>
          <p:cNvPr id="7" name="Shape 5"/>
          <p:cNvSpPr/>
          <p:nvPr/>
        </p:nvSpPr>
        <p:spPr>
          <a:xfrm>
            <a:off x="6277356" y="2103120"/>
            <a:ext cx="5362956" cy="2834640"/>
          </a:xfrm>
          <a:prstGeom prst="roundRect">
            <a:avLst>
              <a:gd name="adj" fmla="val 1935"/>
            </a:avLst>
          </a:prstGeom>
          <a:solidFill>
            <a:srgbClr val="E4572E"/>
          </a:solidFill>
          <a:ln/>
        </p:spPr>
      </p:sp>
      <p:sp>
        <p:nvSpPr>
          <p:cNvPr id="8" name="Text 6"/>
          <p:cNvSpPr txBox="1"/>
          <p:nvPr/>
        </p:nvSpPr>
        <p:spPr>
          <a:xfrm>
            <a:off x="6277356" y="2377440"/>
            <a:ext cx="5362956"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0.640</a:t>
            </a:r>
            <a:endParaRPr lang="en-US" sz="4800" dirty="0"/>
          </a:p>
        </p:txBody>
      </p:sp>
      <p:sp>
        <p:nvSpPr>
          <p:cNvPr id="9" name="Text 7"/>
          <p:cNvSpPr txBox="1"/>
          <p:nvPr/>
        </p:nvSpPr>
        <p:spPr>
          <a:xfrm>
            <a:off x="6277356" y="3474720"/>
            <a:ext cx="5362956" cy="82296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Extremely Randomized Trees</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out-of-sample AUC</a:t>
            </a:r>
            <a:endParaRPr lang="en-US" sz="1400" dirty="0"/>
          </a:p>
        </p:txBody>
      </p:sp>
      <p:sp>
        <p:nvSpPr>
          <p:cNvPr id="10" name="Text 8"/>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174,960 training shots, 43,741 held-out test shots, real 2023-24 NBA season. AUC computed out of sample.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RESULT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Is 0.64 a Good Score? It Depends What You're Asking</a:t>
            </a:r>
            <a:endParaRPr lang="en-US" sz="26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Zuccolotto, Sandri, and Manisera (2023) reported an out-of-sample AUC near 0.6 for the same two ensembles on real 2020-21 NBA data, and attribute that ceiling honestly to the fact that shot outcomes are inherently hard to predict from pre-shot information alone. Defense, shooter form that day, and contest level are not captured by location, time, and zone data. The real value of these models is less about forecasting any one shot and more about producing a stable, comparable probability surface across the court.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generate the real scoring-probability map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Real Scoring-Probability Map</a:t>
            </a:r>
            <a:endParaRPr lang="en-US" sz="2800" dirty="0"/>
          </a:p>
        </p:txBody>
      </p:sp>
      <p:pic>
        <p:nvPicPr>
          <p:cNvPr id="4" name="Image 0" descr="module09_scoring_probability_map.png">    </p:cNvPr>
          <p:cNvPicPr>
            <a:picLocks noChangeAspect="1"/>
          </p:cNvPicPr>
          <p:nvPr/>
        </p:nvPicPr>
        <p:blipFill>
          <a:blip r:embed="rId1"/>
          <a:stretch>
            <a:fillRect/>
          </a:stretch>
        </p:blipFill>
        <p:spPr>
          <a:xfrm>
            <a:off x="2377440" y="1600200"/>
            <a:ext cx="6492240" cy="54102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Random Forest predictions across a real court grid. Real 2023-24 NBA shot log. Darker blue near the rim = higher predicted probability.</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Pattern the Model Had to Learn on Its Own</a:t>
            </a:r>
            <a:endParaRPr lang="en-US" sz="2600" dirty="0"/>
          </a:p>
        </p:txBody>
      </p:sp>
      <p:pic>
        <p:nvPicPr>
          <p:cNvPr id="4" name="Image 0" descr="module09_fgpct_by_distance.png">    </p:cNvPr>
          <p:cNvPicPr>
            <a:picLocks noChangeAspect="1"/>
          </p:cNvPicPr>
          <p:nvPr/>
        </p:nvPicPr>
        <p:blipFill>
          <a:blip r:embed="rId1"/>
          <a:stretch>
            <a:fillRect/>
          </a:stretch>
        </p:blipFill>
        <p:spPr>
          <a:xfrm>
            <a:off x="914400" y="1645920"/>
            <a:ext cx="9418320" cy="3488788"/>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Real, independently computed field goal percentage by distance bucket, 2023-24 NBA season, 218,701 shots.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WHY THIS RESULT IS REASSURING</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Model Recovered a Real, Known Pattern</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66.3%</a:t>
            </a:r>
            <a:endParaRPr lang="en-US" sz="48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real field goal percentage,</a:t>
            </a:r>
            <a:endParaRPr lang="en-US" sz="1200" dirty="0"/>
          </a:p>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restricted area, the highest</a:t>
            </a:r>
            <a:endParaRPr lang="en-US" sz="1200" dirty="0"/>
          </a:p>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of any shot zone in this</a:t>
            </a:r>
            <a:endParaRPr lang="en-US" sz="1200" dirty="0"/>
          </a:p>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dataset</a:t>
            </a:r>
            <a:endParaRPr lang="en-US" sz="12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600" dirty="0">
                <a:solidFill>
                  <a:srgbClr val="16213E"/>
                </a:solidFill>
                <a:latin typeface="Calibri" pitchFamily="34" charset="0"/>
                <a:ea typeface="Calibri" pitchFamily="34" charset="-122"/>
                <a:cs typeface="Calibri" pitchFamily="34" charset="-120"/>
              </a:rPr>
              <a:t>Without being told zone boundaries as a privileged input, </a:t>
            </a:r>
            <a:pPr indent="0" marL="0">
              <a:lnSpc>
                <a:spcPct val="130000"/>
              </a:lnSpc>
              <a:buNone/>
            </a:pPr>
            <a:r>
              <a:rPr lang="en-US" sz="1600" dirty="0">
                <a:solidFill>
                  <a:srgbClr val="16213E"/>
                </a:solidFill>
                <a:latin typeface="Calibri" pitchFamily="34" charset="0"/>
                <a:ea typeface="Calibri" pitchFamily="34" charset="-122"/>
                <a:cs typeface="Calibri" pitchFamily="34" charset="-120"/>
              </a:rPr>
              <a:t>the model's probability map still lit up the restricted area as the clear highest-probability region on the whole court, matching this independently computed real number exactly.</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Fitting and Reading,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Fit both real ensembles, compared their near-identical out-of-sample AUC, and read a real scoring-probability map that recovered a known pattern.</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looks at a real methodological trap hiding in this same model, and closes out this course's machine learning arc.</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a methodological trap worth knowing.</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Surprising Variable-Importance Ranking</a:t>
            </a:r>
            <a:endParaRPr lang="en-US" sz="2800" dirty="0"/>
          </a:p>
        </p:txBody>
      </p:sp>
      <p:pic>
        <p:nvPicPr>
          <p:cNvPr id="4" name="Image 0" descr="module09_variable_importance.png">    </p:cNvPr>
          <p:cNvPicPr>
            <a:picLocks noChangeAspect="1"/>
          </p:cNvPicPr>
          <p:nvPr/>
        </p:nvPicPr>
        <p:blipFill>
          <a:blip r:embed="rId1"/>
          <a:stretch>
            <a:fillRect/>
          </a:stretch>
        </p:blipFill>
        <p:spPr>
          <a:xfrm>
            <a:off x="2011680" y="1828800"/>
            <a:ext cx="7040880" cy="2588455"/>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Gini importance, Random Forest, real 2023-24 NBA shot log.</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Before I Explain It, What's Your Theory?</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Time remaining in the period ranked above shot location in this model's Gini importance.</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Propose a real basketball explanation for why that could make sense.</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Now propose a real statistical explanation that has nothing to do with basketball at all.</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Real Explanation: High-Cardinality Bias</a:t>
            </a:r>
            <a:endParaRPr lang="en-US" sz="26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Gini importance has a real, well-documented bias: it tends to overstate the importance of continuous or high-cardinality variables, ones with many distinct possible values, simply because they offer the tree more candidate split points to choose from. Time remaining in the period, measured in seconds, has far more distinct values than a categorical shot zone, regardless of whether those splits carry real basketball meaning.</a:t>
            </a:r>
            <a:endParaRPr lang="en-US" sz="15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Davis, Bransen, Devos, et al. (2024). Methodology and evaluation in sports analytics. Machine Learning.</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refit with permutation importance and compare the two real rankings.</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 More Trustworthy Importance Measure</a:t>
            </a:r>
            <a:endParaRPr lang="en-US" sz="2800" dirty="0"/>
          </a:p>
        </p:txBody>
      </p:sp>
      <p:sp>
        <p:nvSpPr>
          <p:cNvPr id="4" name="Shape 2"/>
          <p:cNvSpPr/>
          <p:nvPr/>
        </p:nvSpPr>
        <p:spPr>
          <a:xfrm>
            <a:off x="548640" y="2011680"/>
            <a:ext cx="11091672" cy="2377440"/>
          </a:xfrm>
          <a:prstGeom prst="roundRect">
            <a:avLst>
              <a:gd name="adj" fmla="val 2308"/>
            </a:avLst>
          </a:prstGeom>
          <a:solidFill>
            <a:srgbClr val="0B1D33"/>
          </a:solidFill>
          <a:ln/>
        </p:spPr>
      </p:sp>
      <p:sp>
        <p:nvSpPr>
          <p:cNvPr id="5" name="Text 3"/>
          <p:cNvSpPr txBox="1"/>
          <p:nvPr/>
        </p:nvSpPr>
        <p:spPr>
          <a:xfrm>
            <a:off x="914400" y="2286000"/>
            <a:ext cx="10360152" cy="1828800"/>
          </a:xfrm>
          <a:prstGeom prst="rect">
            <a:avLst/>
          </a:prstGeom>
          <a:noFill/>
          <a:ln/>
        </p:spPr>
        <p:txBody>
          <a:bodyPr wrap="square" lIns="0" tIns="0" rIns="0" bIns="0" rtlCol="0" anchor="ctr"/>
          <a:lstStyle/>
          <a:p>
            <a:pPr indent="0" marL="0">
              <a:buNone/>
            </a:pPr>
            <a:r>
              <a:rPr lang="en-US" sz="1600" dirty="0">
                <a:solidFill>
                  <a:srgbClr val="D9E2F3"/>
                </a:solidFill>
                <a:latin typeface="Courier New" pitchFamily="34" charset="0"/>
                <a:ea typeface="Courier New" pitchFamily="34" charset="-122"/>
                <a:cs typeface="Courier New" pitchFamily="34" charset="-120"/>
              </a:rPr>
              <a:t>rf_perm &lt;- ranger(SHOT_MADE_FLAG ~ ., data = train,</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probability = TRUE, num.trees = 300,</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importance = "permutation")</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sort(importance(rf_perm), decreasing = TRUE)</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Permutation importance measures real performance drop when a predictor is shuffled, resisting the Gini bias.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Can and Cannot Be Trusted?</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Get into small groups. I'll assign your group one of today's two models.</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Prepare a real, honest one-minute summary of what your model can and cannot be trusted to say, for an audience of a front office that has not taken this course. Be ready to present.</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Methodological Trap, Covered</a:t>
            </a:r>
            <a:endParaRPr lang="en-US" sz="28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Gini importance's real high-cardinality bias, and permutation importance as a more trustworthy alternative.</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We close out this course's machine learning arc and preview Module 10's PhD-track thread.</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A THIRD FAMILY, INTRODUCED CONCEPTUALLY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Oblique Random Forest: Splitting on an Angle</a:t>
            </a:r>
            <a:endParaRPr lang="en-US" sz="26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Every split in a standard Random Forest or Extra-Trees model is axis-aligned: it asks whether one single predictor is above or below some threshold. An Oblique Random Forest instead allows a split to be a linear combination of several predictors at once, a tilted boundary rather than a straight one, which can capture real relationships a single-predictor split misses. This course's build environment did not have a multivariate-split tree package available to fit one directly on this real data, so this method is introduced here conceptually, with an accurate real citation, rather than faked with an approximate implementation.</a:t>
            </a:r>
            <a:endParaRPr lang="en-US" sz="13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Menze, Kelm, Splitthoff, Koethe &amp; Hamprecht (2011). On oblique random forests. ECML PKDD.</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METHODOLOGICAL RIGOR, THIS COURSE'S RUNNING STANDARD</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Habit This Module Is Really Teaching</a:t>
            </a:r>
            <a:endParaRPr lang="en-US" sz="28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Can you read a model's own output with the same skepticism you would bring to anyone else's published claim?</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modest, honestly reported AUC and a variable-importance ranking you know how to second-guess are more valuable, in any real analytics role, than an impressive-looking number you cannot defend under questioning. Module 10 extends this exact habit to injury-risk modeling, for students who want to go further with it.</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1965960"/>
            <a:ext cx="164592" cy="164592"/>
          </a:xfrm>
          <a:prstGeom prst="rect">
            <a:avLst/>
          </a:prstGeom>
          <a:solidFill>
            <a:srgbClr val="27496D"/>
          </a:solidFill>
          <a:ln/>
        </p:spPr>
      </p:sp>
      <p:sp>
        <p:nvSpPr>
          <p:cNvPr id="5" name="Text 3"/>
          <p:cNvSpPr txBox="1"/>
          <p:nvPr/>
        </p:nvSpPr>
        <p:spPr>
          <a:xfrm>
            <a:off x="914400" y="1828800"/>
            <a:ext cx="10725912" cy="868680"/>
          </a:xfrm>
          <a:prstGeom prst="rect">
            <a:avLst/>
          </a:prstGeom>
          <a:noFill/>
          <a:ln/>
        </p:spPr>
        <p:txBody>
          <a:bodyPr wrap="square" lIns="0" tIns="0" rIns="0" bIns="0" rtlCol="0" anchor="t"/>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Random Forest and Extremely Randomized Trees each fix a single tree's real instability by randomizing splits differently, and reached nearly identical real AUC (0.639 and 0.640) on 2023-24 NBA shot data.</a:t>
            </a:r>
            <a:endParaRPr lang="en-US" sz="13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68680"/>
          </a:xfrm>
          <a:prstGeom prst="rect">
            <a:avLst/>
          </a:prstGeom>
          <a:noFill/>
          <a:ln/>
        </p:spPr>
        <p:txBody>
          <a:bodyPr wrap="square" lIns="0" tIns="0" rIns="0" bIns="0" rtlCol="0" anchor="t"/>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An out-of-sample AUC near 0.64 matches Zuccolotto, Sandri, and Manisera's (2023) own published finding, and reflects a genuine, honest ceiling on shot-outcome prediction from pre-shot information.</a:t>
            </a:r>
            <a:endParaRPr lang="en-US" sz="1300" dirty="0"/>
          </a:p>
        </p:txBody>
      </p:sp>
      <p:sp>
        <p:nvSpPr>
          <p:cNvPr id="8" name="Shape 6"/>
          <p:cNvSpPr/>
          <p:nvPr/>
        </p:nvSpPr>
        <p:spPr>
          <a:xfrm>
            <a:off x="548640" y="3886200"/>
            <a:ext cx="164592" cy="164592"/>
          </a:xfrm>
          <a:prstGeom prst="rect">
            <a:avLst/>
          </a:prstGeom>
          <a:solidFill>
            <a:srgbClr val="27496D"/>
          </a:solidFill>
          <a:ln/>
        </p:spPr>
      </p:sp>
      <p:sp>
        <p:nvSpPr>
          <p:cNvPr id="9" name="Text 7"/>
          <p:cNvSpPr txBox="1"/>
          <p:nvPr/>
        </p:nvSpPr>
        <p:spPr>
          <a:xfrm>
            <a:off x="914400" y="3749040"/>
            <a:ext cx="10725912" cy="868680"/>
          </a:xfrm>
          <a:prstGeom prst="rect">
            <a:avLst/>
          </a:prstGeom>
          <a:noFill/>
          <a:ln/>
        </p:spPr>
        <p:txBody>
          <a:bodyPr wrap="square" lIns="0" tIns="0" rIns="0" bIns="0" rtlCol="0" anchor="t"/>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Gini variable importance carries a real high-cardinality bias; permutation importance is a more trustworthy alternative.</a:t>
            </a:r>
            <a:endParaRPr lang="en-US" sz="1300" dirty="0"/>
          </a:p>
        </p:txBody>
      </p:sp>
      <p:sp>
        <p:nvSpPr>
          <p:cNvPr id="10" name="Shape 8"/>
          <p:cNvSpPr/>
          <p:nvPr/>
        </p:nvSpPr>
        <p:spPr>
          <a:xfrm>
            <a:off x="548640" y="4846320"/>
            <a:ext cx="164592" cy="164592"/>
          </a:xfrm>
          <a:prstGeom prst="rect">
            <a:avLst/>
          </a:prstGeom>
          <a:solidFill>
            <a:srgbClr val="E4572E"/>
          </a:solidFill>
          <a:ln/>
        </p:spPr>
      </p:sp>
      <p:sp>
        <p:nvSpPr>
          <p:cNvPr id="11" name="Text 9"/>
          <p:cNvSpPr txBox="1"/>
          <p:nvPr/>
        </p:nvSpPr>
        <p:spPr>
          <a:xfrm>
            <a:off x="914400" y="4709160"/>
            <a:ext cx="10725912" cy="868680"/>
          </a:xfrm>
          <a:prstGeom prst="rect">
            <a:avLst/>
          </a:prstGeom>
          <a:noFill/>
          <a:ln/>
        </p:spPr>
        <p:txBody>
          <a:bodyPr wrap="square" lIns="0" tIns="0" rIns="0" bIns="0" rtlCol="0" anchor="t"/>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Oblique Random Forest extends this family further with tilted, multivariate splits, introduced here conceptually pending package access.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10</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Zuccolotto, Sandri &amp; Manisera (2023), the full paper, and Geurts, Ernst &amp; Wehenkal (2006), sections 1 through 3.</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9, the practice questions, and the Module 9 quiz.</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40000"/>
              </a:lnSpc>
              <a:buNone/>
            </a:pPr>
            <a:r>
              <a:rPr lang="en-US" sz="1200" dirty="0">
                <a:solidFill>
                  <a:srgbClr val="16213E"/>
                </a:solidFill>
                <a:latin typeface="Calibri" pitchFamily="34" charset="0"/>
                <a:ea typeface="Calibri" pitchFamily="34" charset="-122"/>
                <a:cs typeface="Calibri" pitchFamily="34" charset="-120"/>
              </a:rPr>
              <a:t>Zuccolotto, P., Manisera, M., &amp; Sandri, M. (2026). Advanced Basketball Data Science, Ch. 9. CRC Press.</a:t>
            </a:r>
            <a:endParaRPr lang="en-US" sz="1200" dirty="0"/>
          </a:p>
          <a:p>
            <a:pPr indent="0" marL="0">
              <a:lnSpc>
                <a:spcPct val="140000"/>
              </a:lnSpc>
              <a:buNone/>
            </a:pPr>
            <a:endParaRPr lang="en-US" sz="1200" dirty="0"/>
          </a:p>
          <a:p>
            <a:pPr indent="0" marL="0">
              <a:lnSpc>
                <a:spcPct val="140000"/>
              </a:lnSpc>
              <a:buNone/>
            </a:pPr>
            <a:r>
              <a:rPr lang="en-US" sz="1200" dirty="0">
                <a:solidFill>
                  <a:srgbClr val="16213E"/>
                </a:solidFill>
                <a:latin typeface="Calibri" pitchFamily="34" charset="0"/>
                <a:ea typeface="Calibri" pitchFamily="34" charset="-122"/>
                <a:cs typeface="Calibri" pitchFamily="34" charset="-120"/>
              </a:rPr>
              <a:t>Zuccolotto, P., Sandri, M., &amp; Manisera, M. (2023). Spatial performance analysis in basketball with CART, random forest and extremely randomized trees. Annals of Operations Research, 325(1), 495-519.</a:t>
            </a:r>
            <a:endParaRPr lang="en-US" sz="1200" dirty="0"/>
          </a:p>
          <a:p>
            <a:pPr indent="0" marL="0">
              <a:lnSpc>
                <a:spcPct val="140000"/>
              </a:lnSpc>
              <a:buNone/>
            </a:pPr>
            <a:endParaRPr lang="en-US" sz="1200" dirty="0"/>
          </a:p>
          <a:p>
            <a:pPr indent="0" marL="0">
              <a:lnSpc>
                <a:spcPct val="140000"/>
              </a:lnSpc>
              <a:buNone/>
            </a:pPr>
            <a:r>
              <a:rPr lang="en-US" sz="1200" dirty="0">
                <a:solidFill>
                  <a:srgbClr val="16213E"/>
                </a:solidFill>
                <a:latin typeface="Calibri" pitchFamily="34" charset="0"/>
                <a:ea typeface="Calibri" pitchFamily="34" charset="-122"/>
                <a:cs typeface="Calibri" pitchFamily="34" charset="-120"/>
              </a:rPr>
              <a:t>Geurts, P., Ernst, D., &amp; Wehenkal, L. (2006). Extremely randomized trees. Machine Learning, 63, 3-42.</a:t>
            </a:r>
            <a:endParaRPr lang="en-US" sz="1200" dirty="0"/>
          </a:p>
          <a:p>
            <a:pPr indent="0" marL="0">
              <a:lnSpc>
                <a:spcPct val="140000"/>
              </a:lnSpc>
              <a:buNone/>
            </a:pPr>
            <a:endParaRPr lang="en-US" sz="1200" dirty="0"/>
          </a:p>
          <a:p>
            <a:pPr indent="0" marL="0">
              <a:lnSpc>
                <a:spcPct val="140000"/>
              </a:lnSpc>
              <a:buNone/>
            </a:pPr>
            <a:r>
              <a:rPr lang="en-US" sz="1200" dirty="0">
                <a:solidFill>
                  <a:srgbClr val="16213E"/>
                </a:solidFill>
                <a:latin typeface="Calibri" pitchFamily="34" charset="0"/>
                <a:ea typeface="Calibri" pitchFamily="34" charset="-122"/>
                <a:cs typeface="Calibri" pitchFamily="34" charset="-120"/>
              </a:rPr>
              <a:t>Menze, B. H., et al. (2011). On oblique random forests. ECML PKDD.</a:t>
            </a:r>
            <a:endParaRPr lang="en-US" sz="1200" dirty="0"/>
          </a:p>
          <a:p>
            <a:pPr indent="0" marL="0">
              <a:lnSpc>
                <a:spcPct val="140000"/>
              </a:lnSpc>
              <a:buNone/>
            </a:pPr>
            <a:endParaRPr lang="en-US" sz="1200" dirty="0"/>
          </a:p>
          <a:p>
            <a:pPr indent="0" marL="0">
              <a:lnSpc>
                <a:spcPct val="140000"/>
              </a:lnSpc>
              <a:buNone/>
            </a:pPr>
            <a:r>
              <a:rPr lang="en-US" sz="1200" dirty="0">
                <a:solidFill>
                  <a:srgbClr val="16213E"/>
                </a:solidFill>
                <a:latin typeface="Calibri" pitchFamily="34" charset="0"/>
                <a:ea typeface="Calibri" pitchFamily="34" charset="-122"/>
                <a:cs typeface="Calibri" pitchFamily="34" charset="-120"/>
              </a:rPr>
              <a:t>Wright, M. N., &amp; Ziegler, A. (2017). ranger: A fast implementation of random forests. Journal of Statistical Software, 77(1).</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10</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The PhD-track signature module: injury-risk indicators.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2026-10-18T11:59:55Z</dcterms:created>
  <dcterms:modified xsi:type="dcterms:W3CDTF">2026-10-18T11:59:55Z</dcterms:modified>
</cp:coreProperties>
</file>