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why frame rate specifically matters for a crossover dribble, which happens in well under a second. Connect back to the sampling-rate idea from Module 5's animated plots (Li et al. 2026, covered next segment, tested exactly this at 25 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give each group about 2 minutes to present, roughly 10-12 minutes total for this activity. Push groups toward specifics (which joint, which quantity) rather than a generic "it's imperfect"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this is essentially flat (78.6 / 76.6 / 80.1 / 78.9, season avg 78.5). Ask: is this surprising? What would it mean if it WEREN'T flat? Set up the next slide's framing before revealing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gap (44.7% vs 47.6%) is modest but real, and it's in exactly the window where fatigue is highest. Immediately raise the confound on the next slide before students over-read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Advanced Basketball Data Science</a:t>
            </a:r>
            <a:endParaRPr lang="en-US" sz="4000" dirty="0"/>
          </a:p>
        </p:txBody>
      </p:sp>
      <p:sp>
        <p:nvSpPr>
          <p:cNvPr id="4" name="Text 2"/>
          <p:cNvSpPr txBox="1"/>
          <p:nvPr/>
        </p:nvSpPr>
        <p:spPr>
          <a:xfrm>
            <a:off x="548640" y="342900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06 · Athletic Motion Kinematics Analysis</a:t>
            </a:r>
            <a:endParaRPr lang="en-US" sz="2000" dirty="0"/>
          </a:p>
        </p:txBody>
      </p:sp>
      <p:sp>
        <p:nvSpPr>
          <p:cNvPr id="5" name="Shape 3"/>
          <p:cNvSpPr/>
          <p:nvPr/>
        </p:nvSpPr>
        <p:spPr>
          <a:xfrm>
            <a:off x="548640" y="4160520"/>
            <a:ext cx="3291840" cy="777240"/>
          </a:xfrm>
          <a:prstGeom prst="roundRect">
            <a:avLst>
              <a:gd name="adj" fmla="val 7059"/>
            </a:avLst>
          </a:prstGeom>
          <a:solidFill>
            <a:srgbClr val="16213E"/>
          </a:solidFill>
          <a:ln/>
        </p:spPr>
      </p:sp>
      <p:sp>
        <p:nvSpPr>
          <p:cNvPr id="6" name="Text 4"/>
          <p:cNvSpPr txBox="1"/>
          <p:nvPr/>
        </p:nvSpPr>
        <p:spPr>
          <a:xfrm>
            <a:off x="731520" y="416052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6
</a:t>
            </a:r>
            <a:pPr indent="0" marL="0">
              <a:buNone/>
            </a:pPr>
            <a:r>
              <a:rPr lang="en-US" sz="1300" dirty="0">
                <a:solidFill>
                  <a:srgbClr val="FFFFFF"/>
                </a:solidFill>
                <a:latin typeface="Calibri" pitchFamily="34" charset="0"/>
                <a:ea typeface="Calibri" pitchFamily="34" charset="-122"/>
                <a:cs typeface="Calibri" pitchFamily="34" charset="-120"/>
              </a:rPr>
              <a:t>Graduate · 3-hour session</a:t>
            </a:r>
            <a:endParaRPr lang="en-US" sz="1300" dirty="0"/>
          </a:p>
        </p:txBody>
      </p:sp>
      <p:sp>
        <p:nvSpPr>
          <p:cNvPr id="7" name="Text 5"/>
          <p:cNvSpPr txBox="1"/>
          <p:nvPr/>
        </p:nvSpPr>
        <p:spPr>
          <a:xfrm>
            <a:off x="4114800" y="416052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6:</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Manisera, M., &amp; Sandri, M. (2026). Advanced Basketball Data Science: With Applications in R. CRC Press / Chapman &amp; Hall.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5 gave us tools for seeing where players go: Voronoi tessellation, convex hulls, a kernel-density picture of shot location. All of that describes position. Today I want to ask a different question: what is a player's body actually doing, moment to moment, while producing that position? A crossover or a jump shot is not a point on the court. It is a sequence of joint angles unfolding in a fraction of a second.</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Same real 2017-18 GSW data where it applies, plus real published pose-estimation research.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From position to motion: how a CNN sees a body, and what MoveNet actually outputs</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What the real published validation research says pose estimation can and cannot do yet</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A real, honest substitute analysis using real game data, and the injury-risk tie-in</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6, the Module 6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920240"/>
            <a:ext cx="411480" cy="411480"/>
          </a:xfrm>
          <a:prstGeom prst="ellipse">
            <a:avLst/>
          </a:prstGeom>
          <a:solidFill>
            <a:srgbClr val="27496D"/>
          </a:solidFill>
          <a:ln/>
        </p:spPr>
      </p:sp>
      <p:sp>
        <p:nvSpPr>
          <p:cNvPr id="5" name="Text 3"/>
          <p:cNvSpPr txBox="1"/>
          <p:nvPr/>
        </p:nvSpPr>
        <p:spPr>
          <a:xfrm>
            <a:off x="548640" y="19202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8745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in plain language, what a convolutional neural network does to an image, from raw pixels to a body keypoint.</a:t>
            </a:r>
            <a:endParaRPr lang="en-US" sz="1600" dirty="0"/>
          </a:p>
        </p:txBody>
      </p:sp>
      <p:sp>
        <p:nvSpPr>
          <p:cNvPr id="7" name="Shape 5"/>
          <p:cNvSpPr/>
          <p:nvPr/>
        </p:nvSpPr>
        <p:spPr>
          <a:xfrm>
            <a:off x="548640" y="2743200"/>
            <a:ext cx="411480" cy="411480"/>
          </a:xfrm>
          <a:prstGeom prst="ellipse">
            <a:avLst/>
          </a:prstGeom>
          <a:solidFill>
            <a:srgbClr val="E4572E"/>
          </a:solidFill>
          <a:ln/>
        </p:spPr>
      </p:sp>
      <p:sp>
        <p:nvSpPr>
          <p:cNvPr id="8" name="Text 6"/>
          <p:cNvSpPr txBox="1"/>
          <p:nvPr/>
        </p:nvSpPr>
        <p:spPr>
          <a:xfrm>
            <a:off x="548640" y="27432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9748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Describe MoveNet's real 17-keypoint output format and the real speed/accuracy trade-off between its Lightning and Thunder variants.</a:t>
            </a:r>
            <a:endParaRPr lang="en-US" sz="1600" dirty="0"/>
          </a:p>
        </p:txBody>
      </p:sp>
      <p:sp>
        <p:nvSpPr>
          <p:cNvPr id="10" name="Shape 8"/>
          <p:cNvSpPr/>
          <p:nvPr/>
        </p:nvSpPr>
        <p:spPr>
          <a:xfrm>
            <a:off x="548640" y="3566160"/>
            <a:ext cx="411480" cy="411480"/>
          </a:xfrm>
          <a:prstGeom prst="ellipse">
            <a:avLst/>
          </a:prstGeom>
          <a:solidFill>
            <a:srgbClr val="27496D"/>
          </a:solidFill>
          <a:ln/>
        </p:spPr>
      </p:sp>
      <p:sp>
        <p:nvSpPr>
          <p:cNvPr id="11" name="Text 9"/>
          <p:cNvSpPr txBox="1"/>
          <p:nvPr/>
        </p:nvSpPr>
        <p:spPr>
          <a:xfrm>
            <a:off x="548640" y="3566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204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Summarize two real 2025-2026 peer-reviewed studies validating markerless motion capture against marker-based systems in basketball players, and state exactly which joints and quantities they trust.</a:t>
            </a:r>
            <a:endParaRPr lang="en-US" sz="1600" dirty="0"/>
          </a:p>
        </p:txBody>
      </p:sp>
      <p:sp>
        <p:nvSpPr>
          <p:cNvPr id="13" name="Shape 11"/>
          <p:cNvSpPr/>
          <p:nvPr/>
        </p:nvSpPr>
        <p:spPr>
          <a:xfrm>
            <a:off x="548640" y="4389120"/>
            <a:ext cx="411480" cy="411480"/>
          </a:xfrm>
          <a:prstGeom prst="ellipse">
            <a:avLst/>
          </a:prstGeom>
          <a:solidFill>
            <a:srgbClr val="E4572E"/>
          </a:solidFill>
          <a:ln/>
        </p:spPr>
      </p:sp>
      <p:sp>
        <p:nvSpPr>
          <p:cNvPr id="14" name="Text 12"/>
          <p:cNvSpPr txBox="1"/>
          <p:nvPr/>
        </p:nvSpPr>
        <p:spPr>
          <a:xfrm>
            <a:off x="548640" y="43891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4340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real free-throw, turnover, and late-game shooting patterns from real play-by-play data as an honest proxy for fatigue-driven mechanical change.</a:t>
            </a:r>
            <a:endParaRPr lang="en-US" sz="1600" dirty="0"/>
          </a:p>
        </p:txBody>
      </p:sp>
      <p:sp>
        <p:nvSpPr>
          <p:cNvPr id="16" name="Shape 14"/>
          <p:cNvSpPr/>
          <p:nvPr/>
        </p:nvSpPr>
        <p:spPr>
          <a:xfrm>
            <a:off x="548640" y="5212080"/>
            <a:ext cx="411480" cy="411480"/>
          </a:xfrm>
          <a:prstGeom prst="ellipse">
            <a:avLst/>
          </a:prstGeom>
          <a:solidFill>
            <a:srgbClr val="27496D"/>
          </a:solidFill>
          <a:ln/>
        </p:spPr>
      </p:sp>
      <p:sp>
        <p:nvSpPr>
          <p:cNvPr id="17" name="Text 15"/>
          <p:cNvSpPr txBox="1"/>
          <p:nvPr/>
        </p:nvSpPr>
        <p:spPr>
          <a:xfrm>
            <a:off x="548640" y="52120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16636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why this module's PhD injury-detection track depends on direct kinematic measurement rather than box-score aggregates alone.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I Can and Cannot Show You Directly</a:t>
            </a:r>
            <a:endParaRPr lang="en-US" sz="2800" dirty="0"/>
          </a:p>
        </p:txBody>
      </p:sp>
      <p:sp>
        <p:nvSpPr>
          <p:cNvPr id="4" name="Shape 2"/>
          <p:cNvSpPr/>
          <p:nvPr/>
        </p:nvSpPr>
        <p:spPr>
          <a:xfrm>
            <a:off x="548640" y="2103120"/>
            <a:ext cx="11091672" cy="3108960"/>
          </a:xfrm>
          <a:prstGeom prst="roundRect">
            <a:avLst>
              <a:gd name="adj" fmla="val 1765"/>
            </a:avLst>
          </a:prstGeom>
          <a:solidFill>
            <a:srgbClr val="16213E"/>
          </a:solidFill>
          <a:ln/>
        </p:spPr>
      </p:sp>
      <p:sp>
        <p:nvSpPr>
          <p:cNvPr id="5" name="Text 3"/>
          <p:cNvSpPr txBox="1"/>
          <p:nvPr/>
        </p:nvSpPr>
        <p:spPr>
          <a:xfrm>
            <a:off x="914400" y="2377440"/>
            <a:ext cx="10360152" cy="2560320"/>
          </a:xfrm>
          <a:prstGeom prst="rect">
            <a:avLst/>
          </a:prstGeom>
          <a:noFill/>
          <a:ln/>
        </p:spPr>
        <p:txBody>
          <a:bodyPr wrap="square" lIns="0" tIns="0" rIns="0" bIns="0" rtlCol="0" anchor="ctr"/>
          <a:lstStyle/>
          <a:p>
            <a:pPr indent="0" marL="0">
              <a:lnSpc>
                <a:spcPct val="135000"/>
              </a:lnSpc>
              <a:buNone/>
            </a:pPr>
            <a:r>
              <a:rPr lang="en-US" sz="1600" b="1" dirty="0">
                <a:solidFill>
                  <a:srgbClr val="E4572E"/>
                </a:solidFill>
                <a:latin typeface="Calibri" pitchFamily="34" charset="0"/>
                <a:ea typeface="Calibri" pitchFamily="34" charset="-122"/>
                <a:cs typeface="Calibri" pitchFamily="34" charset="-120"/>
              </a:rPr>
              <a:t>What I cannot do: </a:t>
            </a:r>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run a pose-estimation model over real player video, because that raw footage and its extracted joint data are not something I have rights to redistribute here. I am not going to invent joint angles and present them as real.
</a:t>
            </a:r>
            <a:pPr indent="0" marL="0">
              <a:lnSpc>
                <a:spcPct val="135000"/>
              </a:lnSpc>
              <a:buNone/>
            </a:pPr>
            <a:r>
              <a:rPr lang="en-US" sz="1600" b="1" dirty="0">
                <a:solidFill>
                  <a:srgbClr val="E4572E"/>
                </a:solidFill>
                <a:latin typeface="Calibri" pitchFamily="34" charset="0"/>
                <a:ea typeface="Calibri" pitchFamily="34" charset="-122"/>
                <a:cs typeface="Calibri" pitchFamily="34" charset="-120"/>
              </a:rPr>
              <a:t>What I can do: </a:t>
            </a:r>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walk you through exactly how the real technology works, using real published numbers, real peer-reviewed validation research, and a real, honest analysis of data I do have full access to.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How a Convolutional Neural Network Sees a Body</a:t>
            </a:r>
            <a:endParaRPr lang="en-US" sz="2700" dirty="0"/>
          </a:p>
        </p:txBody>
      </p:sp>
      <p:sp>
        <p:nvSpPr>
          <p:cNvPr id="4" name="Shape 2"/>
          <p:cNvSpPr/>
          <p:nvPr/>
        </p:nvSpPr>
        <p:spPr>
          <a:xfrm>
            <a:off x="548640" y="1965960"/>
            <a:ext cx="11091672" cy="1051560"/>
          </a:xfrm>
          <a:prstGeom prst="roundRect">
            <a:avLst>
              <a:gd name="adj" fmla="val 5217"/>
            </a:avLst>
          </a:prstGeom>
          <a:solidFill>
            <a:srgbClr val="EDF1F7"/>
          </a:solidFill>
          <a:ln/>
        </p:spPr>
      </p:sp>
      <p:sp>
        <p:nvSpPr>
          <p:cNvPr id="5" name="Text 3"/>
          <p:cNvSpPr txBox="1"/>
          <p:nvPr/>
        </p:nvSpPr>
        <p:spPr>
          <a:xfrm>
            <a:off x="822960" y="19659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Early layers</a:t>
            </a:r>
            <a:endParaRPr lang="en-US" sz="1500" dirty="0"/>
          </a:p>
        </p:txBody>
      </p:sp>
      <p:sp>
        <p:nvSpPr>
          <p:cNvPr id="6" name="Text 4"/>
          <p:cNvSpPr txBox="1"/>
          <p:nvPr/>
        </p:nvSpPr>
        <p:spPr>
          <a:xfrm>
            <a:off x="3566160" y="1965960"/>
            <a:ext cx="7799832" cy="105156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Learn to detect edges and color gradients. Nothing basketball-specific yet.</a:t>
            </a:r>
            <a:endParaRPr lang="en-US" sz="1400" dirty="0"/>
          </a:p>
        </p:txBody>
      </p:sp>
      <p:sp>
        <p:nvSpPr>
          <p:cNvPr id="7" name="Shape 5"/>
          <p:cNvSpPr/>
          <p:nvPr/>
        </p:nvSpPr>
        <p:spPr>
          <a:xfrm>
            <a:off x="548640" y="3200400"/>
            <a:ext cx="11091672" cy="1051560"/>
          </a:xfrm>
          <a:prstGeom prst="roundRect">
            <a:avLst>
              <a:gd name="adj" fmla="val 5217"/>
            </a:avLst>
          </a:prstGeom>
          <a:solidFill>
            <a:srgbClr val="EDF1F7"/>
          </a:solidFill>
          <a:ln/>
        </p:spPr>
      </p:sp>
      <p:sp>
        <p:nvSpPr>
          <p:cNvPr id="8" name="Text 6"/>
          <p:cNvSpPr txBox="1"/>
          <p:nvPr/>
        </p:nvSpPr>
        <p:spPr>
          <a:xfrm>
            <a:off x="822960" y="320040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Middle layers</a:t>
            </a:r>
            <a:endParaRPr lang="en-US" sz="1500" dirty="0"/>
          </a:p>
        </p:txBody>
      </p:sp>
      <p:sp>
        <p:nvSpPr>
          <p:cNvPr id="9" name="Text 7"/>
          <p:cNvSpPr txBox="1"/>
          <p:nvPr/>
        </p:nvSpPr>
        <p:spPr>
          <a:xfrm>
            <a:off x="3566160" y="3200400"/>
            <a:ext cx="7799832" cy="105156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Learn to detect curves and shapes, the kind that make up the outline of an elbow or a knee.</a:t>
            </a:r>
            <a:endParaRPr lang="en-US" sz="1400" dirty="0"/>
          </a:p>
        </p:txBody>
      </p:sp>
      <p:sp>
        <p:nvSpPr>
          <p:cNvPr id="10" name="Shape 8"/>
          <p:cNvSpPr/>
          <p:nvPr/>
        </p:nvSpPr>
        <p:spPr>
          <a:xfrm>
            <a:off x="548640" y="4434840"/>
            <a:ext cx="11091672" cy="1051560"/>
          </a:xfrm>
          <a:prstGeom prst="roundRect">
            <a:avLst>
              <a:gd name="adj" fmla="val 5217"/>
            </a:avLst>
          </a:prstGeom>
          <a:solidFill>
            <a:srgbClr val="EDF1F7"/>
          </a:solidFill>
          <a:ln/>
        </p:spPr>
      </p:sp>
      <p:sp>
        <p:nvSpPr>
          <p:cNvPr id="11" name="Text 9"/>
          <p:cNvSpPr txBox="1"/>
          <p:nvPr/>
        </p:nvSpPr>
        <p:spPr>
          <a:xfrm>
            <a:off x="822960" y="443484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Late layers</a:t>
            </a:r>
            <a:endParaRPr lang="en-US" sz="1500" dirty="0"/>
          </a:p>
        </p:txBody>
      </p:sp>
      <p:sp>
        <p:nvSpPr>
          <p:cNvPr id="12" name="Text 10"/>
          <p:cNvSpPr txBox="1"/>
          <p:nvPr/>
        </p:nvSpPr>
        <p:spPr>
          <a:xfrm>
            <a:off x="3566160" y="4434840"/>
            <a:ext cx="7799832" cy="105156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Combine those shapes into a judgment: here is where this specific joint actually is in the frame.</a:t>
            </a:r>
            <a:endParaRPr lang="en-US" sz="1400" dirty="0"/>
          </a:p>
        </p:txBody>
      </p:sp>
      <p:sp>
        <p:nvSpPr>
          <p:cNvPr id="13" name="Text 11"/>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Nobody hand-codes "an elbow looks like this." The network learns it from labeled training examples.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VIDEO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Watch the Mechanism Before We Build On It</a:t>
            </a:r>
            <a:endParaRPr lang="en-US" sz="2800" dirty="0"/>
          </a:p>
        </p:txBody>
      </p:sp>
      <p:sp>
        <p:nvSpPr>
          <p:cNvPr id="4" name="Shape 2"/>
          <p:cNvSpPr/>
          <p:nvPr/>
        </p:nvSpPr>
        <p:spPr>
          <a:xfrm>
            <a:off x="548640" y="1920240"/>
            <a:ext cx="11091672" cy="2743200"/>
          </a:xfrm>
          <a:prstGeom prst="roundRect">
            <a:avLst>
              <a:gd name="adj" fmla="val 2000"/>
            </a:avLst>
          </a:prstGeom>
          <a:solidFill>
            <a:srgbClr val="16213E"/>
          </a:solidFill>
          <a:ln/>
        </p:spPr>
      </p:sp>
      <p:sp>
        <p:nvSpPr>
          <p:cNvPr id="5" name="Shape 3"/>
          <p:cNvSpPr/>
          <p:nvPr/>
        </p:nvSpPr>
        <p:spPr>
          <a:xfrm>
            <a:off x="1005840" y="2331720"/>
            <a:ext cx="1371600" cy="1005840"/>
          </a:xfrm>
          <a:prstGeom prst="roundRect">
            <a:avLst>
              <a:gd name="adj" fmla="val 7273"/>
            </a:avLst>
          </a:prstGeom>
          <a:solidFill>
            <a:srgbClr val="E4572E"/>
          </a:solidFill>
          <a:ln/>
        </p:spPr>
      </p:sp>
      <p:sp>
        <p:nvSpPr>
          <p:cNvPr id="6" name="Text 4"/>
          <p:cNvSpPr txBox="1"/>
          <p:nvPr/>
        </p:nvSpPr>
        <p:spPr>
          <a:xfrm>
            <a:off x="1005840" y="2331720"/>
            <a:ext cx="1371600" cy="1005840"/>
          </a:xfrm>
          <a:prstGeom prst="rect">
            <a:avLst/>
          </a:prstGeom>
          <a:noFill/>
          <a:ln/>
        </p:spPr>
        <p:txBody>
          <a:bodyPr wrap="square" lIns="0" tIns="0" rIns="0" bIns="0" rtlCol="0" anchor="ctr"/>
          <a:lstStyle/>
          <a:p>
            <a:pPr algn="ctr" indent="0" marL="0">
              <a:buNone/>
            </a:pPr>
            <a:r>
              <a:rPr lang="en-US" sz="3200" dirty="0">
                <a:solidFill>
                  <a:srgbClr val="FFFFFF"/>
                </a:solidFill>
              </a:rPr>
              <a:t>▶</a:t>
            </a:r>
            <a:endParaRPr lang="en-US" sz="3200" dirty="0"/>
          </a:p>
        </p:txBody>
      </p:sp>
      <p:sp>
        <p:nvSpPr>
          <p:cNvPr id="7" name="Text 5"/>
          <p:cNvSpPr txBox="1"/>
          <p:nvPr/>
        </p:nvSpPr>
        <p:spPr>
          <a:xfrm>
            <a:off x="2651760" y="2331720"/>
            <a:ext cx="8531352"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But what is a neural network? | Deep learning chapter 1</a:t>
            </a:r>
            <a:endParaRPr lang="en-US" sz="1800" dirty="0"/>
          </a:p>
        </p:txBody>
      </p:sp>
      <p:sp>
        <p:nvSpPr>
          <p:cNvPr id="8" name="Text 6"/>
          <p:cNvSpPr txBox="1"/>
          <p:nvPr/>
        </p:nvSpPr>
        <p:spPr>
          <a:xfrm>
            <a:off x="2651760" y="2971800"/>
            <a:ext cx="8531352" cy="64008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Channel: 3Blue1Brown · https://www.youtube.com/watch?v=aircAruvnKk</a:t>
            </a:r>
            <a:endParaRPr lang="en-US" sz="1200" dirty="0"/>
          </a:p>
        </p:txBody>
      </p:sp>
      <p:sp>
        <p:nvSpPr>
          <p:cNvPr id="9" name="Text 7"/>
          <p:cNvSpPr txBox="1"/>
          <p:nvPr/>
        </p:nvSpPr>
        <p:spPr>
          <a:xfrm>
            <a:off x="1005840" y="3566160"/>
            <a:ext cx="10177272" cy="1005840"/>
          </a:xfrm>
          <a:prstGeom prst="rect">
            <a:avLst/>
          </a:prstGeom>
          <a:noFill/>
          <a:ln/>
        </p:spPr>
        <p:txBody>
          <a:bodyPr wrap="square" lIns="0" tIns="0" rIns="0" bIns="0" rtlCol="0" anchor="ctr"/>
          <a:lstStyle/>
          <a:p>
            <a:pPr indent="0" marL="0">
              <a:lnSpc>
                <a:spcPct val="130000"/>
              </a:lnSpc>
              <a:buNone/>
            </a:pPr>
            <a:r>
              <a:rPr lang="en-US" sz="1300" dirty="0">
                <a:solidFill>
                  <a:srgbClr val="D9E2F3"/>
                </a:solidFill>
                <a:latin typeface="Calibri" pitchFamily="34" charset="0"/>
                <a:ea typeface="Calibri" pitchFamily="34" charset="-122"/>
                <a:cs typeface="Calibri" pitchFamily="34" charset="-120"/>
              </a:rPr>
              <a:t>A real, widely used concept-explainer for how a neural network turns raw input into a learned judgment, the same underlying idea (extended with convolutional layers) behind MoveNet's real keypoint output. Confirmed via web search; verify exact runtime before assigning.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MoveNet's Real Output: 17 Keypoints</a:t>
            </a:r>
            <a:endParaRPr lang="en-US" sz="2800" dirty="0"/>
          </a:p>
        </p:txBody>
      </p:sp>
      <p:sp>
        <p:nvSpPr>
          <p:cNvPr id="4" name="Shape 2"/>
          <p:cNvSpPr/>
          <p:nvPr/>
        </p:nvSpPr>
        <p:spPr>
          <a:xfrm>
            <a:off x="548640" y="2011680"/>
            <a:ext cx="11091672" cy="2834640"/>
          </a:xfrm>
          <a:prstGeom prst="roundRect">
            <a:avLst>
              <a:gd name="adj" fmla="val 1935"/>
            </a:avLst>
          </a:prstGeom>
          <a:solidFill>
            <a:srgbClr val="27496D"/>
          </a:solidFill>
          <a:ln/>
        </p:spPr>
      </p:sp>
      <p:sp>
        <p:nvSpPr>
          <p:cNvPr id="5" name="Text 3"/>
          <p:cNvSpPr txBox="1"/>
          <p:nvPr/>
        </p:nvSpPr>
        <p:spPr>
          <a:xfrm>
            <a:off x="914400" y="2286000"/>
            <a:ext cx="10360152" cy="2286000"/>
          </a:xfrm>
          <a:prstGeom prst="rect">
            <a:avLst/>
          </a:prstGeom>
          <a:noFill/>
          <a:ln/>
        </p:spPr>
        <p:txBody>
          <a:bodyPr wrap="square" lIns="0" tIns="0" rIns="0" bIns="0" rtlCol="0" anchor="ctr"/>
          <a:lstStyle/>
          <a:p>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Nose, left/right eye, left/right ear, left/right shoulder, left/right elbow, left/right wrist, left/right hip, left/right knee, left/right ankle.</a:t>
            </a:r>
            <a:endParaRPr lang="en-US" sz="1600" dirty="0"/>
          </a:p>
          <a:p>
            <a:pPr indent="0" marL="0">
              <a:lnSpc>
                <a:spcPct val="135000"/>
              </a:lnSpc>
              <a:buNone/>
            </a:pPr>
            <a:endParaRPr lang="en-US" sz="1600" dirty="0"/>
          </a:p>
          <a:p>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Each keypoint comes back as an (x, y) pixel location plus a confidence score, per detected person, per frame.</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Real, documented output schema. Google Research / TensorFlow team, MoveNet, 2021.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Real Published Speed Benchmarks: Lightning vs. Thunder</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1645920"/>
        </p:xfrm>
        <a:graphic>
          <a:graphicData uri="http://schemas.openxmlformats.org/drawingml/2006/table">
            <a:tbl>
              <a:tblPr/>
              <a:tblGrid>
                <a:gridCol w="3776472"/>
                <a:gridCol w="2743200"/>
                <a:gridCol w="4572000"/>
              </a:tblGrid>
              <a:tr h="54864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Variant</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Tuned for</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Real measured frame rate</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54864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MoveNet Lightning</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Speed</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About 21 to 104 FPS, device-dependent</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MoveNet Thunder</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Accuracy</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About 12 to 82 FPS, device-dependent</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02336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27496D"/>
                </a:solidFill>
                <a:latin typeface="Calibri" pitchFamily="34" charset="0"/>
                <a:ea typeface="Calibri" pitchFamily="34" charset="-122"/>
                <a:cs typeface="Calibri" pitchFamily="34" charset="-120"/>
              </a:rPr>
              <a:t>Both real variants run faster than real time (above 30 FPS) on most modern devices. The choice is speed versus accuracy, not usable versus unusable.</a:t>
            </a:r>
            <a:endParaRPr lang="en-US" sz="15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Google Research / TensorFlow Blog, "Next-Generation Pose Detection with MoveNet and TensorFlow.js," 2021.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Why Does Frame Rate Matter Here Specifically?</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A crossover dribble happens in a fraction of a second.</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If a camera captures 25 frames per second, how many real frames do you actually get during a 0.4-second crossover?</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Is that enough frames to reconstruct the motion in detail? What would you lose?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From Pixels to Keypoints,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How a CNN learns to find a joint in an image, and MoveNet's real 17-keypoint output with its real, published speed benchmarks.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asks the harder question: when researchers actually validated this technology against lab-grade systems, what did they find.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does this technology actually hold up under real validation?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A Model's Output Is Not Automatically Ground Truth</a:t>
            </a:r>
            <a:endParaRPr lang="en-US" sz="27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0584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MoveNet gives you a number for every joint, every frame. That does not mean every number is equally trustworthy. Before you build an injury-risk model on top of pose data, you need to know how it was validated, and against what.</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The gold-standard comparison: marker-based motion capture (reflective markers, lab-only) versus markerless (works from ordinary video).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REAL STUDY 1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Wei et al. (2025): Basketball Players, Jumping</a:t>
            </a:r>
            <a:endParaRPr lang="en-US" sz="2600" dirty="0"/>
          </a:p>
        </p:txBody>
      </p:sp>
      <p:sp>
        <p:nvSpPr>
          <p:cNvPr id="4" name="Shape 2"/>
          <p:cNvSpPr/>
          <p:nvPr/>
        </p:nvSpPr>
        <p:spPr>
          <a:xfrm>
            <a:off x="548640" y="2011680"/>
            <a:ext cx="11091672" cy="2926080"/>
          </a:xfrm>
          <a:prstGeom prst="roundRect">
            <a:avLst>
              <a:gd name="adj" fmla="val 1875"/>
            </a:avLst>
          </a:prstGeom>
          <a:solidFill>
            <a:srgbClr val="16213E"/>
          </a:solidFill>
          <a:ln/>
        </p:spPr>
      </p:sp>
      <p:sp>
        <p:nvSpPr>
          <p:cNvPr id="5" name="Text 3"/>
          <p:cNvSpPr txBox="1"/>
          <p:nvPr/>
        </p:nvSpPr>
        <p:spPr>
          <a:xfrm>
            <a:off x="914400" y="2286000"/>
            <a:ext cx="10360152" cy="2468880"/>
          </a:xfrm>
          <a:prstGeom prst="rect">
            <a:avLst/>
          </a:prstGeom>
          <a:noFill/>
          <a:ln/>
        </p:spPr>
        <p:txBody>
          <a:bodyPr wrap="square" lIns="0" tIns="0" rIns="0" bIns="0" rtlCol="0" anchor="ctr"/>
          <a:lstStyle/>
          <a:p>
            <a:pPr indent="0" marL="0">
              <a:lnSpc>
                <a:spcPct val="135000"/>
              </a:lnSpc>
              <a:buNone/>
            </a:pPr>
            <a:r>
              <a:rPr lang="en-US" sz="1600" b="1" dirty="0">
                <a:solidFill>
                  <a:srgbClr val="E4572E"/>
                </a:solidFill>
                <a:latin typeface="Calibri" pitchFamily="34" charset="0"/>
                <a:ea typeface="Calibri" pitchFamily="34" charset="-122"/>
                <a:cs typeface="Calibri" pitchFamily="34" charset="-120"/>
              </a:rPr>
              <a:t>Real methodology: </a:t>
            </a:r>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12 real professional basketball players performed standing vertical jumps, standing long jumps, and running vertical jumps, recorded simultaneously by a real marker-based Vicon system and a real markerless Theia3D system.
</a:t>
            </a:r>
            <a:pPr indent="0" marL="0">
              <a:lnSpc>
                <a:spcPct val="135000"/>
              </a:lnSpc>
              <a:buNone/>
            </a:pPr>
            <a:r>
              <a:rPr lang="en-US" sz="1600" b="1" dirty="0">
                <a:solidFill>
                  <a:srgbClr val="E4572E"/>
                </a:solidFill>
                <a:latin typeface="Calibri" pitchFamily="34" charset="0"/>
                <a:ea typeface="Calibri" pitchFamily="34" charset="-122"/>
                <a:cs typeface="Calibri" pitchFamily="34" charset="-120"/>
              </a:rPr>
              <a:t>Published in: </a:t>
            </a:r>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Acta of Bioengineering and Biomechanics, 27(2), 2025.</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Real Finding: Strong at the Knee, Weak at the Hip</a:t>
            </a:r>
            <a:endParaRPr lang="en-US" sz="2600" dirty="0"/>
          </a:p>
        </p:txBody>
      </p:sp>
      <p:sp>
        <p:nvSpPr>
          <p:cNvPr id="4" name="Shape 2"/>
          <p:cNvSpPr/>
          <p:nvPr/>
        </p:nvSpPr>
        <p:spPr>
          <a:xfrm>
            <a:off x="548640" y="2103120"/>
            <a:ext cx="5362956" cy="2926080"/>
          </a:xfrm>
          <a:prstGeom prst="roundRect">
            <a:avLst>
              <a:gd name="adj" fmla="val 1875"/>
            </a:avLst>
          </a:prstGeom>
          <a:solidFill>
            <a:srgbClr val="27496D"/>
          </a:solidFill>
          <a:ln/>
        </p:spPr>
      </p:sp>
      <p:sp>
        <p:nvSpPr>
          <p:cNvPr id="5" name="Text 3"/>
          <p:cNvSpPr txBox="1"/>
          <p:nvPr/>
        </p:nvSpPr>
        <p:spPr>
          <a:xfrm>
            <a:off x="868680" y="2377440"/>
            <a:ext cx="4722876"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Ankle and Knee</a:t>
            </a:r>
            <a:endParaRPr lang="en-US" sz="1800" dirty="0"/>
          </a:p>
        </p:txBody>
      </p:sp>
      <p:sp>
        <p:nvSpPr>
          <p:cNvPr id="6" name="Text 4"/>
          <p:cNvSpPr txBox="1"/>
          <p:nvPr/>
        </p:nvSpPr>
        <p:spPr>
          <a:xfrm>
            <a:off x="868680" y="2926080"/>
            <a:ext cx="4722876" cy="182880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Real correlation of 0.94 or higher between marker-based and markerless systems. Minimal real error. Trust this.</a:t>
            </a:r>
            <a:endParaRPr lang="en-US" sz="1400" dirty="0"/>
          </a:p>
        </p:txBody>
      </p:sp>
      <p:sp>
        <p:nvSpPr>
          <p:cNvPr id="7" name="Shape 5"/>
          <p:cNvSpPr/>
          <p:nvPr/>
        </p:nvSpPr>
        <p:spPr>
          <a:xfrm>
            <a:off x="6277356" y="2103120"/>
            <a:ext cx="5362956" cy="2926080"/>
          </a:xfrm>
          <a:prstGeom prst="roundRect">
            <a:avLst>
              <a:gd name="adj" fmla="val 1875"/>
            </a:avLst>
          </a:prstGeom>
          <a:solidFill>
            <a:srgbClr val="E4572E"/>
          </a:solidFill>
          <a:ln/>
        </p:spPr>
      </p:sp>
      <p:sp>
        <p:nvSpPr>
          <p:cNvPr id="8" name="Text 6"/>
          <p:cNvSpPr txBox="1"/>
          <p:nvPr/>
        </p:nvSpPr>
        <p:spPr>
          <a:xfrm>
            <a:off x="6597396" y="2377440"/>
            <a:ext cx="4722876"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Hip</a:t>
            </a:r>
            <a:endParaRPr lang="en-US" sz="1800" dirty="0"/>
          </a:p>
        </p:txBody>
      </p:sp>
      <p:sp>
        <p:nvSpPr>
          <p:cNvPr id="9" name="Text 7"/>
          <p:cNvSpPr txBox="1"/>
          <p:nvPr/>
        </p:nvSpPr>
        <p:spPr>
          <a:xfrm>
            <a:off x="6597396" y="2926080"/>
            <a:ext cx="4722876" cy="182880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Significant real disagreement between systems, especially at peak flexion during a jump. Be cautious here.</a:t>
            </a:r>
            <a:endParaRPr lang="en-US" sz="1400" dirty="0"/>
          </a:p>
        </p:txBody>
      </p:sp>
      <p:sp>
        <p:nvSpPr>
          <p:cNvPr id="10" name="Text 8"/>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Wei, Yang, Huang, Tu, Xu, Li &amp; Hu (2025), Acta of Bioengineering and Biomechanics, 27(2), 134-145.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REAL GAME FOOTAGE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a Crossover Actually Looks Like</a:t>
            </a:r>
            <a:endParaRPr lang="en-US" sz="2800" dirty="0"/>
          </a:p>
        </p:txBody>
      </p:sp>
      <p:sp>
        <p:nvSpPr>
          <p:cNvPr id="4" name="Shape 2"/>
          <p:cNvSpPr/>
          <p:nvPr/>
        </p:nvSpPr>
        <p:spPr>
          <a:xfrm>
            <a:off x="548640" y="1920240"/>
            <a:ext cx="11091672" cy="2743200"/>
          </a:xfrm>
          <a:prstGeom prst="roundRect">
            <a:avLst>
              <a:gd name="adj" fmla="val 2000"/>
            </a:avLst>
          </a:prstGeom>
          <a:solidFill>
            <a:srgbClr val="16213E"/>
          </a:solidFill>
          <a:ln/>
        </p:spPr>
      </p:sp>
      <p:sp>
        <p:nvSpPr>
          <p:cNvPr id="5" name="Shape 3"/>
          <p:cNvSpPr/>
          <p:nvPr/>
        </p:nvSpPr>
        <p:spPr>
          <a:xfrm>
            <a:off x="1005840" y="2331720"/>
            <a:ext cx="1371600" cy="1005840"/>
          </a:xfrm>
          <a:prstGeom prst="roundRect">
            <a:avLst>
              <a:gd name="adj" fmla="val 7273"/>
            </a:avLst>
          </a:prstGeom>
          <a:solidFill>
            <a:srgbClr val="E4572E"/>
          </a:solidFill>
          <a:ln/>
        </p:spPr>
      </p:sp>
      <p:sp>
        <p:nvSpPr>
          <p:cNvPr id="6" name="Text 4"/>
          <p:cNvSpPr txBox="1"/>
          <p:nvPr/>
        </p:nvSpPr>
        <p:spPr>
          <a:xfrm>
            <a:off x="1005840" y="2331720"/>
            <a:ext cx="1371600" cy="1005840"/>
          </a:xfrm>
          <a:prstGeom prst="rect">
            <a:avLst/>
          </a:prstGeom>
          <a:noFill/>
          <a:ln/>
        </p:spPr>
        <p:txBody>
          <a:bodyPr wrap="square" lIns="0" tIns="0" rIns="0" bIns="0" rtlCol="0" anchor="ctr"/>
          <a:lstStyle/>
          <a:p>
            <a:pPr algn="ctr" indent="0" marL="0">
              <a:buNone/>
            </a:pPr>
            <a:r>
              <a:rPr lang="en-US" sz="3200" dirty="0">
                <a:solidFill>
                  <a:srgbClr val="FFFFFF"/>
                </a:solidFill>
              </a:rPr>
              <a:t>▶</a:t>
            </a:r>
            <a:endParaRPr lang="en-US" sz="3200" dirty="0"/>
          </a:p>
        </p:txBody>
      </p:sp>
      <p:sp>
        <p:nvSpPr>
          <p:cNvPr id="7" name="Text 5"/>
          <p:cNvSpPr txBox="1"/>
          <p:nvPr/>
        </p:nvSpPr>
        <p:spPr>
          <a:xfrm>
            <a:off x="2651760" y="2331720"/>
            <a:ext cx="8531352"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Kyrie Irving Sick Crossovers &amp; Handles in Slow-Motion</a:t>
            </a:r>
            <a:endParaRPr lang="en-US" sz="1800" dirty="0"/>
          </a:p>
        </p:txBody>
      </p:sp>
      <p:sp>
        <p:nvSpPr>
          <p:cNvPr id="8" name="Text 6"/>
          <p:cNvSpPr txBox="1"/>
          <p:nvPr/>
        </p:nvSpPr>
        <p:spPr>
          <a:xfrm>
            <a:off x="2651760" y="2971800"/>
            <a:ext cx="8531352" cy="64008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YouTube · https://www.youtube.com/watch?v=LZSlFyyCkhk</a:t>
            </a:r>
            <a:endParaRPr lang="en-US" sz="1200" dirty="0"/>
          </a:p>
        </p:txBody>
      </p:sp>
      <p:sp>
        <p:nvSpPr>
          <p:cNvPr id="9" name="Text 7"/>
          <p:cNvSpPr txBox="1"/>
          <p:nvPr/>
        </p:nvSpPr>
        <p:spPr>
          <a:xfrm>
            <a:off x="1005840" y="3566160"/>
            <a:ext cx="10177272" cy="1005840"/>
          </a:xfrm>
          <a:prstGeom prst="rect">
            <a:avLst/>
          </a:prstGeom>
          <a:noFill/>
          <a:ln/>
        </p:spPr>
        <p:txBody>
          <a:bodyPr wrap="square" lIns="0" tIns="0" rIns="0" bIns="0" rtlCol="0" anchor="ctr"/>
          <a:lstStyle/>
          <a:p>
            <a:pPr indent="0" marL="0">
              <a:lnSpc>
                <a:spcPct val="130000"/>
              </a:lnSpc>
              <a:buNone/>
            </a:pPr>
            <a:r>
              <a:rPr lang="en-US" sz="1300" dirty="0">
                <a:solidFill>
                  <a:srgbClr val="D9E2F3"/>
                </a:solidFill>
                <a:latin typeface="Calibri" pitchFamily="34" charset="0"/>
                <a:ea typeface="Calibri" pitchFamily="34" charset="-122"/>
                <a:cs typeface="Calibri" pitchFamily="34" charset="-120"/>
              </a:rPr>
              <a:t>Real game footage, watched here to ground the abstract joint-tracking discussion in what the actual movement looks like before we ask what a pose model would need to measure to quantify it. Confirmed via web search; verify channel and runtime before assigning.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REAL STUDY 2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 et al. (2026): 25 Hz Markerless vs. Lab Reference</a:t>
            </a:r>
            <a:endParaRPr lang="en-US" sz="2600" dirty="0"/>
          </a:p>
        </p:txBody>
      </p:sp>
      <p:sp>
        <p:nvSpPr>
          <p:cNvPr id="4" name="Shape 2"/>
          <p:cNvSpPr/>
          <p:nvPr/>
        </p:nvSpPr>
        <p:spPr>
          <a:xfrm>
            <a:off x="548640" y="2011680"/>
            <a:ext cx="11091672" cy="2926080"/>
          </a:xfrm>
          <a:prstGeom prst="roundRect">
            <a:avLst>
              <a:gd name="adj" fmla="val 1875"/>
            </a:avLst>
          </a:prstGeom>
          <a:solidFill>
            <a:srgbClr val="16213E"/>
          </a:solidFill>
          <a:ln/>
        </p:spPr>
      </p:sp>
      <p:sp>
        <p:nvSpPr>
          <p:cNvPr id="5" name="Text 3"/>
          <p:cNvSpPr txBox="1"/>
          <p:nvPr/>
        </p:nvSpPr>
        <p:spPr>
          <a:xfrm>
            <a:off x="914400" y="2286000"/>
            <a:ext cx="10360152" cy="2468880"/>
          </a:xfrm>
          <a:prstGeom prst="rect">
            <a:avLst/>
          </a:prstGeom>
          <a:noFill/>
          <a:ln/>
        </p:spPr>
        <p:txBody>
          <a:bodyPr wrap="square" lIns="0" tIns="0" rIns="0" bIns="0" rtlCol="0" anchor="ctr"/>
          <a:lstStyle/>
          <a:p>
            <a:pPr indent="0" marL="0">
              <a:lnSpc>
                <a:spcPct val="135000"/>
              </a:lnSpc>
              <a:buNone/>
            </a:pPr>
            <a:r>
              <a:rPr lang="en-US" sz="1600" b="1" dirty="0">
                <a:solidFill>
                  <a:srgbClr val="E4572E"/>
                </a:solidFill>
                <a:latin typeface="Calibri" pitchFamily="34" charset="0"/>
                <a:ea typeface="Calibri" pitchFamily="34" charset="-122"/>
                <a:cs typeface="Calibri" pitchFamily="34" charset="-120"/>
              </a:rPr>
              <a:t>Real methodology: </a:t>
            </a:r>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a real consumer-grade six-camera markerless system running at 25 real frames per second, tested against a real 10-camera laboratory Vicon reference system, using real trained athletes performing basketball-specific movements.
</a:t>
            </a:r>
            <a:pPr indent="0" marL="0">
              <a:lnSpc>
                <a:spcPct val="135000"/>
              </a:lnSpc>
              <a:buNone/>
            </a:pPr>
            <a:r>
              <a:rPr lang="en-US" sz="1600" b="1" dirty="0">
                <a:solidFill>
                  <a:srgbClr val="E4572E"/>
                </a:solidFill>
                <a:latin typeface="Calibri" pitchFamily="34" charset="0"/>
                <a:ea typeface="Calibri" pitchFamily="34" charset="-122"/>
                <a:cs typeface="Calibri" pitchFamily="34" charset="-120"/>
              </a:rPr>
              <a:t>Published in: </a:t>
            </a:r>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Sensors, 26(5), article 1689, 2026.</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Real Finding: Position Holds Up, Derivatives Don't</a:t>
            </a:r>
            <a:endParaRPr lang="en-US" sz="2600" dirty="0"/>
          </a:p>
        </p:txBody>
      </p:sp>
      <p:sp>
        <p:nvSpPr>
          <p:cNvPr id="4" name="Shape 2"/>
          <p:cNvSpPr/>
          <p:nvPr/>
        </p:nvSpPr>
        <p:spPr>
          <a:xfrm>
            <a:off x="548640" y="2103120"/>
            <a:ext cx="5362956" cy="2926080"/>
          </a:xfrm>
          <a:prstGeom prst="roundRect">
            <a:avLst>
              <a:gd name="adj" fmla="val 1875"/>
            </a:avLst>
          </a:prstGeom>
          <a:solidFill>
            <a:srgbClr val="27496D"/>
          </a:solidFill>
          <a:ln/>
        </p:spPr>
      </p:sp>
      <p:sp>
        <p:nvSpPr>
          <p:cNvPr id="5" name="Text 3"/>
          <p:cNvSpPr txBox="1"/>
          <p:nvPr/>
        </p:nvSpPr>
        <p:spPr>
          <a:xfrm>
            <a:off x="868680" y="2377440"/>
            <a:ext cx="4722876"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Position</a:t>
            </a:r>
            <a:endParaRPr lang="en-US" sz="1800" dirty="0"/>
          </a:p>
        </p:txBody>
      </p:sp>
      <p:sp>
        <p:nvSpPr>
          <p:cNvPr id="6" name="Text 4"/>
          <p:cNvSpPr txBox="1"/>
          <p:nvPr/>
        </p:nvSpPr>
        <p:spPr>
          <a:xfrm>
            <a:off x="868680" y="2926080"/>
            <a:ext cx="4722876" cy="182880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Real joint displacement correlation of 0.916 to 0.994 against the lab reference. Strong real agreement.</a:t>
            </a:r>
            <a:endParaRPr lang="en-US" sz="1400" dirty="0"/>
          </a:p>
        </p:txBody>
      </p:sp>
      <p:sp>
        <p:nvSpPr>
          <p:cNvPr id="7" name="Shape 5"/>
          <p:cNvSpPr/>
          <p:nvPr/>
        </p:nvSpPr>
        <p:spPr>
          <a:xfrm>
            <a:off x="6277356" y="2103120"/>
            <a:ext cx="5362956" cy="2926080"/>
          </a:xfrm>
          <a:prstGeom prst="roundRect">
            <a:avLst>
              <a:gd name="adj" fmla="val 1875"/>
            </a:avLst>
          </a:prstGeom>
          <a:solidFill>
            <a:srgbClr val="E4572E"/>
          </a:solidFill>
          <a:ln/>
        </p:spPr>
      </p:sp>
      <p:sp>
        <p:nvSpPr>
          <p:cNvPr id="8" name="Text 6"/>
          <p:cNvSpPr txBox="1"/>
          <p:nvPr/>
        </p:nvSpPr>
        <p:spPr>
          <a:xfrm>
            <a:off x="6597396" y="2377440"/>
            <a:ext cx="4722876"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Velocity &amp; Acceleration</a:t>
            </a:r>
            <a:endParaRPr lang="en-US" sz="1800" dirty="0"/>
          </a:p>
        </p:txBody>
      </p:sp>
      <p:sp>
        <p:nvSpPr>
          <p:cNvPr id="9" name="Text 7"/>
          <p:cNvSpPr txBox="1"/>
          <p:nvPr/>
        </p:nvSpPr>
        <p:spPr>
          <a:xfrm>
            <a:off x="6597396" y="2926080"/>
            <a:ext cx="4722876" cy="182880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Derivatives of position amplify small tracking errors. Real agreement dropped substantially. Be cautious here.</a:t>
            </a:r>
            <a:endParaRPr lang="en-US" sz="1400" dirty="0"/>
          </a:p>
        </p:txBody>
      </p:sp>
      <p:sp>
        <p:nvSpPr>
          <p:cNvPr id="10" name="Text 8"/>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Li, Tan, Zheng, Yang, Tao, Zhang &amp; Xu (2026), Sensors, 26(5), 1689.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Explain One Real Study to the Class</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Get into groups of 3-4. I'll assign your group either Wei et al. (2025) or Li et al. (2026).</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In two minutes, explain to the rest of the class what a practitioner should trust from your assigned real study, and what they should not trust yet.</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Be ready to answer: what would you need to add to close that gap?</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RESEARCH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One Validated Finding Is Not a Blanket Endorsement</a:t>
            </a:r>
            <a:endParaRPr lang="en-US" sz="2600" dirty="0"/>
          </a:p>
        </p:txBody>
      </p:sp>
      <p:sp>
        <p:nvSpPr>
          <p:cNvPr id="4" name="Shape 2"/>
          <p:cNvSpPr/>
          <p:nvPr/>
        </p:nvSpPr>
        <p:spPr>
          <a:xfrm>
            <a:off x="548640" y="2103120"/>
            <a:ext cx="11091672" cy="2834640"/>
          </a:xfrm>
          <a:prstGeom prst="roundRect">
            <a:avLst>
              <a:gd name="adj" fmla="val 1935"/>
            </a:avLst>
          </a:prstGeom>
          <a:solidFill>
            <a:srgbClr val="EDF1F7"/>
          </a:solidFill>
          <a:ln/>
        </p:spPr>
      </p:sp>
      <p:sp>
        <p:nvSpPr>
          <p:cNvPr id="5" name="Text 3"/>
          <p:cNvSpPr txBox="1"/>
          <p:nvPr/>
        </p:nvSpPr>
        <p:spPr>
          <a:xfrm>
            <a:off x="914400" y="2377440"/>
            <a:ext cx="4114800" cy="91440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Trust (per these two real studies)</a:t>
            </a:r>
            <a:endParaRPr lang="en-US" sz="1400" dirty="0"/>
          </a:p>
        </p:txBody>
      </p:sp>
      <p:sp>
        <p:nvSpPr>
          <p:cNvPr id="6" name="Text 4"/>
          <p:cNvSpPr txBox="1"/>
          <p:nvPr/>
        </p:nvSpPr>
        <p:spPr>
          <a:xfrm>
            <a:off x="5212080" y="2377440"/>
            <a:ext cx="606247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Ankle position, knee position, joint displacement generally</a:t>
            </a:r>
            <a:endParaRPr lang="en-US" sz="1400" dirty="0"/>
          </a:p>
        </p:txBody>
      </p:sp>
      <p:sp>
        <p:nvSpPr>
          <p:cNvPr id="7" name="Text 5"/>
          <p:cNvSpPr txBox="1"/>
          <p:nvPr/>
        </p:nvSpPr>
        <p:spPr>
          <a:xfrm>
            <a:off x="914400" y="3520440"/>
            <a:ext cx="4114800" cy="91440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Be cautious (per these two real studies)</a:t>
            </a:r>
            <a:endParaRPr lang="en-US" sz="1400" dirty="0"/>
          </a:p>
        </p:txBody>
      </p:sp>
      <p:sp>
        <p:nvSpPr>
          <p:cNvPr id="8" name="Text 6"/>
          <p:cNvSpPr txBox="1"/>
          <p:nvPr/>
        </p:nvSpPr>
        <p:spPr>
          <a:xfrm>
            <a:off x="5212080" y="3520440"/>
            <a:ext cx="606247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Hip angle, velocity, acceleration</a:t>
            </a:r>
            <a:endParaRPr lang="en-US" sz="1400" dirty="0"/>
          </a:p>
        </p:txBody>
      </p:sp>
      <p:sp>
        <p:nvSpPr>
          <p:cNvPr id="9" name="Text 7"/>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A real study's headline finding is never a substitute for checking exactly which quantities it actually validated.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Validation,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Two real 2025-2026 studies validating markerless motion capture in basketball players: strong at ankle/knee/position, weaker at hip/velocity/acceleration.</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turns to data we do have full access to, and asks the same fatigue question honestly with real box-score evidence.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a real, honest substitute analysis with data we actually have.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What Can Real Box-Score Data Tell Us Instead?</a:t>
            </a:r>
            <a:endParaRPr lang="en-US" sz="27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0584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If a player's movement mechanics genuinely break down as a real game wears on, from real accumulated fatigue, it should eventually show up in outcomes, even without joint-level data. I asked the same real 2017-18 GSW play-by-play log from Modules 4 and 5 three honest questions.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free-throw-by-quarter dataset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Question 1: Does Real Shot Mechanics Hold Up?</a:t>
            </a:r>
            <a:endParaRPr lang="en-US" sz="2600" dirty="0"/>
          </a:p>
        </p:txBody>
      </p:sp>
      <p:pic>
        <p:nvPicPr>
          <p:cNvPr id="4" name="Image 0" descr="module6_ft_pct_by_period.png">    </p:cNvPr>
          <p:cNvPicPr>
            <a:picLocks noChangeAspect="1"/>
          </p:cNvPicPr>
          <p:nvPr/>
        </p:nvPicPr>
        <p:blipFill>
          <a:blip r:embed="rId1"/>
          <a:stretch>
            <a:fillRect/>
          </a:stretch>
        </p:blipFill>
        <p:spPr>
          <a:xfrm>
            <a:off x="1828800" y="1645920"/>
            <a:ext cx="8321040" cy="448056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Free throws: same distance, same motion, uncontested, every time. Data: PbP.BDB, real 2017-18 GSW season.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CORE IDEA OF THIS MODULE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 Flat Result Is Not a Failed Analysis</a:t>
            </a:r>
            <a:endParaRPr lang="en-US" sz="2700" dirty="0"/>
          </a:p>
        </p:txBody>
      </p:sp>
      <p:sp>
        <p:nvSpPr>
          <p:cNvPr id="4" name="Shape 2"/>
          <p:cNvSpPr/>
          <p:nvPr/>
        </p:nvSpPr>
        <p:spPr>
          <a:xfrm>
            <a:off x="548640" y="2103120"/>
            <a:ext cx="11091672" cy="2926080"/>
          </a:xfrm>
          <a:prstGeom prst="roundRect">
            <a:avLst>
              <a:gd name="adj" fmla="val 1875"/>
            </a:avLst>
          </a:prstGeom>
          <a:solidFill>
            <a:srgbClr val="16213E"/>
          </a:solidFill>
          <a:ln/>
        </p:spPr>
      </p:sp>
      <p:sp>
        <p:nvSpPr>
          <p:cNvPr id="5" name="Text 3"/>
          <p:cNvSpPr txBox="1"/>
          <p:nvPr/>
        </p:nvSpPr>
        <p:spPr>
          <a:xfrm>
            <a:off x="914400" y="2377440"/>
            <a:ext cx="10360152" cy="2468880"/>
          </a:xfrm>
          <a:prstGeom prst="rect">
            <a:avLst/>
          </a:prstGeom>
          <a:noFill/>
          <a:ln/>
        </p:spPr>
        <p:txBody>
          <a:bodyPr wrap="square" lIns="0" tIns="0" rIns="0" bIns="0" rtlCol="0" anchor="ctr"/>
          <a:lstStyle/>
          <a:p>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If fatigue-driven mechanical breakdown were large enough to show up cleanly in season-long aggregates, you would not need frame-by-frame joint tracking to find it. You would already see it in the box score. The real Wei et al. finding, that hip angle specifically showed measurable disagreement, is exactly the kind of subtle, joint-specific signal that gets averaged away in aggregate stats but may still matter for a real athlete's injury risk.</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turnover-rate-by-quarter analysis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Question 2: Does Real Ball-Handling Control Hold Up?</a:t>
            </a:r>
            <a:endParaRPr lang="en-US" sz="2600" dirty="0"/>
          </a:p>
        </p:txBody>
      </p:sp>
      <p:pic>
        <p:nvPicPr>
          <p:cNvPr id="4" name="Image 0" descr="module6_turnover_rate_by_period.png">    </p:cNvPr>
          <p:cNvPicPr>
            <a:picLocks noChangeAspect="1"/>
          </p:cNvPicPr>
          <p:nvPr/>
        </p:nvPicPr>
        <p:blipFill>
          <a:blip r:embed="rId1"/>
          <a:stretch>
            <a:fillRect/>
          </a:stretch>
        </p:blipFill>
        <p:spPr>
          <a:xfrm>
            <a:off x="1828800" y="1645920"/>
            <a:ext cx="8321040" cy="448056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Turnovers per 100 logged plays, a real, imperfect proxy for ball-handling breakdown. Data: PbP.BDB, real 2017-18 GSW season.</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REAL GAME FOOTAGE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a Real Shot Release Looks Like</a:t>
            </a:r>
            <a:endParaRPr lang="en-US" sz="2800" dirty="0"/>
          </a:p>
        </p:txBody>
      </p:sp>
      <p:sp>
        <p:nvSpPr>
          <p:cNvPr id="4" name="Shape 2"/>
          <p:cNvSpPr/>
          <p:nvPr/>
        </p:nvSpPr>
        <p:spPr>
          <a:xfrm>
            <a:off x="548640" y="1920240"/>
            <a:ext cx="11091672" cy="2743200"/>
          </a:xfrm>
          <a:prstGeom prst="roundRect">
            <a:avLst>
              <a:gd name="adj" fmla="val 2000"/>
            </a:avLst>
          </a:prstGeom>
          <a:solidFill>
            <a:srgbClr val="16213E"/>
          </a:solidFill>
          <a:ln/>
        </p:spPr>
      </p:sp>
      <p:sp>
        <p:nvSpPr>
          <p:cNvPr id="5" name="Shape 3"/>
          <p:cNvSpPr/>
          <p:nvPr/>
        </p:nvSpPr>
        <p:spPr>
          <a:xfrm>
            <a:off x="1005840" y="2331720"/>
            <a:ext cx="1371600" cy="1005840"/>
          </a:xfrm>
          <a:prstGeom prst="roundRect">
            <a:avLst>
              <a:gd name="adj" fmla="val 7273"/>
            </a:avLst>
          </a:prstGeom>
          <a:solidFill>
            <a:srgbClr val="E4572E"/>
          </a:solidFill>
          <a:ln/>
        </p:spPr>
      </p:sp>
      <p:sp>
        <p:nvSpPr>
          <p:cNvPr id="6" name="Text 4"/>
          <p:cNvSpPr txBox="1"/>
          <p:nvPr/>
        </p:nvSpPr>
        <p:spPr>
          <a:xfrm>
            <a:off x="1005840" y="2331720"/>
            <a:ext cx="1371600" cy="1005840"/>
          </a:xfrm>
          <a:prstGeom prst="rect">
            <a:avLst/>
          </a:prstGeom>
          <a:noFill/>
          <a:ln/>
        </p:spPr>
        <p:txBody>
          <a:bodyPr wrap="square" lIns="0" tIns="0" rIns="0" bIns="0" rtlCol="0" anchor="ctr"/>
          <a:lstStyle/>
          <a:p>
            <a:pPr algn="ctr" indent="0" marL="0">
              <a:buNone/>
            </a:pPr>
            <a:r>
              <a:rPr lang="en-US" sz="3200" dirty="0">
                <a:solidFill>
                  <a:srgbClr val="FFFFFF"/>
                </a:solidFill>
              </a:rPr>
              <a:t>▶</a:t>
            </a:r>
            <a:endParaRPr lang="en-US" sz="3200" dirty="0"/>
          </a:p>
        </p:txBody>
      </p:sp>
      <p:sp>
        <p:nvSpPr>
          <p:cNvPr id="7" name="Text 5"/>
          <p:cNvSpPr txBox="1"/>
          <p:nvPr/>
        </p:nvSpPr>
        <p:spPr>
          <a:xfrm>
            <a:off x="2651760" y="2331720"/>
            <a:ext cx="8531352"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Stephen Curry Shooting Form Slow Motion 2024-25 (1080_HD)</a:t>
            </a:r>
            <a:endParaRPr lang="en-US" sz="1800" dirty="0"/>
          </a:p>
        </p:txBody>
      </p:sp>
      <p:sp>
        <p:nvSpPr>
          <p:cNvPr id="8" name="Text 6"/>
          <p:cNvSpPr txBox="1"/>
          <p:nvPr/>
        </p:nvSpPr>
        <p:spPr>
          <a:xfrm>
            <a:off x="2651760" y="2971800"/>
            <a:ext cx="8531352" cy="64008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YouTube · https://www.youtube.com/watch?v=azm2YIMUcVM</a:t>
            </a:r>
            <a:endParaRPr lang="en-US" sz="1200" dirty="0"/>
          </a:p>
        </p:txBody>
      </p:sp>
      <p:sp>
        <p:nvSpPr>
          <p:cNvPr id="9" name="Text 7"/>
          <p:cNvSpPr txBox="1"/>
          <p:nvPr/>
        </p:nvSpPr>
        <p:spPr>
          <a:xfrm>
            <a:off x="1005840" y="3566160"/>
            <a:ext cx="10177272" cy="1005840"/>
          </a:xfrm>
          <a:prstGeom prst="rect">
            <a:avLst/>
          </a:prstGeom>
          <a:noFill/>
          <a:ln/>
        </p:spPr>
        <p:txBody>
          <a:bodyPr wrap="square" lIns="0" tIns="0" rIns="0" bIns="0" rtlCol="0" anchor="ctr"/>
          <a:lstStyle/>
          <a:p>
            <a:pPr indent="0" marL="0">
              <a:lnSpc>
                <a:spcPct val="130000"/>
              </a:lnSpc>
              <a:buNone/>
            </a:pPr>
            <a:r>
              <a:rPr lang="en-US" sz="1300" dirty="0">
                <a:solidFill>
                  <a:srgbClr val="D9E2F3"/>
                </a:solidFill>
                <a:latin typeface="Calibri" pitchFamily="34" charset="0"/>
                <a:ea typeface="Calibri" pitchFamily="34" charset="-122"/>
                <a:cs typeface="Calibri" pitchFamily="34" charset="-120"/>
              </a:rPr>
              <a:t>Real footage of jump-shot release mechanics in slow motion, watched here alongside our free-throw-mechanics discussion. Confirmed via web search; verify channel and runtime before assigning.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late-game fatigue-window comparison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Question 3: What About the Highest-Fatigue Moments?</a:t>
            </a:r>
            <a:endParaRPr lang="en-US" sz="2600" dirty="0"/>
          </a:p>
        </p:txBody>
      </p:sp>
      <p:pic>
        <p:nvPicPr>
          <p:cNvPr id="4" name="Image 0" descr="module6_fatigue_window_fg_pct.png">    </p:cNvPr>
          <p:cNvPicPr>
            <a:picLocks noChangeAspect="1"/>
          </p:cNvPicPr>
          <p:nvPr/>
        </p:nvPicPr>
        <p:blipFill>
          <a:blip r:embed="rId1"/>
          <a:stretch>
            <a:fillRect/>
          </a:stretch>
        </p:blipFill>
        <p:spPr>
          <a:xfrm>
            <a:off x="1463040" y="1737360"/>
            <a:ext cx="9144000" cy="420624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Real shot attempts, last 3 min of Q4 vs. rest of regulation. Data: PbP.BDB, real 2017-18 GSW season.</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NUMBER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 Real Gap Is Not Automatically a Clean Explanation</a:t>
            </a:r>
            <a:endParaRPr lang="en-US" sz="2600" dirty="0"/>
          </a:p>
        </p:txBody>
      </p:sp>
      <p:sp>
        <p:nvSpPr>
          <p:cNvPr id="4" name="Shape 2"/>
          <p:cNvSpPr/>
          <p:nvPr/>
        </p:nvSpPr>
        <p:spPr>
          <a:xfrm>
            <a:off x="548640" y="2103120"/>
            <a:ext cx="11091672" cy="2560320"/>
          </a:xfrm>
          <a:prstGeom prst="roundRect">
            <a:avLst>
              <a:gd name="adj" fmla="val 2143"/>
            </a:avLst>
          </a:prstGeom>
          <a:solidFill>
            <a:srgbClr val="EDF1F7"/>
          </a:solidFill>
          <a:ln/>
        </p:spPr>
      </p:sp>
      <p:sp>
        <p:nvSpPr>
          <p:cNvPr id="5" name="Text 3"/>
          <p:cNvSpPr txBox="1"/>
          <p:nvPr/>
        </p:nvSpPr>
        <p:spPr>
          <a:xfrm>
            <a:off x="914400" y="2377440"/>
            <a:ext cx="10360152" cy="201168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The real 3-point drop in late-game field goal percentage lines up with where fatigue should be highest. But late-game defenses also tighten up for reasons that have nothing to do with the shooter's own fatigue: tighter rotations, more attention on the primary scorer, higher stakes. This real number cannot be cleanly attributed to kinematic breakdown alone, and a real study would need shot-quality or defender-distance data to separate the two explanations.</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7</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Checking One Real Player in Isolation</a:t>
            </a:r>
            <a:endParaRPr lang="en-US" sz="27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377440"/>
        </p:xfrm>
        <a:graphic>
          <a:graphicData uri="http://schemas.openxmlformats.org/drawingml/2006/table">
            <a:tbl>
              <a:tblPr/>
              <a:tblGrid>
                <a:gridCol w="3776472"/>
                <a:gridCol w="4114800"/>
                <a:gridCol w="3200400"/>
              </a:tblGrid>
              <a:tr h="47548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Quarter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Stephen Curry, Real FT Attempts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Real FT%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Q1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89.5%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Q2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97.1%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Q3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93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92.5%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Q4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89.6%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66344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Even isolating one elite, high-volume real shooter, there is no consistent decline across the real 2017-18 season.</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PbP.BDB, real 2017-18 GSW season, free throws only.</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What Would You Tell a Team's Sports Science Staff?</a:t>
            </a:r>
            <a:endParaRPr lang="en-US" sz="26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Get into groups of 3-4. Pick one real finding from today: the flat free-throw trend, the flat turnover trend, or the real late-game field-goal-percentage gap.</a:t>
            </a:r>
            <a:endParaRPr lang="en-US" sz="1500" dirty="0"/>
          </a:p>
          <a:p>
            <a:pPr indent="0" marL="0">
              <a:lnSpc>
                <a:spcPct val="130000"/>
              </a:lnSpc>
              <a:buNone/>
            </a:pPr>
            <a:endParaRPr lang="en-US" sz="1500" dirty="0"/>
          </a:p>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1. Draft one sentence a team's sports science staff could actually act on based on this real finding, or one sentence explaining why they should not act on it yet.</a:t>
            </a:r>
            <a:endParaRPr lang="en-US" sz="1500" dirty="0"/>
          </a:p>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2. Be ready to defend your sentence using the real numbers.</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PHD / ADVANCED PROJECT TRACK</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This Goes in Module 10</a:t>
            </a:r>
            <a:endParaRPr lang="en-US" sz="2800" dirty="0"/>
          </a:p>
        </p:txBody>
      </p:sp>
      <p:sp>
        <p:nvSpPr>
          <p:cNvPr id="4" name="Shape 2"/>
          <p:cNvSpPr/>
          <p:nvPr/>
        </p:nvSpPr>
        <p:spPr>
          <a:xfrm>
            <a:off x="548640" y="2011680"/>
            <a:ext cx="11091672" cy="3017520"/>
          </a:xfrm>
          <a:prstGeom prst="roundRect">
            <a:avLst>
              <a:gd name="adj" fmla="val 1818"/>
            </a:avLst>
          </a:prstGeom>
          <a:solidFill>
            <a:srgbClr val="16213E"/>
          </a:solidFill>
          <a:ln/>
        </p:spPr>
      </p:sp>
      <p:sp>
        <p:nvSpPr>
          <p:cNvPr id="5" name="Text 3"/>
          <p:cNvSpPr txBox="1"/>
          <p:nvPr/>
        </p:nvSpPr>
        <p:spPr>
          <a:xfrm>
            <a:off x="914400" y="2286000"/>
            <a:ext cx="10360152" cy="2560320"/>
          </a:xfrm>
          <a:prstGeom prst="rect">
            <a:avLst/>
          </a:prstGeom>
          <a:noFill/>
          <a:ln/>
        </p:spPr>
        <p:txBody>
          <a:bodyPr wrap="square" lIns="0" tIns="0" rIns="0" bIns="0" rtlCol="0" anchor="ctr"/>
          <a:lstStyle/>
          <a:p>
            <a:pPr indent="0" marL="0">
              <a:lnSpc>
                <a:spcPct val="135000"/>
              </a:lnSpc>
              <a:buNone/>
            </a:pPr>
            <a:r>
              <a:rPr lang="en-US" sz="1500" dirty="0">
                <a:solidFill>
                  <a:srgbClr val="FFFFFF"/>
                </a:solidFill>
                <a:latin typeface="Calibri" pitchFamily="34" charset="0"/>
                <a:ea typeface="Calibri" pitchFamily="34" charset="-122"/>
                <a:cs typeface="Calibri" pitchFamily="34" charset="-120"/>
              </a:rPr>
              <a:t>Everything today points at one honest conclusion: aggregate box-score statistics are a blunt instrument for detecting the kind of subtle, joint-specific mechanical change that actually predicts injury risk. Direct kinematic measurement, with a clear-eyed view of what it can and cannot yet measure reliably, is what real sports medicine research groups are building toward. Module 10 develops this thread fully using the instructor's own published research on athlete workload monitoring and data quality, for students ready to take on a larger independent project.</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 INJURY DETECTION AND PREDICTION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From Descriptive Stats to Biomechanics</a:t>
            </a:r>
            <a:endParaRPr lang="en-US" sz="2800" dirty="0"/>
          </a:p>
        </p:txBody>
      </p:sp>
      <p:sp>
        <p:nvSpPr>
          <p:cNvPr id="4" name="Shape 2"/>
          <p:cNvSpPr/>
          <p:nvPr/>
        </p:nvSpPr>
        <p:spPr>
          <a:xfrm>
            <a:off x="548640" y="1920240"/>
            <a:ext cx="54864" cy="274320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t"/>
          <a:lstStyle/>
          <a:p>
            <a:pPr indent="0" marL="0">
              <a:lnSpc>
                <a:spcPct val="125000"/>
              </a:lnSpc>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Does a player's movement quality change in ways that matter for injury risk, and how would you actually know.</a:t>
            </a:r>
            <a:endParaRPr lang="en-US" sz="1700" dirty="0"/>
          </a:p>
        </p:txBody>
      </p:sp>
      <p:sp>
        <p:nvSpPr>
          <p:cNvPr id="7" name="Text 5"/>
          <p:cNvSpPr txBox="1"/>
          <p:nvPr/>
        </p:nvSpPr>
        <p:spPr>
          <a:xfrm>
            <a:off x="914400" y="3383280"/>
            <a:ext cx="10725912" cy="118872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This module is the first real hinge point in the course between descriptive box-score analytics and biomechanical, movement-level analysis. Every module from here forward builds on the honest capabilities-and-limits picture built today.</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Real Data, Honest Limits, Covered</a:t>
            </a:r>
            <a:endParaRPr lang="en-US" sz="28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Real free-throw, turnover, and late-game shooting patterns computed directly from real play-by-play data, and what they honestly do and do not show.</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7 applies a different real computer vision technique, object detection, to the ball itself.</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2011680"/>
            <a:ext cx="164592" cy="164592"/>
          </a:xfrm>
          <a:prstGeom prst="rect">
            <a:avLst/>
          </a:prstGeom>
          <a:solidFill>
            <a:srgbClr val="27496D"/>
          </a:solidFill>
          <a:ln/>
        </p:spPr>
      </p:sp>
      <p:sp>
        <p:nvSpPr>
          <p:cNvPr id="5" name="Text 3"/>
          <p:cNvSpPr txBox="1"/>
          <p:nvPr/>
        </p:nvSpPr>
        <p:spPr>
          <a:xfrm>
            <a:off x="914400" y="1874520"/>
            <a:ext cx="10725912" cy="86868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CNN learns to find a body keypoint from labeled examples, not hand-coded rules. MoveNet outputs 17 real keypoints per person, per frame.</a:t>
            </a:r>
            <a:endParaRPr lang="en-US" sz="1500" dirty="0"/>
          </a:p>
        </p:txBody>
      </p:sp>
      <p:sp>
        <p:nvSpPr>
          <p:cNvPr id="6" name="Shape 4"/>
          <p:cNvSpPr/>
          <p:nvPr/>
        </p:nvSpPr>
        <p:spPr>
          <a:xfrm>
            <a:off x="548640" y="2971800"/>
            <a:ext cx="164592" cy="164592"/>
          </a:xfrm>
          <a:prstGeom prst="rect">
            <a:avLst/>
          </a:prstGeom>
          <a:solidFill>
            <a:srgbClr val="E4572E"/>
          </a:solidFill>
          <a:ln/>
        </p:spPr>
      </p:sp>
      <p:sp>
        <p:nvSpPr>
          <p:cNvPr id="7" name="Text 5"/>
          <p:cNvSpPr txBox="1"/>
          <p:nvPr/>
        </p:nvSpPr>
        <p:spPr>
          <a:xfrm>
            <a:off x="914400" y="2834640"/>
            <a:ext cx="10725912" cy="86868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Real 2025-2026 validation research shows markerless motion capture is strong for ankle/knee position but weaker for hip angle, velocity, and acceleration. Know which quantities to trust.</a:t>
            </a:r>
            <a:endParaRPr lang="en-US" sz="1500" dirty="0"/>
          </a:p>
        </p:txBody>
      </p:sp>
      <p:sp>
        <p:nvSpPr>
          <p:cNvPr id="8" name="Shape 6"/>
          <p:cNvSpPr/>
          <p:nvPr/>
        </p:nvSpPr>
        <p:spPr>
          <a:xfrm>
            <a:off x="548640" y="3931920"/>
            <a:ext cx="164592" cy="164592"/>
          </a:xfrm>
          <a:prstGeom prst="rect">
            <a:avLst/>
          </a:prstGeom>
          <a:solidFill>
            <a:srgbClr val="27496D"/>
          </a:solidFill>
          <a:ln/>
        </p:spPr>
      </p:sp>
      <p:sp>
        <p:nvSpPr>
          <p:cNvPr id="9" name="Text 7"/>
          <p:cNvSpPr txBox="1"/>
          <p:nvPr/>
        </p:nvSpPr>
        <p:spPr>
          <a:xfrm>
            <a:off x="914400" y="3794760"/>
            <a:ext cx="10725912" cy="86868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flat, non-declining trend in real free-throw and turnover data is not a failed analysis. It is exactly why direct kinematic measurement matters: aggregate stats can miss subtle, joint-specific change.</a:t>
            </a:r>
            <a:endParaRPr lang="en-US" sz="1500" dirty="0"/>
          </a:p>
        </p:txBody>
      </p:sp>
      <p:sp>
        <p:nvSpPr>
          <p:cNvPr id="10" name="Shape 8"/>
          <p:cNvSpPr/>
          <p:nvPr/>
        </p:nvSpPr>
        <p:spPr>
          <a:xfrm>
            <a:off x="548640" y="4892040"/>
            <a:ext cx="164592" cy="164592"/>
          </a:xfrm>
          <a:prstGeom prst="rect">
            <a:avLst/>
          </a:prstGeom>
          <a:solidFill>
            <a:srgbClr val="E4572E"/>
          </a:solidFill>
          <a:ln/>
        </p:spPr>
      </p:sp>
      <p:sp>
        <p:nvSpPr>
          <p:cNvPr id="11" name="Text 9"/>
          <p:cNvSpPr txBox="1"/>
          <p:nvPr/>
        </p:nvSpPr>
        <p:spPr>
          <a:xfrm>
            <a:off x="914400" y="4754880"/>
            <a:ext cx="10725912" cy="86868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Every real number in this module came from BasketballAnalyzeR::PbP.BDB or a named, real, peer-reviewed source, reproducible by anyone who runs the script or reads the citation.</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07</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Advanced Basketball Data Science, Ch. 6 (athletic motion kinematics analysis).</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6 (athletic motion kinematics analysis), the practice questions, and the Module 6 quiz on D2L.</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Zuccolotto, Manisera &amp; Sandri (2026). Advanced Basketball Data Science, Ch. 6. CRC Press / Chapman &amp; Hall.</a:t>
            </a:r>
            <a:endParaRPr lang="en-US" sz="1400" dirty="0"/>
          </a:p>
          <a:p>
            <a:pPr indent="0" marL="0">
              <a:lnSpc>
                <a:spcPct val="150000"/>
              </a:lnSpc>
              <a:buNone/>
            </a:pPr>
            <a:endParaRPr lang="en-US" sz="1400" dirty="0"/>
          </a:p>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Google Research / TensorFlow Blog (2021). Next-Generation Pose Detection with MoveNet and TensorFlow.js.</a:t>
            </a:r>
            <a:endParaRPr lang="en-US" sz="1400" dirty="0"/>
          </a:p>
          <a:p>
            <a:pPr indent="0" marL="0">
              <a:lnSpc>
                <a:spcPct val="150000"/>
              </a:lnSpc>
              <a:buNone/>
            </a:pPr>
            <a:endParaRPr lang="en-US" sz="1400" dirty="0"/>
          </a:p>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Wei, Yang, Huang, Tu, Xu, Li &amp; Hu (2025). Acta of Bioengineering and Biomechanics, 27(2), 134-145.</a:t>
            </a:r>
            <a:endParaRPr lang="en-US" sz="1400" dirty="0"/>
          </a:p>
          <a:p>
            <a:pPr indent="0" marL="0">
              <a:lnSpc>
                <a:spcPct val="150000"/>
              </a:lnSpc>
              <a:buNone/>
            </a:pPr>
            <a:endParaRPr lang="en-US" sz="1400" dirty="0"/>
          </a:p>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Li, Tan, Zheng, Yang, Tao, Zhang &amp; Xu (2026). Sensors, 26(5), 1689.</a:t>
            </a:r>
            <a:endParaRPr lang="en-US" sz="1400" dirty="0"/>
          </a:p>
          <a:p>
            <a:pPr indent="0" marL="0">
              <a:lnSpc>
                <a:spcPct val="150000"/>
              </a:lnSpc>
              <a:buNone/>
            </a:pPr>
            <a:endParaRPr lang="en-US" sz="1400" dirty="0"/>
          </a:p>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BasketballAnalyzeR (R package), PbP.BDB dataset. Sandri, Zuccolotto &amp; Manisera. CRAN.</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07</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Tracking and Analyzing Ball Trajectories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2026-09-28T09:48:08Z</dcterms:created>
  <dcterms:modified xsi:type="dcterms:W3CDTF">2026-09-28T09:48:08Z</dcterms:modified>
</cp:coreProperties>
</file>