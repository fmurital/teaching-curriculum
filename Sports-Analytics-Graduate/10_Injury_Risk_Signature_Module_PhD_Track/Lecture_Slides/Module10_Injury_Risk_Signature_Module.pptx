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the class why it would be a mistake to only teach the Wainwright case. Push on: a control chart detects a sustained deviation from a standard. It does not diagnose a cause. What does that distinction mean for how a team should actually use a signal in practice? Timing: about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no pre-injury signal fired. Ask the class: is this a failure of the method? Push toward the Wainwright/Alzolay distinction from Segment 1 -- an acute, traumatic calf strain has no reason to be preceded by a gradual decline the way a lingering, reaggravated injury would. Also point out the real post-return dip around games 13-17, consistent with a deliberate, cautious workload ramp-up, not a missed warning. Timing: about 6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SPORTS ANALYTICS · GRADUATE</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Injury Risk Signature Module</a:t>
            </a:r>
            <a:endParaRPr lang="en-US" sz="42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10 · PhD Track · Closing the Course</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10
</a:t>
            </a:r>
            <a:pPr indent="0" marL="0">
              <a:buNone/>
            </a:pPr>
            <a:r>
              <a:rPr lang="en-US" sz="1300" dirty="0">
                <a:solidFill>
                  <a:srgbClr val="FFFFFF"/>
                </a:solidFill>
                <a:latin typeface="Calibri" pitchFamily="34" charset="0"/>
                <a:ea typeface="Calibri" pitchFamily="34" charset="-122"/>
                <a:cs typeface="Calibri" pitchFamily="34" charset="-120"/>
              </a:rPr>
              <a:t>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150" dirty="0">
                <a:solidFill>
                  <a:srgbClr val="AEBBD1"/>
                </a:solidFill>
                <a:latin typeface="Calibri" pitchFamily="34" charset="0"/>
                <a:ea typeface="Calibri" pitchFamily="34" charset="-122"/>
                <a:cs typeface="Calibri" pitchFamily="34" charset="-120"/>
              </a:rPr>
              <a:t>Built from my own published research:</a:t>
            </a:r>
            <a:endParaRPr lang="en-US" sz="1150" dirty="0"/>
          </a:p>
          <a:p>
            <a:pPr indent="0" marL="0">
              <a:buNone/>
            </a:pPr>
            <a:r>
              <a:rPr lang="en-US" sz="1150" dirty="0">
                <a:solidFill>
                  <a:srgbClr val="AEBBD1"/>
                </a:solidFill>
                <a:latin typeface="Calibri" pitchFamily="34" charset="0"/>
                <a:ea typeface="Calibri" pitchFamily="34" charset="-122"/>
                <a:cs typeface="Calibri" pitchFamily="34" charset="-120"/>
              </a:rPr>
              <a:t>Brown, Muritala &amp; Haller (2026), Research in Sports Medicine</a:t>
            </a:r>
            <a:endParaRPr lang="en-US" sz="1150" dirty="0"/>
          </a:p>
          <a:p>
            <a:pPr indent="0" marL="0">
              <a:buNone/>
            </a:pPr>
            <a:r>
              <a:rPr lang="en-US" sz="1150" dirty="0">
                <a:solidFill>
                  <a:srgbClr val="AEBBD1"/>
                </a:solidFill>
                <a:latin typeface="Calibri" pitchFamily="34" charset="0"/>
                <a:ea typeface="Calibri" pitchFamily="34" charset="-122"/>
                <a:cs typeface="Calibri" pitchFamily="34" charset="-120"/>
              </a:rPr>
              <a:t>Tention, Muritala, Frankel &amp; Brown (2026), Basketball Studies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9 closed out this course's run through the textbook's own chapter structure: nine chapters, nine modules, ending with real tree-ensemble scoring-probability models. Today is different. Nothing in this module comes from the textbook. It comes directly from my own published research, in two real papers, and it is the module where I want you thinking seriously about your own thesis, dissertation, or publication.</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Real methods. Real published numbers. Real, honest limitations.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baseball paper, start to finish: Cp, CUSUM, and two real pitchers</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The basketball paper, and watching the method run live on real, new data</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Real limitations, real research directions, and closing out the course</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10, the Module 10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783080"/>
            <a:ext cx="411480" cy="411480"/>
          </a:xfrm>
          <a:prstGeom prst="ellipse">
            <a:avLst/>
          </a:prstGeom>
          <a:solidFill>
            <a:srgbClr val="27496D"/>
          </a:solidFill>
          <a:ln/>
        </p:spPr>
      </p:sp>
      <p:sp>
        <p:nvSpPr>
          <p:cNvPr id="5" name="Text 3"/>
          <p:cNvSpPr txBox="1"/>
          <p:nvPr/>
        </p:nvSpPr>
        <p:spPr>
          <a:xfrm>
            <a:off x="548640" y="17830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7373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the real, published Cp/CUSUM hybrid method for MLB pitcher reinjury monitoring, including its real formulas.</a:t>
            </a:r>
            <a:endParaRPr lang="en-US" sz="1600" dirty="0"/>
          </a:p>
        </p:txBody>
      </p:sp>
      <p:sp>
        <p:nvSpPr>
          <p:cNvPr id="7" name="Shape 5"/>
          <p:cNvSpPr/>
          <p:nvPr/>
        </p:nvSpPr>
        <p:spPr>
          <a:xfrm>
            <a:off x="548640" y="2496312"/>
            <a:ext cx="411480" cy="411480"/>
          </a:xfrm>
          <a:prstGeom prst="ellipse">
            <a:avLst/>
          </a:prstGeom>
          <a:solidFill>
            <a:srgbClr val="E4572E"/>
          </a:solidFill>
          <a:ln/>
        </p:spPr>
      </p:sp>
      <p:sp>
        <p:nvSpPr>
          <p:cNvPr id="8" name="Text 6"/>
          <p:cNvSpPr txBox="1"/>
          <p:nvPr/>
        </p:nvSpPr>
        <p:spPr>
          <a:xfrm>
            <a:off x="548640" y="249631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450592"/>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Interpret the real Wainwright and Alzolay case studies, and explain honestly what a control-chart signal does and does not prove.</a:t>
            </a:r>
            <a:endParaRPr lang="en-US" sz="1600" dirty="0"/>
          </a:p>
        </p:txBody>
      </p:sp>
      <p:sp>
        <p:nvSpPr>
          <p:cNvPr id="10" name="Shape 8"/>
          <p:cNvSpPr/>
          <p:nvPr/>
        </p:nvSpPr>
        <p:spPr>
          <a:xfrm>
            <a:off x="548640" y="3209544"/>
            <a:ext cx="411480" cy="411480"/>
          </a:xfrm>
          <a:prstGeom prst="ellipse">
            <a:avLst/>
          </a:prstGeom>
          <a:solidFill>
            <a:srgbClr val="27496D"/>
          </a:solidFill>
          <a:ln/>
        </p:spPr>
      </p:sp>
      <p:sp>
        <p:nvSpPr>
          <p:cNvPr id="11" name="Text 9"/>
          <p:cNvSpPr txBox="1"/>
          <p:nvPr/>
        </p:nvSpPr>
        <p:spPr>
          <a:xfrm>
            <a:off x="548640" y="32095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163824"/>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the two real methodological advances the basketball paper makes, and which baseball-paper limitation each one addresses.</a:t>
            </a:r>
            <a:endParaRPr lang="en-US" sz="1600" dirty="0"/>
          </a:p>
        </p:txBody>
      </p:sp>
      <p:sp>
        <p:nvSpPr>
          <p:cNvPr id="13" name="Shape 11"/>
          <p:cNvSpPr/>
          <p:nvPr/>
        </p:nvSpPr>
        <p:spPr>
          <a:xfrm>
            <a:off x="548640" y="3922776"/>
            <a:ext cx="411480" cy="411480"/>
          </a:xfrm>
          <a:prstGeom prst="ellipse">
            <a:avLst/>
          </a:prstGeom>
          <a:solidFill>
            <a:srgbClr val="E4572E"/>
          </a:solidFill>
          <a:ln/>
        </p:spPr>
      </p:sp>
      <p:sp>
        <p:nvSpPr>
          <p:cNvPr id="14" name="Text 12"/>
          <p:cNvSpPr txBox="1"/>
          <p:nvPr/>
        </p:nvSpPr>
        <p:spPr>
          <a:xfrm>
            <a:off x="548640" y="392277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3877056"/>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Read and interpret real sensitivity, specificity, and lead-time results across four real NBA performance metrics.</a:t>
            </a:r>
            <a:endParaRPr lang="en-US" sz="1600" dirty="0"/>
          </a:p>
        </p:txBody>
      </p:sp>
      <p:sp>
        <p:nvSpPr>
          <p:cNvPr id="16" name="Shape 14"/>
          <p:cNvSpPr/>
          <p:nvPr/>
        </p:nvSpPr>
        <p:spPr>
          <a:xfrm>
            <a:off x="548640" y="4636008"/>
            <a:ext cx="411480" cy="411480"/>
          </a:xfrm>
          <a:prstGeom prst="ellipse">
            <a:avLst/>
          </a:prstGeom>
          <a:solidFill>
            <a:srgbClr val="27496D"/>
          </a:solidFill>
          <a:ln/>
        </p:spPr>
      </p:sp>
      <p:sp>
        <p:nvSpPr>
          <p:cNvPr id="17" name="Text 15"/>
          <p:cNvSpPr txBox="1"/>
          <p:nvPr/>
        </p:nvSpPr>
        <p:spPr>
          <a:xfrm>
            <a:off x="548640" y="4636008"/>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4590288"/>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real, individualized EWMA-style monitoring chart yourself, on real data, and interpret an honest null result correctly.</a:t>
            </a:r>
            <a:endParaRPr lang="en-US" sz="1600" dirty="0"/>
          </a:p>
        </p:txBody>
      </p:sp>
      <p:sp>
        <p:nvSpPr>
          <p:cNvPr id="19" name="Shape 17"/>
          <p:cNvSpPr/>
          <p:nvPr/>
        </p:nvSpPr>
        <p:spPr>
          <a:xfrm>
            <a:off x="548640" y="5349240"/>
            <a:ext cx="411480" cy="411480"/>
          </a:xfrm>
          <a:prstGeom prst="ellipse">
            <a:avLst/>
          </a:prstGeom>
          <a:solidFill>
            <a:srgbClr val="E4572E"/>
          </a:solidFill>
          <a:ln/>
        </p:spPr>
      </p:sp>
      <p:sp>
        <p:nvSpPr>
          <p:cNvPr id="20" name="Text 18"/>
          <p:cNvSpPr txBox="1"/>
          <p:nvPr/>
        </p:nvSpPr>
        <p:spPr>
          <a:xfrm>
            <a:off x="548640" y="53492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9"/>
          <p:cNvSpPr txBox="1"/>
          <p:nvPr/>
        </p:nvSpPr>
        <p:spPr>
          <a:xfrm>
            <a:off x="1143000" y="53035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Identify at least one real, concrete, publication-worthy research direction from these two papers' own stated limitations.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Module Built From My Own Published Research</a:t>
            </a:r>
            <a:endParaRPr lang="en-US" sz="3000" dirty="0"/>
          </a:p>
        </p:txBody>
      </p:sp>
      <p:sp>
        <p:nvSpPr>
          <p:cNvPr id="4" name="Text 2"/>
          <p:cNvSpPr txBox="1"/>
          <p:nvPr/>
        </p:nvSpPr>
        <p:spPr>
          <a:xfrm>
            <a:off x="548640" y="2194560"/>
            <a:ext cx="11091672" cy="1645920"/>
          </a:xfrm>
          <a:prstGeom prst="rect">
            <a:avLst/>
          </a:prstGeom>
          <a:noFill/>
          <a:ln/>
        </p:spPr>
        <p:txBody>
          <a:bodyPr wrap="square" lIns="0" tIns="0" rIns="0" bIns="0" rtlCol="0" anchor="ctr"/>
          <a:lstStyle/>
          <a:p>
            <a:pPr indent="0" marL="0">
              <a:lnSpc>
                <a:spcPct val="125000"/>
              </a:lnSpc>
              <a:buNone/>
            </a:pPr>
            <a:r>
              <a:rPr lang="en-US" sz="1700" dirty="0">
                <a:solidFill>
                  <a:srgbClr val="FFFFFF"/>
                </a:solidFill>
                <a:latin typeface="Calibri" pitchFamily="34" charset="0"/>
                <a:ea typeface="Calibri" pitchFamily="34" charset="-122"/>
                <a:cs typeface="Calibri" pitchFamily="34" charset="-120"/>
              </a:rPr>
              <a:t>Every other module this term built on a real textbook. This one builds on a question I study myself: can an athlete's own data flag trouble before it becomes a second injury? I am walking you through both papers in full, in order, because by the end of today I want some of you seriously considering a project in this exact space.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PLAIN LANGUAGE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Problem: Incomplete Recovery</a:t>
            </a:r>
            <a:endParaRPr lang="en-US" sz="2800" dirty="0"/>
          </a:p>
        </p:txBody>
      </p:sp>
      <p:sp>
        <p:nvSpPr>
          <p:cNvPr id="4" name="Shape 2"/>
          <p:cNvSpPr/>
          <p:nvPr/>
        </p:nvSpPr>
        <p:spPr>
          <a:xfrm>
            <a:off x="548640" y="2103120"/>
            <a:ext cx="11091672" cy="2011680"/>
          </a:xfrm>
          <a:prstGeom prst="roundRect">
            <a:avLst>
              <a:gd name="adj" fmla="val 2727"/>
            </a:avLst>
          </a:prstGeom>
          <a:solidFill>
            <a:srgbClr val="EDF1F7"/>
          </a:solidFill>
          <a:ln/>
        </p:spPr>
      </p:sp>
      <p:sp>
        <p:nvSpPr>
          <p:cNvPr id="5" name="Text 3"/>
          <p:cNvSpPr txBox="1"/>
          <p:nvPr/>
        </p:nvSpPr>
        <p:spPr>
          <a:xfrm>
            <a:off x="914400" y="2377440"/>
            <a:ext cx="10360152" cy="14630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Pitchers who go on the injured list do not always come back fully recovered. Makhni et al. (2014), cited in Brown, Muritala &amp; Haller (2026), found that 57% of pitchers who underwent Tommy John surgery between 1999 and 2011 needed a second injured-list stint for the same arm. Catching incomplete recovery early is critical for both player health and team performance.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WHY NOT JUST USE VIDEO?</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Data-Volume Problem</a:t>
            </a:r>
            <a:endParaRPr lang="en-US" sz="2800" dirty="0"/>
          </a:p>
        </p:txBody>
      </p:sp>
      <p:sp>
        <p:nvSpPr>
          <p:cNvPr id="4" name="Shape 2"/>
          <p:cNvSpPr/>
          <p:nvPr/>
        </p:nvSpPr>
        <p:spPr>
          <a:xfrm>
            <a:off x="548640" y="2103120"/>
            <a:ext cx="11091672" cy="2011680"/>
          </a:xfrm>
          <a:prstGeom prst="roundRect">
            <a:avLst>
              <a:gd name="adj" fmla="val 2727"/>
            </a:avLst>
          </a:prstGeom>
          <a:solidFill>
            <a:srgbClr val="27496D"/>
          </a:solidFill>
          <a:ln/>
        </p:spPr>
      </p:sp>
      <p:sp>
        <p:nvSpPr>
          <p:cNvPr id="5" name="Text 3"/>
          <p:cNvSpPr txBox="1"/>
          <p:nvPr/>
        </p:nvSpPr>
        <p:spPr>
          <a:xfrm>
            <a:off x="914400" y="2331720"/>
            <a:ext cx="10360152" cy="173736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Calibri" pitchFamily="34" charset="0"/>
                <a:ea typeface="Calibri" pitchFamily="34" charset="-122"/>
                <a:cs typeface="Calibri" pitchFamily="34" charset="-120"/>
              </a:rPr>
              <a:t>Advanced video-based methods exist, including convolutional neural networks trained on pitch footage. But Piergiovanni and Ryoo (2019) needed an average of nearly 300 pitches per player to train their own method, and still judged that insufficient for detecting real in-season deterioration. Most individual pitchers simply do not generate that much data fast enough.</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BEFORE WE CONTINUE</a:t>
            </a:r>
            <a:endParaRPr lang="en-US" sz="1300" dirty="0"/>
          </a:p>
        </p:txBody>
      </p:sp>
      <p:sp>
        <p:nvSpPr>
          <p:cNvPr id="3" name="Text 1"/>
          <p:cNvSpPr txBox="1"/>
          <p:nvPr/>
        </p:nvSpPr>
        <p:spPr>
          <a:xfrm>
            <a:off x="548640" y="960120"/>
            <a:ext cx="11091672" cy="10972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Control Charts Simply Explained</a:t>
            </a:r>
            <a:endParaRPr lang="en-US" sz="2600" dirty="0"/>
          </a:p>
        </p:txBody>
      </p:sp>
      <p:sp>
        <p:nvSpPr>
          <p:cNvPr id="4" name="Shape 2"/>
          <p:cNvSpPr/>
          <p:nvPr/>
        </p:nvSpPr>
        <p:spPr>
          <a:xfrm>
            <a:off x="548640" y="2286000"/>
            <a:ext cx="11091672" cy="1828800"/>
          </a:xfrm>
          <a:prstGeom prst="roundRect">
            <a:avLst>
              <a:gd name="adj" fmla="val 3000"/>
            </a:avLst>
          </a:prstGeom>
          <a:solidFill>
            <a:srgbClr val="27496D"/>
          </a:solidFill>
          <a:ln/>
        </p:spPr>
      </p:sp>
      <p:sp>
        <p:nvSpPr>
          <p:cNvPr id="5" name="Shape 3"/>
          <p:cNvSpPr/>
          <p:nvPr/>
        </p:nvSpPr>
        <p:spPr>
          <a:xfrm>
            <a:off x="914400" y="2651760"/>
            <a:ext cx="822960" cy="822960"/>
          </a:xfrm>
          <a:prstGeom prst="ellipse">
            <a:avLst/>
          </a:prstGeom>
          <a:solidFill>
            <a:srgbClr val="E4572E"/>
          </a:solidFill>
          <a:ln/>
        </p:spPr>
      </p:sp>
      <p:sp>
        <p:nvSpPr>
          <p:cNvPr id="6" name="Text 4"/>
          <p:cNvSpPr txBox="1"/>
          <p:nvPr/>
        </p:nvSpPr>
        <p:spPr>
          <a:xfrm>
            <a:off x="914400" y="2651760"/>
            <a:ext cx="822960" cy="822960"/>
          </a:xfrm>
          <a:prstGeom prst="rect">
            <a:avLst/>
          </a:prstGeom>
          <a:noFill/>
          <a:ln/>
        </p:spPr>
        <p:txBody>
          <a:bodyPr wrap="square" lIns="0" tIns="0" rIns="0" bIns="0" rtlCol="0" anchor="ctr"/>
          <a:lstStyle/>
          <a:p>
            <a:pPr algn="ctr" indent="0" marL="0">
              <a:buNone/>
            </a:pPr>
            <a:r>
              <a:rPr lang="en-US" sz="2800" dirty="0">
                <a:solidFill>
                  <a:srgbClr val="FFFFFF"/>
                </a:solidFill>
              </a:rPr>
              <a:t>▶</a:t>
            </a:r>
            <a:endParaRPr lang="en-US" sz="2800" dirty="0"/>
          </a:p>
        </p:txBody>
      </p:sp>
      <p:sp>
        <p:nvSpPr>
          <p:cNvPr id="7" name="Text 5"/>
          <p:cNvSpPr txBox="1"/>
          <p:nvPr/>
        </p:nvSpPr>
        <p:spPr>
          <a:xfrm>
            <a:off x="2011680" y="2697480"/>
            <a:ext cx="9262872"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numiqo (YouTube)
</a:t>
            </a:r>
            <a:pPr indent="0" marL="0">
              <a:buNone/>
            </a:pPr>
            <a:r>
              <a:rPr lang="en-US" sz="1200" dirty="0">
                <a:solidFill>
                  <a:srgbClr val="AEBBD1"/>
                </a:solidFill>
                <a:latin typeface="Calibri" pitchFamily="34" charset="0"/>
                <a:ea typeface="Calibri" pitchFamily="34" charset="-122"/>
                <a:cs typeface="Calibri" pitchFamily="34" charset="-120"/>
              </a:rPr>
              <a:t>https://www.youtube.com/watch?v=iOJDBpOa3Ko</a:t>
            </a:r>
            <a:endParaRPr lang="en-US" sz="1500" dirty="0"/>
          </a:p>
        </p:txBody>
      </p:sp>
      <p:sp>
        <p:nvSpPr>
          <p:cNvPr id="8" name="Text 6"/>
          <p:cNvSpPr txBox="1"/>
          <p:nvPr/>
        </p:nvSpPr>
        <p:spPr>
          <a:xfrm>
            <a:off x="2011680" y="3566160"/>
            <a:ext cx="9262872" cy="365760"/>
          </a:xfrm>
          <a:prstGeom prst="rect">
            <a:avLst/>
          </a:prstGeom>
          <a:noFill/>
          <a:ln/>
        </p:spPr>
        <p:txBody>
          <a:bodyPr wrap="square" lIns="0" tIns="0" rIns="0" bIns="0" rtlCol="0" anchor="ctr"/>
          <a:lstStyle/>
          <a:p>
            <a:pPr indent="0" marL="0">
              <a:buNone/>
            </a:pPr>
            <a:r>
              <a:rPr lang="en-US" sz="1000" i="1" dirty="0">
                <a:solidFill>
                  <a:srgbClr val="AEBBD1"/>
                </a:solidFill>
                <a:latin typeface="Calibri" pitchFamily="34" charset="0"/>
                <a:ea typeface="Calibri" pitchFamily="34" charset="-122"/>
                <a:cs typeface="Calibri" pitchFamily="34" charset="-120"/>
              </a:rPr>
              <a:t>Confirmed to exist via web search at the time this module was built.</a:t>
            </a:r>
            <a:endParaRPr lang="en-US" sz="1000" dirty="0"/>
          </a:p>
        </p:txBody>
      </p:sp>
      <p:sp>
        <p:nvSpPr>
          <p:cNvPr id="9" name="Text 7"/>
          <p:cNvSpPr txBox="1"/>
          <p:nvPr/>
        </p:nvSpPr>
        <p:spPr>
          <a:xfrm>
            <a:off x="548640" y="443484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AEBBD1"/>
                </a:solidFill>
                <a:latin typeface="Calibri" pitchFamily="34" charset="0"/>
                <a:ea typeface="Calibri" pitchFamily="34" charset="-122"/>
                <a:cs typeface="Calibri" pitchFamily="34" charset="-120"/>
              </a:rPr>
              <a:t>Watch for: how a center line and control limits turn a plain-looking series into a decision tool, before we add the real Cp and CUSUM math on top of it.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THE FORMULA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Process Capability: Setting a Real Standard</a:t>
            </a:r>
            <a:endParaRPr lang="en-US" sz="2600" dirty="0"/>
          </a:p>
        </p:txBody>
      </p:sp>
      <p:sp>
        <p:nvSpPr>
          <p:cNvPr id="4" name="Shape 2"/>
          <p:cNvSpPr/>
          <p:nvPr/>
        </p:nvSpPr>
        <p:spPr>
          <a:xfrm>
            <a:off x="548640" y="2011680"/>
            <a:ext cx="11091672" cy="2377440"/>
          </a:xfrm>
          <a:prstGeom prst="roundRect">
            <a:avLst>
              <a:gd name="adj" fmla="val 2308"/>
            </a:avLst>
          </a:prstGeom>
          <a:solidFill>
            <a:srgbClr val="0B1D33"/>
          </a:solidFill>
          <a:ln/>
        </p:spPr>
      </p:sp>
      <p:sp>
        <p:nvSpPr>
          <p:cNvPr id="5" name="Text 3"/>
          <p:cNvSpPr txBox="1"/>
          <p:nvPr/>
        </p:nvSpPr>
        <p:spPr>
          <a:xfrm>
            <a:off x="914400" y="2286000"/>
            <a:ext cx="10360152" cy="1828800"/>
          </a:xfrm>
          <a:prstGeom prst="rect">
            <a:avLst/>
          </a:prstGeom>
          <a:noFill/>
          <a:ln/>
        </p:spPr>
        <p:txBody>
          <a:bodyPr wrap="square" lIns="0" tIns="0" rIns="0" bIns="0" rtlCol="0" anchor="ctr"/>
          <a:lstStyle/>
          <a:p>
            <a:pPr indent="0" marL="0">
              <a:buNone/>
            </a:pPr>
            <a:r>
              <a:rPr lang="en-US" sz="1800" dirty="0">
                <a:solidFill>
                  <a:srgbClr val="D9E2F3"/>
                </a:solidFill>
                <a:latin typeface="Courier New" pitchFamily="34" charset="0"/>
                <a:ea typeface="Courier New" pitchFamily="34" charset="-122"/>
                <a:cs typeface="Courier New" pitchFamily="34" charset="-120"/>
              </a:rPr>
              <a:t>USL = xbar + 3 * sigma_hat</a:t>
            </a:r>
            <a:endParaRPr lang="en-US" sz="1800" dirty="0"/>
          </a:p>
          <a:p>
            <a:pPr indent="0" marL="0">
              <a:buNone/>
            </a:pPr>
            <a:endParaRPr lang="en-US" sz="1800" dirty="0"/>
          </a:p>
          <a:p>
            <a:pPr indent="0" marL="0">
              <a:buNone/>
            </a:pPr>
            <a:r>
              <a:rPr lang="en-US" sz="1800" dirty="0">
                <a:solidFill>
                  <a:srgbClr val="D9E2F3"/>
                </a:solidFill>
                <a:latin typeface="Courier New" pitchFamily="34" charset="0"/>
                <a:ea typeface="Courier New" pitchFamily="34" charset="-122"/>
                <a:cs typeface="Courier New" pitchFamily="34" charset="-120"/>
              </a:rPr>
              <a:t>xbar, sigma_hat = mean and sd of WHIP among all qualified</a:t>
            </a:r>
            <a:endParaRPr lang="en-US" sz="1800" dirty="0"/>
          </a:p>
          <a:p>
            <a:pPr indent="0" marL="0">
              <a:buNone/>
            </a:pPr>
            <a:r>
              <a:rPr lang="en-US" sz="1800" dirty="0">
                <a:solidFill>
                  <a:srgbClr val="D9E2F3"/>
                </a:solidFill>
                <a:latin typeface="Courier New" pitchFamily="34" charset="0"/>
                <a:ea typeface="Courier New" pitchFamily="34" charset="-122"/>
                <a:cs typeface="Courier New" pitchFamily="34" charset="-120"/>
              </a:rPr>
              <a:t>                  pitchers (&gt;= 15 IP) from the PRIOR season</a:t>
            </a:r>
            <a:endParaRPr lang="en-US" sz="18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This Upper Specification Limit is the real, data-driven ceiling a returning pitcher's WHIP is compared against.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THE FORMULA, CONTINUED</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CUSUM: Accumulating Real Deviations Over Time</a:t>
            </a:r>
            <a:endParaRPr lang="en-US" sz="2600" dirty="0"/>
          </a:p>
        </p:txBody>
      </p:sp>
      <p:sp>
        <p:nvSpPr>
          <p:cNvPr id="4" name="Shape 2"/>
          <p:cNvSpPr/>
          <p:nvPr/>
        </p:nvSpPr>
        <p:spPr>
          <a:xfrm>
            <a:off x="548640" y="2011680"/>
            <a:ext cx="11091672" cy="2743200"/>
          </a:xfrm>
          <a:prstGeom prst="roundRect">
            <a:avLst>
              <a:gd name="adj" fmla="val 2000"/>
            </a:avLst>
          </a:prstGeom>
          <a:solidFill>
            <a:srgbClr val="0B1D33"/>
          </a:solidFill>
          <a:ln/>
        </p:spPr>
      </p:sp>
      <p:sp>
        <p:nvSpPr>
          <p:cNvPr id="5" name="Text 3"/>
          <p:cNvSpPr txBox="1"/>
          <p:nvPr/>
        </p:nvSpPr>
        <p:spPr>
          <a:xfrm>
            <a:off x="914400" y="2240280"/>
            <a:ext cx="10360152" cy="228600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W_it = (USL - WHIP_it) / sigma_hat</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k = |USL - 3| / 2</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C+_it = max(0, C+_i(t-1) + (W_it - 3 - k))</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A signal fires when C+_it &gt; h (the decision interval)</a:t>
            </a:r>
            <a:endParaRPr lang="en-US" sz="1600" dirty="0"/>
          </a:p>
        </p:txBody>
      </p:sp>
      <p:sp>
        <p:nvSpPr>
          <p:cNvPr id="6" name="Text 4"/>
          <p:cNvSpPr txBox="1"/>
          <p:nvPr/>
        </p:nvSpPr>
        <p:spPr>
          <a:xfrm>
            <a:off x="548640" y="50292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Smaller h catches more real signals sooner, at the cost of more false alarms. Larger h is the opposite trade-off.</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Sample: 558 Pitchers, 2021-2023</a:t>
            </a:r>
            <a:endParaRPr lang="en-US" sz="28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6459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Real data came from FanGraphs' public injury reports, 2021 through 2023, filtered to pitchers who played for one team all year, had at most two IL stints, returned before August, and had at least five appearances post-injury. That left 219, 192, and 147 real pitchers per season, a total real n = 558.</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Brown, Muritala &amp; Haller (2026), Research in Sports Medicine.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CASE STUDY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Adam Wainwright, 2023: The Chart That Worked</a:t>
            </a:r>
            <a:endParaRPr lang="en-US" sz="2600" dirty="0"/>
          </a:p>
        </p:txBody>
      </p:sp>
      <p:sp>
        <p:nvSpPr>
          <p:cNvPr id="4" name="Text 2"/>
          <p:cNvSpPr txBox="1"/>
          <p:nvPr/>
        </p:nvSpPr>
        <p:spPr>
          <a:xfrm>
            <a:off x="548640" y="2194560"/>
            <a:ext cx="3108960" cy="73152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Decision interval</a:t>
            </a:r>
            <a:endParaRPr lang="en-US" sz="1400" dirty="0"/>
          </a:p>
        </p:txBody>
      </p:sp>
      <p:sp>
        <p:nvSpPr>
          <p:cNvPr id="5" name="Text 3"/>
          <p:cNvSpPr txBox="1"/>
          <p:nvPr/>
        </p:nvSpPr>
        <p:spPr>
          <a:xfrm>
            <a:off x="3657600" y="2194560"/>
            <a:ext cx="7982712"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 = 7</a:t>
            </a:r>
            <a:endParaRPr lang="en-US" sz="1500" dirty="0"/>
          </a:p>
        </p:txBody>
      </p:sp>
      <p:sp>
        <p:nvSpPr>
          <p:cNvPr id="6" name="Text 4"/>
          <p:cNvSpPr txBox="1"/>
          <p:nvPr/>
        </p:nvSpPr>
        <p:spPr>
          <a:xfrm>
            <a:off x="548640" y="3063240"/>
            <a:ext cx="3108960" cy="73152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CUSUM statistic</a:t>
            </a:r>
            <a:endParaRPr lang="en-US" sz="1400" dirty="0"/>
          </a:p>
        </p:txBody>
      </p:sp>
      <p:sp>
        <p:nvSpPr>
          <p:cNvPr id="7" name="Text 5"/>
          <p:cNvSpPr txBox="1"/>
          <p:nvPr/>
        </p:nvSpPr>
        <p:spPr>
          <a:xfrm>
            <a:off x="3657600" y="3063240"/>
            <a:ext cx="7982712"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Stayed above zero for every post-return appearance</a:t>
            </a:r>
            <a:endParaRPr lang="en-US" sz="1500" dirty="0"/>
          </a:p>
        </p:txBody>
      </p:sp>
      <p:sp>
        <p:nvSpPr>
          <p:cNvPr id="8" name="Text 6"/>
          <p:cNvSpPr txBox="1"/>
          <p:nvPr/>
        </p:nvSpPr>
        <p:spPr>
          <a:xfrm>
            <a:off x="548640" y="3931920"/>
            <a:ext cx="3108960" cy="73152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Real signal</a:t>
            </a:r>
            <a:endParaRPr lang="en-US" sz="1400" dirty="0"/>
          </a:p>
        </p:txBody>
      </p:sp>
      <p:sp>
        <p:nvSpPr>
          <p:cNvPr id="9" name="Text 7"/>
          <p:cNvSpPr txBox="1"/>
          <p:nvPr/>
        </p:nvSpPr>
        <p:spPr>
          <a:xfrm>
            <a:off x="3657600" y="3931920"/>
            <a:ext cx="7982712"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Crossed h = 7 five appearances before his second IL stint</a:t>
            </a:r>
            <a:endParaRPr lang="en-US" sz="1500" dirty="0"/>
          </a:p>
        </p:txBody>
      </p:sp>
      <p:sp>
        <p:nvSpPr>
          <p:cNvPr id="10" name="Text 8"/>
          <p:cNvSpPr txBox="1"/>
          <p:nvPr/>
        </p:nvSpPr>
        <p:spPr>
          <a:xfrm>
            <a:off x="548640" y="4800600"/>
            <a:ext cx="3108960" cy="73152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What it means</a:t>
            </a:r>
            <a:endParaRPr lang="en-US" sz="1400" dirty="0"/>
          </a:p>
        </p:txBody>
      </p:sp>
      <p:sp>
        <p:nvSpPr>
          <p:cNvPr id="11" name="Text 9"/>
          <p:cNvSpPr txBox="1"/>
          <p:nvPr/>
        </p:nvSpPr>
        <p:spPr>
          <a:xfrm>
            <a:off x="3657600" y="4800600"/>
            <a:ext cx="7982712"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His standardized WHIP never returned to a capable level</a:t>
            </a:r>
            <a:endParaRPr lang="en-US" sz="1500" dirty="0"/>
          </a:p>
        </p:txBody>
      </p:sp>
      <p:sp>
        <p:nvSpPr>
          <p:cNvPr id="12" name="Text 10"/>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Brown, Muritala &amp; Haller (2026), Figure 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CASE STUDY · SEGMENT 1 · THE HONEST ONE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Adbert Alzolay, 2021: The Chart That Missed</a:t>
            </a:r>
            <a:endParaRPr lang="en-US" sz="2600" dirty="0"/>
          </a:p>
        </p:txBody>
      </p:sp>
      <p:sp>
        <p:nvSpPr>
          <p:cNvPr id="4" name="Text 2"/>
          <p:cNvSpPr txBox="1"/>
          <p:nvPr/>
        </p:nvSpPr>
        <p:spPr>
          <a:xfrm>
            <a:off x="548640" y="2103120"/>
            <a:ext cx="3108960" cy="82296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Decision interval</a:t>
            </a:r>
            <a:endParaRPr lang="en-US" sz="1400" dirty="0"/>
          </a:p>
        </p:txBody>
      </p:sp>
      <p:sp>
        <p:nvSpPr>
          <p:cNvPr id="5" name="Text 3"/>
          <p:cNvSpPr txBox="1"/>
          <p:nvPr/>
        </p:nvSpPr>
        <p:spPr>
          <a:xfrm>
            <a:off x="3657600" y="2103120"/>
            <a:ext cx="7982712"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 = 12</a:t>
            </a:r>
            <a:endParaRPr lang="en-US" sz="1400" dirty="0"/>
          </a:p>
        </p:txBody>
      </p:sp>
      <p:sp>
        <p:nvSpPr>
          <p:cNvPr id="6" name="Text 4"/>
          <p:cNvSpPr txBox="1"/>
          <p:nvPr/>
        </p:nvSpPr>
        <p:spPr>
          <a:xfrm>
            <a:off x="548640" y="3017520"/>
            <a:ext cx="3108960" cy="82296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CUSUM statistic</a:t>
            </a:r>
            <a:endParaRPr lang="en-US" sz="1400" dirty="0"/>
          </a:p>
        </p:txBody>
      </p:sp>
      <p:sp>
        <p:nvSpPr>
          <p:cNvPr id="7" name="Text 5"/>
          <p:cNvSpPr txBox="1"/>
          <p:nvPr/>
        </p:nvSpPr>
        <p:spPr>
          <a:xfrm>
            <a:off x="3657600" y="3017520"/>
            <a:ext cx="7982712"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Fluctuated but never crossed h = 12</a:t>
            </a:r>
            <a:endParaRPr lang="en-US" sz="1400" dirty="0"/>
          </a:p>
        </p:txBody>
      </p:sp>
      <p:sp>
        <p:nvSpPr>
          <p:cNvPr id="8" name="Text 6"/>
          <p:cNvSpPr txBox="1"/>
          <p:nvPr/>
        </p:nvSpPr>
        <p:spPr>
          <a:xfrm>
            <a:off x="548640" y="3931920"/>
            <a:ext cx="3108960" cy="82296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Real outcome</a:t>
            </a:r>
            <a:endParaRPr lang="en-US" sz="1400" dirty="0"/>
          </a:p>
        </p:txBody>
      </p:sp>
      <p:sp>
        <p:nvSpPr>
          <p:cNvPr id="9" name="Text 7"/>
          <p:cNvSpPr txBox="1"/>
          <p:nvPr/>
        </p:nvSpPr>
        <p:spPr>
          <a:xfrm>
            <a:off x="3657600" y="3931920"/>
            <a:ext cx="7982712"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He still required a real second IL stint, for a hamstring strain</a:t>
            </a:r>
            <a:endParaRPr lang="en-US" sz="1400" dirty="0"/>
          </a:p>
        </p:txBody>
      </p:sp>
      <p:sp>
        <p:nvSpPr>
          <p:cNvPr id="10" name="Text 8"/>
          <p:cNvSpPr txBox="1"/>
          <p:nvPr/>
        </p:nvSpPr>
        <p:spPr>
          <a:xfrm>
            <a:off x="548640" y="4846320"/>
            <a:ext cx="3108960" cy="822960"/>
          </a:xfrm>
          <a:prstGeom prst="rect">
            <a:avLst/>
          </a:prstGeom>
          <a:noFill/>
          <a:ln/>
        </p:spPr>
        <p:txBody>
          <a:bodyPr wrap="square" lIns="0" tIns="0" rIns="0" bIns="0" rtlCol="0" anchor="ctr"/>
          <a:lstStyle/>
          <a:p>
            <a:pPr indent="0" marL="0">
              <a:buNone/>
            </a:pPr>
            <a:r>
              <a:rPr lang="en-US" sz="1400" b="1" dirty="0">
                <a:solidFill>
                  <a:srgbClr val="AEBBD1"/>
                </a:solidFill>
                <a:latin typeface="Calibri" pitchFamily="34" charset="0"/>
                <a:ea typeface="Calibri" pitchFamily="34" charset="-122"/>
                <a:cs typeface="Calibri" pitchFamily="34" charset="-120"/>
              </a:rPr>
              <a:t>Why it missed</a:t>
            </a:r>
            <a:endParaRPr lang="en-US" sz="1400" dirty="0"/>
          </a:p>
        </p:txBody>
      </p:sp>
      <p:sp>
        <p:nvSpPr>
          <p:cNvPr id="11" name="Text 9"/>
          <p:cNvSpPr txBox="1"/>
          <p:nvPr/>
        </p:nvSpPr>
        <p:spPr>
          <a:xfrm>
            <a:off x="3657600" y="4846320"/>
            <a:ext cx="7982712"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His first injury was an unrelated finger blister -- a fresh, unrelated injury has no reason to be preceded by this kind of sustained decline</a:t>
            </a:r>
            <a:endParaRPr lang="en-US" sz="1400" dirty="0"/>
          </a:p>
        </p:txBody>
      </p:sp>
      <p:sp>
        <p:nvSpPr>
          <p:cNvPr id="12" name="Text 10"/>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Brown, Muritala &amp; Haller (2026), Figure 2. This case matters as much as Wainwright's.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What Would You Tell a GM About Alzolay's Chart?</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Get into pairs.</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If you were the team's analyst, and Alzolay's chart never crossed h = 12, would you have told the front office he was not at risk? Why or why not?</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What additional real information, beyond WHIP, might have caught his real hamstring strain in advance?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Real Trade-Off, Table 1</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1828800"/>
        </p:xfrm>
        <a:graphic>
          <a:graphicData uri="http://schemas.openxmlformats.org/drawingml/2006/table">
            <a:tbl>
              <a:tblPr/>
              <a:tblGrid>
                <a:gridCol w="3776472"/>
                <a:gridCol w="3657600"/>
                <a:gridCol w="365760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Decision Interval (h)</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Sensitivity (range, 2021-23)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Specificity (range, 2021-23)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572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h = 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79.45% - 84.85%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26.71% - 28.95%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h = 10</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72.60% - 84.85%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33.56% - 35.09%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57200">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h = 12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48.68% - 71.23%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33.97% - 41.23%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20624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As h increases, sensitivity falls and specificity rises -- a real, textbook trade-off. The paper recommends h between 7 and 12, given the low real cost of an extra medical check against the high real cost of a missed reinjury.</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Brown, Muritala &amp; Haller (2026), Table 1.</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REAL PAYOFF</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Six to Eight Games of Real Advance Warning</a:t>
            </a:r>
            <a:endParaRPr lang="en-US" sz="26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6-8</a:t>
            </a:r>
            <a:endParaRPr lang="en-US" sz="56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games of mean lead time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before a second IL stint,</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at h = 10, across 2021-2023</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The real numbers: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8.02, 7.20, and 6.14 games across the three real seasons at h = 10.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it matters: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week or more of real advance notice is a genuinely useful window for a medical staff to intervene, even with a method this simple.</a:t>
            </a:r>
            <a:endParaRPr lang="en-US" sz="1500" dirty="0"/>
          </a:p>
        </p:txBody>
      </p:sp>
      <p:sp>
        <p:nvSpPr>
          <p:cNvPr id="8" name="Text 6"/>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Brown, Muritala &amp; Haller (2026), Table 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Covered, and What's Next</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real Cp/CUSUM hybrid method, built from real WHIP data, and both the Wainwright success and the Alzolay honest miss.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moves to this year's real basketball extension of the same idea, and we watch it run live on brand-new real data.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the basketball paper, published this year.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Does the Same Logic Work in a Different Sport?</a:t>
            </a:r>
            <a:endParaRPr lang="en-US" sz="2800" dirty="0"/>
          </a:p>
        </p:txBody>
      </p:sp>
      <p:sp>
        <p:nvSpPr>
          <p:cNvPr id="4" name="Text 2"/>
          <p:cNvSpPr txBox="1"/>
          <p:nvPr/>
        </p:nvSpPr>
        <p:spPr>
          <a:xfrm>
            <a:off x="548640" y="2194560"/>
            <a:ext cx="11091672" cy="1645920"/>
          </a:xfrm>
          <a:prstGeom prst="rect">
            <a:avLst/>
          </a:prstGeom>
          <a:noFill/>
          <a:ln/>
        </p:spPr>
        <p:txBody>
          <a:bodyPr wrap="square" lIns="0" tIns="0" rIns="0" bIns="0" rtlCol="0" anchor="ctr"/>
          <a:lstStyle/>
          <a:p>
            <a:pPr indent="0" marL="0">
              <a:lnSpc>
                <a:spcPct val="125000"/>
              </a:lnSpc>
              <a:buNone/>
            </a:pPr>
            <a:r>
              <a:rPr lang="en-US" sz="1600" dirty="0">
                <a:solidFill>
                  <a:srgbClr val="FFFFFF"/>
                </a:solidFill>
                <a:latin typeface="Calibri" pitchFamily="34" charset="0"/>
                <a:ea typeface="Calibri" pitchFamily="34" charset="-122"/>
                <a:cs typeface="Calibri" pitchFamily="34" charset="-120"/>
              </a:rPr>
              <a:t>Tention, Muritala, Frankel &amp; Brown (2026), published this year in Basketball Studies, asks the obvious next question. Basketball has no WHIP equivalent, and performance metrics here are a noisier signal of health than a pitcher's own line. The real, carefully qualified answer: yes, with real, honestly lower accuracy.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Sample: 209 Athlete-Seasons</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Real NBA data via the hoopR package, 2021-2022 through 2025-2026. The first four seasons trained the method; the full 2025-2026 season was held out as a genuine, unseen test set. After filtering, the real qualifying sample was 58, 31, 29, 38, and 53 athletes per season: 157 Lower Extremity, 22 Core, 25 Upper Extremity, and 5 Other injuries, 209 in total.</a:t>
            </a:r>
            <a:endParaRPr lang="en-US" sz="15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Tention, Muritala, Frankel &amp; Brown (2026), Basketball Studies.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PLAIN LANGUAGE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Advance One: Judge Players Against Themselves</a:t>
            </a:r>
            <a:endParaRPr lang="en-US" sz="2600" dirty="0"/>
          </a:p>
        </p:txBody>
      </p:sp>
      <p:sp>
        <p:nvSpPr>
          <p:cNvPr id="4" name="Shape 2"/>
          <p:cNvSpPr/>
          <p:nvPr/>
        </p:nvSpPr>
        <p:spPr>
          <a:xfrm>
            <a:off x="548640" y="2103120"/>
            <a:ext cx="11091672" cy="2011680"/>
          </a:xfrm>
          <a:prstGeom prst="roundRect">
            <a:avLst>
              <a:gd name="adj" fmla="val 2727"/>
            </a:avLst>
          </a:prstGeom>
          <a:solidFill>
            <a:srgbClr val="EDF1F7"/>
          </a:solidFill>
          <a:ln/>
        </p:spPr>
      </p:sp>
      <p:sp>
        <p:nvSpPr>
          <p:cNvPr id="5" name="Text 3"/>
          <p:cNvSpPr txBox="1"/>
          <p:nvPr/>
        </p:nvSpPr>
        <p:spPr>
          <a:xfrm>
            <a:off x="914400" y="2377440"/>
            <a:ext cx="10360152" cy="14630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The baseball paper judged every pitcher against the same league-wide WHIP standard. This paper instead builds each player's own baseline: a credibility-weighted blend of that player's own pre-injury mean and the league grand mean. A player with lots of real pre-injury data gets judged mostly against their own history.</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THE FORMULA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Individualized Baseline, Exactly</a:t>
            </a:r>
            <a:endParaRPr lang="en-US" sz="2600" dirty="0"/>
          </a:p>
        </p:txBody>
      </p:sp>
      <p:sp>
        <p:nvSpPr>
          <p:cNvPr id="4" name="Shape 2"/>
          <p:cNvSpPr/>
          <p:nvPr/>
        </p:nvSpPr>
        <p:spPr>
          <a:xfrm>
            <a:off x="548640" y="2011680"/>
            <a:ext cx="11091672" cy="2560320"/>
          </a:xfrm>
          <a:prstGeom prst="roundRect">
            <a:avLst>
              <a:gd name="adj" fmla="val 2143"/>
            </a:avLst>
          </a:prstGeom>
          <a:solidFill>
            <a:srgbClr val="0B1D33"/>
          </a:solidFill>
          <a:ln/>
        </p:spPr>
      </p:sp>
      <p:sp>
        <p:nvSpPr>
          <p:cNvPr id="5" name="Text 3"/>
          <p:cNvSpPr txBox="1"/>
          <p:nvPr/>
        </p:nvSpPr>
        <p:spPr>
          <a:xfrm>
            <a:off x="914400" y="2240280"/>
            <a:ext cx="10360152" cy="210312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mu_0i = (n_i * xbar_i + k_m * xbar) / (n_i + k_m)</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LSL_i = mu_0i - 2 * sigma_0</a:t>
            </a:r>
            <a:endParaRPr lang="en-US" sz="1600" dirty="0"/>
          </a:p>
          <a:p>
            <a:pPr indent="0" marL="0">
              <a:buNone/>
            </a:pP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k_m: a single, pooled value estimated once per metric,</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not per player</a:t>
            </a:r>
            <a:endParaRPr lang="en-US" sz="1600" dirty="0"/>
          </a:p>
        </p:txBody>
      </p:sp>
      <p:sp>
        <p:nvSpPr>
          <p:cNvPr id="6" name="Text 4"/>
          <p:cNvSpPr txBox="1"/>
          <p:nvPr/>
        </p:nvSpPr>
        <p:spPr>
          <a:xfrm>
            <a:off x="548640" y="475488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This directly answers the baseball paper's own stated limitation: pitchers were compared to the whole league, not their own demonstrated level.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PLAIN LANGUAGE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Advance Two: EWMA-CUSUM, a Hybrid Statistic</a:t>
            </a:r>
            <a:endParaRPr lang="en-US" sz="2600" dirty="0"/>
          </a:p>
        </p:txBody>
      </p:sp>
      <p:sp>
        <p:nvSpPr>
          <p:cNvPr id="4" name="Shape 2"/>
          <p:cNvSpPr/>
          <p:nvPr/>
        </p:nvSpPr>
        <p:spPr>
          <a:xfrm>
            <a:off x="548640" y="2103120"/>
            <a:ext cx="11091672" cy="2011680"/>
          </a:xfrm>
          <a:prstGeom prst="roundRect">
            <a:avLst>
              <a:gd name="adj" fmla="val 2727"/>
            </a:avLst>
          </a:prstGeom>
          <a:solidFill>
            <a:srgbClr val="EDF1F7"/>
          </a:solidFill>
          <a:ln/>
        </p:spPr>
      </p:sp>
      <p:sp>
        <p:nvSpPr>
          <p:cNvPr id="5" name="Text 3"/>
          <p:cNvSpPr txBox="1"/>
          <p:nvPr/>
        </p:nvSpPr>
        <p:spPr>
          <a:xfrm>
            <a:off x="914400" y="2377440"/>
            <a:ext cx="10360152" cy="146304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An Exponentially Weighted Moving Average (EWMA) weights the most recent observation more heavily than older ones, controlled by a smoothing parameter lambda. This paper blends that interpretability with CUSUM's downward-shift sensitivity into a single hybrid plotting statistic.</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NEW TERM · THE FORMULA</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EWMA-CUSUM Hybrid, Exactly</a:t>
            </a:r>
            <a:endParaRPr lang="en-US" sz="2600" dirty="0"/>
          </a:p>
        </p:txBody>
      </p:sp>
      <p:sp>
        <p:nvSpPr>
          <p:cNvPr id="4" name="Shape 2"/>
          <p:cNvSpPr/>
          <p:nvPr/>
        </p:nvSpPr>
        <p:spPr>
          <a:xfrm>
            <a:off x="548640" y="2011680"/>
            <a:ext cx="11091672" cy="2377440"/>
          </a:xfrm>
          <a:prstGeom prst="roundRect">
            <a:avLst>
              <a:gd name="adj" fmla="val 2308"/>
            </a:avLst>
          </a:prstGeom>
          <a:solidFill>
            <a:srgbClr val="0B1D33"/>
          </a:solidFill>
          <a:ln/>
        </p:spPr>
      </p:sp>
      <p:sp>
        <p:nvSpPr>
          <p:cNvPr id="5" name="Text 3"/>
          <p:cNvSpPr txBox="1"/>
          <p:nvPr/>
        </p:nvSpPr>
        <p:spPr>
          <a:xfrm>
            <a:off x="914400" y="2286000"/>
            <a:ext cx="10360152" cy="1920240"/>
          </a:xfrm>
          <a:prstGeom prst="rect">
            <a:avLst/>
          </a:prstGeom>
          <a:noFill/>
          <a:ln/>
        </p:spPr>
        <p:txBody>
          <a:bodyPr wrap="square" lIns="0" tIns="0" rIns="0" bIns="0" rtlCol="0" anchor="ctr"/>
          <a:lstStyle/>
          <a:p>
            <a:pPr indent="0" marL="0">
              <a:buNone/>
            </a:pPr>
            <a:r>
              <a:rPr lang="en-US" sz="1700" dirty="0">
                <a:solidFill>
                  <a:srgbClr val="D9E2F3"/>
                </a:solidFill>
                <a:latin typeface="Courier New" pitchFamily="34" charset="0"/>
                <a:ea typeface="Courier New" pitchFamily="34" charset="-122"/>
                <a:cs typeface="Courier New" pitchFamily="34" charset="-120"/>
              </a:rPr>
              <a:t>c_ij = min(0, lambda*(W_ij - 2) + (1-lambda)*c_i(j-1))</a:t>
            </a:r>
            <a:endParaRPr lang="en-US" sz="1700" dirty="0"/>
          </a:p>
          <a:p>
            <a:pPr indent="0" marL="0">
              <a:buNone/>
            </a:pPr>
            <a:endParaRPr lang="en-US" sz="1700" dirty="0"/>
          </a:p>
          <a:p>
            <a:pPr indent="0" marL="0">
              <a:buNone/>
            </a:pPr>
            <a:r>
              <a:rPr lang="en-US" sz="1700" dirty="0">
                <a:solidFill>
                  <a:srgbClr val="D9E2F3"/>
                </a:solidFill>
                <a:latin typeface="Courier New" pitchFamily="34" charset="0"/>
                <a:ea typeface="Courier New" pitchFamily="34" charset="-122"/>
                <a:cs typeface="Courier New" pitchFamily="34" charset="-120"/>
              </a:rPr>
              <a:t>Searched on training data: lambda in [0.45, 1.0],</a:t>
            </a:r>
            <a:endParaRPr lang="en-US" sz="1700" dirty="0"/>
          </a:p>
          <a:p>
            <a:pPr indent="0" marL="0">
              <a:buNone/>
            </a:pPr>
            <a:r>
              <a:rPr lang="en-US" sz="1700" dirty="0">
                <a:solidFill>
                  <a:srgbClr val="D9E2F3"/>
                </a:solidFill>
                <a:latin typeface="Courier New" pitchFamily="34" charset="0"/>
                <a:ea typeface="Courier New" pitchFamily="34" charset="-122"/>
                <a:cs typeface="Courier New" pitchFamily="34" charset="-120"/>
              </a:rPr>
              <a:t>                            h in [0.05, 0.50]</a:t>
            </a:r>
            <a:endParaRPr lang="en-US" sz="1700" dirty="0"/>
          </a:p>
        </p:txBody>
      </p:sp>
      <p:sp>
        <p:nvSpPr>
          <p:cNvPr id="6" name="Text 4"/>
          <p:cNvSpPr txBox="1"/>
          <p:nvPr/>
        </p:nvSpPr>
        <p:spPr>
          <a:xfrm>
            <a:off x="548640" y="466344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The best (lambda, h) pair per metric was frozen on training data, then tested once, honestly, on the real held-out 2025-26 season.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Four Real Metrics, Tested Honestly, Table 2</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2194560"/>
        </p:xfrm>
        <a:graphic>
          <a:graphicData uri="http://schemas.openxmlformats.org/drawingml/2006/table">
            <a:tbl>
              <a:tblPr/>
              <a:tblGrid>
                <a:gridCol w="2862072"/>
                <a:gridCol w="2743200"/>
                <a:gridCol w="2743200"/>
                <a:gridCol w="2743200"/>
              </a:tblGrid>
              <a:tr h="438912">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Sensitivity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Specificity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Usage Rate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77.8%</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34.3%</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49.1%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PIE</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72.2%</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25.7%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41.5%</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BPM</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66.7%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22.9%</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37.7%</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Net Rating</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44.4%</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37.1%</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400" dirty="0">
                          <a:solidFill>
                            <a:srgbClr val="16213E"/>
                          </a:solidFill>
                          <a:latin typeface="Calibri" pitchFamily="34" charset="0"/>
                          <a:ea typeface="Calibri" pitchFamily="34" charset="-122"/>
                          <a:cs typeface="Calibri" pitchFamily="34" charset="-120"/>
                        </a:rPr>
                        <a:t>39.6%</a:t>
                      </a:r>
                      <a:endParaRPr lang="en-US" sz="14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bl>
          </a:graphicData>
        </a:graphic>
      </p:graphicFrame>
      <p:sp>
        <p:nvSpPr>
          <p:cNvPr id="5" name="Text 2"/>
          <p:cNvSpPr txBox="1"/>
          <p:nvPr/>
        </p:nvSpPr>
        <p:spPr>
          <a:xfrm>
            <a:off x="548640" y="448056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Usage Rate won on both real sensitivity and real overall balance on the held-out test season. All four real numbers are honestly far from perfect.</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Tention, Muritala, Frankel &amp; Brown (2026), Table 2, 2025-26 testing season.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THE RESULT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What a Specificity of 34.3% Actually Means</a:t>
            </a:r>
            <a:endParaRPr lang="en-US" sz="24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188720"/>
          </a:xfrm>
          <a:prstGeom prst="rect">
            <a:avLst/>
          </a:prstGeom>
          <a:noFill/>
          <a:ln/>
        </p:spPr>
        <p:txBody>
          <a:bodyPr wrap="square" lIns="0" tIns="0" rIns="0" bIns="0"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~66%</a:t>
            </a:r>
            <a:endParaRPr lang="en-US" sz="5200" dirty="0"/>
          </a:p>
        </p:txBody>
      </p:sp>
      <p:sp>
        <p:nvSpPr>
          <p:cNvPr id="6" name="Text 4"/>
          <p:cNvSpPr txBox="1"/>
          <p:nvPr/>
        </p:nvSpPr>
        <p:spPr>
          <a:xfrm>
            <a:off x="822960" y="3749040"/>
            <a:ext cx="3291840" cy="128016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of healthy players would</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still be flagged at least once</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under Usage Rate monitoring</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The real trade-off: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a team adopting this has to accept a real, meaningful false-positive rate.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Why a team might still do it: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the real cost of an unnecessary medical check is low compared to the real cost of missing an actual subsequent injury.</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Pitch This Result to a GM</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Get into small groups.</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In two sentences, explain the real Usage Rate result (77.8% sensitivity, 34.3% specificity) to a general manager who has never heard of a control chart.</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Be honest about what it would and would not promise them. Be ready to present your two sentences to the class.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 PART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Covered, and What's Next</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The real individualized baseline, the real EWMA-CUSUM hybrid, and the real four-metric comparison showing Usage Rate as the paper's own best-balance recommendation.</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Now we build one of these charts ourselves, live, on a real case neither of us has seen the answer to yet.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 PART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Let's Try It Ourselves, On a Real, New Case</a:t>
            </a:r>
            <a:endParaRPr lang="en-US" sz="28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64592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I chose this case honestly, before knowing what the chart would show, which is the right habit to build. Victor Wembanyama was shut down in February 2025 for a real blood clot in his shoulder and was not cleared to return to full activity until July 2025. He opened a healthy 2025-26 season on October 22, 2025.</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open R and build Victor Wembanyama's real 2025-26 workload chart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Pulling the Real Data and Setting a Baseline</a:t>
            </a:r>
            <a:endParaRPr lang="en-US" sz="2600" dirty="0"/>
          </a:p>
        </p:txBody>
      </p:sp>
      <p:sp>
        <p:nvSpPr>
          <p:cNvPr id="4" name="Shape 2"/>
          <p:cNvSpPr/>
          <p:nvPr/>
        </p:nvSpPr>
        <p:spPr>
          <a:xfrm>
            <a:off x="548640" y="2011680"/>
            <a:ext cx="11091672" cy="2743200"/>
          </a:xfrm>
          <a:prstGeom prst="roundRect">
            <a:avLst>
              <a:gd name="adj" fmla="val 2000"/>
            </a:avLst>
          </a:prstGeom>
          <a:solidFill>
            <a:srgbClr val="0B1D33"/>
          </a:solidFill>
          <a:ln/>
        </p:spPr>
      </p:sp>
      <p:sp>
        <p:nvSpPr>
          <p:cNvPr id="5" name="Text 3"/>
          <p:cNvSpPr txBox="1"/>
          <p:nvPr/>
        </p:nvSpPr>
        <p:spPr>
          <a:xfrm>
            <a:off x="914400" y="2240280"/>
            <a:ext cx="10360152" cy="2286000"/>
          </a:xfrm>
          <a:prstGeom prst="rect">
            <a:avLst/>
          </a:prstGeom>
          <a:noFill/>
          <a:ln/>
        </p:spPr>
        <p:txBody>
          <a:bodyPr wrap="square" lIns="0" tIns="0" rIns="0" bIns="0" rtlCol="0" anchor="ctr"/>
          <a:lstStyle/>
          <a:p>
            <a:pPr indent="0" marL="0">
              <a:buNone/>
            </a:pPr>
            <a:r>
              <a:rPr lang="en-US" sz="1400" dirty="0">
                <a:solidFill>
                  <a:srgbClr val="D9E2F3"/>
                </a:solidFill>
                <a:latin typeface="Courier New" pitchFamily="34" charset="0"/>
                <a:ea typeface="Courier New" pitchFamily="34" charset="-122"/>
                <a:cs typeface="Courier New" pitchFamily="34" charset="-120"/>
              </a:rPr>
              <a:t>df &lt;- read.csv("shotdetail_2025.csv")</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wemb &lt;- df[df$PLAYER_NAME == "Victor Wembanyama", ]</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by_game &lt;- aggregate(SHOT_ATTEMPTED_FLAG ~ GAME_ID + GAME_DATE,</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data = wemb, FUN = sum)</a:t>
            </a:r>
            <a:endParaRPr lang="en-US" sz="1400" dirty="0"/>
          </a:p>
          <a:p>
            <a:pPr indent="0" marL="0">
              <a:buNone/>
            </a:pP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 Real injury game: 2025-11-14 (game 12). Baseline = games 1-11.</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baseline &lt;- by_game[by_game$game_num &lt; 12, ]</a:t>
            </a:r>
            <a:endParaRPr lang="en-US" sz="1400" dirty="0"/>
          </a:p>
          <a:p>
            <a:pPr indent="0" marL="0">
              <a:buNone/>
            </a:pPr>
            <a:r>
              <a:rPr lang="en-US" sz="1400" dirty="0">
                <a:solidFill>
                  <a:srgbClr val="D9E2F3"/>
                </a:solidFill>
                <a:latin typeface="Courier New" pitchFamily="34" charset="0"/>
                <a:ea typeface="Courier New" pitchFamily="34" charset="-122"/>
                <a:cs typeface="Courier New" pitchFamily="34" charset="-120"/>
              </a:rPr>
              <a:t>mu0 &lt;- mean(baseline$FGA); sigma0 &lt;- sd(baseline$FGA)</a:t>
            </a:r>
            <a:endParaRPr lang="en-US" sz="1400" dirty="0"/>
          </a:p>
        </p:txBody>
      </p:sp>
      <p:sp>
        <p:nvSpPr>
          <p:cNvPr id="6" name="Text 4"/>
          <p:cNvSpPr txBox="1"/>
          <p:nvPr/>
        </p:nvSpPr>
        <p:spPr>
          <a:xfrm>
            <a:off x="548640" y="493776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Run this yourself. The real baseline: mean FGA = 18.18, sd = 4.71, from his real first 11 games.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Now let's compute the real EWMA statistic and see what it shows,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The Real EWMA Chart, Start to Finish</a:t>
            </a:r>
            <a:endParaRPr lang="en-US" sz="2600" dirty="0"/>
          </a:p>
        </p:txBody>
      </p:sp>
      <p:sp>
        <p:nvSpPr>
          <p:cNvPr id="4" name="Shape 2"/>
          <p:cNvSpPr/>
          <p:nvPr/>
        </p:nvSpPr>
        <p:spPr>
          <a:xfrm>
            <a:off x="548640" y="2011680"/>
            <a:ext cx="11091672" cy="2377440"/>
          </a:xfrm>
          <a:prstGeom prst="roundRect">
            <a:avLst>
              <a:gd name="adj" fmla="val 2308"/>
            </a:avLst>
          </a:prstGeom>
          <a:solidFill>
            <a:srgbClr val="0B1D33"/>
          </a:solidFill>
          <a:ln/>
        </p:spPr>
      </p:sp>
      <p:sp>
        <p:nvSpPr>
          <p:cNvPr id="5" name="Text 3"/>
          <p:cNvSpPr txBox="1"/>
          <p:nvPr/>
        </p:nvSpPr>
        <p:spPr>
          <a:xfrm>
            <a:off x="914400" y="2240280"/>
            <a:ext cx="10360152" cy="1920240"/>
          </a:xfrm>
          <a:prstGeom prst="rect">
            <a:avLst/>
          </a:prstGeom>
          <a:noFill/>
          <a:ln/>
        </p:spPr>
        <p:txBody>
          <a:bodyPr wrap="square" lIns="0" tIns="0" rIns="0" bIns="0" rtlCol="0" anchor="ctr"/>
          <a:lstStyle/>
          <a:p>
            <a:pPr indent="0" marL="0">
              <a:buNone/>
            </a:pPr>
            <a:r>
              <a:rPr lang="en-US" sz="1600" dirty="0">
                <a:solidFill>
                  <a:srgbClr val="D9E2F3"/>
                </a:solidFill>
                <a:latin typeface="Courier New" pitchFamily="34" charset="0"/>
                <a:ea typeface="Courier New" pitchFamily="34" charset="-122"/>
                <a:cs typeface="Courier New" pitchFamily="34" charset="-120"/>
              </a:rPr>
              <a:t>lambda &lt;- 0.45</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r &lt;- numeric(nrow(by_game))</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for (t in seq_len(nrow(by_game))) {</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prev &lt;- if (t == 1) 0 else r[t-1]</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  r[t] &lt;- lambda * by_game$W[t] + (1 - lambda) * prev</a:t>
            </a:r>
            <a:endParaRPr lang="en-US" sz="1600" dirty="0"/>
          </a:p>
          <a:p>
            <a:pPr indent="0" marL="0">
              <a:buNone/>
            </a:pPr>
            <a:r>
              <a:rPr lang="en-US" sz="1600" dirty="0">
                <a:solidFill>
                  <a:srgbClr val="D9E2F3"/>
                </a:solidFill>
                <a:latin typeface="Courier New" pitchFamily="34" charset="0"/>
                <a:ea typeface="Courier New" pitchFamily="34" charset="-122"/>
                <a:cs typeface="Courier New" pitchFamily="34" charset="-120"/>
              </a:rPr>
              <a:t>}</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300" i="1" dirty="0">
                <a:solidFill>
                  <a:srgbClr val="27496D"/>
                </a:solidFill>
                <a:latin typeface="Calibri" pitchFamily="34" charset="0"/>
                <a:ea typeface="Calibri" pitchFamily="34" charset="-122"/>
                <a:cs typeface="Calibri" pitchFamily="34" charset="-120"/>
              </a:rPr>
              <a:t>Lambda = 0.45, the paper's own preferred smoothing weight. Threshold h = 1.0 standard deviation for this illustration.</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 · THE REAL RESULT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Actually Happened</a:t>
            </a:r>
            <a:endParaRPr lang="en-US" sz="2800" dirty="0"/>
          </a:p>
        </p:txBody>
      </p:sp>
      <p:pic>
        <p:nvPicPr>
          <p:cNvPr id="4" name="Image 0" descr="module10_wemby_ewma_chart.png">    </p:cNvPr>
          <p:cNvPicPr>
            <a:picLocks noChangeAspect="1"/>
          </p:cNvPicPr>
          <p:nvPr/>
        </p:nvPicPr>
        <p:blipFill>
          <a:blip r:embed="rId1"/>
          <a:stretch>
            <a:fillRect/>
          </a:stretch>
        </p:blipFill>
        <p:spPr>
          <a:xfrm>
            <a:off x="822960" y="1691640"/>
            <a:ext cx="1033272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Real 2025-26 shot log (shufinskiy/nba_data). Script: Coding_Exercise/module10_injury_risk_monitoring.R.</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READING THIS RESULT HONESTLY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A Real Null Result Is Not a Failed Exercise</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The chart did not flag Wembanyama before his real November 14, 2025 calf strain. This is exactly what the Alzolay case already taught us to expect: an acute, in-game muscle strain is a fundamentally different detection problem than a lingering, reaggravated issue. A control chart built to catch sustained decline has no reason to catch a sudden, traumatic event.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Build Your Own Real Case</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This is exactly Part 2 of Lab 10. Pick a different real NBA player who missed real games to injury in 2025-26.</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Find their real injury date from a real news source.</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Adapt today's script to their real data.</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3. Report whether your chart signalled before, after, or not at all, and the real lead time if it did.</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Covered, and What's Next</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real, live, honestly-reported illustration: no pre-injury signal for an acute calf strain, and a real post-return dip during a cautious workload ramp-up.</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turns to both papers' own stated limitations, and where your own research could go next.</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real limitations, and your own research directions.</a:t>
            </a:r>
            <a:endParaRPr lang="en-US" sz="1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Limitations Section Is a Map, Not a Disclaimer</a:t>
            </a:r>
            <a:endParaRPr lang="en-US" sz="2800" dirty="0"/>
          </a:p>
        </p:txBody>
      </p:sp>
      <p:sp>
        <p:nvSpPr>
          <p:cNvPr id="4" name="Text 2"/>
          <p:cNvSpPr txBox="1"/>
          <p:nvPr/>
        </p:nvSpPr>
        <p:spPr>
          <a:xfrm>
            <a:off x="548640" y="2194560"/>
            <a:ext cx="11091672" cy="1463040"/>
          </a:xfrm>
          <a:prstGeom prst="rect">
            <a:avLst/>
          </a:prstGeom>
          <a:noFill/>
          <a:ln/>
        </p:spPr>
        <p:txBody>
          <a:bodyPr wrap="square" lIns="0" tIns="0" rIns="0" bIns="0" rtlCol="0" anchor="ctr"/>
          <a:lstStyle/>
          <a:p>
            <a:pPr indent="0" marL="0">
              <a:lnSpc>
                <a:spcPct val="125000"/>
              </a:lnSpc>
              <a:buNone/>
            </a:pPr>
            <a:r>
              <a:rPr lang="en-US" sz="1700" dirty="0">
                <a:solidFill>
                  <a:srgbClr val="FFFFFF"/>
                </a:solidFill>
                <a:latin typeface="Calibri" pitchFamily="34" charset="0"/>
                <a:ea typeface="Calibri" pitchFamily="34" charset="-122"/>
                <a:cs typeface="Calibri" pitchFamily="34" charset="-120"/>
              </a:rPr>
              <a:t>Both papers end with real, specific, stated limitations. A good limitations section is the single best place to go looking for your own thesis topic, because the authors have already told you, in writing, what is still open.</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BASEBALL PAPER'S OWN LIMITS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What Brown, Muritala &amp; Haller (2026) Say Is Still Open</a:t>
            </a:r>
            <a:endParaRPr lang="en-US" sz="2400" dirty="0"/>
          </a:p>
        </p:txBody>
      </p:sp>
      <p:sp>
        <p:nvSpPr>
          <p:cNvPr id="4" name="Shape 2"/>
          <p:cNvSpPr/>
          <p:nvPr/>
        </p:nvSpPr>
        <p:spPr>
          <a:xfrm>
            <a:off x="548640" y="2011680"/>
            <a:ext cx="11091672" cy="1005840"/>
          </a:xfrm>
          <a:prstGeom prst="roundRect">
            <a:avLst>
              <a:gd name="adj" fmla="val 5455"/>
            </a:avLst>
          </a:prstGeom>
          <a:solidFill>
            <a:srgbClr val="EDF1F7"/>
          </a:solidFill>
          <a:ln/>
        </p:spPr>
      </p:sp>
      <p:sp>
        <p:nvSpPr>
          <p:cNvPr id="5" name="Text 3"/>
          <p:cNvSpPr txBox="1"/>
          <p:nvPr/>
        </p:nvSpPr>
        <p:spPr>
          <a:xfrm>
            <a:off x="822960" y="2011680"/>
            <a:ext cx="2377440" cy="100584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Injury type</a:t>
            </a:r>
            <a:endParaRPr lang="en-US" sz="1500" dirty="0"/>
          </a:p>
        </p:txBody>
      </p:sp>
      <p:sp>
        <p:nvSpPr>
          <p:cNvPr id="6" name="Text 4"/>
          <p:cNvSpPr txBox="1"/>
          <p:nvPr/>
        </p:nvSpPr>
        <p:spPr>
          <a:xfrm>
            <a:off x="3383280" y="2011680"/>
            <a:ext cx="7982712" cy="100584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Injuries were not differentiated by type in the real analysis</a:t>
            </a:r>
            <a:endParaRPr lang="en-US" sz="1400" dirty="0"/>
          </a:p>
        </p:txBody>
      </p:sp>
      <p:sp>
        <p:nvSpPr>
          <p:cNvPr id="7" name="Shape 5"/>
          <p:cNvSpPr/>
          <p:nvPr/>
        </p:nvSpPr>
        <p:spPr>
          <a:xfrm>
            <a:off x="548640" y="3200400"/>
            <a:ext cx="11091672" cy="1005840"/>
          </a:xfrm>
          <a:prstGeom prst="roundRect">
            <a:avLst>
              <a:gd name="adj" fmla="val 5455"/>
            </a:avLst>
          </a:prstGeom>
          <a:solidFill>
            <a:srgbClr val="EDF1F7"/>
          </a:solidFill>
          <a:ln/>
        </p:spPr>
      </p:sp>
      <p:sp>
        <p:nvSpPr>
          <p:cNvPr id="8" name="Text 6"/>
          <p:cNvSpPr txBox="1"/>
          <p:nvPr/>
        </p:nvSpPr>
        <p:spPr>
          <a:xfrm>
            <a:off x="822960" y="3200400"/>
            <a:ext cx="2377440" cy="100584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Baseline</a:t>
            </a:r>
            <a:endParaRPr lang="en-US" sz="1500" dirty="0"/>
          </a:p>
        </p:txBody>
      </p:sp>
      <p:sp>
        <p:nvSpPr>
          <p:cNvPr id="9" name="Text 7"/>
          <p:cNvSpPr txBox="1"/>
          <p:nvPr/>
        </p:nvSpPr>
        <p:spPr>
          <a:xfrm>
            <a:off x="3383280" y="3200400"/>
            <a:ext cx="7982712" cy="100584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WHIP judged against the league mean, not an individualized standard</a:t>
            </a:r>
            <a:endParaRPr lang="en-US" sz="1400" dirty="0"/>
          </a:p>
        </p:txBody>
      </p:sp>
      <p:sp>
        <p:nvSpPr>
          <p:cNvPr id="10" name="Shape 8"/>
          <p:cNvSpPr/>
          <p:nvPr/>
        </p:nvSpPr>
        <p:spPr>
          <a:xfrm>
            <a:off x="548640" y="4389120"/>
            <a:ext cx="11091672" cy="1005840"/>
          </a:xfrm>
          <a:prstGeom prst="roundRect">
            <a:avLst>
              <a:gd name="adj" fmla="val 5455"/>
            </a:avLst>
          </a:prstGeom>
          <a:solidFill>
            <a:srgbClr val="EDF1F7"/>
          </a:solidFill>
          <a:ln/>
        </p:spPr>
      </p:sp>
      <p:sp>
        <p:nvSpPr>
          <p:cNvPr id="11" name="Text 9"/>
          <p:cNvSpPr txBox="1"/>
          <p:nvPr/>
        </p:nvSpPr>
        <p:spPr>
          <a:xfrm>
            <a:off x="822960" y="4389120"/>
            <a:ext cx="2377440" cy="100584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Context</a:t>
            </a:r>
            <a:endParaRPr lang="en-US" sz="1500" dirty="0"/>
          </a:p>
        </p:txBody>
      </p:sp>
      <p:sp>
        <p:nvSpPr>
          <p:cNvPr id="12" name="Text 10"/>
          <p:cNvSpPr txBox="1"/>
          <p:nvPr/>
        </p:nvSpPr>
        <p:spPr>
          <a:xfrm>
            <a:off x="3383280" y="4389120"/>
            <a:ext cx="7982712" cy="100584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Opponent quality and ballpark effects were not incorporated</a:t>
            </a:r>
            <a:endParaRPr lang="en-US" sz="1400" dirty="0"/>
          </a:p>
        </p:txBody>
      </p:sp>
      <p:sp>
        <p:nvSpPr>
          <p:cNvPr id="13" name="Text 11"/>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Note: the individualized-baseline limitation above is exactly what the basketball paper later fixes.</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BASKETBALL PAPER'S OWN LIMITS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200" b="1" dirty="0">
                <a:solidFill>
                  <a:srgbClr val="16213E"/>
                </a:solidFill>
                <a:latin typeface="Cambria" pitchFamily="34" charset="0"/>
                <a:ea typeface="Cambria" pitchFamily="34" charset="-122"/>
                <a:cs typeface="Cambria" pitchFamily="34" charset="-120"/>
              </a:rPr>
              <a:t>What Tention, Muritala, Frankel &amp; Brown (2026) Say Is Still Open</a:t>
            </a:r>
            <a:endParaRPr lang="en-US" sz="2200" dirty="0"/>
          </a:p>
        </p:txBody>
      </p:sp>
      <p:sp>
        <p:nvSpPr>
          <p:cNvPr id="4" name="Shape 2"/>
          <p:cNvSpPr/>
          <p:nvPr/>
        </p:nvSpPr>
        <p:spPr>
          <a:xfrm>
            <a:off x="548640" y="2011680"/>
            <a:ext cx="11091672" cy="1005840"/>
          </a:xfrm>
          <a:prstGeom prst="roundRect">
            <a:avLst>
              <a:gd name="adj" fmla="val 5455"/>
            </a:avLst>
          </a:prstGeom>
          <a:solidFill>
            <a:srgbClr val="EDF1F7"/>
          </a:solidFill>
          <a:ln/>
        </p:spPr>
      </p:sp>
      <p:sp>
        <p:nvSpPr>
          <p:cNvPr id="5" name="Text 3"/>
          <p:cNvSpPr txBox="1"/>
          <p:nvPr/>
        </p:nvSpPr>
        <p:spPr>
          <a:xfrm>
            <a:off x="822960" y="2011680"/>
            <a:ext cx="2377440" cy="100584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Partial signal</a:t>
            </a:r>
            <a:endParaRPr lang="en-US" sz="1500" dirty="0"/>
          </a:p>
        </p:txBody>
      </p:sp>
      <p:sp>
        <p:nvSpPr>
          <p:cNvPr id="6" name="Text 4"/>
          <p:cNvSpPr txBox="1"/>
          <p:nvPr/>
        </p:nvSpPr>
        <p:spPr>
          <a:xfrm>
            <a:off x="3383280" y="2011680"/>
            <a:ext cx="7982712" cy="100584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Performance metrics capture only part of player health</a:t>
            </a:r>
            <a:endParaRPr lang="en-US" sz="1400" dirty="0"/>
          </a:p>
        </p:txBody>
      </p:sp>
      <p:sp>
        <p:nvSpPr>
          <p:cNvPr id="7" name="Shape 5"/>
          <p:cNvSpPr/>
          <p:nvPr/>
        </p:nvSpPr>
        <p:spPr>
          <a:xfrm>
            <a:off x="548640" y="3200400"/>
            <a:ext cx="11091672" cy="1005840"/>
          </a:xfrm>
          <a:prstGeom prst="roundRect">
            <a:avLst>
              <a:gd name="adj" fmla="val 5455"/>
            </a:avLst>
          </a:prstGeom>
          <a:solidFill>
            <a:srgbClr val="EDF1F7"/>
          </a:solidFill>
          <a:ln/>
        </p:spPr>
      </p:sp>
      <p:sp>
        <p:nvSpPr>
          <p:cNvPr id="8" name="Text 6"/>
          <p:cNvSpPr txBox="1"/>
          <p:nvPr/>
        </p:nvSpPr>
        <p:spPr>
          <a:xfrm>
            <a:off x="822960" y="3200400"/>
            <a:ext cx="2377440" cy="100584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Role changes</a:t>
            </a:r>
            <a:endParaRPr lang="en-US" sz="1500" dirty="0"/>
          </a:p>
        </p:txBody>
      </p:sp>
      <p:sp>
        <p:nvSpPr>
          <p:cNvPr id="9" name="Text 7"/>
          <p:cNvSpPr txBox="1"/>
          <p:nvPr/>
        </p:nvSpPr>
        <p:spPr>
          <a:xfrm>
            <a:off x="3383280" y="3200400"/>
            <a:ext cx="7982712" cy="100584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A roster change can shift Usage Rate independent of health</a:t>
            </a:r>
            <a:endParaRPr lang="en-US" sz="1400" dirty="0"/>
          </a:p>
        </p:txBody>
      </p:sp>
      <p:sp>
        <p:nvSpPr>
          <p:cNvPr id="10" name="Shape 8"/>
          <p:cNvSpPr/>
          <p:nvPr/>
        </p:nvSpPr>
        <p:spPr>
          <a:xfrm>
            <a:off x="548640" y="4389120"/>
            <a:ext cx="11091672" cy="1005840"/>
          </a:xfrm>
          <a:prstGeom prst="roundRect">
            <a:avLst>
              <a:gd name="adj" fmla="val 5455"/>
            </a:avLst>
          </a:prstGeom>
          <a:solidFill>
            <a:srgbClr val="EDF1F7"/>
          </a:solidFill>
          <a:ln/>
        </p:spPr>
      </p:sp>
      <p:sp>
        <p:nvSpPr>
          <p:cNvPr id="11" name="Text 9"/>
          <p:cNvSpPr txBox="1"/>
          <p:nvPr/>
        </p:nvSpPr>
        <p:spPr>
          <a:xfrm>
            <a:off x="822960" y="4389120"/>
            <a:ext cx="2377440" cy="100584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Selection bias</a:t>
            </a:r>
            <a:endParaRPr lang="en-US" sz="1500" dirty="0"/>
          </a:p>
        </p:txBody>
      </p:sp>
      <p:sp>
        <p:nvSpPr>
          <p:cNvPr id="12" name="Text 10"/>
          <p:cNvSpPr txBox="1"/>
          <p:nvPr/>
        </p:nvSpPr>
        <p:spPr>
          <a:xfrm>
            <a:off x="3383280" y="4389120"/>
            <a:ext cx="7982712" cy="1005840"/>
          </a:xfrm>
          <a:prstGeom prst="rect">
            <a:avLst/>
          </a:prstGeom>
          <a:noFill/>
          <a:ln/>
        </p:spPr>
        <p:txBody>
          <a:bodyPr wrap="square" lIns="0" tIns="0" rIns="0" bIns="0" rtlCol="0" anchor="ctr"/>
          <a:lstStyle/>
          <a:p>
            <a:pPr indent="0" marL="0">
              <a:buNone/>
            </a:pPr>
            <a:r>
              <a:rPr lang="en-US" sz="1400" dirty="0">
                <a:solidFill>
                  <a:srgbClr val="16213E"/>
                </a:solidFill>
                <a:latin typeface="Calibri" pitchFamily="34" charset="0"/>
                <a:ea typeface="Calibri" pitchFamily="34" charset="-122"/>
                <a:cs typeface="Calibri" pitchFamily="34" charset="-120"/>
              </a:rPr>
              <a:t>Public injury data under-reports less-severe injuries, which can inflate apparent accuracy</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WHY SELECTION BIAS CUTS THIS DIRECTION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Under-Reporting Can Make a Method Look Better Than It Is</a:t>
            </a:r>
            <a:endParaRPr lang="en-US" sz="2400" dirty="0"/>
          </a:p>
        </p:txBody>
      </p:sp>
      <p:sp>
        <p:nvSpPr>
          <p:cNvPr id="4" name="Shape 2"/>
          <p:cNvSpPr/>
          <p:nvPr/>
        </p:nvSpPr>
        <p:spPr>
          <a:xfrm>
            <a:off x="548640" y="2103120"/>
            <a:ext cx="11091672" cy="2194560"/>
          </a:xfrm>
          <a:prstGeom prst="roundRect">
            <a:avLst>
              <a:gd name="adj" fmla="val 2500"/>
            </a:avLst>
          </a:prstGeom>
          <a:solidFill>
            <a:srgbClr val="EDF1F7"/>
          </a:solidFill>
          <a:ln/>
        </p:spPr>
      </p:sp>
      <p:sp>
        <p:nvSpPr>
          <p:cNvPr id="5" name="Text 3"/>
          <p:cNvSpPr txBox="1"/>
          <p:nvPr/>
        </p:nvSpPr>
        <p:spPr>
          <a:xfrm>
            <a:off x="914400" y="2377440"/>
            <a:ext cx="10360152" cy="164592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If less-severe real injuries are less likely to appear in public injury reports, the real analyzed sample skews toward clearer-cut, more severe cases, which are generally easier to classify correctly. That can inflate a method's apparent sensitivity and specificity relative to how it would perform on the full, real population of injuries, severe and mild alike.</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PHD-TRACK QUESTION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Where Could You Take This?</a:t>
            </a:r>
            <a:endParaRPr lang="en-US" sz="3000" dirty="0"/>
          </a:p>
        </p:txBody>
      </p:sp>
      <p:sp>
        <p:nvSpPr>
          <p:cNvPr id="4" name="Shape 2"/>
          <p:cNvSpPr/>
          <p:nvPr/>
        </p:nvSpPr>
        <p:spPr>
          <a:xfrm>
            <a:off x="548640" y="1965960"/>
            <a:ext cx="164592" cy="164592"/>
          </a:xfrm>
          <a:prstGeom prst="rect">
            <a:avLst/>
          </a:prstGeom>
          <a:solidFill>
            <a:srgbClr val="27496D"/>
          </a:solidFill>
          <a:ln/>
        </p:spPr>
      </p:sp>
      <p:sp>
        <p:nvSpPr>
          <p:cNvPr id="5" name="Text 3"/>
          <p:cNvSpPr txBox="1"/>
          <p:nvPr/>
        </p:nvSpPr>
        <p:spPr>
          <a:xfrm>
            <a:off x="914400" y="1783080"/>
            <a:ext cx="10725912" cy="9144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Bring the basketball paper's individualized baseline back into the original baseball WHIP method.</a:t>
            </a:r>
            <a:endParaRPr lang="en-US" sz="1500" dirty="0"/>
          </a:p>
        </p:txBody>
      </p:sp>
      <p:sp>
        <p:nvSpPr>
          <p:cNvPr id="6" name="Shape 4"/>
          <p:cNvSpPr/>
          <p:nvPr/>
        </p:nvSpPr>
        <p:spPr>
          <a:xfrm>
            <a:off x="548640" y="2971800"/>
            <a:ext cx="164592" cy="164592"/>
          </a:xfrm>
          <a:prstGeom prst="rect">
            <a:avLst/>
          </a:prstGeom>
          <a:solidFill>
            <a:srgbClr val="E4572E"/>
          </a:solidFill>
          <a:ln/>
        </p:spPr>
      </p:sp>
      <p:sp>
        <p:nvSpPr>
          <p:cNvPr id="7" name="Text 5"/>
          <p:cNvSpPr txBox="1"/>
          <p:nvPr/>
        </p:nvSpPr>
        <p:spPr>
          <a:xfrm>
            <a:off x="914400" y="2788920"/>
            <a:ext cx="10725912" cy="9144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Differentiate chart performance by real injury type, as this module's own case studies suggest matters.</a:t>
            </a:r>
            <a:endParaRPr lang="en-US" sz="1500" dirty="0"/>
          </a:p>
        </p:txBody>
      </p:sp>
      <p:sp>
        <p:nvSpPr>
          <p:cNvPr id="8" name="Shape 6"/>
          <p:cNvSpPr/>
          <p:nvPr/>
        </p:nvSpPr>
        <p:spPr>
          <a:xfrm>
            <a:off x="548640" y="3977640"/>
            <a:ext cx="164592" cy="164592"/>
          </a:xfrm>
          <a:prstGeom prst="rect">
            <a:avLst/>
          </a:prstGeom>
          <a:solidFill>
            <a:srgbClr val="27496D"/>
          </a:solidFill>
          <a:ln/>
        </p:spPr>
      </p:sp>
      <p:sp>
        <p:nvSpPr>
          <p:cNvPr id="9" name="Text 7"/>
          <p:cNvSpPr txBox="1"/>
          <p:nvPr/>
        </p:nvSpPr>
        <p:spPr>
          <a:xfrm>
            <a:off x="914400" y="3794760"/>
            <a:ext cx="10725912" cy="9144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Combine a workload signal like Usage Rate with real biomechanical or video-based indicators.</a:t>
            </a:r>
            <a:endParaRPr lang="en-US" sz="1500" dirty="0"/>
          </a:p>
        </p:txBody>
      </p:sp>
      <p:sp>
        <p:nvSpPr>
          <p:cNvPr id="10" name="Shape 8"/>
          <p:cNvSpPr/>
          <p:nvPr/>
        </p:nvSpPr>
        <p:spPr>
          <a:xfrm>
            <a:off x="548640" y="4983480"/>
            <a:ext cx="164592" cy="164592"/>
          </a:xfrm>
          <a:prstGeom prst="rect">
            <a:avLst/>
          </a:prstGeom>
          <a:solidFill>
            <a:srgbClr val="E4572E"/>
          </a:solidFill>
          <a:ln/>
        </p:spPr>
      </p:sp>
      <p:sp>
        <p:nvSpPr>
          <p:cNvPr id="11" name="Text 9"/>
          <p:cNvSpPr txBox="1"/>
          <p:nvPr/>
        </p:nvSpPr>
        <p:spPr>
          <a:xfrm>
            <a:off x="914400" y="4800600"/>
            <a:ext cx="10725912" cy="9144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Build a full, properly individualized Usage Rate version of today's own live illustration, and test it honestly against a different real case.</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Pitch Your Own Dissertation Chapter</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Get into small groups. Each group picks one real, stated limitation from either paper.</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Sketch a real, concrete way a thesis or dissertation chapter could address it, naming a real data source you would use.</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Present your sketch to the class, as if pitching a committee on a dissertation topic.</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THROUGHLINE · INJURY DETECTION &amp; PREDICTION</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This Course's Deepest Answer to Its Own Running Question</a:t>
            </a:r>
            <a:endParaRPr lang="en-US" sz="2600" dirty="0"/>
          </a:p>
        </p:txBody>
      </p:sp>
      <p:sp>
        <p:nvSpPr>
          <p:cNvPr id="4" name="Shape 2"/>
          <p:cNvSpPr/>
          <p:nvPr/>
        </p:nvSpPr>
        <p:spPr>
          <a:xfrm>
            <a:off x="548640" y="1920240"/>
            <a:ext cx="54864" cy="2743200"/>
          </a:xfrm>
          <a:prstGeom prst="rect">
            <a:avLst/>
          </a:prstGeom>
          <a:solidFill>
            <a:srgbClr val="27496D"/>
          </a:solidFill>
          <a:ln/>
        </p:spPr>
      </p:sp>
      <p:sp>
        <p:nvSpPr>
          <p:cNvPr id="5" name="Text 3"/>
          <p:cNvSpPr txBox="1"/>
          <p:nvPr/>
        </p:nvSpPr>
        <p:spPr>
          <a:xfrm>
            <a:off x="914400" y="201168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Can real, ordinary performance data, tracked over time, give an honest early warning before an injury happens?</a:t>
            </a:r>
            <a:endParaRPr lang="en-US" sz="1700" dirty="0"/>
          </a:p>
        </p:txBody>
      </p:sp>
      <p:sp>
        <p:nvSpPr>
          <p:cNvPr id="6" name="Text 4"/>
          <p:cNvSpPr txBox="1"/>
          <p:nvPr/>
        </p:nvSpPr>
        <p:spPr>
          <a:xfrm>
            <a:off x="914400" y="3017520"/>
            <a:ext cx="10725912" cy="146304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This module is this course's most direct answer to that question. It will not be the last time you encounter this kind of thinking in your own career: any analyst eventually has to monitor something real over time, give an honest warning before an outcome is certain, and resist the temptation to overclaim what a single signal proves.</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the Real Chart Yourself, One More Time</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Look back at the Wembanyama chart from Segment 2.</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Find the real post-return dip around games 13-17. What is the most likely real explanation for it?</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If you only saw this chart, with no outside injury report, would you have flagged this player for a medical check on your own? At what point, if any?</a:t>
            </a:r>
            <a:endParaRPr lang="en-US" sz="15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Covered, and What's Next</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Both papers' own real, stated limitations, and a real, concrete set of research directions a thesis or publication could pursue next.</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We close out the entire course from here.</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1965960"/>
            <a:ext cx="164592" cy="164592"/>
          </a:xfrm>
          <a:prstGeom prst="rect">
            <a:avLst/>
          </a:prstGeom>
          <a:solidFill>
            <a:srgbClr val="27496D"/>
          </a:solidFill>
          <a:ln/>
        </p:spPr>
      </p:sp>
      <p:sp>
        <p:nvSpPr>
          <p:cNvPr id="5" name="Text 3"/>
          <p:cNvSpPr txBox="1"/>
          <p:nvPr/>
        </p:nvSpPr>
        <p:spPr>
          <a:xfrm>
            <a:off x="914400" y="1828800"/>
            <a:ext cx="10725912" cy="91440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A real, published Cp/CUSUM hybrid catches sustained decline (Wainwright) but cannot catch a fresh, unrelated injury (Alzolay) -- a signal's absence is not a clean bill of health.</a:t>
            </a:r>
            <a:endParaRPr lang="en-US" sz="145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91440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This year's real basketball extension adds an individualized baseline and an EWMA-CUSUM hybrid, reaching 77.8% real sensitivity and 34.3% real specificity for Usage Rate on a genuine held-out season.</a:t>
            </a:r>
            <a:endParaRPr lang="en-US" sz="1450" dirty="0"/>
          </a:p>
        </p:txBody>
      </p:sp>
      <p:sp>
        <p:nvSpPr>
          <p:cNvPr id="8" name="Shape 6"/>
          <p:cNvSpPr/>
          <p:nvPr/>
        </p:nvSpPr>
        <p:spPr>
          <a:xfrm>
            <a:off x="548640" y="3886200"/>
            <a:ext cx="164592" cy="164592"/>
          </a:xfrm>
          <a:prstGeom prst="rect">
            <a:avLst/>
          </a:prstGeom>
          <a:solidFill>
            <a:srgbClr val="27496D"/>
          </a:solidFill>
          <a:ln/>
        </p:spPr>
      </p:sp>
      <p:sp>
        <p:nvSpPr>
          <p:cNvPr id="9" name="Text 7"/>
          <p:cNvSpPr txBox="1"/>
          <p:nvPr/>
        </p:nvSpPr>
        <p:spPr>
          <a:xfrm>
            <a:off x="914400" y="3749040"/>
            <a:ext cx="10725912" cy="91440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Run live on a brand-new real case, the method honestly missed an acute calf strain before it happened -- exactly what the theory predicts, and exactly the kind of honest result worth reporting.</a:t>
            </a:r>
            <a:endParaRPr lang="en-US" sz="1450" dirty="0"/>
          </a:p>
        </p:txBody>
      </p:sp>
      <p:sp>
        <p:nvSpPr>
          <p:cNvPr id="10" name="Shape 8"/>
          <p:cNvSpPr/>
          <p:nvPr/>
        </p:nvSpPr>
        <p:spPr>
          <a:xfrm>
            <a:off x="548640" y="4846320"/>
            <a:ext cx="164592" cy="164592"/>
          </a:xfrm>
          <a:prstGeom prst="rect">
            <a:avLst/>
          </a:prstGeom>
          <a:solidFill>
            <a:srgbClr val="E4572E"/>
          </a:solidFill>
          <a:ln/>
        </p:spPr>
      </p:sp>
      <p:sp>
        <p:nvSpPr>
          <p:cNvPr id="11" name="Text 9"/>
          <p:cNvSpPr txBox="1"/>
          <p:nvPr/>
        </p:nvSpPr>
        <p:spPr>
          <a:xfrm>
            <a:off x="914400" y="4709160"/>
            <a:ext cx="10725912" cy="914400"/>
          </a:xfrm>
          <a:prstGeom prst="rect">
            <a:avLst/>
          </a:prstGeom>
          <a:noFill/>
          <a:ln/>
        </p:spPr>
        <p:txBody>
          <a:bodyPr wrap="square" lIns="0" tIns="0" rIns="0" bIns="0" rtlCol="0" anchor="t"/>
          <a:lstStyle/>
          <a:p>
            <a:pPr indent="0" marL="0">
              <a:lnSpc>
                <a:spcPct val="125000"/>
              </a:lnSpc>
              <a:buNone/>
            </a:pPr>
            <a:r>
              <a:rPr lang="en-US" sz="1450" dirty="0">
                <a:solidFill>
                  <a:srgbClr val="16213E"/>
                </a:solidFill>
                <a:latin typeface="Calibri" pitchFamily="34" charset="0"/>
                <a:ea typeface="Calibri" pitchFamily="34" charset="-122"/>
                <a:cs typeface="Calibri" pitchFamily="34" charset="-120"/>
              </a:rPr>
              <a:t>Both papers' own stated limitations are real, concrete starting points for your own thesis, dissertation, or publication.</a:t>
            </a:r>
            <a:endParaRPr lang="en-US" sz="14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THE REST OF THE COURSE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Two Things Before We Close This Out</a:t>
            </a:r>
            <a:endParaRPr lang="en-US" sz="28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10 (your own real player's chart), the practice questions, and the Module 10 quiz.</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Consider</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350" dirty="0">
                <a:solidFill>
                  <a:srgbClr val="16213E"/>
                </a:solidFill>
                <a:latin typeface="Calibri" pitchFamily="34" charset="0"/>
                <a:ea typeface="Calibri" pitchFamily="34" charset="-122"/>
                <a:cs typeface="Calibri" pitchFamily="34" charset="-120"/>
              </a:rPr>
              <a:t>This closes the ten-module sequence. Your Final Project is where everything from Module 1 through today comes together, including the advanced injury-detection option.</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References Cited Today</a:t>
            </a:r>
            <a:endParaRPr lang="en-US" sz="2800" dirty="0"/>
          </a:p>
        </p:txBody>
      </p:sp>
      <p:sp>
        <p:nvSpPr>
          <p:cNvPr id="4" name="Text 2"/>
          <p:cNvSpPr txBox="1"/>
          <p:nvPr/>
        </p:nvSpPr>
        <p:spPr>
          <a:xfrm>
            <a:off x="548640" y="1783080"/>
            <a:ext cx="11091672" cy="914400"/>
          </a:xfrm>
          <a:prstGeom prst="rect">
            <a:avLst/>
          </a:prstGeom>
          <a:noFill/>
          <a:ln/>
        </p:spPr>
        <p:txBody>
          <a:bodyPr wrap="square" lIns="0" tIns="0" rIns="0" bIns="0" rtlCol="0" anchor="t"/>
          <a:lstStyle/>
          <a:p>
            <a:pPr indent="0" marL="0">
              <a:lnSpc>
                <a:spcPct val="135000"/>
              </a:lnSpc>
              <a:buNone/>
            </a:pPr>
            <a:r>
              <a:rPr lang="en-US" sz="1250" dirty="0">
                <a:solidFill>
                  <a:srgbClr val="16213E"/>
                </a:solidFill>
                <a:latin typeface="Calibri" pitchFamily="34" charset="0"/>
                <a:ea typeface="Calibri" pitchFamily="34" charset="-122"/>
                <a:cs typeface="Calibri" pitchFamily="34" charset="-120"/>
              </a:rPr>
              <a:t>Brown, A., Muritala, F., &amp; Haller, A. (2026). A quality monitoring approach to evaluating reinjury likelihood to Major League Baseball pitchers. Research in Sports Medicine.</a:t>
            </a:r>
            <a:endParaRPr lang="en-US" sz="1250" dirty="0"/>
          </a:p>
          <a:p>
            <a:pPr indent="0" marL="0">
              <a:lnSpc>
                <a:spcPct val="135000"/>
              </a:lnSpc>
              <a:buNone/>
            </a:pPr>
            <a:endParaRPr lang="en-US" sz="1250" dirty="0"/>
          </a:p>
          <a:p>
            <a:pPr indent="0" marL="0">
              <a:lnSpc>
                <a:spcPct val="135000"/>
              </a:lnSpc>
              <a:buNone/>
            </a:pPr>
            <a:r>
              <a:rPr lang="en-US" sz="1250" dirty="0">
                <a:solidFill>
                  <a:srgbClr val="16213E"/>
                </a:solidFill>
                <a:latin typeface="Calibri" pitchFamily="34" charset="0"/>
                <a:ea typeface="Calibri" pitchFamily="34" charset="-122"/>
                <a:cs typeface="Calibri" pitchFamily="34" charset="-120"/>
              </a:rPr>
              <a:t>Tention, A., Muritala, F., Frankel, M., &amp; Brown, A. R. (2026). Early identification of subsequent injury risk among National Basketball Association players using a quality monitoring technique. Basketball Studies, 1, 100011.</a:t>
            </a:r>
            <a:endParaRPr lang="en-US" sz="1250" dirty="0"/>
          </a:p>
          <a:p>
            <a:pPr indent="0" marL="0">
              <a:lnSpc>
                <a:spcPct val="135000"/>
              </a:lnSpc>
              <a:buNone/>
            </a:pPr>
            <a:endParaRPr lang="en-US" sz="1250" dirty="0"/>
          </a:p>
          <a:p>
            <a:pPr indent="0" marL="0">
              <a:lnSpc>
                <a:spcPct val="135000"/>
              </a:lnSpc>
              <a:buNone/>
            </a:pPr>
            <a:r>
              <a:rPr lang="en-US" sz="1250" dirty="0">
                <a:solidFill>
                  <a:srgbClr val="16213E"/>
                </a:solidFill>
                <a:latin typeface="Calibri" pitchFamily="34" charset="0"/>
                <a:ea typeface="Calibri" pitchFamily="34" charset="-122"/>
                <a:cs typeface="Calibri" pitchFamily="34" charset="-120"/>
              </a:rPr>
              <a:t>Makhni, E. C. et al. (2014). Performance, return to competition, and reinjury after Tommy John surgery in MLB pitchers. The American Journal of Sports Medicine, 42(6).</a:t>
            </a:r>
            <a:endParaRPr lang="en-US" sz="1250" dirty="0"/>
          </a:p>
          <a:p>
            <a:pPr indent="0" marL="0">
              <a:lnSpc>
                <a:spcPct val="135000"/>
              </a:lnSpc>
              <a:buNone/>
            </a:pPr>
            <a:endParaRPr lang="en-US" sz="1250" dirty="0"/>
          </a:p>
          <a:p>
            <a:pPr indent="0" marL="0">
              <a:lnSpc>
                <a:spcPct val="135000"/>
              </a:lnSpc>
              <a:buNone/>
            </a:pPr>
            <a:r>
              <a:rPr lang="en-US" sz="1250" dirty="0">
                <a:solidFill>
                  <a:srgbClr val="16213E"/>
                </a:solidFill>
                <a:latin typeface="Calibri" pitchFamily="34" charset="0"/>
                <a:ea typeface="Calibri" pitchFamily="34" charset="-122"/>
                <a:cs typeface="Calibri" pitchFamily="34" charset="-120"/>
              </a:rPr>
              <a:t>Piergiovanni, A. J., &amp; Ryoo, M. S. (2019). Early detection of injuries in MLB pitchers from video. IEEE/CVF CVPRW.</a:t>
            </a:r>
            <a:endParaRPr lang="en-US" sz="1250" dirty="0"/>
          </a:p>
          <a:p>
            <a:pPr indent="0" marL="0">
              <a:lnSpc>
                <a:spcPct val="135000"/>
              </a:lnSpc>
              <a:buNone/>
            </a:pPr>
            <a:endParaRPr lang="en-US" sz="1250" dirty="0"/>
          </a:p>
          <a:p>
            <a:pPr indent="0" marL="0">
              <a:lnSpc>
                <a:spcPct val="135000"/>
              </a:lnSpc>
              <a:buNone/>
            </a:pPr>
            <a:r>
              <a:rPr lang="en-US" sz="1250" dirty="0">
                <a:solidFill>
                  <a:srgbClr val="16213E"/>
                </a:solidFill>
                <a:latin typeface="Calibri" pitchFamily="34" charset="0"/>
                <a:ea typeface="Calibri" pitchFamily="34" charset="-122"/>
                <a:cs typeface="Calibri" pitchFamily="34" charset="-120"/>
              </a:rPr>
              <a:t>Montgomery, D. C. (2019). Introduction to statistical quality control (8th ed.). Wiley.</a:t>
            </a:r>
            <a:endParaRPr lang="en-US" sz="1250" dirty="0"/>
          </a:p>
          <a:p>
            <a:pPr indent="0" marL="0">
              <a:lnSpc>
                <a:spcPct val="135000"/>
              </a:lnSpc>
              <a:buNone/>
            </a:pPr>
            <a:endParaRPr lang="en-US" sz="1250" dirty="0"/>
          </a:p>
          <a:p>
            <a:pPr indent="0" marL="0">
              <a:lnSpc>
                <a:spcPct val="135000"/>
              </a:lnSpc>
              <a:buNone/>
            </a:pPr>
            <a:r>
              <a:rPr lang="en-US" sz="1250" dirty="0">
                <a:solidFill>
                  <a:srgbClr val="16213E"/>
                </a:solidFill>
                <a:latin typeface="Calibri" pitchFamily="34" charset="0"/>
                <a:ea typeface="Calibri" pitchFamily="34" charset="-122"/>
                <a:cs typeface="Calibri" pitchFamily="34" charset="-120"/>
              </a:rPr>
              <a:t>shufinskiy (2026). nba_data: NBA play-by-play and shot detail data [Data repository]. GitHub.</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That's the Course.</a:t>
            </a:r>
            <a:endParaRPr lang="en-US" sz="4200" dirty="0"/>
          </a:p>
        </p:txBody>
      </p:sp>
      <p:sp>
        <p:nvSpPr>
          <p:cNvPr id="3" name="Text 1"/>
          <p:cNvSpPr txBox="1"/>
          <p:nvPr/>
        </p:nvSpPr>
        <p:spPr>
          <a:xfrm>
            <a:off x="548640" y="3794760"/>
            <a:ext cx="11091672" cy="731520"/>
          </a:xfrm>
          <a:prstGeom prst="rect">
            <a:avLst/>
          </a:prstGeom>
          <a:noFill/>
          <a:ln/>
        </p:spPr>
        <p:txBody>
          <a:bodyPr wrap="square" lIns="0" tIns="0" rIns="0" bIns="0" rtlCol="0" anchor="ctr"/>
          <a:lstStyle/>
          <a:p>
            <a:pPr indent="0" marL="0">
              <a:buNone/>
            </a:pPr>
            <a:r>
              <a:rPr lang="en-US" sz="1700" dirty="0">
                <a:solidFill>
                  <a:srgbClr val="AEBBD1"/>
                </a:solidFill>
                <a:latin typeface="Calibri" pitchFamily="34" charset="0"/>
                <a:ea typeface="Calibri" pitchFamily="34" charset="-122"/>
                <a:cs typeface="Calibri" pitchFamily="34" charset="-120"/>
              </a:rPr>
              <a:t>Ten modules, real data every time. Two of them were my own published research. Final Project next.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2026-10-18T12:55:29Z</dcterms:created>
  <dcterms:modified xsi:type="dcterms:W3CDTF">2026-10-18T12:55:29Z</dcterms:modified>
</cp:coreProperties>
</file>