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Lineup 2 (Wiggins/Green/Poole/Looney/Curry) played 346.1 minutes together, dwarfing every other combination. Ask the room why one lineup would dominate the minutes this way before moving on -- this is the starting group, and everything else is a variation the coach tried in specific game situations. That framing sets up Segment III's Pace/Ratings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'best scorer' labels from the book's shot-density plots (Figures 2.9-2.10), broken down by distance from the basket (restricted area, mid-range, three-point line). Discuss: Lineup 2, the primary starting group, gets its three-point production almost entirely from Curry (150 of the lineup's three-point points). Lineup 3 is a much smaller sample (50.6 minutes) but shows the same pattern at a higher rate (43% made on threes). Ask the class what could explain Kevon Looney's 79% and 71% made rates at the rim across lineups -- offensive rebounding position, not just shooting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genuinely no single correct answer with only this table to go on -- that is the point. Push students past 'Curry is good' toward reasoning about the specific matchup (rim protection, who is the release valve if the possession breaks down). Revisit this question after Segment III once Pace and Defensive Rating are on the table, and see if anyone changes their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is the fastest, highest-scoring lineup necessarily the one you want on the floor in a close game if its defensive numbers are not shown here? This is a real limitation to flag -- Figure 2.13 gives us pace and one side of rating at a time; a full evaluation needs both offense and defense for the same lineup together, which is exactly what the Four Factors bar chart (Figure 2.14) adds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meant to complicate, not resolve, the earlier activity. There is still no single right answer -- the goal is for students to notice that Pace, Offensive Rating, and Defensive Rating pull in different directions for the same lineup, which is exactly the kind of tradeoff a real coach has to weigh every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youtube.com/watch?v=BJ5d8Jl3K1Y"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6400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 — GRADUATE</a:t>
            </a:r>
            <a:endParaRPr lang="en-US" sz="1300" dirty="0"/>
          </a:p>
        </p:txBody>
      </p:sp>
      <p:sp>
        <p:nvSpPr>
          <p:cNvPr id="3" name="Text 1"/>
          <p:cNvSpPr txBox="1"/>
          <p:nvPr/>
        </p:nvSpPr>
        <p:spPr>
          <a:xfrm>
            <a:off x="548640" y="1051560"/>
            <a:ext cx="11091672"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Beyond Individual Skills</a:t>
            </a:r>
            <a:endParaRPr lang="en-US" sz="4000" dirty="0"/>
          </a:p>
        </p:txBody>
      </p:sp>
      <p:sp>
        <p:nvSpPr>
          <p:cNvPr id="4" name="Text 2"/>
          <p:cNvSpPr txBox="1"/>
          <p:nvPr/>
        </p:nvSpPr>
        <p:spPr>
          <a:xfrm>
            <a:off x="548640" y="2011680"/>
            <a:ext cx="11091672" cy="914400"/>
          </a:xfrm>
          <a:prstGeom prst="rect">
            <a:avLst/>
          </a:prstGeom>
          <a:noFill/>
          <a:ln/>
        </p:spPr>
        <p:txBody>
          <a:bodyPr wrap="square" lIns="0" tIns="0" rIns="0" bIns="0" rtlCol="0" anchor="t"/>
          <a:lstStyle/>
          <a:p>
            <a:pPr indent="0" marL="0">
              <a:lnSpc>
                <a:spcPct val="125000"/>
              </a:lnSpc>
              <a:buNone/>
            </a:pPr>
            <a:r>
              <a:rPr lang="en-US" sz="2000" dirty="0">
                <a:solidFill>
                  <a:srgbClr val="AEBBD1"/>
                </a:solidFill>
                <a:latin typeface="Calibri" pitchFamily="34" charset="0"/>
                <a:ea typeface="Calibri" pitchFamily="34" charset="-122"/>
                <a:cs typeface="Calibri" pitchFamily="34" charset="-120"/>
              </a:rPr>
              <a:t>Module 02 — Lineups and Combinations</a:t>
            </a:r>
            <a:endParaRPr lang="en-US" sz="2000" dirty="0"/>
          </a:p>
        </p:txBody>
      </p:sp>
      <p:sp>
        <p:nvSpPr>
          <p:cNvPr id="5" name="Text 3"/>
          <p:cNvSpPr txBox="1"/>
          <p:nvPr/>
        </p:nvSpPr>
        <p:spPr>
          <a:xfrm>
            <a:off x="548640" y="5760720"/>
            <a:ext cx="11091672" cy="45720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Week 2   |   Plays on Chapter 2, Zuccolotto, Manisera, &amp; Sandri (2026), Advanced Basketball Data Science: With Applications in R</a:t>
            </a:r>
            <a:endParaRPr lang="en-US" sz="1200" dirty="0"/>
          </a:p>
        </p:txBody>
      </p:sp>
    </p:spTree>
  </p:cSld>
  <p:clrMapOvr>
    <a:masterClrMapping/>
  </p:clrMapOvr>
  <p:transition xmlns:p="http://schemas.openxmlformats.org/presentationml/2006/mai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transition xmlns:p="http://schemas.openxmlformats.org/presentationml/2006/mai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Where We're Headed</a:t>
            </a:r>
            <a:endParaRPr lang="en-US" sz="3000" dirty="0"/>
          </a:p>
        </p:txBody>
      </p:sp>
      <p:sp>
        <p:nvSpPr>
          <p:cNvPr id="4" name="Shape 2"/>
          <p:cNvSpPr/>
          <p:nvPr/>
        </p:nvSpPr>
        <p:spPr>
          <a:xfrm>
            <a:off x="548640" y="1965960"/>
            <a:ext cx="5408676" cy="1508760"/>
          </a:xfrm>
          <a:prstGeom prst="roundRect">
            <a:avLst>
              <a:gd name="adj" fmla="val 3636"/>
            </a:avLst>
          </a:prstGeom>
          <a:solidFill>
            <a:srgbClr val="EDF1F7"/>
          </a:solidFill>
          <a:ln/>
        </p:spPr>
      </p:sp>
      <p:sp>
        <p:nvSpPr>
          <p:cNvPr id="5" name="Text 3"/>
          <p:cNvSpPr txBox="1"/>
          <p:nvPr/>
        </p:nvSpPr>
        <p:spPr>
          <a:xfrm>
            <a:off x="777240" y="2148840"/>
            <a:ext cx="731520" cy="548640"/>
          </a:xfrm>
          <a:prstGeom prst="rect">
            <a:avLst/>
          </a:prstGeom>
          <a:noFill/>
          <a:ln/>
        </p:spPr>
        <p:txBody>
          <a:bodyPr wrap="square" lIns="0" tIns="0" rIns="0" bIns="0"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I</a:t>
            </a:r>
            <a:endParaRPr lang="en-US" sz="2200" dirty="0"/>
          </a:p>
        </p:txBody>
      </p:sp>
      <p:sp>
        <p:nvSpPr>
          <p:cNvPr id="6" name="Text 4"/>
          <p:cNvSpPr txBox="1"/>
          <p:nvPr/>
        </p:nvSpPr>
        <p:spPr>
          <a:xfrm>
            <a:off x="777240" y="2651760"/>
            <a:ext cx="4951476" cy="3657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Segment 1</a:t>
            </a:r>
            <a:endParaRPr lang="en-US" sz="1500" dirty="0"/>
          </a:p>
        </p:txBody>
      </p:sp>
      <p:sp>
        <p:nvSpPr>
          <p:cNvPr id="7" name="Text 5"/>
          <p:cNvSpPr txBox="1"/>
          <p:nvPr/>
        </p:nvSpPr>
        <p:spPr>
          <a:xfrm>
            <a:off x="777240" y="2971800"/>
            <a:ext cx="4951476" cy="45720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Finding real lineups worth analyzing, and getting our first result</a:t>
            </a:r>
            <a:endParaRPr lang="en-US" sz="1200" dirty="0"/>
          </a:p>
        </p:txBody>
      </p:sp>
      <p:sp>
        <p:nvSpPr>
          <p:cNvPr id="8" name="Shape 6"/>
          <p:cNvSpPr/>
          <p:nvPr/>
        </p:nvSpPr>
        <p:spPr>
          <a:xfrm>
            <a:off x="6231636" y="1965960"/>
            <a:ext cx="5408676" cy="1508760"/>
          </a:xfrm>
          <a:prstGeom prst="roundRect">
            <a:avLst>
              <a:gd name="adj" fmla="val 3636"/>
            </a:avLst>
          </a:prstGeom>
          <a:solidFill>
            <a:srgbClr val="EDF1F7"/>
          </a:solidFill>
          <a:ln/>
        </p:spPr>
      </p:sp>
      <p:sp>
        <p:nvSpPr>
          <p:cNvPr id="9" name="Text 7"/>
          <p:cNvSpPr txBox="1"/>
          <p:nvPr/>
        </p:nvSpPr>
        <p:spPr>
          <a:xfrm>
            <a:off x="6460236" y="2148840"/>
            <a:ext cx="731520" cy="548640"/>
          </a:xfrm>
          <a:prstGeom prst="rect">
            <a:avLst/>
          </a:prstGeom>
          <a:noFill/>
          <a:ln/>
        </p:spPr>
        <p:txBody>
          <a:bodyPr wrap="square" lIns="0" tIns="0" rIns="0" bIns="0"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II</a:t>
            </a:r>
            <a:endParaRPr lang="en-US" sz="2200" dirty="0"/>
          </a:p>
        </p:txBody>
      </p:sp>
      <p:sp>
        <p:nvSpPr>
          <p:cNvPr id="10" name="Text 8"/>
          <p:cNvSpPr txBox="1"/>
          <p:nvPr/>
        </p:nvSpPr>
        <p:spPr>
          <a:xfrm>
            <a:off x="6460236" y="2651760"/>
            <a:ext cx="4951476" cy="3657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Segment 2</a:t>
            </a:r>
            <a:endParaRPr lang="en-US" sz="1500" dirty="0"/>
          </a:p>
        </p:txBody>
      </p:sp>
      <p:sp>
        <p:nvSpPr>
          <p:cNvPr id="11" name="Text 9"/>
          <p:cNvSpPr txBox="1"/>
          <p:nvPr/>
        </p:nvSpPr>
        <p:spPr>
          <a:xfrm>
            <a:off x="6460236" y="2971800"/>
            <a:ext cx="4951476" cy="45720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Assist networks and shot profiles for those lineups</a:t>
            </a:r>
            <a:endParaRPr lang="en-US" sz="1200" dirty="0"/>
          </a:p>
        </p:txBody>
      </p:sp>
      <p:sp>
        <p:nvSpPr>
          <p:cNvPr id="12" name="Shape 10"/>
          <p:cNvSpPr/>
          <p:nvPr/>
        </p:nvSpPr>
        <p:spPr>
          <a:xfrm>
            <a:off x="548640" y="3657600"/>
            <a:ext cx="5408676" cy="1508760"/>
          </a:xfrm>
          <a:prstGeom prst="roundRect">
            <a:avLst>
              <a:gd name="adj" fmla="val 3636"/>
            </a:avLst>
          </a:prstGeom>
          <a:solidFill>
            <a:srgbClr val="EDF1F7"/>
          </a:solidFill>
          <a:ln/>
        </p:spPr>
      </p:sp>
      <p:sp>
        <p:nvSpPr>
          <p:cNvPr id="13" name="Text 11"/>
          <p:cNvSpPr txBox="1"/>
          <p:nvPr/>
        </p:nvSpPr>
        <p:spPr>
          <a:xfrm>
            <a:off x="777240" y="3840480"/>
            <a:ext cx="731520" cy="548640"/>
          </a:xfrm>
          <a:prstGeom prst="rect">
            <a:avLst/>
          </a:prstGeom>
          <a:noFill/>
          <a:ln/>
        </p:spPr>
        <p:txBody>
          <a:bodyPr wrap="square" lIns="0" tIns="0" rIns="0" bIns="0"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III</a:t>
            </a:r>
            <a:endParaRPr lang="en-US" sz="2200" dirty="0"/>
          </a:p>
        </p:txBody>
      </p:sp>
      <p:sp>
        <p:nvSpPr>
          <p:cNvPr id="14" name="Text 12"/>
          <p:cNvSpPr txBox="1"/>
          <p:nvPr/>
        </p:nvSpPr>
        <p:spPr>
          <a:xfrm>
            <a:off x="777240" y="4343400"/>
            <a:ext cx="4951476" cy="3657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Segment 3</a:t>
            </a:r>
            <a:endParaRPr lang="en-US" sz="1500" dirty="0"/>
          </a:p>
        </p:txBody>
      </p:sp>
      <p:sp>
        <p:nvSpPr>
          <p:cNvPr id="15" name="Text 13"/>
          <p:cNvSpPr txBox="1"/>
          <p:nvPr/>
        </p:nvSpPr>
        <p:spPr>
          <a:xfrm>
            <a:off x="777240" y="4663440"/>
            <a:ext cx="4951476" cy="45720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Pace, ratings, and the Four Factors, applied to five-man units</a:t>
            </a:r>
            <a:endParaRPr lang="en-US" sz="1200" dirty="0"/>
          </a:p>
        </p:txBody>
      </p:sp>
      <p:sp>
        <p:nvSpPr>
          <p:cNvPr id="16" name="Shape 14"/>
          <p:cNvSpPr/>
          <p:nvPr/>
        </p:nvSpPr>
        <p:spPr>
          <a:xfrm>
            <a:off x="6231636" y="3657600"/>
            <a:ext cx="5408676" cy="1508760"/>
          </a:xfrm>
          <a:prstGeom prst="roundRect">
            <a:avLst>
              <a:gd name="adj" fmla="val 3636"/>
            </a:avLst>
          </a:prstGeom>
          <a:solidFill>
            <a:srgbClr val="EDF1F7"/>
          </a:solidFill>
          <a:ln/>
        </p:spPr>
      </p:sp>
      <p:sp>
        <p:nvSpPr>
          <p:cNvPr id="17" name="Text 15"/>
          <p:cNvSpPr txBox="1"/>
          <p:nvPr/>
        </p:nvSpPr>
        <p:spPr>
          <a:xfrm>
            <a:off x="6460236" y="3840480"/>
            <a:ext cx="731520" cy="548640"/>
          </a:xfrm>
          <a:prstGeom prst="rect">
            <a:avLst/>
          </a:prstGeom>
          <a:noFill/>
          <a:ln/>
        </p:spPr>
        <p:txBody>
          <a:bodyPr wrap="square" lIns="0" tIns="0" rIns="0" bIns="0" rtlCol="0" anchor="ctr"/>
          <a:lstStyle/>
          <a:p>
            <a:pPr indent="0" marL="0">
              <a:buNone/>
            </a:pPr>
            <a:r>
              <a:rPr lang="en-US" sz="2200" b="1" dirty="0">
                <a:solidFill>
                  <a:srgbClr val="E4572E"/>
                </a:solidFill>
                <a:latin typeface="Cambria" pitchFamily="34" charset="0"/>
                <a:ea typeface="Cambria" pitchFamily="34" charset="-122"/>
                <a:cs typeface="Cambria" pitchFamily="34" charset="-120"/>
              </a:rPr>
              <a:t>IV</a:t>
            </a:r>
            <a:endParaRPr lang="en-US" sz="2200" dirty="0"/>
          </a:p>
        </p:txBody>
      </p:sp>
      <p:sp>
        <p:nvSpPr>
          <p:cNvPr id="18" name="Text 16"/>
          <p:cNvSpPr txBox="1"/>
          <p:nvPr/>
        </p:nvSpPr>
        <p:spPr>
          <a:xfrm>
            <a:off x="6460236" y="4343400"/>
            <a:ext cx="4951476" cy="3657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Before Next Class</a:t>
            </a:r>
            <a:endParaRPr lang="en-US" sz="1500" dirty="0"/>
          </a:p>
        </p:txBody>
      </p:sp>
      <p:sp>
        <p:nvSpPr>
          <p:cNvPr id="19" name="Text 17"/>
          <p:cNvSpPr txBox="1"/>
          <p:nvPr/>
        </p:nvSpPr>
        <p:spPr>
          <a:xfrm>
            <a:off x="6460236" y="4663440"/>
            <a:ext cx="4951476" cy="45720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This module's quiz, and Lab 2</a:t>
            </a:r>
            <a:endParaRPr lang="en-US" sz="1200" dirty="0"/>
          </a:p>
        </p:txBody>
      </p:sp>
      <p:sp>
        <p:nvSpPr>
          <p:cNvPr id="20" name="Text 1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Chapter 2.</a:t>
            </a:r>
            <a:endParaRPr lang="en-US" sz="1000" dirty="0"/>
          </a:p>
        </p:txBody>
      </p:sp>
    </p:spTree>
  </p:cSld>
  <p:clrMapOvr>
    <a:masterClrMapping/>
  </p:clrMapOvr>
  <p:transition xmlns:p="http://schemas.openxmlformats.org/presentationml/2006/mai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a lineup split is, and why we cannot just guess which five-player combinations are worth studying.</a:t>
            </a:r>
            <a:endParaRPr lang="en-US" sz="1600" dirty="0"/>
          </a:p>
        </p:txBody>
      </p:sp>
      <p:sp>
        <p:nvSpPr>
          <p:cNvPr id="7" name="Shape 5"/>
          <p:cNvSpPr/>
          <p:nvPr/>
        </p:nvSpPr>
        <p:spPr>
          <a:xfrm>
            <a:off x="548640" y="2743200"/>
            <a:ext cx="411480" cy="411480"/>
          </a:xfrm>
          <a:prstGeom prst="ellipse">
            <a:avLst/>
          </a:prstGeom>
          <a:solidFill>
            <a:srgbClr val="E4572E"/>
          </a:solidFill>
          <a:ln/>
        </p:spPr>
      </p:sp>
      <p:sp>
        <p:nvSpPr>
          <p:cNvPr id="8" name="Text 6"/>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974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Use lineups() or parlineups() to find real combinations that played enough minutes together to analyze.</a:t>
            </a:r>
            <a:endParaRPr lang="en-US" sz="1600" dirty="0"/>
          </a:p>
        </p:txBody>
      </p:sp>
      <p:sp>
        <p:nvSpPr>
          <p:cNvPr id="10" name="Shape 8"/>
          <p:cNvSpPr/>
          <p:nvPr/>
        </p:nvSpPr>
        <p:spPr>
          <a:xfrm>
            <a:off x="548640" y="3520440"/>
            <a:ext cx="411480" cy="411480"/>
          </a:xfrm>
          <a:prstGeom prst="ellipse">
            <a:avLst/>
          </a:prstGeom>
          <a:solidFill>
            <a:srgbClr val="27496D"/>
          </a:solidFill>
          <a:ln/>
        </p:spPr>
      </p:sp>
      <p:sp>
        <p:nvSpPr>
          <p:cNvPr id="11" name="Text 9"/>
          <p:cNvSpPr txBox="1"/>
          <p:nvPr/>
        </p:nvSpPr>
        <p:spPr>
          <a:xfrm>
            <a:off x="548640" y="35204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4747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an assist-shot network and a shot-density profile for a specific lineup, not just a whole team or player.</a:t>
            </a:r>
            <a:endParaRPr lang="en-US" sz="1600" dirty="0"/>
          </a:p>
        </p:txBody>
      </p:sp>
      <p:sp>
        <p:nvSpPr>
          <p:cNvPr id="13" name="Shape 11"/>
          <p:cNvSpPr/>
          <p:nvPr/>
        </p:nvSpPr>
        <p:spPr>
          <a:xfrm>
            <a:off x="548640" y="4297680"/>
            <a:ext cx="411480" cy="411480"/>
          </a:xfrm>
          <a:prstGeom prst="ellipse">
            <a:avLst/>
          </a:prstGeom>
          <a:solidFill>
            <a:srgbClr val="E4572E"/>
          </a:solidFill>
          <a:ln/>
        </p:spPr>
      </p:sp>
      <p:sp>
        <p:nvSpPr>
          <p:cNvPr id="14" name="Text 12"/>
          <p:cNvSpPr txBox="1"/>
          <p:nvPr/>
        </p:nvSpPr>
        <p:spPr>
          <a:xfrm>
            <a:off x="548640" y="42976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2519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Extend Pace, Offensive/Defensive Rating, and the Four Factors, from the team level to the lineup level.</a:t>
            </a:r>
            <a:endParaRPr lang="en-US" sz="1600" dirty="0"/>
          </a:p>
        </p:txBody>
      </p:sp>
      <p:sp>
        <p:nvSpPr>
          <p:cNvPr id="16" name="Shape 14"/>
          <p:cNvSpPr/>
          <p:nvPr/>
        </p:nvSpPr>
        <p:spPr>
          <a:xfrm>
            <a:off x="548640" y="5074920"/>
            <a:ext cx="411480" cy="411480"/>
          </a:xfrm>
          <a:prstGeom prst="ellipse">
            <a:avLst/>
          </a:prstGeom>
          <a:solidFill>
            <a:srgbClr val="27496D"/>
          </a:solidFill>
          <a:ln/>
        </p:spPr>
      </p:sp>
      <p:sp>
        <p:nvSpPr>
          <p:cNvPr id="17" name="Text 15"/>
          <p:cNvSpPr txBox="1"/>
          <p:nvPr/>
        </p:nvSpPr>
        <p:spPr>
          <a:xfrm>
            <a:off x="548640" y="50749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0292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using a real example, how the same ten players can produce very different five-man units.</a:t>
            </a:r>
            <a:endParaRPr lang="en-US" sz="1600" dirty="0"/>
          </a:p>
        </p:txBody>
      </p:sp>
    </p:spTree>
  </p:cSld>
  <p:clrMapOvr>
    <a:masterClrMapping/>
  </p:clrMapOvr>
  <p:transition xmlns:p="http://schemas.openxmlformats.org/presentationml/2006/mai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Whole Is Greater Than The Sum Of Its Parts</a:t>
            </a:r>
            <a:endParaRPr lang="en-US" sz="2800" dirty="0"/>
          </a:p>
        </p:txBody>
      </p:sp>
      <p:sp>
        <p:nvSpPr>
          <p:cNvPr id="4" name="Text 2"/>
          <p:cNvSpPr txBox="1"/>
          <p:nvPr/>
        </p:nvSpPr>
        <p:spPr>
          <a:xfrm>
            <a:off x="548640" y="182880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That line is Aristotle's, but it is also the idea behind this whole chapter. A player's stat line looks the same no matter who is standing next to them on the court. In practice, it is not the same at all: the same player can look completely different in a lineup with a ball-dominant guard than in a lineup where they are the primary scorer. Today we build the tools to see that difference directly, instead of assuming it away.</a:t>
            </a:r>
            <a:endParaRPr lang="en-US" sz="1500" dirty="0"/>
          </a:p>
        </p:txBody>
      </p:sp>
      <p:sp>
        <p:nvSpPr>
          <p:cNvPr id="5"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Chapter 2 epigraph.</a:t>
            </a:r>
            <a:endParaRPr lang="en-US" sz="1000" dirty="0"/>
          </a:p>
        </p:txBody>
      </p:sp>
    </p:spTree>
  </p:cSld>
  <p:clrMapOvr>
    <a:masterClrMapping/>
  </p:clrMapOvr>
  <p:transition xmlns:p="http://schemas.openxmlformats.org/presentationml/2006/mai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From Player Stats To Lineup Stats</a:t>
            </a:r>
            <a:endParaRPr lang="en-US" sz="2800" dirty="0"/>
          </a:p>
        </p:txBody>
      </p:sp>
      <p:sp>
        <p:nvSpPr>
          <p:cNvPr id="4" name="Shape 2"/>
          <p:cNvSpPr/>
          <p:nvPr/>
        </p:nvSpPr>
        <p:spPr>
          <a:xfrm>
            <a:off x="548640" y="1965960"/>
            <a:ext cx="11091672" cy="1554480"/>
          </a:xfrm>
          <a:prstGeom prst="roundRect">
            <a:avLst>
              <a:gd name="adj" fmla="val 3529"/>
            </a:avLst>
          </a:prstGeom>
          <a:solidFill>
            <a:srgbClr val="EDF1F7"/>
          </a:solidFill>
          <a:ln/>
        </p:spPr>
      </p:sp>
      <p:sp>
        <p:nvSpPr>
          <p:cNvPr id="5" name="Text 3"/>
          <p:cNvSpPr txBox="1"/>
          <p:nvPr/>
        </p:nvSpPr>
        <p:spPr>
          <a:xfrm>
            <a:off x="822960" y="2194560"/>
            <a:ext cx="1054303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lineup split takes a play-by-play dataset and keeps only the events that happened while one specific combination of k players was on the court together. Everything you already know how to compute for a team or a player, box scores, assist networks, shot charts, you can compute for that lineup instead, once you have isolated its portion of the play-by-play.</a:t>
            </a:r>
            <a:endParaRPr lang="en-US" sz="1500" dirty="0"/>
          </a:p>
        </p:txBody>
      </p:sp>
      <p:sp>
        <p:nvSpPr>
          <p:cNvPr id="6" name="Shape 4"/>
          <p:cNvSpPr/>
          <p:nvPr/>
        </p:nvSpPr>
        <p:spPr>
          <a:xfrm>
            <a:off x="548640" y="3749040"/>
            <a:ext cx="11091672" cy="1737360"/>
          </a:xfrm>
          <a:prstGeom prst="roundRect">
            <a:avLst>
              <a:gd name="adj" fmla="val 3158"/>
            </a:avLst>
          </a:prstGeom>
          <a:solidFill>
            <a:srgbClr val="0B1D33"/>
          </a:solidFill>
          <a:ln/>
        </p:spPr>
      </p:sp>
      <p:sp>
        <p:nvSpPr>
          <p:cNvPr id="7" name="Text 5"/>
          <p:cNvSpPr txBox="1"/>
          <p:nvPr/>
        </p:nvSpPr>
        <p:spPr>
          <a:xfrm>
            <a:off x="822960" y="3977640"/>
            <a:ext cx="10543032"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problem: with a 10-player roster, there are 252 different ways to choose 5 of them. We have no way to know in advance which of those 252 combinations actually shared the court long enough to say anything statistically meaningful.</a:t>
            </a:r>
            <a:endParaRPr lang="en-US" sz="1500" dirty="0"/>
          </a:p>
        </p:txBody>
      </p:sp>
    </p:spTree>
  </p:cSld>
  <p:clrMapOvr>
    <a:masterClrMapping/>
  </p:clrMapOvr>
  <p:transition xmlns:p="http://schemas.openxmlformats.org/presentationml/2006/mai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Setting Up: lineups() And parlineups()</a:t>
            </a:r>
            <a:endParaRPr lang="en-US" sz="2800" dirty="0"/>
          </a:p>
        </p:txBody>
      </p:sp>
      <p:sp>
        <p:nvSpPr>
          <p:cNvPr id="4" name="Shape 2"/>
          <p:cNvSpPr/>
          <p:nvPr/>
        </p:nvSpPr>
        <p:spPr>
          <a:xfrm>
            <a:off x="548640" y="1828800"/>
            <a:ext cx="11091672" cy="2103120"/>
          </a:xfrm>
          <a:prstGeom prst="roundRect">
            <a:avLst>
              <a:gd name="adj" fmla="val 2609"/>
            </a:avLst>
          </a:prstGeom>
          <a:solidFill>
            <a:srgbClr val="0B1D33"/>
          </a:solidFill>
          <a:ln/>
        </p:spPr>
      </p:sp>
      <p:sp>
        <p:nvSpPr>
          <p:cNvPr id="5" name="Text 3"/>
          <p:cNvSpPr txBox="1"/>
          <p:nvPr/>
        </p:nvSpPr>
        <p:spPr>
          <a:xfrm>
            <a:off x="868680" y="2057400"/>
            <a:ext cx="10451592" cy="1645920"/>
          </a:xfrm>
          <a:prstGeom prst="rect">
            <a:avLst/>
          </a:prstGeom>
          <a:noFill/>
          <a:ln/>
        </p:spPr>
        <p:txBody>
          <a:bodyPr wrap="square" lIns="0" tIns="0" rIns="0" bIns="0" rtlCol="0" anchor="t"/>
          <a:lstStyle/>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from BasketballAnalyzeR's additional_functions.r</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source("additional_functions.r")</a:t>
            </a:r>
            <a:endParaRPr lang="en-US" sz="1300" dirty="0"/>
          </a:p>
          <a:p>
            <a:pPr indent="0" marL="0">
              <a:lnSpc>
                <a:spcPct val="115000"/>
              </a:lnSpc>
              <a:buNone/>
            </a:pP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ktuples &lt;- lineups(PbP, teamplyrs, k = nplayers)</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or, with parallel computing for a large roster:</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ktuples &lt;- parlineups(PbP, teamplyrs, k = nplayers, free_cores = 2)</a:t>
            </a:r>
            <a:endParaRPr lang="en-US" sz="1300" dirty="0"/>
          </a:p>
        </p:txBody>
      </p:sp>
      <p:sp>
        <p:nvSpPr>
          <p:cNvPr id="6" name="Text 4"/>
          <p:cNvSpPr txBox="1"/>
          <p:nvPr/>
        </p:nvSpPr>
        <p:spPr>
          <a:xfrm>
            <a:off x="548640" y="416052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lineups() computes the minutes played by every possible k-player combination drawn from a list of players you supply. It does the counting for you, so you never have to guess which combinations existed.</a:t>
            </a:r>
            <a:endParaRPr lang="en-US" sz="15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Section 2 pipeline box.</a:t>
            </a:r>
            <a:endParaRPr lang="en-US" sz="1000" dirty="0"/>
          </a:p>
        </p:txBody>
      </p:sp>
    </p:spTree>
  </p:cSld>
  <p:clrMapOvr>
    <a:masterClrMapping/>
  </p:clrMapOvr>
  <p:transition xmlns:p="http://schemas.openxmlformats.org/presentationml/2006/mai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RStudio and find real Golden State Warriors lineups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transition xmlns:p="http://schemas.openxmlformats.org/presentationml/2006/mai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Real Roster: The 2021-22 Golden State Warriors</a:t>
            </a:r>
            <a:endParaRPr lang="en-US" sz="2600" dirty="0"/>
          </a:p>
        </p:txBody>
      </p:sp>
      <p:sp>
        <p:nvSpPr>
          <p:cNvPr id="4" name="Shape 2"/>
          <p:cNvSpPr/>
          <p:nvPr/>
        </p:nvSpPr>
        <p:spPr>
          <a:xfrm>
            <a:off x="548640" y="1783080"/>
            <a:ext cx="11091672" cy="3657600"/>
          </a:xfrm>
          <a:prstGeom prst="roundRect">
            <a:avLst>
              <a:gd name="adj" fmla="val 1500"/>
            </a:avLst>
          </a:prstGeom>
          <a:solidFill>
            <a:srgbClr val="0B1D33"/>
          </a:solidFill>
          <a:ln/>
        </p:spPr>
      </p:sp>
      <p:sp>
        <p:nvSpPr>
          <p:cNvPr id="5" name="Text 3"/>
          <p:cNvSpPr txBox="1"/>
          <p:nvPr/>
        </p:nvSpPr>
        <p:spPr>
          <a:xfrm>
            <a:off x="868680" y="2011680"/>
            <a:ext cx="10451592" cy="3200400"/>
          </a:xfrm>
          <a:prstGeom prst="rect">
            <a:avLst/>
          </a:prstGeom>
          <a:noFill/>
          <a:ln/>
        </p:spPr>
        <p:txBody>
          <a:bodyPr wrap="square" lIns="0" tIns="0" rIns="0" bIns="0" rtlCol="0" anchor="t"/>
          <a:lstStyle/>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pacman::p_load(BasketballAnalyzeR, operators, pbapply, combinat, gridExtra, dplyr)</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load("./Data/NBAPbP_BDB.Rdata")</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PbP.GSW.rs &lt;- PbPmanipulation(PbP.BDB.GSW.rs)</a:t>
            </a:r>
            <a:endParaRPr lang="en-US" sz="1300" dirty="0"/>
          </a:p>
          <a:p>
            <a:pPr indent="0" marL="0">
              <a:lnSpc>
                <a:spcPct val="115000"/>
              </a:lnSpc>
              <a:buNone/>
            </a:pP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nplayers &lt;- 5</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teamplayers &lt;- c("Andrew Wiggins","Draymond Green","Gary Payton II",</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"Jonathan Kuminga","Jordan Poole","Kevon Looney","Klay Thompson",</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"Otto Porter Jr.","Moses Moody","Stephen Curry")</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min_time_l &lt;- 48</a:t>
            </a:r>
            <a:endParaRPr lang="en-US" sz="1300" dirty="0"/>
          </a:p>
          <a:p>
            <a:pPr indent="0" marL="0">
              <a:lnSpc>
                <a:spcPct val="115000"/>
              </a:lnSpc>
              <a:buNone/>
            </a:pP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cat("No. of combinations =", nCm(length(teamplayers), nplayers))</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No. of combinations = 252</a:t>
            </a:r>
            <a:endParaRPr lang="en-US" sz="13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Section 2.1, Golden State Warriors 2021/22 regular season.</a:t>
            </a:r>
            <a:endParaRPr lang="en-US" sz="1000" dirty="0"/>
          </a:p>
        </p:txBody>
      </p:sp>
    </p:spTree>
  </p:cSld>
  <p:clrMapOvr>
    <a:masterClrMapping/>
  </p:clrMapOvr>
  <p:transition xmlns:p="http://schemas.openxmlformats.org/presentationml/2006/mai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Eight Lineups Worth Analyzing</a:t>
            </a:r>
            <a:endParaRPr lang="en-US" sz="2600" dirty="0"/>
          </a:p>
        </p:txBody>
      </p:sp>
      <p:sp>
        <p:nvSpPr>
          <p:cNvPr id="4" name="Text 2"/>
          <p:cNvSpPr txBox="1"/>
          <p:nvPr/>
        </p:nvSpPr>
        <p:spPr>
          <a:xfrm>
            <a:off x="548640" y="1783080"/>
            <a:ext cx="457200" cy="32004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005840" y="1783080"/>
            <a:ext cx="7772400" cy="32004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Lineup (min. 48 minutes together)</a:t>
            </a:r>
            <a:endParaRPr lang="en-US" sz="1300" dirty="0"/>
          </a:p>
        </p:txBody>
      </p:sp>
      <p:sp>
        <p:nvSpPr>
          <p:cNvPr id="6" name="Text 4"/>
          <p:cNvSpPr txBox="1"/>
          <p:nvPr/>
        </p:nvSpPr>
        <p:spPr>
          <a:xfrm>
            <a:off x="8961120" y="1783080"/>
            <a:ext cx="1828800" cy="32004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Minutes</a:t>
            </a:r>
            <a:endParaRPr lang="en-US" sz="1300" dirty="0"/>
          </a:p>
        </p:txBody>
      </p:sp>
      <p:sp>
        <p:nvSpPr>
          <p:cNvPr id="7" name="Text 5"/>
          <p:cNvSpPr txBox="1"/>
          <p:nvPr/>
        </p:nvSpPr>
        <p:spPr>
          <a:xfrm>
            <a:off x="548640" y="2148840"/>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05840" y="2148840"/>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Green, Poole, Thompson, Looney</a:t>
            </a:r>
            <a:endParaRPr lang="en-US" sz="1300" dirty="0"/>
          </a:p>
        </p:txBody>
      </p:sp>
      <p:sp>
        <p:nvSpPr>
          <p:cNvPr id="9" name="Text 7"/>
          <p:cNvSpPr txBox="1"/>
          <p:nvPr/>
        </p:nvSpPr>
        <p:spPr>
          <a:xfrm>
            <a:off x="8961120" y="2148840"/>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52.9</a:t>
            </a:r>
            <a:endParaRPr lang="en-US" sz="1300" dirty="0"/>
          </a:p>
        </p:txBody>
      </p:sp>
      <p:sp>
        <p:nvSpPr>
          <p:cNvPr id="10" name="Text 8"/>
          <p:cNvSpPr txBox="1"/>
          <p:nvPr/>
        </p:nvSpPr>
        <p:spPr>
          <a:xfrm>
            <a:off x="548640" y="2532888"/>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05840" y="2532888"/>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Green, Poole, Looney, Curry</a:t>
            </a:r>
            <a:endParaRPr lang="en-US" sz="1300" dirty="0"/>
          </a:p>
        </p:txBody>
      </p:sp>
      <p:sp>
        <p:nvSpPr>
          <p:cNvPr id="12" name="Text 10"/>
          <p:cNvSpPr txBox="1"/>
          <p:nvPr/>
        </p:nvSpPr>
        <p:spPr>
          <a:xfrm>
            <a:off x="8961120" y="2532888"/>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346.1</a:t>
            </a:r>
            <a:endParaRPr lang="en-US" sz="1300" dirty="0"/>
          </a:p>
        </p:txBody>
      </p:sp>
      <p:sp>
        <p:nvSpPr>
          <p:cNvPr id="13" name="Text 11"/>
          <p:cNvSpPr txBox="1"/>
          <p:nvPr/>
        </p:nvSpPr>
        <p:spPr>
          <a:xfrm>
            <a:off x="548640" y="2916936"/>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05840" y="2916936"/>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Green, Poole, Porter Jr., Curry</a:t>
            </a:r>
            <a:endParaRPr lang="en-US" sz="1300" dirty="0"/>
          </a:p>
        </p:txBody>
      </p:sp>
      <p:sp>
        <p:nvSpPr>
          <p:cNvPr id="15" name="Text 13"/>
          <p:cNvSpPr txBox="1"/>
          <p:nvPr/>
        </p:nvSpPr>
        <p:spPr>
          <a:xfrm>
            <a:off x="8961120" y="2916936"/>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50.6</a:t>
            </a:r>
            <a:endParaRPr lang="en-US" sz="1300" dirty="0"/>
          </a:p>
        </p:txBody>
      </p:sp>
      <p:sp>
        <p:nvSpPr>
          <p:cNvPr id="16" name="Text 14"/>
          <p:cNvSpPr txBox="1"/>
          <p:nvPr/>
        </p:nvSpPr>
        <p:spPr>
          <a:xfrm>
            <a:off x="548640" y="3300984"/>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05840" y="3300984"/>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Payton II, Looney, Thompson, Curry</a:t>
            </a:r>
            <a:endParaRPr lang="en-US" sz="1300" dirty="0"/>
          </a:p>
        </p:txBody>
      </p:sp>
      <p:sp>
        <p:nvSpPr>
          <p:cNvPr id="18" name="Text 16"/>
          <p:cNvSpPr txBox="1"/>
          <p:nvPr/>
        </p:nvSpPr>
        <p:spPr>
          <a:xfrm>
            <a:off x="8961120" y="3300984"/>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48.3</a:t>
            </a:r>
            <a:endParaRPr lang="en-US" sz="1300" dirty="0"/>
          </a:p>
        </p:txBody>
      </p:sp>
      <p:sp>
        <p:nvSpPr>
          <p:cNvPr id="19" name="Text 17"/>
          <p:cNvSpPr txBox="1"/>
          <p:nvPr/>
        </p:nvSpPr>
        <p:spPr>
          <a:xfrm>
            <a:off x="548640" y="3685032"/>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005840" y="3685032"/>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Kuminga, Looney, Thompson, Curry</a:t>
            </a:r>
            <a:endParaRPr lang="en-US" sz="1300" dirty="0"/>
          </a:p>
        </p:txBody>
      </p:sp>
      <p:sp>
        <p:nvSpPr>
          <p:cNvPr id="21" name="Text 19"/>
          <p:cNvSpPr txBox="1"/>
          <p:nvPr/>
        </p:nvSpPr>
        <p:spPr>
          <a:xfrm>
            <a:off x="8961120" y="3685032"/>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57.7</a:t>
            </a:r>
            <a:endParaRPr lang="en-US" sz="1300" dirty="0"/>
          </a:p>
        </p:txBody>
      </p:sp>
      <p:sp>
        <p:nvSpPr>
          <p:cNvPr id="22" name="Text 20"/>
          <p:cNvSpPr txBox="1"/>
          <p:nvPr/>
        </p:nvSpPr>
        <p:spPr>
          <a:xfrm>
            <a:off x="548640" y="4069080"/>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005840" y="4069080"/>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Poole, Looney, Porter Jr., Curry</a:t>
            </a:r>
            <a:endParaRPr lang="en-US" sz="1300" dirty="0"/>
          </a:p>
        </p:txBody>
      </p:sp>
      <p:sp>
        <p:nvSpPr>
          <p:cNvPr id="24" name="Text 22"/>
          <p:cNvSpPr txBox="1"/>
          <p:nvPr/>
        </p:nvSpPr>
        <p:spPr>
          <a:xfrm>
            <a:off x="8961120" y="4069080"/>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85.3</a:t>
            </a:r>
            <a:endParaRPr lang="en-US" sz="1300" dirty="0"/>
          </a:p>
        </p:txBody>
      </p:sp>
      <p:sp>
        <p:nvSpPr>
          <p:cNvPr id="25" name="Text 23"/>
          <p:cNvSpPr txBox="1"/>
          <p:nvPr/>
        </p:nvSpPr>
        <p:spPr>
          <a:xfrm>
            <a:off x="548640" y="4453128"/>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1005840" y="4453128"/>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Looney, Thompson, Porter Jr., Curry</a:t>
            </a:r>
            <a:endParaRPr lang="en-US" sz="1300" dirty="0"/>
          </a:p>
        </p:txBody>
      </p:sp>
      <p:sp>
        <p:nvSpPr>
          <p:cNvPr id="27" name="Text 25"/>
          <p:cNvSpPr txBox="1"/>
          <p:nvPr/>
        </p:nvSpPr>
        <p:spPr>
          <a:xfrm>
            <a:off x="8961120" y="4453128"/>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81.1</a:t>
            </a:r>
            <a:endParaRPr lang="en-US" sz="1300" dirty="0"/>
          </a:p>
        </p:txBody>
      </p:sp>
      <p:sp>
        <p:nvSpPr>
          <p:cNvPr id="28" name="Text 26"/>
          <p:cNvSpPr txBox="1"/>
          <p:nvPr/>
        </p:nvSpPr>
        <p:spPr>
          <a:xfrm>
            <a:off x="548640" y="4837176"/>
            <a:ext cx="4572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1005840" y="4837176"/>
            <a:ext cx="77724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Wiggins, Looney, Thompson, Moody, Curry</a:t>
            </a:r>
            <a:endParaRPr lang="en-US" sz="1300" dirty="0"/>
          </a:p>
        </p:txBody>
      </p:sp>
      <p:sp>
        <p:nvSpPr>
          <p:cNvPr id="30" name="Text 28"/>
          <p:cNvSpPr txBox="1"/>
          <p:nvPr/>
        </p:nvSpPr>
        <p:spPr>
          <a:xfrm>
            <a:off x="8961120" y="4837176"/>
            <a:ext cx="1828800" cy="3657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50.5</a:t>
            </a:r>
            <a:endParaRPr lang="en-US" sz="1300" dirty="0"/>
          </a:p>
        </p:txBody>
      </p:sp>
      <p:sp>
        <p:nvSpPr>
          <p:cNvPr id="32" name="Text 29"/>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Table 2.1, Zuccolotto, Manisera, &amp; Sandri (2026). Real lineup data, Golden State Warriors 2021/22 regular season.</a:t>
            </a:r>
            <a:endParaRPr lang="en-US" sz="1000" dirty="0"/>
          </a:p>
        </p:txBody>
      </p:sp>
    </p:spTree>
  </p:cSld>
  <p:clrMapOvr>
    <a:masterClrMapping/>
  </p:clrMapOvr>
  <p:transition xmlns:p="http://schemas.openxmlformats.org/presentationml/2006/mai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1828800"/>
            <a:ext cx="11091672" cy="10972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Lineup Carries The Team</a:t>
            </a:r>
            <a:endParaRPr lang="en-US" sz="3000" dirty="0"/>
          </a:p>
        </p:txBody>
      </p:sp>
      <p:sp>
        <p:nvSpPr>
          <p:cNvPr id="4" name="Text 2"/>
          <p:cNvSpPr txBox="1"/>
          <p:nvPr/>
        </p:nvSpPr>
        <p:spPr>
          <a:xfrm>
            <a:off x="548640" y="292608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AEBBD1"/>
                </a:solidFill>
                <a:latin typeface="Calibri" pitchFamily="34" charset="0"/>
                <a:ea typeface="Calibri" pitchFamily="34" charset="-122"/>
                <a:cs typeface="Calibri" pitchFamily="34" charset="-120"/>
              </a:rPr>
              <a:t>346.1 of the roughly 480 minutes an NBA team plays as a starting group in a regular season went to a single five-man unit. Everything else on the list is a variation the coach tried for specific matchups, foul trouble, or rest. Keep that asymmetry in mind for Segment III, when we compare these lineups' Pace and Offensive/Defensive Ratings.</a:t>
            </a:r>
            <a:endParaRPr lang="en-US" sz="1600" dirty="0"/>
          </a:p>
        </p:txBody>
      </p:sp>
    </p:spTree>
  </p:cSld>
  <p:clrMapOvr>
    <a:masterClrMapping/>
  </p:clrMapOvr>
  <p:transition xmlns:p="http://schemas.openxmlformats.org/presentationml/2006/mai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assist networks and shot profiles for these eight lineups.</a:t>
            </a:r>
            <a:endParaRPr lang="en-US" sz="1600" dirty="0"/>
          </a:p>
        </p:txBody>
      </p:sp>
    </p:spTree>
  </p:cSld>
  <p:clrMapOvr>
    <a:masterClrMapping/>
  </p:clrMapOvr>
  <p:transition xmlns:p="http://schemas.openxmlformats.org/presentationml/2006/mai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Same Ten Players, Eight Different Teams</a:t>
            </a:r>
            <a:endParaRPr lang="en-US" sz="2800" dirty="0"/>
          </a:p>
        </p:txBody>
      </p:sp>
      <p:sp>
        <p:nvSpPr>
          <p:cNvPr id="4" name="Text 2"/>
          <p:cNvSpPr txBox="1"/>
          <p:nvPr/>
        </p:nvSpPr>
        <p:spPr>
          <a:xfrm>
            <a:off x="548640" y="182880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In Module 01 we built one assist network for the whole Golden State Warriors roster. Today we build eight, one for each lineup in Table 2.1. The players do not change. What changes is who is actually sharing the court with whom, and that turns out to change the network completely.</a:t>
            </a:r>
            <a:endParaRPr lang="en-US" sz="1600" dirty="0"/>
          </a:p>
        </p:txBody>
      </p:sp>
    </p:spTree>
  </p:cSld>
  <p:clrMapOvr>
    <a:masterClrMapping/>
  </p:clrMapOvr>
  <p:transition xmlns:p="http://schemas.openxmlformats.org/presentationml/2006/mai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Building A Network Per Lineup</a:t>
            </a:r>
            <a:endParaRPr lang="en-US" sz="2600" dirty="0"/>
          </a:p>
        </p:txBody>
      </p:sp>
      <p:sp>
        <p:nvSpPr>
          <p:cNvPr id="4" name="Shape 2"/>
          <p:cNvSpPr/>
          <p:nvPr/>
        </p:nvSpPr>
        <p:spPr>
          <a:xfrm>
            <a:off x="548640" y="1783080"/>
            <a:ext cx="11091672" cy="3108960"/>
          </a:xfrm>
          <a:prstGeom prst="roundRect">
            <a:avLst>
              <a:gd name="adj" fmla="val 1765"/>
            </a:avLst>
          </a:prstGeom>
          <a:solidFill>
            <a:srgbClr val="0B1D33"/>
          </a:solidFill>
          <a:ln/>
        </p:spPr>
      </p:sp>
      <p:sp>
        <p:nvSpPr>
          <p:cNvPr id="5" name="Text 3"/>
          <p:cNvSpPr txBox="1"/>
          <p:nvPr/>
        </p:nvSpPr>
        <p:spPr>
          <a:xfrm>
            <a:off x="868680" y="2011680"/>
            <a:ext cx="10451592" cy="2651760"/>
          </a:xfrm>
          <a:prstGeom prst="rect">
            <a:avLst/>
          </a:prstGeom>
          <a:noFill/>
          <a:ln/>
        </p:spPr>
        <p:txBody>
          <a:bodyPr wrap="square" lIns="0" tIns="0" rIns="0" bIns="0" rtlCol="0" anchor="t"/>
          <a:lstStyle/>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pacman::p_load(network, ggnetwork)</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out_list &lt;- vector(nrow(lineup_set), mode = "list")</a:t>
            </a:r>
            <a:endParaRPr lang="en-US" sz="1300" dirty="0"/>
          </a:p>
          <a:p>
            <a:pPr indent="0" marL="0">
              <a:lnSpc>
                <a:spcPct val="115000"/>
              </a:lnSpc>
              <a:buNone/>
            </a:pP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for (k in 1:nrow(lineup_set)) {</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subdatak.GSW &lt;- &lt;play-by-play filtered to lineup k&gt;</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out &lt;- assistnet(subdatak.GSW)</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p1  &lt;- plot(out, layout = "circle", edge.thr = 0,</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node.col = "ASTPTS", node.size = "FGPTS_ASTp")</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  out_list[[k]] &lt;- list("assistnet" = p1, ...)</a:t>
            </a:r>
            <a:endParaRPr lang="en-US" sz="1300" dirty="0"/>
          </a:p>
          <a:p>
            <a:pPr indent="0" marL="0">
              <a:lnSpc>
                <a:spcPct val="115000"/>
              </a:lnSpc>
              <a:buNone/>
            </a:pPr>
            <a:r>
              <a:rPr lang="en-US" sz="1300" dirty="0">
                <a:solidFill>
                  <a:srgbClr val="D8E1F0"/>
                </a:solidFill>
                <a:latin typeface="Consolas" pitchFamily="34" charset="0"/>
                <a:ea typeface="Consolas" pitchFamily="34" charset="-122"/>
                <a:cs typeface="Consolas" pitchFamily="34" charset="-120"/>
              </a:rPr>
              <a:t>}</a:t>
            </a:r>
            <a:endParaRPr lang="en-US" sz="13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Adapted from Zuccolotto, Manisera, &amp; Sandri (2026), Section 2.1 for-loop.</a:t>
            </a:r>
            <a:endParaRPr lang="en-US" sz="1000" dirty="0"/>
          </a:p>
        </p:txBody>
      </p:sp>
    </p:spTree>
  </p:cSld>
  <p:clrMapOvr>
    <a:masterClrMapping/>
  </p:clrMapOvr>
  <p:transition xmlns:p="http://schemas.openxmlformats.org/presentationml/2006/mai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our R package and build one lineup's assist network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transition xmlns:p="http://schemas.openxmlformats.org/presentationml/2006/mai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Stays The Same, What Changes</a:t>
            </a:r>
            <a:endParaRPr lang="en-US" sz="2800" dirty="0"/>
          </a:p>
        </p:txBody>
      </p:sp>
      <p:sp>
        <p:nvSpPr>
          <p:cNvPr id="4" name="Text 2"/>
          <p:cNvSpPr txBox="1"/>
          <p:nvPr/>
        </p:nvSpPr>
        <p:spPr>
          <a:xfrm>
            <a:off x="548640" y="182880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Look across the eight real networks the textbook builds for these lineups: Stephen Curry sits at the center of the thickest, reddest assist connection in almost every one of them. What changes lineup to lineup is who is on the other end of that connection, Klay Thompson in one, Draymond Green in another, Otto Porter Jr. in a third. The star's role as a hub barely moves. Everyone else's role moves constantly depending on who is next to them.</a:t>
            </a:r>
            <a:endParaRPr lang="en-US" sz="1500" dirty="0"/>
          </a:p>
        </p:txBody>
      </p:sp>
      <p:sp>
        <p:nvSpPr>
          <p:cNvPr id="5"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Figures 2.1-2.4, Zuccolotto, Manisera, &amp; Sandri (2026).</a:t>
            </a:r>
            <a:endParaRPr lang="en-US" sz="1000" dirty="0"/>
          </a:p>
        </p:txBody>
      </p:sp>
    </p:spTree>
  </p:cSld>
  <p:clrMapOvr>
    <a:masterClrMapping/>
  </p:clrMapOvr>
  <p:transition xmlns:p="http://schemas.openxmlformats.org/presentationml/2006/mai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Same Lineup, A Different Shot Diet</a:t>
            </a:r>
            <a:endParaRPr lang="en-US" sz="2600" dirty="0"/>
          </a:p>
        </p:txBody>
      </p:sp>
      <p:sp>
        <p:nvSpPr>
          <p:cNvPr id="4" name="Text 2"/>
          <p:cNvSpPr txBox="1"/>
          <p:nvPr/>
        </p:nvSpPr>
        <p:spPr>
          <a:xfrm>
            <a:off x="548640" y="1737360"/>
            <a:ext cx="1463040" cy="502920"/>
          </a:xfrm>
          <a:prstGeom prst="rect">
            <a:avLst/>
          </a:prstGeom>
          <a:noFill/>
          <a:ln/>
        </p:spPr>
        <p:txBody>
          <a:bodyPr wrap="square" lIns="0" tIns="0" rIns="0" bIns="0" rtlCol="0" anchor="ctr"/>
          <a:lstStyle/>
          <a:p>
            <a:pPr indent="0" marL="0">
              <a:buNone/>
            </a:pPr>
            <a:r>
              <a:rPr lang="en-US" sz="1200" b="1" dirty="0">
                <a:solidFill>
                  <a:srgbClr val="27496D"/>
                </a:solidFill>
                <a:latin typeface="Calibri" pitchFamily="34" charset="0"/>
                <a:ea typeface="Calibri" pitchFamily="34" charset="-122"/>
                <a:cs typeface="Calibri" pitchFamily="34" charset="-120"/>
              </a:rPr>
              <a:t>Lineup</a:t>
            </a:r>
            <a:endParaRPr lang="en-US" sz="1200" dirty="0"/>
          </a:p>
        </p:txBody>
      </p:sp>
      <p:sp>
        <p:nvSpPr>
          <p:cNvPr id="5" name="Text 3"/>
          <p:cNvSpPr txBox="1"/>
          <p:nvPr/>
        </p:nvSpPr>
        <p:spPr>
          <a:xfrm>
            <a:off x="2011680" y="1737360"/>
            <a:ext cx="3291840" cy="502920"/>
          </a:xfrm>
          <a:prstGeom prst="rect">
            <a:avLst/>
          </a:prstGeom>
          <a:noFill/>
          <a:ln/>
        </p:spPr>
        <p:txBody>
          <a:bodyPr wrap="square" lIns="0" tIns="0" rIns="0" bIns="0" rtlCol="0" anchor="ctr"/>
          <a:lstStyle/>
          <a:p>
            <a:pPr indent="0" marL="0">
              <a:buNone/>
            </a:pPr>
            <a:r>
              <a:rPr lang="en-US" sz="1200" b="1" dirty="0">
                <a:solidFill>
                  <a:srgbClr val="27496D"/>
                </a:solidFill>
                <a:latin typeface="Calibri" pitchFamily="34" charset="0"/>
                <a:ea typeface="Calibri" pitchFamily="34" charset="-122"/>
                <a:cs typeface="Calibri" pitchFamily="34" charset="-120"/>
              </a:rPr>
              <a:t>Best Inside Scorer</a:t>
            </a:r>
            <a:endParaRPr lang="en-US" sz="1200" dirty="0"/>
          </a:p>
        </p:txBody>
      </p:sp>
      <p:sp>
        <p:nvSpPr>
          <p:cNvPr id="6" name="Text 4"/>
          <p:cNvSpPr txBox="1"/>
          <p:nvPr/>
        </p:nvSpPr>
        <p:spPr>
          <a:xfrm>
            <a:off x="5303520" y="1737360"/>
            <a:ext cx="3291840" cy="502920"/>
          </a:xfrm>
          <a:prstGeom prst="rect">
            <a:avLst/>
          </a:prstGeom>
          <a:noFill/>
          <a:ln/>
        </p:spPr>
        <p:txBody>
          <a:bodyPr wrap="square" lIns="0" tIns="0" rIns="0" bIns="0" rtlCol="0" anchor="ctr"/>
          <a:lstStyle/>
          <a:p>
            <a:pPr indent="0" marL="0">
              <a:buNone/>
            </a:pPr>
            <a:r>
              <a:rPr lang="en-US" sz="1200" b="1" dirty="0">
                <a:solidFill>
                  <a:srgbClr val="27496D"/>
                </a:solidFill>
                <a:latin typeface="Calibri" pitchFamily="34" charset="0"/>
                <a:ea typeface="Calibri" pitchFamily="34" charset="-122"/>
                <a:cs typeface="Calibri" pitchFamily="34" charset="-120"/>
              </a:rPr>
              <a:t>Best Mid-Range Scorer</a:t>
            </a:r>
            <a:endParaRPr lang="en-US" sz="1200" dirty="0"/>
          </a:p>
        </p:txBody>
      </p:sp>
      <p:sp>
        <p:nvSpPr>
          <p:cNvPr id="7" name="Text 5"/>
          <p:cNvSpPr txBox="1"/>
          <p:nvPr/>
        </p:nvSpPr>
        <p:spPr>
          <a:xfrm>
            <a:off x="8595360" y="1737360"/>
            <a:ext cx="3017520" cy="502920"/>
          </a:xfrm>
          <a:prstGeom prst="rect">
            <a:avLst/>
          </a:prstGeom>
          <a:noFill/>
          <a:ln/>
        </p:spPr>
        <p:txBody>
          <a:bodyPr wrap="square" lIns="0" tIns="0" rIns="0" bIns="0" rtlCol="0" anchor="ctr"/>
          <a:lstStyle/>
          <a:p>
            <a:pPr indent="0" marL="0">
              <a:buNone/>
            </a:pPr>
            <a:r>
              <a:rPr lang="en-US" sz="1200" b="1" dirty="0">
                <a:solidFill>
                  <a:srgbClr val="27496D"/>
                </a:solidFill>
                <a:latin typeface="Calibri" pitchFamily="34" charset="0"/>
                <a:ea typeface="Calibri" pitchFamily="34" charset="-122"/>
                <a:cs typeface="Calibri" pitchFamily="34" charset="-120"/>
              </a:rPr>
              <a:t>Best 3PT Scorer</a:t>
            </a:r>
            <a:endParaRPr lang="en-US" sz="1200" dirty="0"/>
          </a:p>
        </p:txBody>
      </p:sp>
      <p:sp>
        <p:nvSpPr>
          <p:cNvPr id="8" name="Text 6"/>
          <p:cNvSpPr txBox="1"/>
          <p:nvPr/>
        </p:nvSpPr>
        <p:spPr>
          <a:xfrm>
            <a:off x="548640" y="2267712"/>
            <a:ext cx="14630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1 (52.9 min)</a:t>
            </a:r>
            <a:endParaRPr lang="en-US" sz="1200" dirty="0"/>
          </a:p>
        </p:txBody>
      </p:sp>
      <p:sp>
        <p:nvSpPr>
          <p:cNvPr id="9" name="Text 7"/>
          <p:cNvSpPr txBox="1"/>
          <p:nvPr/>
        </p:nvSpPr>
        <p:spPr>
          <a:xfrm>
            <a:off x="2011680" y="2267712"/>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K. Looney -- 8 pts (52% made)</a:t>
            </a:r>
            <a:endParaRPr lang="en-US" sz="1200" dirty="0"/>
          </a:p>
        </p:txBody>
      </p:sp>
      <p:sp>
        <p:nvSpPr>
          <p:cNvPr id="10" name="Text 8"/>
          <p:cNvSpPr txBox="1"/>
          <p:nvPr/>
        </p:nvSpPr>
        <p:spPr>
          <a:xfrm>
            <a:off x="5303520" y="2267712"/>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K. Thompson -- 18 pts (42% made)</a:t>
            </a:r>
            <a:endParaRPr lang="en-US" sz="1200" dirty="0"/>
          </a:p>
        </p:txBody>
      </p:sp>
      <p:sp>
        <p:nvSpPr>
          <p:cNvPr id="11" name="Text 9"/>
          <p:cNvSpPr txBox="1"/>
          <p:nvPr/>
        </p:nvSpPr>
        <p:spPr>
          <a:xfrm>
            <a:off x="8595360" y="2267712"/>
            <a:ext cx="301752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J. Poole -- 18 pts (42% made)</a:t>
            </a:r>
            <a:endParaRPr lang="en-US" sz="1200" dirty="0"/>
          </a:p>
        </p:txBody>
      </p:sp>
      <p:sp>
        <p:nvSpPr>
          <p:cNvPr id="12" name="Text 10"/>
          <p:cNvSpPr txBox="1"/>
          <p:nvPr/>
        </p:nvSpPr>
        <p:spPr>
          <a:xfrm>
            <a:off x="548640" y="2798064"/>
            <a:ext cx="14630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2 (346.1 min)</a:t>
            </a:r>
            <a:endParaRPr lang="en-US" sz="1200" dirty="0"/>
          </a:p>
        </p:txBody>
      </p:sp>
      <p:sp>
        <p:nvSpPr>
          <p:cNvPr id="13" name="Text 11"/>
          <p:cNvSpPr txBox="1"/>
          <p:nvPr/>
        </p:nvSpPr>
        <p:spPr>
          <a:xfrm>
            <a:off x="2011680" y="2798064"/>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K. Looney -- 88 pts (71% made)</a:t>
            </a:r>
            <a:endParaRPr lang="en-US" sz="1200" dirty="0"/>
          </a:p>
        </p:txBody>
      </p:sp>
      <p:sp>
        <p:nvSpPr>
          <p:cNvPr id="14" name="Text 12"/>
          <p:cNvSpPr txBox="1"/>
          <p:nvPr/>
        </p:nvSpPr>
        <p:spPr>
          <a:xfrm>
            <a:off x="5303520" y="2798064"/>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A. Wiggins -- 47 pts (39% made)</a:t>
            </a:r>
            <a:endParaRPr lang="en-US" sz="1200" dirty="0"/>
          </a:p>
        </p:txBody>
      </p:sp>
      <p:sp>
        <p:nvSpPr>
          <p:cNvPr id="15" name="Text 13"/>
          <p:cNvSpPr txBox="1"/>
          <p:nvPr/>
        </p:nvSpPr>
        <p:spPr>
          <a:xfrm>
            <a:off x="8595360" y="2798064"/>
            <a:ext cx="301752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S. Curry -- 150 pts (38% made)</a:t>
            </a:r>
            <a:endParaRPr lang="en-US" sz="1200" dirty="0"/>
          </a:p>
        </p:txBody>
      </p:sp>
      <p:sp>
        <p:nvSpPr>
          <p:cNvPr id="16" name="Text 14"/>
          <p:cNvSpPr txBox="1"/>
          <p:nvPr/>
        </p:nvSpPr>
        <p:spPr>
          <a:xfrm>
            <a:off x="548640" y="3328416"/>
            <a:ext cx="14630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3 (50.6 min)</a:t>
            </a:r>
            <a:endParaRPr lang="en-US" sz="1200" dirty="0"/>
          </a:p>
        </p:txBody>
      </p:sp>
      <p:sp>
        <p:nvSpPr>
          <p:cNvPr id="17" name="Text 15"/>
          <p:cNvSpPr txBox="1"/>
          <p:nvPr/>
        </p:nvSpPr>
        <p:spPr>
          <a:xfrm>
            <a:off x="2011680" y="3328416"/>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J. Poole -- 12 pts (73% made)</a:t>
            </a:r>
            <a:endParaRPr lang="en-US" sz="1200" dirty="0"/>
          </a:p>
        </p:txBody>
      </p:sp>
      <p:sp>
        <p:nvSpPr>
          <p:cNvPr id="18" name="Text 16"/>
          <p:cNvSpPr txBox="1"/>
          <p:nvPr/>
        </p:nvSpPr>
        <p:spPr>
          <a:xfrm>
            <a:off x="5303520" y="3328416"/>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D. Green -- 4 pts (20% made)</a:t>
            </a:r>
            <a:endParaRPr lang="en-US" sz="1200" dirty="0"/>
          </a:p>
        </p:txBody>
      </p:sp>
      <p:sp>
        <p:nvSpPr>
          <p:cNvPr id="19" name="Text 17"/>
          <p:cNvSpPr txBox="1"/>
          <p:nvPr/>
        </p:nvSpPr>
        <p:spPr>
          <a:xfrm>
            <a:off x="8595360" y="3328416"/>
            <a:ext cx="301752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S. Curry -- 30 pts (43% made)</a:t>
            </a:r>
            <a:endParaRPr lang="en-US" sz="1200" dirty="0"/>
          </a:p>
        </p:txBody>
      </p:sp>
      <p:sp>
        <p:nvSpPr>
          <p:cNvPr id="20" name="Text 18"/>
          <p:cNvSpPr txBox="1"/>
          <p:nvPr/>
        </p:nvSpPr>
        <p:spPr>
          <a:xfrm>
            <a:off x="548640" y="3858768"/>
            <a:ext cx="14630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4 (48.3 min)</a:t>
            </a:r>
            <a:endParaRPr lang="en-US" sz="1200" dirty="0"/>
          </a:p>
        </p:txBody>
      </p:sp>
      <p:sp>
        <p:nvSpPr>
          <p:cNvPr id="21" name="Text 19"/>
          <p:cNvSpPr txBox="1"/>
          <p:nvPr/>
        </p:nvSpPr>
        <p:spPr>
          <a:xfrm>
            <a:off x="2011680" y="3858768"/>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K. Looney -- 24 pts (79% made)</a:t>
            </a:r>
            <a:endParaRPr lang="en-US" sz="1200" dirty="0"/>
          </a:p>
        </p:txBody>
      </p:sp>
      <p:sp>
        <p:nvSpPr>
          <p:cNvPr id="22" name="Text 20"/>
          <p:cNvSpPr txBox="1"/>
          <p:nvPr/>
        </p:nvSpPr>
        <p:spPr>
          <a:xfrm>
            <a:off x="5303520" y="3858768"/>
            <a:ext cx="329184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S. Curry -- 4 pts (24% made)</a:t>
            </a:r>
            <a:endParaRPr lang="en-US" sz="1200" dirty="0"/>
          </a:p>
        </p:txBody>
      </p:sp>
      <p:sp>
        <p:nvSpPr>
          <p:cNvPr id="23" name="Text 21"/>
          <p:cNvSpPr txBox="1"/>
          <p:nvPr/>
        </p:nvSpPr>
        <p:spPr>
          <a:xfrm>
            <a:off x="8595360" y="3858768"/>
            <a:ext cx="3017520" cy="50292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K. Thompson -- 26 pts (42% made)</a:t>
            </a:r>
            <a:endParaRPr lang="en-US" sz="1200" dirty="0"/>
          </a:p>
        </p:txBody>
      </p:sp>
      <p:sp>
        <p:nvSpPr>
          <p:cNvPr id="25" name="Text 2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Figures 2.9-2.10, Zuccolotto, Manisera, &amp; Sandri (2026), Golden State Warriors 2021/22 regular season.</a:t>
            </a:r>
            <a:endParaRPr lang="en-US" sz="1000" dirty="0"/>
          </a:p>
        </p:txBody>
      </p:sp>
    </p:spTree>
  </p:cSld>
  <p:clrMapOvr>
    <a:masterClrMapping/>
  </p:clrMapOvr>
  <p:transition xmlns:p="http://schemas.openxmlformats.org/presentationml/2006/mai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100584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You Make The Rotation Call</a:t>
            </a:r>
            <a:endParaRPr lang="en-US" sz="2800" dirty="0"/>
          </a:p>
        </p:txBody>
      </p:sp>
      <p:sp>
        <p:nvSpPr>
          <p:cNvPr id="4" name="Text 2"/>
          <p:cNvSpPr txBox="1"/>
          <p:nvPr/>
        </p:nvSpPr>
        <p:spPr>
          <a:xfrm>
            <a:off x="548640" y="210312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AEBBD1"/>
                </a:solidFill>
                <a:latin typeface="Calibri" pitchFamily="34" charset="0"/>
                <a:ea typeface="Calibri" pitchFamily="34" charset="-122"/>
                <a:cs typeface="Calibri" pitchFamily="34" charset="-120"/>
              </a:rPr>
              <a:t>Your team is up three points with two minutes left. You need one more defensive stop and someone who can finish at the rim if you get the ball back. Using only the shot-diet table on the previous slide, which of these four lineups do you send out, and why? There is no lineup here with a bad answer, only a defensible one.</a:t>
            </a:r>
            <a:endParaRPr lang="en-US" sz="1600" dirty="0"/>
          </a:p>
        </p:txBody>
      </p:sp>
    </p:spTree>
  </p:cSld>
  <p:clrMapOvr>
    <a:masterClrMapping/>
  </p:clrMapOvr>
  <p:transition xmlns:p="http://schemas.openxmlformats.org/presentationml/2006/mai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Eight Networks, Eight Shot Diets, One Roster</a:t>
            </a:r>
            <a:endParaRPr lang="en-US" sz="2800" dirty="0"/>
          </a:p>
        </p:txBody>
      </p:sp>
      <p:sp>
        <p:nvSpPr>
          <p:cNvPr id="4" name="Shape 2"/>
          <p:cNvSpPr/>
          <p:nvPr/>
        </p:nvSpPr>
        <p:spPr>
          <a:xfrm>
            <a:off x="548640" y="1920240"/>
            <a:ext cx="5408676" cy="2011680"/>
          </a:xfrm>
          <a:prstGeom prst="roundRect">
            <a:avLst>
              <a:gd name="adj" fmla="val 2727"/>
            </a:avLst>
          </a:prstGeom>
          <a:solidFill>
            <a:srgbClr val="EDF1F7"/>
          </a:solidFill>
          <a:ln/>
        </p:spPr>
      </p:sp>
      <p:sp>
        <p:nvSpPr>
          <p:cNvPr id="5" name="Text 3"/>
          <p:cNvSpPr txBox="1"/>
          <p:nvPr/>
        </p:nvSpPr>
        <p:spPr>
          <a:xfrm>
            <a:off x="822960" y="2148840"/>
            <a:ext cx="4860036"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Covered</a:t>
            </a:r>
            <a:endParaRPr lang="en-US" sz="1400" dirty="0"/>
          </a:p>
        </p:txBody>
      </p:sp>
      <p:sp>
        <p:nvSpPr>
          <p:cNvPr id="6" name="Text 4"/>
          <p:cNvSpPr txBox="1"/>
          <p:nvPr/>
        </p:nvSpPr>
        <p:spPr>
          <a:xfrm>
            <a:off x="822960" y="2560320"/>
            <a:ext cx="4860036" cy="12801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Built assist-shot networks and shot-distance profiles for eight real lineups drawn from the same ten-player roster.</a:t>
            </a:r>
            <a:endParaRPr lang="en-US" sz="1300" dirty="0"/>
          </a:p>
        </p:txBody>
      </p:sp>
      <p:sp>
        <p:nvSpPr>
          <p:cNvPr id="7" name="Shape 5"/>
          <p:cNvSpPr/>
          <p:nvPr/>
        </p:nvSpPr>
        <p:spPr>
          <a:xfrm>
            <a:off x="6231636" y="1920240"/>
            <a:ext cx="5408676" cy="2011680"/>
          </a:xfrm>
          <a:prstGeom prst="roundRect">
            <a:avLst>
              <a:gd name="adj" fmla="val 2727"/>
            </a:avLst>
          </a:prstGeom>
          <a:solidFill>
            <a:srgbClr val="EDF1F7"/>
          </a:solidFill>
          <a:ln/>
        </p:spPr>
      </p:sp>
      <p:sp>
        <p:nvSpPr>
          <p:cNvPr id="8" name="Text 6"/>
          <p:cNvSpPr txBox="1"/>
          <p:nvPr/>
        </p:nvSpPr>
        <p:spPr>
          <a:xfrm>
            <a:off x="6505956" y="2148840"/>
            <a:ext cx="4860036"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Next</a:t>
            </a:r>
            <a:endParaRPr lang="en-US" sz="1400" dirty="0"/>
          </a:p>
        </p:txBody>
      </p:sp>
      <p:sp>
        <p:nvSpPr>
          <p:cNvPr id="9" name="Text 7"/>
          <p:cNvSpPr txBox="1"/>
          <p:nvPr/>
        </p:nvSpPr>
        <p:spPr>
          <a:xfrm>
            <a:off x="6505956" y="2560320"/>
            <a:ext cx="4860036" cy="12801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Segment 3 extends Pace, Offensive/Defensive Rating, and the Four Factors from the team level down to these same eight lineups.</a:t>
            </a:r>
            <a:endParaRPr lang="en-US" sz="1300" dirty="0"/>
          </a:p>
        </p:txBody>
      </p:sp>
    </p:spTree>
  </p:cSld>
  <p:clrMapOvr>
    <a:masterClrMapping/>
  </p:clrMapOvr>
  <p:transition xmlns:p="http://schemas.openxmlformats.org/presentationml/2006/mai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Pace, Ratings, and the Four Factors at the lineup level.</a:t>
            </a:r>
            <a:endParaRPr lang="en-US" sz="1600" dirty="0"/>
          </a:p>
        </p:txBody>
      </p:sp>
    </p:spTree>
  </p:cSld>
  <p:clrMapOvr>
    <a:masterClrMapping/>
  </p:clrMapOvr>
  <p:transition xmlns:p="http://schemas.openxmlformats.org/presentationml/2006/mai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Four Factors, One Level Down</a:t>
            </a:r>
            <a:endParaRPr lang="en-US" sz="2800" dirty="0"/>
          </a:p>
        </p:txBody>
      </p:sp>
      <p:sp>
        <p:nvSpPr>
          <p:cNvPr id="4" name="Text 2"/>
          <p:cNvSpPr txBox="1"/>
          <p:nvPr/>
        </p:nvSpPr>
        <p:spPr>
          <a:xfrm>
            <a:off x="548640" y="182880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Four Factors formulas do not change at all from a whole-team or whole-player analysis, only the unit they are computed on: each of our eight lineups now gets its own Effective Field Goal Percentage, Turnover Ratio, Rebound Percentage, and Free Throw Rate, on offense and on defense.</a:t>
            </a:r>
            <a:endParaRPr lang="en-US" sz="1600" dirty="0"/>
          </a:p>
        </p:txBody>
      </p:sp>
      <p:sp>
        <p:nvSpPr>
          <p:cNvPr id="5" name="Shape 3"/>
          <p:cNvSpPr/>
          <p:nvPr/>
        </p:nvSpPr>
        <p:spPr>
          <a:xfrm>
            <a:off x="548640" y="3200400"/>
            <a:ext cx="11091672" cy="2377440"/>
          </a:xfrm>
          <a:prstGeom prst="roundRect">
            <a:avLst>
              <a:gd name="adj" fmla="val 2308"/>
            </a:avLst>
          </a:prstGeom>
          <a:solidFill>
            <a:srgbClr val="EDF1F7"/>
          </a:solidFill>
          <a:ln/>
        </p:spPr>
      </p:sp>
      <p:sp>
        <p:nvSpPr>
          <p:cNvPr id="6" name="Text 4"/>
          <p:cNvSpPr txBox="1"/>
          <p:nvPr/>
        </p:nvSpPr>
        <p:spPr>
          <a:xfrm>
            <a:off x="868680" y="3429000"/>
            <a:ext cx="10451592" cy="192024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onsolas" pitchFamily="34" charset="0"/>
                <a:ea typeface="Consolas" pitchFamily="34" charset="-122"/>
                <a:cs typeface="Consolas" pitchFamily="34" charset="-120"/>
              </a:rPr>
              <a:t>eFG% (Off) = (P2M + 1.5 x P3M) / (P2A + P3A)
</a:t>
            </a:r>
            <a:pPr indent="0" marL="0">
              <a:lnSpc>
                <a:spcPct val="130000"/>
              </a:lnSpc>
              <a:buNone/>
            </a:pPr>
            <a:r>
              <a:rPr lang="en-US" sz="1500" dirty="0">
                <a:solidFill>
                  <a:srgbClr val="16213E"/>
                </a:solidFill>
                <a:latin typeface="Consolas" pitchFamily="34" charset="0"/>
                <a:ea typeface="Consolas" pitchFamily="34" charset="-122"/>
                <a:cs typeface="Consolas" pitchFamily="34" charset="-120"/>
              </a:rPr>
              <a:t>TO Ratio (Off) = TOV / POSS
</a:t>
            </a:r>
            <a:pPr indent="0" marL="0">
              <a:lnSpc>
                <a:spcPct val="130000"/>
              </a:lnSpc>
              <a:buNone/>
            </a:pPr>
            <a:r>
              <a:rPr lang="en-US" sz="1500" dirty="0">
                <a:solidFill>
                  <a:srgbClr val="16213E"/>
                </a:solidFill>
                <a:latin typeface="Consolas" pitchFamily="34" charset="0"/>
                <a:ea typeface="Consolas" pitchFamily="34" charset="-122"/>
                <a:cs typeface="Consolas" pitchFamily="34" charset="-120"/>
              </a:rPr>
              <a:t>REB% (Off) = OREB_T / (OREB_T + DREB_O)
</a:t>
            </a:r>
            <a:pPr indent="0" marL="0">
              <a:lnSpc>
                <a:spcPct val="130000"/>
              </a:lnSpc>
              <a:buNone/>
            </a:pPr>
            <a:r>
              <a:rPr lang="en-US" sz="1500" dirty="0">
                <a:solidFill>
                  <a:srgbClr val="16213E"/>
                </a:solidFill>
                <a:latin typeface="Consolas" pitchFamily="34" charset="0"/>
                <a:ea typeface="Consolas" pitchFamily="34" charset="-122"/>
                <a:cs typeface="Consolas" pitchFamily="34" charset="-120"/>
              </a:rPr>
              <a:t>FT Rate (Off) = FTM / (P2A + P3A)
</a:t>
            </a:r>
            <a:endParaRPr lang="en-US" sz="15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Kubatko et al. (2007), as reproduced in Zuccolotto, Manisera, &amp; Sandri (2026), Section 2.1. Defensive versions swap in opponent (O) totals.</a:t>
            </a:r>
            <a:endParaRPr lang="en-US" sz="1000" dirty="0"/>
          </a:p>
        </p:txBody>
      </p:sp>
    </p:spTree>
  </p:cSld>
  <p:clrMapOvr>
    <a:masterClrMapping/>
  </p:clrMapOvr>
  <p:transition xmlns:p="http://schemas.openxmlformats.org/presentationml/2006/mai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Possessions, Pace, And Ratings</a:t>
            </a:r>
            <a:endParaRPr lang="en-US" sz="2800" dirty="0"/>
          </a:p>
        </p:txBody>
      </p:sp>
      <p:sp>
        <p:nvSpPr>
          <p:cNvPr id="4" name="Shape 2"/>
          <p:cNvSpPr/>
          <p:nvPr/>
        </p:nvSpPr>
        <p:spPr>
          <a:xfrm>
            <a:off x="548640" y="1828800"/>
            <a:ext cx="11091672" cy="2560320"/>
          </a:xfrm>
          <a:prstGeom prst="roundRect">
            <a:avLst>
              <a:gd name="adj" fmla="val 2143"/>
            </a:avLst>
          </a:prstGeom>
          <a:solidFill>
            <a:srgbClr val="0B1D33"/>
          </a:solidFill>
          <a:ln/>
        </p:spPr>
      </p:sp>
      <p:sp>
        <p:nvSpPr>
          <p:cNvPr id="5" name="Text 3"/>
          <p:cNvSpPr txBox="1"/>
          <p:nvPr/>
        </p:nvSpPr>
        <p:spPr>
          <a:xfrm>
            <a:off x="914400" y="2103120"/>
            <a:ext cx="10360152" cy="2011680"/>
          </a:xfrm>
          <a:prstGeom prst="rect">
            <a:avLst/>
          </a:prstGeom>
          <a:noFill/>
          <a:ln/>
        </p:spPr>
        <p:txBody>
          <a:bodyPr wrap="square" lIns="0" tIns="0" rIns="0" bIns="0" rtlCol="0" anchor="ctr"/>
          <a:lstStyle/>
          <a:p>
            <a:pPr indent="0" marL="0">
              <a:lnSpc>
                <a:spcPct val="140000"/>
              </a:lnSpc>
              <a:buNone/>
            </a:pPr>
            <a:r>
              <a:rPr lang="en-US" sz="1500" dirty="0">
                <a:solidFill>
                  <a:srgbClr val="FFFFFF"/>
                </a:solidFill>
                <a:latin typeface="Consolas" pitchFamily="34" charset="0"/>
                <a:ea typeface="Consolas" pitchFamily="34" charset="-122"/>
                <a:cs typeface="Consolas" pitchFamily="34" charset="-120"/>
              </a:rPr>
              <a:t>Possessions = POSS = (P2A + P3A) + 0.44 x FTA - OREB + TOV
</a:t>
            </a:r>
            <a:pPr indent="0" marL="0">
              <a:lnSpc>
                <a:spcPct val="140000"/>
              </a:lnSpc>
              <a:buNone/>
            </a:pPr>
            <a:r>
              <a:rPr lang="en-US" sz="1500" dirty="0">
                <a:solidFill>
                  <a:srgbClr val="FFFFFF"/>
                </a:solidFill>
                <a:latin typeface="Consolas" pitchFamily="34" charset="0"/>
                <a:ea typeface="Consolas" pitchFamily="34" charset="-122"/>
                <a:cs typeface="Consolas" pitchFamily="34" charset="-120"/>
              </a:rPr>
              <a:t>Pace = 5 x POSS / MIN
</a:t>
            </a:r>
            <a:pPr indent="0" marL="0">
              <a:lnSpc>
                <a:spcPct val="140000"/>
              </a:lnSpc>
              <a:buNone/>
            </a:pPr>
            <a:r>
              <a:rPr lang="en-US" sz="1500" dirty="0">
                <a:solidFill>
                  <a:srgbClr val="FFFFFF"/>
                </a:solidFill>
                <a:latin typeface="Consolas" pitchFamily="34" charset="0"/>
                <a:ea typeface="Consolas" pitchFamily="34" charset="-122"/>
                <a:cs typeface="Consolas" pitchFamily="34" charset="-120"/>
              </a:rPr>
              <a:t>Offensive Rating = PTS_T / POSS_T          Defensive Rating = PTS_O / POSS_O</a:t>
            </a:r>
            <a:endParaRPr lang="en-US" sz="1500" dirty="0"/>
          </a:p>
        </p:txBody>
      </p:sp>
      <p:sp>
        <p:nvSpPr>
          <p:cNvPr id="6" name="Text 4"/>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Pace tells you how many possessions a lineup plays per minute. Offensive and Defensive Rating tell you how many points a lineup scores, and allows, per 100 of those possessions. Neither one, on its own, tells you whether a lineup is good. Together, they start to.</a:t>
            </a:r>
            <a:endParaRPr lang="en-US" sz="1500" dirty="0"/>
          </a:p>
        </p:txBody>
      </p:sp>
    </p:spTree>
  </p:cSld>
  <p:clrMapOvr>
    <a:masterClrMapping/>
  </p:clrMapOvr>
  <p:transition xmlns:p="http://schemas.openxmlformats.org/presentationml/2006/mai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our R package and run fourfactors() on these eight lineups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transition xmlns:p="http://schemas.openxmlformats.org/presentationml/2006/mai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Results: Pace And Ratings, Eight Lineups</a:t>
            </a:r>
            <a:endParaRPr lang="en-US" sz="2600" dirty="0"/>
          </a:p>
        </p:txBody>
      </p:sp>
      <p:sp>
        <p:nvSpPr>
          <p:cNvPr id="4" name="Text 2"/>
          <p:cNvSpPr txBox="1"/>
          <p:nvPr/>
        </p:nvSpPr>
        <p:spPr>
          <a:xfrm>
            <a:off x="548640" y="178308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Plotting each lineup's Pace against its opponents' Pace, and its Offensive Rating against its opponents' (its Defensive Rating), the book's real result shows a clear spread:</a:t>
            </a:r>
            <a:endParaRPr lang="en-US" sz="1500" dirty="0"/>
          </a:p>
        </p:txBody>
      </p:sp>
      <p:sp>
        <p:nvSpPr>
          <p:cNvPr id="5" name="Shape 3"/>
          <p:cNvSpPr/>
          <p:nvPr/>
        </p:nvSpPr>
        <p:spPr>
          <a:xfrm>
            <a:off x="548640" y="2651760"/>
            <a:ext cx="11091672" cy="1280160"/>
          </a:xfrm>
          <a:prstGeom prst="roundRect">
            <a:avLst>
              <a:gd name="adj" fmla="val 4286"/>
            </a:avLst>
          </a:prstGeom>
          <a:solidFill>
            <a:srgbClr val="EDF1F7"/>
          </a:solidFill>
          <a:ln/>
        </p:spPr>
      </p:sp>
      <p:sp>
        <p:nvSpPr>
          <p:cNvPr id="6" name="Text 4"/>
          <p:cNvSpPr txBox="1"/>
          <p:nvPr/>
        </p:nvSpPr>
        <p:spPr>
          <a:xfrm>
            <a:off x="822960" y="2834640"/>
            <a:ext cx="1054303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Fastest, most efficient offense: Wiggins + Green + Poole + Porter Jr. + Curry — the highest team Pace of the eight (about 2.24 possessions per minute) paired with the best Offensive Rating (about 124).</a:t>
            </a:r>
            <a:endParaRPr lang="en-US" sz="1400" dirty="0"/>
          </a:p>
        </p:txBody>
      </p:sp>
      <p:sp>
        <p:nvSpPr>
          <p:cNvPr id="7" name="Shape 5"/>
          <p:cNvSpPr/>
          <p:nvPr/>
        </p:nvSpPr>
        <p:spPr>
          <a:xfrm>
            <a:off x="548640" y="4114800"/>
            <a:ext cx="11091672" cy="1280160"/>
          </a:xfrm>
          <a:prstGeom prst="roundRect">
            <a:avLst>
              <a:gd name="adj" fmla="val 4286"/>
            </a:avLst>
          </a:prstGeom>
          <a:solidFill>
            <a:srgbClr val="EDF1F7"/>
          </a:solidFill>
          <a:ln/>
        </p:spPr>
      </p:sp>
      <p:sp>
        <p:nvSpPr>
          <p:cNvPr id="8" name="Text 6"/>
          <p:cNvSpPr txBox="1"/>
          <p:nvPr/>
        </p:nvSpPr>
        <p:spPr>
          <a:xfrm>
            <a:off x="822960" y="4297680"/>
            <a:ext cx="10543032" cy="91440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Worst defense allowed: Wiggins + Green + Poole + Looney + Thompson — the highest Defensive Rating of the eight (opponents scored at about 130 per 100 possessions against this group).</a:t>
            </a:r>
            <a:endParaRPr lang="en-US" sz="1400" dirty="0"/>
          </a:p>
        </p:txBody>
      </p:sp>
      <p:sp>
        <p:nvSpPr>
          <p:cNvPr id="10" name="Text 7"/>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Figure 2.13, Zuccolotto, Manisera, &amp; Sandri (2026), Golden State Warriors 2021/22 regular season.</a:t>
            </a:r>
            <a:endParaRPr lang="en-US" sz="1000" dirty="0"/>
          </a:p>
        </p:txBody>
      </p:sp>
    </p:spTree>
  </p:cSld>
  <p:clrMapOvr>
    <a:masterClrMapping/>
  </p:clrMapOvr>
  <p:transition xmlns:p="http://schemas.openxmlformats.org/presentationml/2006/mai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FOUR FACTORS, REFRESHED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Level Down From The Team</a:t>
            </a:r>
            <a:endParaRPr lang="en-US" sz="2800" dirty="0"/>
          </a:p>
        </p:txBody>
      </p:sp>
      <p:sp>
        <p:nvSpPr>
          <p:cNvPr id="4" name="Shape 2"/>
          <p:cNvSpPr/>
          <p:nvPr/>
        </p:nvSpPr>
        <p:spPr>
          <a:xfrm>
            <a:off x="548640" y="1965960"/>
            <a:ext cx="11091672" cy="3108960"/>
          </a:xfrm>
          <a:prstGeom prst="roundRect">
            <a:avLst>
              <a:gd name="adj" fmla="val 1765"/>
            </a:avLst>
          </a:prstGeom>
          <a:solidFill>
            <a:srgbClr val="0B1D33"/>
          </a:solidFill>
          <a:ln/>
        </p:spPr>
      </p:sp>
      <p:sp>
        <p:nvSpPr>
          <p:cNvPr id="5" name="Shape 3"/>
          <p:cNvSpPr/>
          <p:nvPr/>
        </p:nvSpPr>
        <p:spPr>
          <a:xfrm>
            <a:off x="5591556" y="2377440"/>
            <a:ext cx="1005840" cy="1005840"/>
          </a:xfrm>
          <a:prstGeom prst="ellipse">
            <a:avLst/>
          </a:prstGeom>
          <a:solidFill>
            <a:srgbClr val="E4572E"/>
          </a:solidFill>
          <a:ln/>
        </p:spPr>
      </p:sp>
      <p:sp>
        <p:nvSpPr>
          <p:cNvPr id="6" name="Text 4"/>
          <p:cNvSpPr txBox="1"/>
          <p:nvPr/>
        </p:nvSpPr>
        <p:spPr>
          <a:xfrm>
            <a:off x="5591556" y="2377440"/>
            <a:ext cx="1005840" cy="1005840"/>
          </a:xfrm>
          <a:prstGeom prst="rect">
            <a:avLst/>
          </a:prstGeom>
          <a:noFill/>
          <a:ln/>
        </p:spPr>
        <p:txBody>
          <a:bodyPr wrap="square" lIns="0" tIns="0" rIns="0" bIns="0" rtlCol="0" anchor="ctr"/>
          <a:lstStyle/>
          <a:p>
            <a:pPr algn="ctr" indent="0" marL="0">
              <a:buNone/>
            </a:pPr>
            <a:r>
              <a:rPr lang="en-US" sz="3200" dirty="0">
                <a:solidFill>
                  <a:srgbClr val="FFFFFF"/>
                </a:solidFill>
              </a:rPr>
              <a:t>▶</a:t>
            </a:r>
            <a:endParaRPr lang="en-US" sz="3200" dirty="0"/>
          </a:p>
        </p:txBody>
      </p:sp>
      <p:sp>
        <p:nvSpPr>
          <p:cNvPr id="7" name="Text 5"/>
          <p:cNvSpPr txBox="1"/>
          <p:nvPr/>
        </p:nvSpPr>
        <p:spPr>
          <a:xfrm>
            <a:off x="1097280" y="3520440"/>
            <a:ext cx="9994392"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99% of Basketball: Dean Oliver's Four Factors Explained</a:t>
            </a:r>
            <a:endParaRPr lang="en-US" sz="2000" dirty="0"/>
          </a:p>
        </p:txBody>
      </p:sp>
      <p:sp>
        <p:nvSpPr>
          <p:cNvPr id="8" name="Text 6"/>
          <p:cNvSpPr txBox="1"/>
          <p:nvPr/>
        </p:nvSpPr>
        <p:spPr>
          <a:xfrm>
            <a:off x="1097280" y="3977640"/>
            <a:ext cx="9994392" cy="365760"/>
          </a:xfrm>
          <a:prstGeom prst="rect">
            <a:avLst/>
          </a:prstGeom>
          <a:noFill/>
          <a:ln/>
        </p:spPr>
        <p:txBody>
          <a:bodyPr wrap="square" lIns="0" tIns="0" rIns="0" bIns="0" rtlCol="0" anchor="ctr"/>
          <a:lstStyle/>
          <a:p>
            <a:pPr algn="ctr" indent="0" marL="0">
              <a:buNone/>
            </a:pPr>
            <a:r>
              <a:rPr lang="en-US" sz="1300" dirty="0">
                <a:solidFill>
                  <a:srgbClr val="AEBBD1"/>
                </a:solidFill>
                <a:latin typeface="Calibri" pitchFamily="34" charset="0"/>
                <a:ea typeface="Calibri" pitchFamily="34" charset="-122"/>
                <a:cs typeface="Calibri" pitchFamily="34" charset="-120"/>
              </a:rPr>
              <a:t>YouTube. Located by title search this build cycle; channel and runtime not yet independently re-verified by URL fetch.</a:t>
            </a:r>
            <a:endParaRPr lang="en-US" sz="1300" dirty="0"/>
          </a:p>
        </p:txBody>
      </p:sp>
      <p:sp>
        <p:nvSpPr>
          <p:cNvPr id="9" name="Text 7">
            <a:hlinkClick r:id="rId1" tooltip=""/>
          </p:cNvPr>
          <p:cNvSpPr txBox="1"/>
          <p:nvPr/>
        </p:nvSpPr>
        <p:spPr>
          <a:xfrm>
            <a:off x="1097280" y="4343400"/>
            <a:ext cx="9994392" cy="365760"/>
          </a:xfrm>
          <a:prstGeom prst="rect">
            <a:avLst/>
          </a:prstGeom>
          <a:noFill/>
          <a:ln/>
        </p:spPr>
        <p:txBody>
          <a:bodyPr wrap="square" lIns="0" tIns="0" rIns="0" bIns="0" rtlCol="0" anchor="ctr"/>
          <a:lstStyle/>
          <a:p>
            <a:pPr algn="ctr" indent="0" marL="0">
              <a:buNone/>
            </a:pPr>
            <a:r>
              <a:rPr lang="en-US" sz="1200" u="sng" dirty="0">
                <a:solidFill>
                  <a:srgbClr val="E4572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https://www.youtube.com/watch?v=BJ5d8Jl3K1Y</a:t>
            </a:r>
            <a:endParaRPr lang="en-US" sz="1200" dirty="0"/>
          </a:p>
        </p:txBody>
      </p:sp>
      <p:sp>
        <p:nvSpPr>
          <p:cNvPr id="10" name="Text 8"/>
          <p:cNvSpPr txBox="1"/>
          <p:nvPr/>
        </p:nvSpPr>
        <p:spPr>
          <a:xfrm>
            <a:off x="548640" y="525780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If the Four Factors formulas feel like a lot to hold in your head, this is the refresher, just applied to a five-man unit instead of a full team today.</a:t>
            </a:r>
            <a:endParaRPr lang="en-US" sz="1400" dirty="0"/>
          </a:p>
        </p:txBody>
      </p:sp>
    </p:spTree>
  </p:cSld>
  <p:clrMapOvr>
    <a:masterClrMapping/>
  </p:clrMapOvr>
  <p:transition xmlns:p="http://schemas.openxmlformats.org/presentationml/2006/mai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100584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Revisit The Rotation Call</a:t>
            </a:r>
            <a:endParaRPr lang="en-US" sz="2800" dirty="0"/>
          </a:p>
        </p:txBody>
      </p:sp>
      <p:sp>
        <p:nvSpPr>
          <p:cNvPr id="4" name="Text 2"/>
          <p:cNvSpPr txBox="1"/>
          <p:nvPr/>
        </p:nvSpPr>
        <p:spPr>
          <a:xfrm>
            <a:off x="548640" y="210312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AEBBD1"/>
                </a:solidFill>
                <a:latin typeface="Calibri" pitchFamily="34" charset="0"/>
                <a:ea typeface="Calibri" pitchFamily="34" charset="-122"/>
                <a:cs typeface="Calibri" pitchFamily="34" charset="-120"/>
              </a:rPr>
              <a:t>Go back to the rotation call from Segment 2. Now that you know the fastest, highest-scoring lineup also had one of the worst defensive numbers on the team, does your answer change? Talk to the person next to you. One of you argues for the highest-Offensive-Rating lineup; the other argues for whichever lineup you think plays the best defense, using only what is on the slides today.</a:t>
            </a:r>
            <a:endParaRPr lang="en-US" sz="1600" dirty="0"/>
          </a:p>
        </p:txBody>
      </p:sp>
    </p:spTree>
  </p:cSld>
  <p:clrMapOvr>
    <a:masterClrMapping/>
  </p:clrMapOvr>
  <p:transition xmlns:p="http://schemas.openxmlformats.org/presentationml/2006/mai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Four Formulas, Same As Before, New Unit</a:t>
            </a:r>
            <a:endParaRPr lang="en-US" sz="2800" dirty="0"/>
          </a:p>
        </p:txBody>
      </p:sp>
      <p:sp>
        <p:nvSpPr>
          <p:cNvPr id="4" name="Shape 2"/>
          <p:cNvSpPr/>
          <p:nvPr/>
        </p:nvSpPr>
        <p:spPr>
          <a:xfrm>
            <a:off x="548640" y="1920240"/>
            <a:ext cx="5408676" cy="2011680"/>
          </a:xfrm>
          <a:prstGeom prst="roundRect">
            <a:avLst>
              <a:gd name="adj" fmla="val 2727"/>
            </a:avLst>
          </a:prstGeom>
          <a:solidFill>
            <a:srgbClr val="EDF1F7"/>
          </a:solidFill>
          <a:ln/>
        </p:spPr>
      </p:sp>
      <p:sp>
        <p:nvSpPr>
          <p:cNvPr id="5" name="Text 3"/>
          <p:cNvSpPr txBox="1"/>
          <p:nvPr/>
        </p:nvSpPr>
        <p:spPr>
          <a:xfrm>
            <a:off x="822960" y="2148840"/>
            <a:ext cx="4860036"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Covered</a:t>
            </a:r>
            <a:endParaRPr lang="en-US" sz="1400" dirty="0"/>
          </a:p>
        </p:txBody>
      </p:sp>
      <p:sp>
        <p:nvSpPr>
          <p:cNvPr id="6" name="Text 4"/>
          <p:cNvSpPr txBox="1"/>
          <p:nvPr/>
        </p:nvSpPr>
        <p:spPr>
          <a:xfrm>
            <a:off x="822960" y="2560320"/>
            <a:ext cx="4860036" cy="12801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Extended Pace, Offensive/Defensive Rating, and the Four Factors from teams and players down to eight real lineups.</a:t>
            </a:r>
            <a:endParaRPr lang="en-US" sz="1300" dirty="0"/>
          </a:p>
        </p:txBody>
      </p:sp>
      <p:sp>
        <p:nvSpPr>
          <p:cNvPr id="7" name="Shape 5"/>
          <p:cNvSpPr/>
          <p:nvPr/>
        </p:nvSpPr>
        <p:spPr>
          <a:xfrm>
            <a:off x="6231636" y="1920240"/>
            <a:ext cx="5408676" cy="2011680"/>
          </a:xfrm>
          <a:prstGeom prst="roundRect">
            <a:avLst>
              <a:gd name="adj" fmla="val 2727"/>
            </a:avLst>
          </a:prstGeom>
          <a:solidFill>
            <a:srgbClr val="EDF1F7"/>
          </a:solidFill>
          <a:ln/>
        </p:spPr>
      </p:sp>
      <p:sp>
        <p:nvSpPr>
          <p:cNvPr id="8" name="Text 6"/>
          <p:cNvSpPr txBox="1"/>
          <p:nvPr/>
        </p:nvSpPr>
        <p:spPr>
          <a:xfrm>
            <a:off x="6505956" y="2148840"/>
            <a:ext cx="4860036" cy="365760"/>
          </a:xfrm>
          <a:prstGeom prst="rect">
            <a:avLst/>
          </a:prstGeom>
          <a:noFill/>
          <a:ln/>
        </p:spPr>
        <p:txBody>
          <a:bodyPr wrap="square" lIns="0" tIns="0" rIns="0" bIns="0" rtlCol="0" anchor="ctr"/>
          <a:lstStyle/>
          <a:p>
            <a:pPr indent="0" marL="0">
              <a:buNone/>
            </a:pPr>
            <a:r>
              <a:rPr lang="en-US" sz="1400" b="1" dirty="0">
                <a:solidFill>
                  <a:srgbClr val="27496D"/>
                </a:solidFill>
                <a:latin typeface="Calibri" pitchFamily="34" charset="0"/>
                <a:ea typeface="Calibri" pitchFamily="34" charset="-122"/>
                <a:cs typeface="Calibri" pitchFamily="34" charset="-120"/>
              </a:rPr>
              <a:t>Next</a:t>
            </a:r>
            <a:endParaRPr lang="en-US" sz="1400" dirty="0"/>
          </a:p>
        </p:txBody>
      </p:sp>
      <p:sp>
        <p:nvSpPr>
          <p:cNvPr id="9" name="Text 7"/>
          <p:cNvSpPr txBox="1"/>
          <p:nvPr/>
        </p:nvSpPr>
        <p:spPr>
          <a:xfrm>
            <a:off x="6505956" y="2560320"/>
            <a:ext cx="4860036" cy="1280160"/>
          </a:xfrm>
          <a:prstGeom prst="rect">
            <a:avLst/>
          </a:prstGeom>
          <a:noFill/>
          <a:ln/>
        </p:spPr>
        <p:txBody>
          <a:bodyPr wrap="square" lIns="0" tIns="0" rIns="0" bIns="0" rtlCol="0" anchor="ctr"/>
          <a:lstStyle/>
          <a:p>
            <a:pPr indent="0" marL="0">
              <a:buNone/>
            </a:pPr>
            <a:r>
              <a:rPr lang="en-US" sz="1300" dirty="0">
                <a:solidFill>
                  <a:srgbClr val="16213E"/>
                </a:solidFill>
                <a:latin typeface="Calibri" pitchFamily="34" charset="0"/>
                <a:ea typeface="Calibri" pitchFamily="34" charset="-122"/>
                <a:cs typeface="Calibri" pitchFamily="34" charset="-120"/>
              </a:rPr>
              <a:t>This same pipeline, applied to a lineup of your own choosing, is exactly the kind of task Assignment 1 will ask for once we finish Module 3.</a:t>
            </a:r>
            <a:endParaRPr lang="en-US" sz="1300" dirty="0"/>
          </a:p>
        </p:txBody>
      </p:sp>
    </p:spTree>
  </p:cSld>
  <p:clrMapOvr>
    <a:masterClrMapping/>
  </p:clrMapOvr>
  <p:transition xmlns:p="http://schemas.openxmlformats.org/presentationml/2006/mai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CONCEPT — NOT RESTRICTED TO THE TEXTBOOK</a:t>
            </a:r>
            <a:endParaRPr lang="en-US" sz="1300" dirty="0"/>
          </a:p>
        </p:txBody>
      </p:sp>
      <p:sp>
        <p:nvSpPr>
          <p:cNvPr id="3" name="Text 1"/>
          <p:cNvSpPr txBox="1"/>
          <p:nvPr/>
        </p:nvSpPr>
        <p:spPr>
          <a:xfrm>
            <a:off x="548640" y="960120"/>
            <a:ext cx="11091672" cy="11887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Lineups Are Also A Workload Question</a:t>
            </a:r>
            <a:endParaRPr lang="en-US" sz="2800" dirty="0"/>
          </a:p>
        </p:txBody>
      </p:sp>
      <p:sp>
        <p:nvSpPr>
          <p:cNvPr id="4" name="Text 2"/>
          <p:cNvSpPr txBox="1"/>
          <p:nvPr/>
        </p:nvSpPr>
        <p:spPr>
          <a:xfrm>
            <a:off x="548640" y="2103120"/>
            <a:ext cx="11091672" cy="914400"/>
          </a:xfrm>
          <a:prstGeom prst="rect">
            <a:avLst/>
          </a:prstGeom>
          <a:noFill/>
          <a:ln/>
        </p:spPr>
        <p:txBody>
          <a:bodyPr wrap="square" lIns="0" tIns="0" rIns="0" bIns="0" rtlCol="0" anchor="t"/>
          <a:lstStyle/>
          <a:p>
            <a:pPr indent="0" marL="0">
              <a:lnSpc>
                <a:spcPct val="125000"/>
              </a:lnSpc>
              <a:buNone/>
            </a:pPr>
            <a:r>
              <a:rPr lang="en-US" sz="1500" dirty="0">
                <a:solidFill>
                  <a:srgbClr val="AEBBD1"/>
                </a:solidFill>
                <a:latin typeface="Calibri" pitchFamily="34" charset="0"/>
                <a:ea typeface="Calibri" pitchFamily="34" charset="-122"/>
                <a:cs typeface="Calibri" pitchFamily="34" charset="-120"/>
              </a:rPr>
              <a:t>Every lineup decision a coach makes is also a workload decision: the 346.1-minute starting group we saw today absorbed far more cumulative wear than any bench combination. This course's own track asks you to look for exactly that kind of signal, not just who scores efficiently, but who is being asked to carry the most, and for how long, before something breaks down. West et al. (2026) is directly about monitoring the quality of the workload data teams collect for this purpose.</a:t>
            </a:r>
            <a:endParaRPr lang="en-US" sz="1500" dirty="0"/>
          </a:p>
        </p:txBody>
      </p:sp>
      <p:sp>
        <p:nvSpPr>
          <p:cNvPr id="5"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West et al. (2026), Journal of Strength and Conditioning Research -- statistical process control for sport-science data quality.</a:t>
            </a:r>
            <a:endParaRPr lang="en-US" sz="1000" dirty="0"/>
          </a:p>
        </p:txBody>
      </p:sp>
    </p:spTree>
  </p:cSld>
  <p:clrMapOvr>
    <a:masterClrMapping/>
  </p:clrMapOvr>
  <p:transition xmlns:p="http://schemas.openxmlformats.org/presentationml/2006/mai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We Did Today</a:t>
            </a:r>
            <a:endParaRPr lang="en-US" sz="30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Used lineups() to cut a 252-way combinatorial problem down to 8 real, playable-minute lineups for the 2021-22 Golden State Warriors.</a:t>
            </a:r>
            <a:endParaRPr lang="en-US" sz="1600" dirty="0"/>
          </a:p>
        </p:txBody>
      </p:sp>
      <p:sp>
        <p:nvSpPr>
          <p:cNvPr id="7" name="Shape 5"/>
          <p:cNvSpPr/>
          <p:nvPr/>
        </p:nvSpPr>
        <p:spPr>
          <a:xfrm>
            <a:off x="548640" y="2880360"/>
            <a:ext cx="411480" cy="411480"/>
          </a:xfrm>
          <a:prstGeom prst="ellipse">
            <a:avLst/>
          </a:prstGeom>
          <a:solidFill>
            <a:srgbClr val="E4572E"/>
          </a:solidFill>
          <a:ln/>
        </p:spPr>
      </p:sp>
      <p:sp>
        <p:nvSpPr>
          <p:cNvPr id="8" name="Text 6"/>
          <p:cNvSpPr txBox="1"/>
          <p:nvPr/>
        </p:nvSpPr>
        <p:spPr>
          <a:xfrm>
            <a:off x="548640" y="2880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8346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Built assist-shot networks per lineup and found Stephen Curry as a constant hub with a changing partner.</a:t>
            </a:r>
            <a:endParaRPr lang="en-US" sz="1600" dirty="0"/>
          </a:p>
        </p:txBody>
      </p:sp>
      <p:sp>
        <p:nvSpPr>
          <p:cNvPr id="10" name="Shape 8"/>
          <p:cNvSpPr/>
          <p:nvPr/>
        </p:nvSpPr>
        <p:spPr>
          <a:xfrm>
            <a:off x="548640" y="3840480"/>
            <a:ext cx="411480" cy="411480"/>
          </a:xfrm>
          <a:prstGeom prst="ellipse">
            <a:avLst/>
          </a:prstGeom>
          <a:solidFill>
            <a:srgbClr val="27496D"/>
          </a:solidFill>
          <a:ln/>
        </p:spPr>
      </p:sp>
      <p:sp>
        <p:nvSpPr>
          <p:cNvPr id="11" name="Text 9"/>
          <p:cNvSpPr txBox="1"/>
          <p:nvPr/>
        </p:nvSpPr>
        <p:spPr>
          <a:xfrm>
            <a:off x="548640" y="3840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7947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Compared real shot-distance profiles across lineups and found Kevon Looney's finishing rate stayed high across every combination.</a:t>
            </a:r>
            <a:endParaRPr lang="en-US" sz="1600" dirty="0"/>
          </a:p>
        </p:txBody>
      </p:sp>
      <p:sp>
        <p:nvSpPr>
          <p:cNvPr id="13" name="Shape 11"/>
          <p:cNvSpPr/>
          <p:nvPr/>
        </p:nvSpPr>
        <p:spPr>
          <a:xfrm>
            <a:off x="548640" y="4800600"/>
            <a:ext cx="411480" cy="411480"/>
          </a:xfrm>
          <a:prstGeom prst="ellipse">
            <a:avLst/>
          </a:prstGeom>
          <a:solidFill>
            <a:srgbClr val="E4572E"/>
          </a:solidFill>
          <a:ln/>
        </p:spPr>
      </p:sp>
      <p:sp>
        <p:nvSpPr>
          <p:cNvPr id="14" name="Text 12"/>
          <p:cNvSpPr txBox="1"/>
          <p:nvPr/>
        </p:nvSpPr>
        <p:spPr>
          <a:xfrm>
            <a:off x="548640" y="48006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7548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Extended Pace, Offensive/Defensive Rating, and the Four Factors from teams and players down to five-man units.</a:t>
            </a:r>
            <a:endParaRPr lang="en-US" sz="1600" dirty="0"/>
          </a:p>
        </p:txBody>
      </p:sp>
    </p:spTree>
  </p:cSld>
  <p:clrMapOvr>
    <a:masterClrMapping/>
  </p:clrMapOvr>
  <p:transition xmlns:p="http://schemas.openxmlformats.org/presentationml/2006/mai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NEXT CLASS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Get These Done</a:t>
            </a:r>
            <a:endParaRPr lang="en-US" sz="3000" dirty="0"/>
          </a:p>
        </p:txBody>
      </p:sp>
      <p:sp>
        <p:nvSpPr>
          <p:cNvPr id="4" name="Shape 2"/>
          <p:cNvSpPr/>
          <p:nvPr/>
        </p:nvSpPr>
        <p:spPr>
          <a:xfrm>
            <a:off x="548640" y="1920240"/>
            <a:ext cx="411480" cy="411480"/>
          </a:xfrm>
          <a:prstGeom prst="ellipse">
            <a:avLst/>
          </a:prstGeom>
          <a:solidFill>
            <a:srgbClr val="27496D"/>
          </a:solidFill>
          <a:ln/>
        </p:spPr>
      </p:sp>
      <p:sp>
        <p:nvSpPr>
          <p:cNvPr id="5" name="Text 3"/>
          <p:cNvSpPr txBox="1"/>
          <p:nvPr/>
        </p:nvSpPr>
        <p:spPr>
          <a:xfrm>
            <a:off x="548640" y="1920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874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Lab 2: rebuild today's pipeline for a different team's roster of your choice.</a:t>
            </a:r>
            <a:endParaRPr lang="en-US" sz="1600" dirty="0"/>
          </a:p>
        </p:txBody>
      </p:sp>
      <p:sp>
        <p:nvSpPr>
          <p:cNvPr id="7" name="Shape 5"/>
          <p:cNvSpPr/>
          <p:nvPr/>
        </p:nvSpPr>
        <p:spPr>
          <a:xfrm>
            <a:off x="548640" y="2880360"/>
            <a:ext cx="411480" cy="411480"/>
          </a:xfrm>
          <a:prstGeom prst="ellipse">
            <a:avLst/>
          </a:prstGeom>
          <a:solidFill>
            <a:srgbClr val="E4572E"/>
          </a:solidFill>
          <a:ln/>
        </p:spPr>
      </p:sp>
      <p:sp>
        <p:nvSpPr>
          <p:cNvPr id="8" name="Text 6"/>
          <p:cNvSpPr txBox="1"/>
          <p:nvPr/>
        </p:nvSpPr>
        <p:spPr>
          <a:xfrm>
            <a:off x="548640" y="2880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8346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Practice questions in this module's folder, any time you want extra reps.</a:t>
            </a:r>
            <a:endParaRPr lang="en-US" sz="1600" dirty="0"/>
          </a:p>
        </p:txBody>
      </p:sp>
      <p:sp>
        <p:nvSpPr>
          <p:cNvPr id="10" name="Shape 8"/>
          <p:cNvSpPr/>
          <p:nvPr/>
        </p:nvSpPr>
        <p:spPr>
          <a:xfrm>
            <a:off x="548640" y="3840480"/>
            <a:ext cx="411480" cy="411480"/>
          </a:xfrm>
          <a:prstGeom prst="ellipse">
            <a:avLst/>
          </a:prstGeom>
          <a:solidFill>
            <a:srgbClr val="27496D"/>
          </a:solidFill>
          <a:ln/>
        </p:spPr>
      </p:sp>
      <p:sp>
        <p:nvSpPr>
          <p:cNvPr id="11" name="Text 9"/>
          <p:cNvSpPr txBox="1"/>
          <p:nvPr/>
        </p:nvSpPr>
        <p:spPr>
          <a:xfrm>
            <a:off x="548640" y="3840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7947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Module 02 quiz on D2L.</a:t>
            </a:r>
            <a:endParaRPr lang="en-US" sz="1600" dirty="0"/>
          </a:p>
        </p:txBody>
      </p:sp>
      <p:sp>
        <p:nvSpPr>
          <p:cNvPr id="13" name="Shape 11"/>
          <p:cNvSpPr/>
          <p:nvPr/>
        </p:nvSpPr>
        <p:spPr>
          <a:xfrm>
            <a:off x="548640" y="4800600"/>
            <a:ext cx="411480" cy="411480"/>
          </a:xfrm>
          <a:prstGeom prst="ellipse">
            <a:avLst/>
          </a:prstGeom>
          <a:solidFill>
            <a:srgbClr val="E4572E"/>
          </a:solidFill>
          <a:ln/>
        </p:spPr>
      </p:sp>
      <p:sp>
        <p:nvSpPr>
          <p:cNvPr id="14" name="Text 12"/>
          <p:cNvSpPr txBox="1"/>
          <p:nvPr/>
        </p:nvSpPr>
        <p:spPr>
          <a:xfrm>
            <a:off x="548640" y="48006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7548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Skim Chapter 3 (Clutch Performance and Situational Splits) before next class -- we pick up there.</a:t>
            </a:r>
            <a:endParaRPr lang="en-US" sz="1600" dirty="0"/>
          </a:p>
        </p:txBody>
      </p:sp>
    </p:spTree>
  </p:cSld>
  <p:clrMapOvr>
    <a:masterClrMapping/>
  </p:clrMapOvr>
  <p:transition xmlns:p="http://schemas.openxmlformats.org/presentationml/2006/mai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Cited Today</a:t>
            </a:r>
            <a:endParaRPr lang="en-US" sz="3000" dirty="0"/>
          </a:p>
        </p:txBody>
      </p:sp>
      <p:sp>
        <p:nvSpPr>
          <p:cNvPr id="4" name="Text 2"/>
          <p:cNvSpPr txBox="1"/>
          <p:nvPr/>
        </p:nvSpPr>
        <p:spPr>
          <a:xfrm>
            <a:off x="548640" y="182880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Zuccolotto, P., Manisera, M., &amp; Sandri, M. (2026). Advanced Basketball Data Science: With Applications in R. CRC Press / Chapman &amp; Hall.</a:t>
            </a:r>
            <a:endParaRPr lang="en-US" sz="1300" dirty="0"/>
          </a:p>
        </p:txBody>
      </p:sp>
      <p:sp>
        <p:nvSpPr>
          <p:cNvPr id="5" name="Text 3"/>
          <p:cNvSpPr txBox="1"/>
          <p:nvPr/>
        </p:nvSpPr>
        <p:spPr>
          <a:xfrm>
            <a:off x="548640" y="269748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Kubatko, J., Oliver, D., Pelton, K., &amp; Rosenbaum, D. T. (2007). A starting point for analyzing basketball statistics. Journal of Quantitative Analysis in Sports.</a:t>
            </a:r>
            <a:endParaRPr lang="en-US" sz="1300" dirty="0"/>
          </a:p>
        </p:txBody>
      </p:sp>
      <p:sp>
        <p:nvSpPr>
          <p:cNvPr id="6" name="Text 4"/>
          <p:cNvSpPr txBox="1"/>
          <p:nvPr/>
        </p:nvSpPr>
        <p:spPr>
          <a:xfrm>
            <a:off x="548640" y="356616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West et al. (2026). Journal of Strength and Conditioning Research -- statistical process control for sport-science data quality.</a:t>
            </a:r>
            <a:endParaRPr lang="en-US" sz="1300" dirty="0"/>
          </a:p>
        </p:txBody>
      </p:sp>
      <p:sp>
        <p:nvSpPr>
          <p:cNvPr id="7" name="Text 5"/>
          <p:cNvSpPr txBox="1"/>
          <p:nvPr/>
        </p:nvSpPr>
        <p:spPr>
          <a:xfrm>
            <a:off x="548640" y="4434840"/>
            <a:ext cx="11091672" cy="914400"/>
          </a:xfrm>
          <a:prstGeom prst="rect">
            <a:avLst/>
          </a:prstGeom>
          <a:noFill/>
          <a:ln/>
        </p:spPr>
        <p:txBody>
          <a:bodyPr wrap="square" lIns="0" tIns="0" rIns="0" bIns="0" rtlCol="0" anchor="t"/>
          <a:lstStyle/>
          <a:p>
            <a:pPr indent="0" marL="0">
              <a:lnSpc>
                <a:spcPct val="125000"/>
              </a:lnSpc>
              <a:buNone/>
            </a:pPr>
            <a:r>
              <a:rPr lang="en-US" sz="1300" dirty="0">
                <a:solidFill>
                  <a:srgbClr val="16213E"/>
                </a:solidFill>
                <a:latin typeface="Calibri" pitchFamily="34" charset="0"/>
                <a:ea typeface="Calibri" pitchFamily="34" charset="-122"/>
                <a:cs typeface="Calibri" pitchFamily="34" charset="-120"/>
              </a:rPr>
              <a:t>99% of Basketball. Dean Oliver's Four Factors Explained. YouTube. https://www.youtube.com/watch?v=BJ5d8Jl3K1Y</a:t>
            </a:r>
            <a:endParaRPr lang="en-US" sz="1300" dirty="0"/>
          </a:p>
        </p:txBody>
      </p:sp>
    </p:spTree>
  </p:cSld>
  <p:clrMapOvr>
    <a:masterClrMapping/>
  </p:clrMapOvr>
  <p:transition xmlns:p="http://schemas.openxmlformats.org/presentationml/2006/mai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Next Class</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Module 03: Clutch Performance and Situational Splits</a:t>
            </a:r>
            <a:endParaRPr lang="en-US" sz="1600" dirty="0"/>
          </a:p>
        </p:txBody>
      </p:sp>
    </p:spTree>
  </p:cSld>
  <p:clrMapOvr>
    <a:masterClrMapping/>
  </p:clrMapOvr>
  <p:transition xmlns:p="http://schemas.openxmlformats.org/presentationml/2006/mai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2026-09-20T23:21:13Z</dcterms:created>
  <dcterms:modified xsi:type="dcterms:W3CDTF">2026-09-20T23:21:13Z</dcterms:modified>
</cp:coreProperties>
</file>