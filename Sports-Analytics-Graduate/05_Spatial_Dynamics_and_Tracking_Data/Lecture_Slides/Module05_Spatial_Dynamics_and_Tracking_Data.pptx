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ask students to name, just from watching, roughly how far from the basket Curry is operating compared to a traditional shooter. This primes the real convex hull comparison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point out where the two hulls overlap (near the rim) versus where they diverge (Curry's reach into both corners and well beyond the arc). Ask what each shape says about the two players' real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point out that Draymond Green and Stephen Curry get the two largest regions, while the bench rotation's real median locations cluster tightly near the free-throw line and split a much smaller region. Ask what real basketball reason explains that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McGee's real distribution is a single sharp peak near the rim (mean distance 5.0 ft). Curry's shows a real rim peak plus a genuine second ridge along the arc (mean distance 18.9 ft). Ask what a single shooting percentage would have hidden about this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room for a short structured debate. Push both sides to use the real hull/Voronoi numbers on today's slides, not general reputation, and to be explicit about what tracking data would add that shot-location data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187452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ADVANCED SPORTS ANALYTICS</a:t>
            </a:r>
            <a:endParaRPr lang="en-US" sz="1300" dirty="0"/>
          </a:p>
        </p:txBody>
      </p:sp>
      <p:sp>
        <p:nvSpPr>
          <p:cNvPr id="3" name="Text 1"/>
          <p:cNvSpPr txBox="1"/>
          <p:nvPr/>
        </p:nvSpPr>
        <p:spPr>
          <a:xfrm>
            <a:off x="548640" y="2286000"/>
            <a:ext cx="11091672" cy="12801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Advanced Basketball Data Science</a:t>
            </a:r>
            <a:endParaRPr lang="en-US" sz="4000" dirty="0"/>
          </a:p>
        </p:txBody>
      </p:sp>
      <p:sp>
        <p:nvSpPr>
          <p:cNvPr id="4" name="Text 2"/>
          <p:cNvSpPr txBox="1"/>
          <p:nvPr/>
        </p:nvSpPr>
        <p:spPr>
          <a:xfrm>
            <a:off x="548640" y="3520440"/>
            <a:ext cx="11091672" cy="457200"/>
          </a:xfrm>
          <a:prstGeom prst="rect">
            <a:avLst/>
          </a:prstGeom>
          <a:noFill/>
          <a:ln/>
        </p:spPr>
        <p:txBody>
          <a:bodyPr wrap="square" lIns="0" tIns="0" rIns="0" bIns="0" rtlCol="0" anchor="ctr"/>
          <a:lstStyle/>
          <a:p>
            <a:pPr indent="0" marL="0">
              <a:buNone/>
            </a:pPr>
            <a:r>
              <a:rPr lang="en-US" sz="2000" dirty="0">
                <a:solidFill>
                  <a:srgbClr val="AEBBD1"/>
                </a:solidFill>
                <a:latin typeface="Calibri" pitchFamily="34" charset="0"/>
                <a:ea typeface="Calibri" pitchFamily="34" charset="-122"/>
                <a:cs typeface="Calibri" pitchFamily="34" charset="-120"/>
              </a:rPr>
              <a:t>Module 05 · Understanding Players' Spatial Dynamics</a:t>
            </a:r>
            <a:endParaRPr lang="en-US" sz="2000" dirty="0"/>
          </a:p>
        </p:txBody>
      </p:sp>
      <p:sp>
        <p:nvSpPr>
          <p:cNvPr id="5" name="Shape 3"/>
          <p:cNvSpPr/>
          <p:nvPr/>
        </p:nvSpPr>
        <p:spPr>
          <a:xfrm>
            <a:off x="548640" y="4251960"/>
            <a:ext cx="3291840" cy="777240"/>
          </a:xfrm>
          <a:prstGeom prst="roundRect">
            <a:avLst>
              <a:gd name="adj" fmla="val 7059"/>
            </a:avLst>
          </a:prstGeom>
          <a:solidFill>
            <a:srgbClr val="16213E"/>
          </a:solidFill>
          <a:ln/>
        </p:spPr>
      </p:sp>
      <p:sp>
        <p:nvSpPr>
          <p:cNvPr id="6" name="Text 4"/>
          <p:cNvSpPr txBox="1"/>
          <p:nvPr/>
        </p:nvSpPr>
        <p:spPr>
          <a:xfrm>
            <a:off x="731520" y="4251960"/>
            <a:ext cx="2926080" cy="7772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Week 5
</a:t>
            </a:r>
            <a:pPr indent="0" marL="0">
              <a:buNone/>
            </a:pPr>
            <a:r>
              <a:rPr lang="en-US" sz="1300" dirty="0">
                <a:solidFill>
                  <a:srgbClr val="FFFFFF"/>
                </a:solidFill>
                <a:latin typeface="Calibri" pitchFamily="34" charset="0"/>
                <a:ea typeface="Calibri" pitchFamily="34" charset="-122"/>
                <a:cs typeface="Calibri" pitchFamily="34" charset="-120"/>
              </a:rPr>
              <a:t>Graduate · 3-hour session</a:t>
            </a:r>
            <a:endParaRPr lang="en-US" sz="1300" dirty="0"/>
          </a:p>
        </p:txBody>
      </p:sp>
      <p:sp>
        <p:nvSpPr>
          <p:cNvPr id="7" name="Text 5"/>
          <p:cNvSpPr txBox="1"/>
          <p:nvPr/>
        </p:nvSpPr>
        <p:spPr>
          <a:xfrm>
            <a:off x="4114800" y="4251960"/>
            <a:ext cx="6949440" cy="777240"/>
          </a:xfrm>
          <a:prstGeom prst="rect">
            <a:avLst/>
          </a:prstGeom>
          <a:noFill/>
          <a:ln/>
        </p:spPr>
        <p:txBody>
          <a:bodyPr wrap="square" lIns="0" tIns="0" rIns="0" bIns="0" rtlCol="0" anchor="ctr"/>
          <a:lstStyle/>
          <a:p>
            <a:pPr indent="0" marL="0">
              <a:buNone/>
            </a:pPr>
            <a:r>
              <a:rPr lang="en-US" sz="1200" dirty="0">
                <a:solidFill>
                  <a:srgbClr val="AEBBD1"/>
                </a:solidFill>
                <a:latin typeface="Calibri" pitchFamily="34" charset="0"/>
                <a:ea typeface="Calibri" pitchFamily="34" charset="-122"/>
                <a:cs typeface="Calibri" pitchFamily="34" charset="-120"/>
              </a:rPr>
              <a:t>Maps to Chapter 5:</a:t>
            </a:r>
            <a:endParaRPr lang="en-US" sz="1200" dirty="0"/>
          </a:p>
          <a:p>
            <a:pPr indent="0" marL="0">
              <a:buNone/>
            </a:pPr>
            <a:r>
              <a:rPr lang="en-US" sz="1200" dirty="0">
                <a:solidFill>
                  <a:srgbClr val="AEBBD1"/>
                </a:solidFill>
                <a:latin typeface="Calibri" pitchFamily="34" charset="0"/>
                <a:ea typeface="Calibri" pitchFamily="34" charset="-122"/>
                <a:cs typeface="Calibri" pitchFamily="34" charset="-120"/>
              </a:rPr>
              <a:t>Zuccolotto, Manisera &amp; Sandri (2026). Advanced Basketball Data Science. CRC Press.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What's Coming Up</a:t>
            </a:r>
            <a:endParaRPr lang="en-US" sz="3000" dirty="0"/>
          </a:p>
        </p:txBody>
      </p:sp>
      <p:sp>
        <p:nvSpPr>
          <p:cNvPr id="4" name="Shape 2"/>
          <p:cNvSpPr/>
          <p:nvPr/>
        </p:nvSpPr>
        <p:spPr>
          <a:xfrm>
            <a:off x="548640" y="2011680"/>
            <a:ext cx="11091672" cy="1051560"/>
          </a:xfrm>
          <a:prstGeom prst="roundRect">
            <a:avLst>
              <a:gd name="adj" fmla="val 5217"/>
            </a:avLst>
          </a:prstGeom>
          <a:solidFill>
            <a:srgbClr val="EDF1F7"/>
          </a:solidFill>
          <a:ln/>
        </p:spPr>
      </p:sp>
      <p:sp>
        <p:nvSpPr>
          <p:cNvPr id="5" name="Text 3"/>
          <p:cNvSpPr txBox="1"/>
          <p:nvPr/>
        </p:nvSpPr>
        <p:spPr>
          <a:xfrm>
            <a:off x="822960" y="201168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Due This Week</a:t>
            </a:r>
            <a:endParaRPr lang="en-US" sz="1500" dirty="0"/>
          </a:p>
        </p:txBody>
      </p:sp>
      <p:sp>
        <p:nvSpPr>
          <p:cNvPr id="6" name="Text 4"/>
          <p:cNvSpPr txBox="1"/>
          <p:nvPr/>
        </p:nvSpPr>
        <p:spPr>
          <a:xfrm>
            <a:off x="3566160" y="201168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7" name="Shape 5"/>
          <p:cNvSpPr/>
          <p:nvPr/>
        </p:nvSpPr>
        <p:spPr>
          <a:xfrm>
            <a:off x="548640" y="3246120"/>
            <a:ext cx="11091672" cy="1051560"/>
          </a:xfrm>
          <a:prstGeom prst="roundRect">
            <a:avLst>
              <a:gd name="adj" fmla="val 5217"/>
            </a:avLst>
          </a:prstGeom>
          <a:solidFill>
            <a:srgbClr val="EDF1F7"/>
          </a:solidFill>
          <a:ln/>
        </p:spPr>
      </p:sp>
      <p:sp>
        <p:nvSpPr>
          <p:cNvPr id="8" name="Text 6"/>
          <p:cNvSpPr txBox="1"/>
          <p:nvPr/>
        </p:nvSpPr>
        <p:spPr>
          <a:xfrm>
            <a:off x="822960" y="324612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Coming Up</a:t>
            </a:r>
            <a:endParaRPr lang="en-US" sz="1500" dirty="0"/>
          </a:p>
        </p:txBody>
      </p:sp>
      <p:sp>
        <p:nvSpPr>
          <p:cNvPr id="9" name="Text 7"/>
          <p:cNvSpPr txBox="1"/>
          <p:nvPr/>
        </p:nvSpPr>
        <p:spPr>
          <a:xfrm>
            <a:off x="3566160" y="324612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
        <p:nvSpPr>
          <p:cNvPr id="10" name="Shape 8"/>
          <p:cNvSpPr/>
          <p:nvPr/>
        </p:nvSpPr>
        <p:spPr>
          <a:xfrm>
            <a:off x="548640" y="4480560"/>
            <a:ext cx="11091672" cy="1051560"/>
          </a:xfrm>
          <a:prstGeom prst="roundRect">
            <a:avLst>
              <a:gd name="adj" fmla="val 5217"/>
            </a:avLst>
          </a:prstGeom>
          <a:solidFill>
            <a:srgbClr val="EDF1F7"/>
          </a:solidFill>
          <a:ln/>
        </p:spPr>
      </p:sp>
      <p:sp>
        <p:nvSpPr>
          <p:cNvPr id="11" name="Text 9"/>
          <p:cNvSpPr txBox="1"/>
          <p:nvPr/>
        </p:nvSpPr>
        <p:spPr>
          <a:xfrm>
            <a:off x="822960" y="4480560"/>
            <a:ext cx="2560320" cy="1051560"/>
          </a:xfrm>
          <a:prstGeom prst="rect">
            <a:avLst/>
          </a:prstGeom>
          <a:noFill/>
          <a:ln/>
        </p:spPr>
        <p:txBody>
          <a:bodyPr wrap="square" lIns="0" tIns="0" rIns="0" bIns="0" rtlCol="0" anchor="ctr"/>
          <a:lstStyle/>
          <a:p>
            <a:pPr indent="0" marL="0">
              <a:buNone/>
            </a:pPr>
            <a:r>
              <a:rPr lang="en-US" sz="1500" b="1" dirty="0">
                <a:solidFill>
                  <a:srgbClr val="27496D"/>
                </a:solidFill>
                <a:latin typeface="Calibri" pitchFamily="34" charset="0"/>
                <a:ea typeface="Calibri" pitchFamily="34" charset="-122"/>
                <a:cs typeface="Calibri" pitchFamily="34" charset="-120"/>
              </a:rPr>
              <a:t>Office Hours</a:t>
            </a:r>
            <a:endParaRPr lang="en-US" sz="1500" dirty="0"/>
          </a:p>
        </p:txBody>
      </p:sp>
      <p:sp>
        <p:nvSpPr>
          <p:cNvPr id="12" name="Text 10"/>
          <p:cNvSpPr txBox="1"/>
          <p:nvPr/>
        </p:nvSpPr>
        <p:spPr>
          <a:xfrm>
            <a:off x="3566160" y="4480560"/>
            <a:ext cx="7799832" cy="1051560"/>
          </a:xfrm>
          <a:prstGeom prst="rect">
            <a:avLst/>
          </a:prstGeom>
          <a:noFill/>
          <a:ln/>
        </p:spPr>
        <p:txBody>
          <a:bodyPr wrap="square" lIns="0" tIns="0" rIns="0" bIns="0" rtlCol="0" anchor="ctr"/>
          <a:lstStyle/>
          <a:p>
            <a:pPr indent="0" marL="0">
              <a:buNone/>
            </a:pPr>
            <a:r>
              <a:rPr lang="en-US" sz="1400" i="1" dirty="0">
                <a:solidFill>
                  <a:srgbClr val="6B7A99"/>
                </a:solidFill>
                <a:latin typeface="Calibri" pitchFamily="34" charset="0"/>
                <a:ea typeface="Calibri" pitchFamily="34" charset="-122"/>
                <a:cs typeface="Calibri" pitchFamily="34" charset="-120"/>
              </a:rPr>
              <a:t>-- update before class --</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 Left Off</a:t>
            </a:r>
            <a:endParaRPr lang="en-US" sz="3200" dirty="0"/>
          </a:p>
        </p:txBody>
      </p:sp>
      <p:sp>
        <p:nvSpPr>
          <p:cNvPr id="4" name="Shape 2"/>
          <p:cNvSpPr/>
          <p:nvPr/>
        </p:nvSpPr>
        <p:spPr>
          <a:xfrm>
            <a:off x="548640" y="1920240"/>
            <a:ext cx="11091672" cy="2377440"/>
          </a:xfrm>
          <a:prstGeom prst="roundRect">
            <a:avLst>
              <a:gd name="adj" fmla="val 2308"/>
            </a:avLst>
          </a:prstGeom>
          <a:solidFill>
            <a:srgbClr val="EDF1F7"/>
          </a:solidFill>
          <a:ln/>
        </p:spPr>
      </p:sp>
      <p:sp>
        <p:nvSpPr>
          <p:cNvPr id="5" name="Text 3"/>
          <p:cNvSpPr txBox="1"/>
          <p:nvPr/>
        </p:nvSpPr>
        <p:spPr>
          <a:xfrm>
            <a:off x="914400" y="2194560"/>
            <a:ext cx="10360152" cy="182880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Module 4 split a real season into two segments and asked whether early form predicts a final ranking. Every module so far has treated a player as a set of numbers. Today the unit of analysis changes: where on the real court does a player actually operate, and how does that spatial footprint differ from a teammate's?</a:t>
            </a:r>
            <a:endParaRPr lang="en-US" sz="1600" dirty="0"/>
          </a:p>
        </p:txBody>
      </p:sp>
      <p:sp>
        <p:nvSpPr>
          <p:cNvPr id="6" name="Text 4"/>
          <p:cNvSpPr txBox="1"/>
          <p:nvPr/>
        </p:nvSpPr>
        <p:spPr>
          <a:xfrm>
            <a:off x="548640" y="4572000"/>
            <a:ext cx="11091672" cy="914400"/>
          </a:xfrm>
          <a:prstGeom prst="rect">
            <a:avLst/>
          </a:prstGeom>
          <a:noFill/>
          <a:ln/>
        </p:spPr>
        <p:txBody>
          <a:bodyPr wrap="square" lIns="0" tIns="0" rIns="0" bIns="0" rtlCol="0" anchor="t"/>
          <a:lstStyle/>
          <a:p>
            <a:pPr indent="0" marL="0">
              <a:lnSpc>
                <a:spcPct val="125000"/>
              </a:lnSpc>
              <a:buNone/>
            </a:pPr>
            <a:r>
              <a:rPr lang="en-US" sz="1500" i="1" dirty="0">
                <a:solidFill>
                  <a:srgbClr val="27496D"/>
                </a:solidFill>
                <a:latin typeface="Calibri" pitchFamily="34" charset="0"/>
                <a:ea typeface="Calibri" pitchFamily="34" charset="-122"/>
                <a:cs typeface="Calibri" pitchFamily="34" charset="-120"/>
              </a:rPr>
              <a:t>Same real 2017-18 data, same BasketballAnalyzeR foundation, a genuinely new set of tools.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OUTLINE FOR THE DAY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200" b="1" dirty="0">
                <a:solidFill>
                  <a:srgbClr val="16213E"/>
                </a:solidFill>
                <a:latin typeface="Cambria" pitchFamily="34" charset="0"/>
                <a:ea typeface="Cambria" pitchFamily="34" charset="-122"/>
                <a:cs typeface="Cambria" pitchFamily="34" charset="-120"/>
              </a:rPr>
              <a:t>Where We're Headed</a:t>
            </a:r>
            <a:endParaRPr lang="en-US" sz="3200" dirty="0"/>
          </a:p>
        </p:txBody>
      </p:sp>
      <p:sp>
        <p:nvSpPr>
          <p:cNvPr id="4" name="Shape 2"/>
          <p:cNvSpPr/>
          <p:nvPr/>
        </p:nvSpPr>
        <p:spPr>
          <a:xfrm>
            <a:off x="548640" y="1965960"/>
            <a:ext cx="5362956" cy="1691640"/>
          </a:xfrm>
          <a:prstGeom prst="roundRect">
            <a:avLst>
              <a:gd name="adj" fmla="val 3243"/>
            </a:avLst>
          </a:prstGeom>
          <a:solidFill>
            <a:srgbClr val="EDF1F7"/>
          </a:solidFill>
          <a:ln/>
        </p:spPr>
      </p:sp>
      <p:sp>
        <p:nvSpPr>
          <p:cNvPr id="5" name="Text 3"/>
          <p:cNvSpPr txBox="1"/>
          <p:nvPr/>
        </p:nvSpPr>
        <p:spPr>
          <a:xfrm>
            <a:off x="777240"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a:t>
            </a:r>
            <a:endParaRPr lang="en-US" sz="1600" dirty="0"/>
          </a:p>
        </p:txBody>
      </p:sp>
      <p:sp>
        <p:nvSpPr>
          <p:cNvPr id="6" name="Text 4"/>
          <p:cNvSpPr txBox="1"/>
          <p:nvPr/>
        </p:nvSpPr>
        <p:spPr>
          <a:xfrm>
            <a:off x="1188720"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1</a:t>
            </a:r>
            <a:endParaRPr lang="en-US" sz="1600" dirty="0"/>
          </a:p>
        </p:txBody>
      </p:sp>
      <p:sp>
        <p:nvSpPr>
          <p:cNvPr id="7" name="Text 5"/>
          <p:cNvSpPr txBox="1"/>
          <p:nvPr/>
        </p:nvSpPr>
        <p:spPr>
          <a:xfrm>
            <a:off x="777240"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Convex hulls: mapping each player's real shot territory</a:t>
            </a:r>
            <a:endParaRPr lang="en-US" sz="1200" dirty="0"/>
          </a:p>
        </p:txBody>
      </p:sp>
      <p:sp>
        <p:nvSpPr>
          <p:cNvPr id="8" name="Shape 6"/>
          <p:cNvSpPr/>
          <p:nvPr/>
        </p:nvSpPr>
        <p:spPr>
          <a:xfrm>
            <a:off x="6277356" y="1965960"/>
            <a:ext cx="5362956" cy="1691640"/>
          </a:xfrm>
          <a:prstGeom prst="roundRect">
            <a:avLst>
              <a:gd name="adj" fmla="val 3243"/>
            </a:avLst>
          </a:prstGeom>
          <a:solidFill>
            <a:srgbClr val="EDF1F7"/>
          </a:solidFill>
          <a:ln/>
        </p:spPr>
      </p:sp>
      <p:sp>
        <p:nvSpPr>
          <p:cNvPr id="9" name="Text 7"/>
          <p:cNvSpPr txBox="1"/>
          <p:nvPr/>
        </p:nvSpPr>
        <p:spPr>
          <a:xfrm>
            <a:off x="6505956" y="214884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a:t>
            </a:r>
            <a:endParaRPr lang="en-US" sz="1600" dirty="0"/>
          </a:p>
        </p:txBody>
      </p:sp>
      <p:sp>
        <p:nvSpPr>
          <p:cNvPr id="10" name="Text 8"/>
          <p:cNvSpPr txBox="1"/>
          <p:nvPr/>
        </p:nvSpPr>
        <p:spPr>
          <a:xfrm>
            <a:off x="6917436" y="214884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2</a:t>
            </a:r>
            <a:endParaRPr lang="en-US" sz="1600" dirty="0"/>
          </a:p>
        </p:txBody>
      </p:sp>
      <p:sp>
        <p:nvSpPr>
          <p:cNvPr id="11" name="Text 9"/>
          <p:cNvSpPr txBox="1"/>
          <p:nvPr/>
        </p:nvSpPr>
        <p:spPr>
          <a:xfrm>
            <a:off x="6505956" y="260604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Voronoi tessellation: dividing the real floor by shooting tendency</a:t>
            </a:r>
            <a:endParaRPr lang="en-US" sz="1200" dirty="0"/>
          </a:p>
        </p:txBody>
      </p:sp>
      <p:sp>
        <p:nvSpPr>
          <p:cNvPr id="12" name="Shape 10"/>
          <p:cNvSpPr/>
          <p:nvPr/>
        </p:nvSpPr>
        <p:spPr>
          <a:xfrm>
            <a:off x="548640" y="3886200"/>
            <a:ext cx="5362956" cy="1691640"/>
          </a:xfrm>
          <a:prstGeom prst="roundRect">
            <a:avLst>
              <a:gd name="adj" fmla="val 3243"/>
            </a:avLst>
          </a:prstGeom>
          <a:solidFill>
            <a:srgbClr val="EDF1F7"/>
          </a:solidFill>
          <a:ln/>
        </p:spPr>
      </p:sp>
      <p:sp>
        <p:nvSpPr>
          <p:cNvPr id="13" name="Text 11"/>
          <p:cNvSpPr txBox="1"/>
          <p:nvPr/>
        </p:nvSpPr>
        <p:spPr>
          <a:xfrm>
            <a:off x="777240"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III</a:t>
            </a:r>
            <a:endParaRPr lang="en-US" sz="1600" dirty="0"/>
          </a:p>
        </p:txBody>
      </p:sp>
      <p:sp>
        <p:nvSpPr>
          <p:cNvPr id="14" name="Text 12"/>
          <p:cNvSpPr txBox="1"/>
          <p:nvPr/>
        </p:nvSpPr>
        <p:spPr>
          <a:xfrm>
            <a:off x="1188720"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Segment 3</a:t>
            </a:r>
            <a:endParaRPr lang="en-US" sz="1600" dirty="0"/>
          </a:p>
        </p:txBody>
      </p:sp>
      <p:sp>
        <p:nvSpPr>
          <p:cNvPr id="15" name="Text 13"/>
          <p:cNvSpPr txBox="1"/>
          <p:nvPr/>
        </p:nvSpPr>
        <p:spPr>
          <a:xfrm>
            <a:off x="777240"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Spatial distribution, real Gravity, and what tracking data would add</a:t>
            </a:r>
            <a:endParaRPr lang="en-US" sz="1200" dirty="0"/>
          </a:p>
        </p:txBody>
      </p:sp>
      <p:sp>
        <p:nvSpPr>
          <p:cNvPr id="16" name="Shape 14"/>
          <p:cNvSpPr/>
          <p:nvPr/>
        </p:nvSpPr>
        <p:spPr>
          <a:xfrm>
            <a:off x="6277356" y="3886200"/>
            <a:ext cx="5362956" cy="1691640"/>
          </a:xfrm>
          <a:prstGeom prst="roundRect">
            <a:avLst>
              <a:gd name="adj" fmla="val 3243"/>
            </a:avLst>
          </a:prstGeom>
          <a:solidFill>
            <a:srgbClr val="EDF1F7"/>
          </a:solidFill>
          <a:ln/>
        </p:spPr>
      </p:sp>
      <p:sp>
        <p:nvSpPr>
          <p:cNvPr id="17" name="Text 15"/>
          <p:cNvSpPr txBox="1"/>
          <p:nvPr/>
        </p:nvSpPr>
        <p:spPr>
          <a:xfrm>
            <a:off x="6505956" y="4069080"/>
            <a:ext cx="548640" cy="457200"/>
          </a:xfrm>
          <a:prstGeom prst="rect">
            <a:avLst/>
          </a:prstGeom>
          <a:noFill/>
          <a:ln/>
        </p:spPr>
        <p:txBody>
          <a:bodyPr wrap="square" lIns="0" tIns="0" rIns="0" bIns="0" rtlCol="0" anchor="ctr"/>
          <a:lstStyle/>
          <a:p>
            <a:pPr indent="0" marL="0">
              <a:buNone/>
            </a:pPr>
            <a:r>
              <a:rPr lang="en-US" sz="1600" b="1" dirty="0">
                <a:solidFill>
                  <a:srgbClr val="E4572E"/>
                </a:solidFill>
                <a:latin typeface="Calibri" pitchFamily="34" charset="0"/>
                <a:ea typeface="Calibri" pitchFamily="34" charset="-122"/>
                <a:cs typeface="Calibri" pitchFamily="34" charset="-120"/>
              </a:rPr>
              <a:t>IV</a:t>
            </a:r>
            <a:endParaRPr lang="en-US" sz="1600" dirty="0"/>
          </a:p>
        </p:txBody>
      </p:sp>
      <p:sp>
        <p:nvSpPr>
          <p:cNvPr id="18" name="Text 16"/>
          <p:cNvSpPr txBox="1"/>
          <p:nvPr/>
        </p:nvSpPr>
        <p:spPr>
          <a:xfrm>
            <a:off x="6917436" y="4069080"/>
            <a:ext cx="4448556" cy="457200"/>
          </a:xfrm>
          <a:prstGeom prst="rect">
            <a:avLst/>
          </a:prstGeom>
          <a:noFill/>
          <a:ln/>
        </p:spPr>
        <p:txBody>
          <a:bodyPr wrap="square" lIns="0" tIns="0" rIns="0" bIns="0" rtlCol="0" anchor="ctr"/>
          <a:lstStyle/>
          <a:p>
            <a:pPr indent="0" marL="0">
              <a:buNone/>
            </a:pPr>
            <a:r>
              <a:rPr lang="en-US" sz="1600" b="1" dirty="0">
                <a:solidFill>
                  <a:srgbClr val="16213E"/>
                </a:solidFill>
                <a:latin typeface="Cambria" pitchFamily="34" charset="0"/>
                <a:ea typeface="Cambria" pitchFamily="34" charset="-122"/>
                <a:cs typeface="Cambria" pitchFamily="34" charset="-120"/>
              </a:rPr>
              <a:t>Before Next Class</a:t>
            </a:r>
            <a:endParaRPr lang="en-US" sz="1600" dirty="0"/>
          </a:p>
        </p:txBody>
      </p:sp>
      <p:sp>
        <p:nvSpPr>
          <p:cNvPr id="19" name="Text 17"/>
          <p:cNvSpPr txBox="1"/>
          <p:nvPr/>
        </p:nvSpPr>
        <p:spPr>
          <a:xfrm>
            <a:off x="6505956" y="4526280"/>
            <a:ext cx="4905756" cy="960120"/>
          </a:xfrm>
          <a:prstGeom prst="rect">
            <a:avLst/>
          </a:prstGeom>
          <a:noFill/>
          <a:ln/>
        </p:spPr>
        <p:txBody>
          <a:bodyPr wrap="square" lIns="0" tIns="0" rIns="0" bIns="0" rtlCol="0" anchor="ctr"/>
          <a:lstStyle/>
          <a:p>
            <a:pPr indent="0" marL="0">
              <a:lnSpc>
                <a:spcPct val="120000"/>
              </a:lnSpc>
              <a:buNone/>
            </a:pPr>
            <a:r>
              <a:rPr lang="en-US" sz="1200" dirty="0">
                <a:solidFill>
                  <a:srgbClr val="16213E"/>
                </a:solidFill>
                <a:latin typeface="Calibri" pitchFamily="34" charset="0"/>
                <a:ea typeface="Calibri" pitchFamily="34" charset="-122"/>
                <a:cs typeface="Calibri" pitchFamily="34" charset="-120"/>
              </a:rPr>
              <a:t>Lab 5, the Module 5 quiz, and the practice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LEARNING OBJECTIVES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By the End of Today, You Will Be Able To</a:t>
            </a:r>
            <a:endParaRPr lang="en-US" sz="2800" dirty="0"/>
          </a:p>
        </p:txBody>
      </p:sp>
      <p:sp>
        <p:nvSpPr>
          <p:cNvPr id="4" name="Shape 2"/>
          <p:cNvSpPr/>
          <p:nvPr/>
        </p:nvSpPr>
        <p:spPr>
          <a:xfrm>
            <a:off x="548640" y="1828800"/>
            <a:ext cx="411480" cy="411480"/>
          </a:xfrm>
          <a:prstGeom prst="ellipse">
            <a:avLst/>
          </a:prstGeom>
          <a:solidFill>
            <a:srgbClr val="27496D"/>
          </a:solidFill>
          <a:ln/>
        </p:spPr>
      </p:sp>
      <p:sp>
        <p:nvSpPr>
          <p:cNvPr id="5" name="Text 3"/>
          <p:cNvSpPr txBox="1"/>
          <p:nvPr/>
        </p:nvSpPr>
        <p:spPr>
          <a:xfrm>
            <a:off x="548640" y="182880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143000" y="178308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why this module uses real shot-location data instead of the textbook's own proprietary tracking data, and what that substitution can and cannot show.</a:t>
            </a:r>
            <a:endParaRPr lang="en-US" sz="1600" dirty="0"/>
          </a:p>
        </p:txBody>
      </p:sp>
      <p:sp>
        <p:nvSpPr>
          <p:cNvPr id="7" name="Shape 5"/>
          <p:cNvSpPr/>
          <p:nvPr/>
        </p:nvSpPr>
        <p:spPr>
          <a:xfrm>
            <a:off x="548640" y="2697480"/>
            <a:ext cx="411480" cy="411480"/>
          </a:xfrm>
          <a:prstGeom prst="ellipse">
            <a:avLst/>
          </a:prstGeom>
          <a:solidFill>
            <a:srgbClr val="E4572E"/>
          </a:solidFill>
          <a:ln/>
        </p:spPr>
      </p:sp>
      <p:sp>
        <p:nvSpPr>
          <p:cNvPr id="8" name="Text 6"/>
          <p:cNvSpPr txBox="1"/>
          <p:nvPr/>
        </p:nvSpPr>
        <p:spPr>
          <a:xfrm>
            <a:off x="548640" y="26974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txBox="1"/>
          <p:nvPr/>
        </p:nvSpPr>
        <p:spPr>
          <a:xfrm>
            <a:off x="1143000" y="265176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real convex hull from a player's shot locations and interpret its area as a real measure of floor coverage.</a:t>
            </a:r>
            <a:endParaRPr lang="en-US" sz="1600" dirty="0"/>
          </a:p>
        </p:txBody>
      </p:sp>
      <p:sp>
        <p:nvSpPr>
          <p:cNvPr id="10" name="Shape 8"/>
          <p:cNvSpPr/>
          <p:nvPr/>
        </p:nvSpPr>
        <p:spPr>
          <a:xfrm>
            <a:off x="548640" y="3566160"/>
            <a:ext cx="411480" cy="411480"/>
          </a:xfrm>
          <a:prstGeom prst="ellipse">
            <a:avLst/>
          </a:prstGeom>
          <a:solidFill>
            <a:srgbClr val="27496D"/>
          </a:solidFill>
          <a:ln/>
        </p:spPr>
      </p:sp>
      <p:sp>
        <p:nvSpPr>
          <p:cNvPr id="11" name="Text 9"/>
          <p:cNvSpPr txBox="1"/>
          <p:nvPr/>
        </p:nvSpPr>
        <p:spPr>
          <a:xfrm>
            <a:off x="548640" y="3566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txBox="1"/>
          <p:nvPr/>
        </p:nvSpPr>
        <p:spPr>
          <a:xfrm>
            <a:off x="1143000" y="352044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Build a real Voronoi tessellation from multiple players' shooting tendencies and explain what determines each player's region size.</a:t>
            </a:r>
            <a:endParaRPr lang="en-US" sz="1600" dirty="0"/>
          </a:p>
        </p:txBody>
      </p:sp>
      <p:sp>
        <p:nvSpPr>
          <p:cNvPr id="13" name="Shape 11"/>
          <p:cNvSpPr/>
          <p:nvPr/>
        </p:nvSpPr>
        <p:spPr>
          <a:xfrm>
            <a:off x="548640" y="4434840"/>
            <a:ext cx="411480" cy="411480"/>
          </a:xfrm>
          <a:prstGeom prst="ellipse">
            <a:avLst/>
          </a:prstGeom>
          <a:solidFill>
            <a:srgbClr val="E4572E"/>
          </a:solidFill>
          <a:ln/>
        </p:spPr>
      </p:sp>
      <p:sp>
        <p:nvSpPr>
          <p:cNvPr id="14" name="Text 12"/>
          <p:cNvSpPr txBox="1"/>
          <p:nvPr/>
        </p:nvSpPr>
        <p:spPr>
          <a:xfrm>
            <a:off x="548640" y="44348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txBox="1"/>
          <p:nvPr/>
        </p:nvSpPr>
        <p:spPr>
          <a:xfrm>
            <a:off x="1143000" y="438912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Compare two players' real spatial shot distributions using kernel density and explain what shape reveals that a single percentage cannot.</a:t>
            </a:r>
            <a:endParaRPr lang="en-US" sz="1600" dirty="0"/>
          </a:p>
        </p:txBody>
      </p:sp>
      <p:sp>
        <p:nvSpPr>
          <p:cNvPr id="16" name="Shape 14"/>
          <p:cNvSpPr/>
          <p:nvPr/>
        </p:nvSpPr>
        <p:spPr>
          <a:xfrm>
            <a:off x="548640" y="5303520"/>
            <a:ext cx="411480" cy="411480"/>
          </a:xfrm>
          <a:prstGeom prst="ellipse">
            <a:avLst/>
          </a:prstGeom>
          <a:solidFill>
            <a:srgbClr val="27496D"/>
          </a:solidFill>
          <a:ln/>
        </p:spPr>
      </p:sp>
      <p:sp>
        <p:nvSpPr>
          <p:cNvPr id="17" name="Text 15"/>
          <p:cNvSpPr txBox="1"/>
          <p:nvPr/>
        </p:nvSpPr>
        <p:spPr>
          <a:xfrm>
            <a:off x="548640" y="530352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txBox="1"/>
          <p:nvPr/>
        </p:nvSpPr>
        <p:spPr>
          <a:xfrm>
            <a:off x="1143000" y="5257800"/>
            <a:ext cx="10497312" cy="777240"/>
          </a:xfrm>
          <a:prstGeom prst="rect">
            <a:avLst/>
          </a:prstGeom>
          <a:noFill/>
          <a:ln/>
        </p:spPr>
        <p:txBody>
          <a:bodyPr wrap="square" lIns="0" tIns="0" rIns="0" bIns="0" rtlCol="0" anchor="ctr"/>
          <a:lstStyle/>
          <a:p>
            <a:pPr indent="0" marL="0">
              <a:buNone/>
            </a:pPr>
            <a:r>
              <a:rPr lang="en-US" sz="1600" dirty="0">
                <a:solidFill>
                  <a:srgbClr val="16213E"/>
                </a:solidFill>
                <a:latin typeface="Calibri" pitchFamily="34" charset="0"/>
                <a:ea typeface="Calibri" pitchFamily="34" charset="-122"/>
                <a:cs typeface="Calibri" pitchFamily="34" charset="-120"/>
              </a:rPr>
              <a:t>Explain the NBA's real Gravity stat and why this course's real data can approximate, but not fully replicate, a tracking-based metric.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A NOTE BEFORE WE START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Data This Module Actually Uses</a:t>
            </a:r>
            <a:endParaRPr lang="en-US" sz="2800" dirty="0"/>
          </a:p>
        </p:txBody>
      </p:sp>
      <p:sp>
        <p:nvSpPr>
          <p:cNvPr id="4" name="Shape 2"/>
          <p:cNvSpPr/>
          <p:nvPr/>
        </p:nvSpPr>
        <p:spPr>
          <a:xfrm>
            <a:off x="548640" y="2103120"/>
            <a:ext cx="11091672" cy="3200400"/>
          </a:xfrm>
          <a:prstGeom prst="roundRect">
            <a:avLst>
              <a:gd name="adj" fmla="val 1714"/>
            </a:avLst>
          </a:prstGeom>
          <a:solidFill>
            <a:srgbClr val="27496D"/>
          </a:solidFill>
          <a:ln/>
        </p:spPr>
      </p:sp>
      <p:sp>
        <p:nvSpPr>
          <p:cNvPr id="5" name="Text 3"/>
          <p:cNvSpPr txBox="1"/>
          <p:nvPr/>
        </p:nvSpPr>
        <p:spPr>
          <a:xfrm>
            <a:off x="914400" y="2331720"/>
            <a:ext cx="10360152" cy="109728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The textbook's own Chapter 5 examples use proprietary, frame-by-frame optical player-tracking data, the kind the NBA collects through camera systems dozens of times per second. That feed is not publicly available to us.</a:t>
            </a:r>
            <a:endParaRPr lang="en-US" sz="1600" dirty="0"/>
          </a:p>
        </p:txBody>
      </p:sp>
      <p:sp>
        <p:nvSpPr>
          <p:cNvPr id="6" name="Text 4"/>
          <p:cNvSpPr txBox="1"/>
          <p:nvPr/>
        </p:nvSpPr>
        <p:spPr>
          <a:xfrm>
            <a:off x="914400" y="3566160"/>
            <a:ext cx="10360152" cy="146304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What we do have: real event-level shot-location coordinates for every real 2017-18 field goal attempt in BasketballAnalyzeR::PbP.BDB. That's what this whole module is built on.</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A Convex Hull: A Player's Real Shot Territory</a:t>
            </a:r>
            <a:endParaRPr lang="en-US" sz="2800" dirty="0"/>
          </a:p>
        </p:txBody>
      </p:sp>
      <p:sp>
        <p:nvSpPr>
          <p:cNvPr id="4" name="Shape 2"/>
          <p:cNvSpPr/>
          <p:nvPr/>
        </p:nvSpPr>
        <p:spPr>
          <a:xfrm>
            <a:off x="548640" y="2103120"/>
            <a:ext cx="11091672" cy="1645920"/>
          </a:xfrm>
          <a:prstGeom prst="roundRect">
            <a:avLst>
              <a:gd name="adj" fmla="val 3333"/>
            </a:avLst>
          </a:prstGeom>
          <a:solidFill>
            <a:srgbClr val="EDF1F7"/>
          </a:solidFill>
          <a:ln/>
        </p:spPr>
      </p:sp>
      <p:sp>
        <p:nvSpPr>
          <p:cNvPr id="5" name="Text 3"/>
          <p:cNvSpPr txBox="1"/>
          <p:nvPr/>
        </p:nvSpPr>
        <p:spPr>
          <a:xfrm>
            <a:off x="914400" y="2377440"/>
            <a:ext cx="10360152" cy="109728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convex hull is the smallest polygon that contains every point in a set. Applied to a player's real shot locations across a season, it draws the actual boundary of where that player takes shots from.</a:t>
            </a:r>
            <a:endParaRPr lang="en-US" sz="1600" dirty="0"/>
          </a:p>
        </p:txBody>
      </p:sp>
      <p:sp>
        <p:nvSpPr>
          <p:cNvPr id="6" name="Text 4"/>
          <p:cNvSpPr txBox="1"/>
          <p:nvPr/>
        </p:nvSpPr>
        <p:spPr>
          <a:xfrm>
            <a:off x="548640" y="3977640"/>
            <a:ext cx="11091672" cy="914400"/>
          </a:xfrm>
          <a:prstGeom prst="rect">
            <a:avLst/>
          </a:prstGeom>
          <a:noFill/>
          <a:ln/>
        </p:spPr>
        <p:txBody>
          <a:bodyPr wrap="square" lIns="0" tIns="0" rIns="0" bIns="0" rtlCol="0" anchor="t"/>
          <a:lstStyle/>
          <a:p>
            <a:pPr indent="0" marL="0">
              <a:lnSpc>
                <a:spcPct val="125000"/>
              </a:lnSpc>
              <a:buNone/>
            </a:pPr>
            <a:r>
              <a:rPr lang="en-US" sz="1400" i="1" dirty="0">
                <a:solidFill>
                  <a:srgbClr val="27496D"/>
                </a:solidFill>
                <a:latin typeface="Calibri" pitchFamily="34" charset="0"/>
                <a:ea typeface="Calibri" pitchFamily="34" charset="-122"/>
                <a:cs typeface="Calibri" pitchFamily="34" charset="-120"/>
              </a:rPr>
              <a:t>Today's comparison: Stephen Curry versus Draymond Green, two real Warriors with very different roles.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See the Real Territory Before We Map It</a:t>
            </a:r>
            <a:endParaRPr lang="en-US" sz="2600" dirty="0"/>
          </a:p>
        </p:txBody>
      </p:sp>
      <p:sp>
        <p:nvSpPr>
          <p:cNvPr id="3" name="Text 1"/>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 FIRST</a:t>
            </a:r>
            <a:endParaRPr lang="en-US" sz="1300" dirty="0"/>
          </a:p>
        </p:txBody>
      </p:sp>
      <p:sp>
        <p:nvSpPr>
          <p:cNvPr id="4" name="Shape 2"/>
          <p:cNvSpPr/>
          <p:nvPr/>
        </p:nvSpPr>
        <p:spPr>
          <a:xfrm>
            <a:off x="548640" y="1965960"/>
            <a:ext cx="11091672" cy="3200400"/>
          </a:xfrm>
          <a:prstGeom prst="roundRect">
            <a:avLst>
              <a:gd name="adj" fmla="val 1714"/>
            </a:avLst>
          </a:prstGeom>
          <a:solidFill>
            <a:srgbClr val="0B1D33"/>
          </a:solidFill>
          <a:ln/>
        </p:spPr>
      </p:sp>
      <p:sp>
        <p:nvSpPr>
          <p:cNvPr id="5" name="Shape 3"/>
          <p:cNvSpPr/>
          <p:nvPr/>
        </p:nvSpPr>
        <p:spPr>
          <a:xfrm>
            <a:off x="1005840" y="2331720"/>
            <a:ext cx="3291840" cy="2468880"/>
          </a:xfrm>
          <a:prstGeom prst="roundRect">
            <a:avLst>
              <a:gd name="adj" fmla="val 2963"/>
            </a:avLst>
          </a:prstGeom>
          <a:solidFill>
            <a:srgbClr val="1B2A44"/>
          </a:solidFill>
          <a:ln w="25400">
            <a:solidFill>
              <a:srgbClr val="E4572E"/>
            </a:solidFill>
            <a:prstDash val="solid"/>
          </a:ln>
        </p:spPr>
      </p:sp>
      <p:sp>
        <p:nvSpPr>
          <p:cNvPr id="6" name="Shape 4"/>
          <p:cNvSpPr/>
          <p:nvPr/>
        </p:nvSpPr>
        <p:spPr>
          <a:xfrm rot="5400000">
            <a:off x="2240280" y="3337560"/>
            <a:ext cx="822960" cy="457200"/>
          </a:xfrm>
          <a:prstGeom prst="triangle">
            <a:avLst/>
          </a:prstGeom>
          <a:solidFill>
            <a:srgbClr val="FFFFFF"/>
          </a:solidFill>
          <a:ln/>
        </p:spPr>
      </p:sp>
      <p:sp>
        <p:nvSpPr>
          <p:cNvPr id="7" name="Text 5"/>
          <p:cNvSpPr txBox="1"/>
          <p:nvPr/>
        </p:nvSpPr>
        <p:spPr>
          <a:xfrm>
            <a:off x="4572000" y="2331720"/>
            <a:ext cx="6611112" cy="9144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Steph Curry Gravitational Pull</a:t>
            </a:r>
            <a:endParaRPr lang="en-US" sz="1900" dirty="0"/>
          </a:p>
        </p:txBody>
      </p:sp>
      <p:sp>
        <p:nvSpPr>
          <p:cNvPr id="8" name="Text 6"/>
          <p:cNvSpPr txBox="1"/>
          <p:nvPr/>
        </p:nvSpPr>
        <p:spPr>
          <a:xfrm>
            <a:off x="4572000" y="3200400"/>
            <a:ext cx="6611112" cy="365760"/>
          </a:xfrm>
          <a:prstGeom prst="rect">
            <a:avLst/>
          </a:prstGeom>
          <a:noFill/>
          <a:ln/>
        </p:spPr>
        <p:txBody>
          <a:bodyPr wrap="square" lIns="0" tIns="0" rIns="0" bIns="0" rtlCol="0" anchor="ctr"/>
          <a:lstStyle/>
          <a:p>
            <a:pPr indent="0" marL="0">
              <a:buNone/>
            </a:pPr>
            <a:r>
              <a:rPr lang="en-US" sz="1300" i="1" dirty="0">
                <a:solidFill>
                  <a:srgbClr val="AEBBD1"/>
                </a:solidFill>
                <a:latin typeface="Calibri" pitchFamily="34" charset="0"/>
                <a:ea typeface="Calibri" pitchFamily="34" charset="-122"/>
                <a:cs typeface="Calibri" pitchFamily="34" charset="-120"/>
              </a:rPr>
              <a:t>YouTube</a:t>
            </a:r>
            <a:endParaRPr lang="en-US" sz="1300" dirty="0"/>
          </a:p>
        </p:txBody>
      </p:sp>
      <p:sp>
        <p:nvSpPr>
          <p:cNvPr id="9" name="Text 7"/>
          <p:cNvSpPr txBox="1"/>
          <p:nvPr/>
        </p:nvSpPr>
        <p:spPr>
          <a:xfrm>
            <a:off x="4572000" y="3657600"/>
            <a:ext cx="6611112" cy="137160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Real game footage of how defenses react to a player with real range across the whole floor. Watch how far defenders travel to contest him, well beyond where most players ever shoot from.</a:t>
            </a:r>
            <a:endParaRPr lang="en-US" sz="1300" dirty="0"/>
          </a:p>
        </p:txBody>
      </p:sp>
      <p:sp>
        <p:nvSpPr>
          <p:cNvPr id="10" name="Text 8"/>
          <p:cNvSpPr txBox="1"/>
          <p:nvPr/>
        </p:nvSpPr>
        <p:spPr>
          <a:xfrm>
            <a:off x="4572000" y="4892040"/>
            <a:ext cx="6611112" cy="274320"/>
          </a:xfrm>
          <a:prstGeom prst="rect">
            <a:avLst/>
          </a:prstGeom>
          <a:noFill/>
          <a:ln/>
        </p:spPr>
        <p:txBody>
          <a:bodyPr wrap="square" lIns="0" tIns="0" rIns="0" bIns="0" rtlCol="0" anchor="ctr"/>
          <a:lstStyle/>
          <a:p>
            <a:pPr indent="0" marL="0">
              <a:buNone/>
            </a:pPr>
            <a:r>
              <a:rPr lang="en-US" sz="1000" dirty="0">
                <a:solidFill>
                  <a:srgbClr val="E4572E"/>
                </a:solidFill>
                <a:latin typeface="Calibri" pitchFamily="34" charset="0"/>
                <a:ea typeface="Calibri" pitchFamily="34" charset="-122"/>
                <a:cs typeface="Calibri" pitchFamily="34" charset="-120"/>
              </a:rPr>
              <a:t>https://www.youtube.com/watch?v=Y0ylSKhDu44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a real convex hull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Shot-Territory Convex Hulls</a:t>
            </a:r>
            <a:endParaRPr lang="en-US" sz="2600" dirty="0"/>
          </a:p>
        </p:txBody>
      </p:sp>
      <p:pic>
        <p:nvPicPr>
          <p:cNvPr id="4" name="Image 0" descr="module5_convex_hulls.png">    </p:cNvPr>
          <p:cNvPicPr>
            <a:picLocks noChangeAspect="1"/>
          </p:cNvPicPr>
          <p:nvPr/>
        </p:nvPicPr>
        <p:blipFill>
          <a:blip r:embed="rId1"/>
          <a:stretch>
            <a:fillRect/>
          </a:stretch>
        </p:blipFill>
        <p:spPr>
          <a:xfrm>
            <a:off x="2103120" y="1600200"/>
            <a:ext cx="795528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chull() on real original_x/original_y shot coordinates, PbP.BDB, BasketballAnalyzeR. Data: 2017-18 GSW real shots.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THE CORE NUMBERS OF THIS SEGMENT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2,538 vs. 2,264 Square Feet</a:t>
            </a:r>
            <a:endParaRPr lang="en-US" sz="2800" dirty="0"/>
          </a:p>
        </p:txBody>
      </p:sp>
      <p:sp>
        <p:nvSpPr>
          <p:cNvPr id="4" name="Shape 2"/>
          <p:cNvSpPr/>
          <p:nvPr/>
        </p:nvSpPr>
        <p:spPr>
          <a:xfrm>
            <a:off x="548640" y="2103120"/>
            <a:ext cx="3840480" cy="3108960"/>
          </a:xfrm>
          <a:prstGeom prst="roundRect">
            <a:avLst>
              <a:gd name="adj" fmla="val 1765"/>
            </a:avLst>
          </a:prstGeom>
          <a:solidFill>
            <a:srgbClr val="E4572E"/>
          </a:solidFill>
          <a:ln/>
        </p:spPr>
      </p:sp>
      <p:sp>
        <p:nvSpPr>
          <p:cNvPr id="5" name="Text 3"/>
          <p:cNvSpPr txBox="1"/>
          <p:nvPr/>
        </p:nvSpPr>
        <p:spPr>
          <a:xfrm>
            <a:off x="548640" y="2468880"/>
            <a:ext cx="3840480" cy="1005840"/>
          </a:xfrm>
          <a:prstGeom prst="rect">
            <a:avLst/>
          </a:prstGeom>
          <a:noFill/>
          <a:ln/>
        </p:spPr>
        <p:txBody>
          <a:bodyPr wrap="square" lIns="0" tIns="0" rIns="0" bIns="0" rtlCol="0" anchor="ctr"/>
          <a:lstStyle/>
          <a:p>
            <a:pPr algn="ctr" indent="0" marL="0">
              <a:buNone/>
            </a:pPr>
            <a:r>
              <a:rPr lang="en-US" sz="5000" b="1" dirty="0">
                <a:solidFill>
                  <a:srgbClr val="FFFFFF"/>
                </a:solidFill>
                <a:latin typeface="Cambria" pitchFamily="34" charset="0"/>
                <a:ea typeface="Cambria" pitchFamily="34" charset="-122"/>
                <a:cs typeface="Cambria" pitchFamily="34" charset="-120"/>
              </a:rPr>
              <a:t>2,538</a:t>
            </a:r>
            <a:endParaRPr lang="en-US" sz="5000" dirty="0"/>
          </a:p>
        </p:txBody>
      </p:sp>
      <p:sp>
        <p:nvSpPr>
          <p:cNvPr id="6" name="Text 4"/>
          <p:cNvSpPr txBox="1"/>
          <p:nvPr/>
        </p:nvSpPr>
        <p:spPr>
          <a:xfrm>
            <a:off x="822960" y="3566160"/>
            <a:ext cx="3291840" cy="1371600"/>
          </a:xfrm>
          <a:prstGeom prst="rect">
            <a:avLst/>
          </a:prstGeom>
          <a:noFill/>
          <a:ln/>
        </p:spPr>
        <p:txBody>
          <a:bodyPr wrap="square" lIns="0" tIns="0" rIns="0" bIns="0" rtlCol="0" anchor="ctr"/>
          <a:lstStyle/>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sq ft, Stephen Curry's real</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shot-territory hull, from</a:t>
            </a:r>
            <a:endParaRPr lang="en-US" sz="1300" dirty="0"/>
          </a:p>
          <a:p>
            <a:pPr algn="ctr" indent="0" marL="0">
              <a:lnSpc>
                <a:spcPct val="130000"/>
              </a:lnSpc>
              <a:buNone/>
            </a:pPr>
            <a:r>
              <a:rPr lang="en-US" sz="1300" dirty="0">
                <a:solidFill>
                  <a:srgbClr val="FFFFFF"/>
                </a:solidFill>
                <a:latin typeface="Calibri" pitchFamily="34" charset="0"/>
                <a:ea typeface="Calibri" pitchFamily="34" charset="-122"/>
                <a:cs typeface="Calibri" pitchFamily="34" charset="-120"/>
              </a:rPr>
              <a:t>864 real shot attempts</a:t>
            </a:r>
            <a:endParaRPr lang="en-US" sz="1300" dirty="0"/>
          </a:p>
        </p:txBody>
      </p:sp>
      <p:sp>
        <p:nvSpPr>
          <p:cNvPr id="7" name="Text 5"/>
          <p:cNvSpPr txBox="1"/>
          <p:nvPr/>
        </p:nvSpPr>
        <p:spPr>
          <a:xfrm>
            <a:off x="4663440" y="2103120"/>
            <a:ext cx="6428232" cy="3108960"/>
          </a:xfrm>
          <a:prstGeom prst="rect">
            <a:avLst/>
          </a:prstGeom>
          <a:noFill/>
          <a:ln/>
        </p:spPr>
        <p:txBody>
          <a:bodyPr wrap="square" lIns="0" tIns="0" rIns="0" bIns="0" rtlCol="0" anchor="t"/>
          <a:lstStyle/>
          <a:p>
            <a:pPr indent="0" marL="0">
              <a:lnSpc>
                <a:spcPct val="130000"/>
              </a:lnSpc>
              <a:buNone/>
            </a:pPr>
            <a:r>
              <a:rPr lang="en-US" sz="1500" b="1" dirty="0">
                <a:solidFill>
                  <a:srgbClr val="16213E"/>
                </a:solidFill>
                <a:latin typeface="Calibri" pitchFamily="34" charset="0"/>
                <a:ea typeface="Calibri" pitchFamily="34" charset="-122"/>
                <a:cs typeface="Calibri" pitchFamily="34" charset="-120"/>
              </a:rPr>
              <a:t>Draymond Green: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2,264 sq ft from 619 real attempts, a smaller real territory concentrated closer to the basket and short midrange.
</a:t>
            </a:r>
            <a:pPr indent="0" marL="0">
              <a:lnSpc>
                <a:spcPct val="130000"/>
              </a:lnSpc>
              <a:buNone/>
            </a:pPr>
            <a:r>
              <a:rPr lang="en-US" sz="1500" b="1" dirty="0">
                <a:solidFill>
                  <a:srgbClr val="E4572E"/>
                </a:solidFill>
                <a:latin typeface="Calibri" pitchFamily="34" charset="0"/>
                <a:ea typeface="Calibri" pitchFamily="34" charset="-122"/>
                <a:cs typeface="Calibri" pitchFamily="34" charset="-120"/>
              </a:rPr>
              <a:t>What this shows: </a:t>
            </a:r>
            <a:pPr indent="0" marL="0">
              <a:lnSpc>
                <a:spcPct val="130000"/>
              </a:lnSpc>
              <a:buNone/>
            </a:pPr>
            <a:r>
              <a:rPr lang="en-US" sz="1500" dirty="0">
                <a:solidFill>
                  <a:srgbClr val="16213E"/>
                </a:solidFill>
                <a:latin typeface="Calibri" pitchFamily="34" charset="0"/>
                <a:ea typeface="Calibri" pitchFamily="34" charset="-122"/>
                <a:cs typeface="Calibri" pitchFamily="34" charset="-120"/>
              </a:rPr>
              <a:t>not just how well two players shoot, but from where, drawn directly from real data rather than assumed from their reputations.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Two Real Hulls</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Turn to the person next to you and look back at the convex hull image.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Where do the two real hulls overlap most, and why does that make basketball sense?</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Where do they diverge most, and what does that say about each player's real role?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Real Floor Coverage Is Not the Same as Real Shot Volume</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1645920"/>
        </p:xfrm>
        <a:graphic>
          <a:graphicData uri="http://schemas.openxmlformats.org/drawingml/2006/table">
            <a:tbl>
              <a:tblPr/>
              <a:tblGrid>
                <a:gridCol w="5605272"/>
                <a:gridCol w="2743200"/>
                <a:gridCol w="2743200"/>
              </a:tblGrid>
              <a:tr h="411480">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Player</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Real Shots</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c>
                  <a:txBody>
                    <a:bodyPr/>
                    <a:lstStyle/>
                    <a:p>
                      <a:pPr algn="ctr" indent="0" marL="0">
                        <a:buNone/>
                      </a:pPr>
                      <a:r>
                        <a:rPr lang="en-US" sz="1500" b="1" dirty="0">
                          <a:solidFill>
                            <a:srgbClr val="FFFFFF"/>
                          </a:solidFill>
                          <a:latin typeface="Calibri" pitchFamily="34" charset="0"/>
                          <a:ea typeface="Calibri" pitchFamily="34" charset="-122"/>
                          <a:cs typeface="Calibri" pitchFamily="34" charset="-120"/>
                        </a:rPr>
                        <a:t>Real Hull Area (sq ft)</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27496D"/>
                    </a:solidFill>
                  </a:tcPr>
                </a:tc>
              </a:tr>
              <a:tr h="41148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Klay Thompson</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1,178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2,599</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r h="41148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Stephen Curry</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864</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2,538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EDF1F7"/>
                    </a:solidFill>
                  </a:tcPr>
                </a:tc>
              </a:tr>
              <a:tr h="411480">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Kevin Durant</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1,221</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algn="ctr" indent="0" marL="0">
                        <a:buNone/>
                      </a:pPr>
                      <a:r>
                        <a:rPr lang="en-US" sz="1500" dirty="0">
                          <a:solidFill>
                            <a:srgbClr val="16213E"/>
                          </a:solidFill>
                          <a:latin typeface="Calibri" pitchFamily="34" charset="0"/>
                          <a:ea typeface="Calibri" pitchFamily="34" charset="-122"/>
                          <a:cs typeface="Calibri" pitchFamily="34" charset="-120"/>
                        </a:rPr>
                        <a:t>2,018</a:t>
                      </a:r>
                      <a:endParaRPr lang="en-US" sz="1500" dirty="0">
                        <a:latin typeface="Calibri" charset="0"/>
                        <a:ea typeface="Calibri" charset="0"/>
                        <a:cs typeface="Calibri" charset="0"/>
                      </a:endParaRPr>
                    </a:p>
                  </a:txBody>
                  <a:tcPr marL="91440" marR="91440" marT="45720" marB="4572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5" name="Text 2"/>
          <p:cNvSpPr txBox="1"/>
          <p:nvPr/>
        </p:nvSpPr>
        <p:spPr>
          <a:xfrm>
            <a:off x="548640" y="4069080"/>
            <a:ext cx="11091672" cy="914400"/>
          </a:xfrm>
          <a:prstGeom prst="rect">
            <a:avLst/>
          </a:prstGeom>
          <a:noFill/>
          <a:ln/>
        </p:spPr>
        <p:txBody>
          <a:bodyPr wrap="square" lIns="0" tIns="0" rIns="0" bIns="0" rtlCol="0" anchor="t"/>
          <a:lstStyle/>
          <a:p>
            <a:pPr indent="0" marL="0">
              <a:lnSpc>
                <a:spcPct val="125000"/>
              </a:lnSpc>
              <a:buNone/>
            </a:pPr>
            <a:r>
              <a:rPr lang="en-US" sz="1400" dirty="0">
                <a:solidFill>
                  <a:srgbClr val="27496D"/>
                </a:solidFill>
                <a:latin typeface="Calibri" pitchFamily="34" charset="0"/>
                <a:ea typeface="Calibri" pitchFamily="34" charset="-122"/>
                <a:cs typeface="Calibri" pitchFamily="34" charset="-120"/>
              </a:rPr>
              <a:t>Durant took the most real shots on the team, but from a smaller real area of the floor than Thompson or Curry.</a:t>
            </a:r>
            <a:endParaRPr lang="en-US" sz="1400" dirty="0"/>
          </a:p>
        </p:txBody>
      </p:sp>
      <p:sp>
        <p:nvSpPr>
          <p:cNvPr id="6" name="Text 3"/>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Data: real 2017-18 shot locations, PbP.BDB, BasketballAnalyzeR.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1</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Convex Hulls,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real convex hulls from shot locations and found that real floor coverage and real shot volume are two separate questions.</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2 uses multiple players' real shooting tendencies at once to divide the whole floor.</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dividing the real floor by shooting tendency.</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Voronoi Tessellation: Whose Floor Is It?</a:t>
            </a:r>
            <a:endParaRPr lang="en-US" sz="28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331720"/>
            <a:ext cx="10360152" cy="100584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A Voronoi tessellation divides a plane into regions, one per seed point, where every location is closer to that region's seed than to any other.</a:t>
            </a:r>
            <a:endParaRPr lang="en-US" sz="1600" dirty="0"/>
          </a:p>
        </p:txBody>
      </p:sp>
      <p:sp>
        <p:nvSpPr>
          <p:cNvPr id="6" name="Text 4"/>
          <p:cNvSpPr txBox="1"/>
          <p:nvPr/>
        </p:nvSpPr>
        <p:spPr>
          <a:xfrm>
            <a:off x="914400" y="3429000"/>
            <a:ext cx="10360152" cy="146304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Applied to real players' typical shooting locations, it produces a literal map of which part of the floor "belongs" to which shooter.</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Choosing the Real Seed Point</a:t>
            </a:r>
            <a:endParaRPr lang="en-US" sz="2800" dirty="0"/>
          </a:p>
        </p:txBody>
      </p:sp>
      <p:sp>
        <p:nvSpPr>
          <p:cNvPr id="4" name="Shape 2"/>
          <p:cNvSpPr/>
          <p:nvPr/>
        </p:nvSpPr>
        <p:spPr>
          <a:xfrm>
            <a:off x="548640" y="2103120"/>
            <a:ext cx="11091672" cy="1737360"/>
          </a:xfrm>
          <a:prstGeom prst="roundRect">
            <a:avLst>
              <a:gd name="adj" fmla="val 3158"/>
            </a:avLst>
          </a:prstGeom>
          <a:solidFill>
            <a:srgbClr val="EDF1F7"/>
          </a:solidFill>
          <a:ln/>
        </p:spPr>
      </p:sp>
      <p:sp>
        <p:nvSpPr>
          <p:cNvPr id="5" name="Text 3"/>
          <p:cNvSpPr txBox="1"/>
          <p:nvPr/>
        </p:nvSpPr>
        <p:spPr>
          <a:xfrm>
            <a:off x="914400" y="2377440"/>
            <a:ext cx="10360152" cy="1188720"/>
          </a:xfrm>
          <a:prstGeom prst="rect">
            <a:avLst/>
          </a:prstGeom>
          <a:noFill/>
          <a:ln/>
        </p:spPr>
        <p:txBody>
          <a:bodyPr wrap="square" lIns="0" tIns="0" rIns="0" bIns="0" rtlCol="0" anchor="ctr"/>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Each player's seed is the real median location of their own three-point and long two-point attempts, excluding shots within 10 feet of the basket. Why exclude those? Nearly every player's single most common real shot is a rim attempt, which would collapse every seed to the same point.</a:t>
            </a:r>
            <a:endParaRPr lang="en-US" sz="1500" dirty="0"/>
          </a:p>
        </p:txBody>
      </p:sp>
      <p:sp>
        <p:nvSpPr>
          <p:cNvPr id="6" name="Text 4"/>
          <p:cNvSpPr txBox="1"/>
          <p:nvPr/>
        </p:nvSpPr>
        <p:spPr>
          <a:xfrm>
            <a:off x="548640" y="4023360"/>
            <a:ext cx="11091672" cy="457200"/>
          </a:xfrm>
          <a:prstGeom prst="rect">
            <a:avLst/>
          </a:prstGeom>
          <a:noFill/>
          <a:ln/>
        </p:spPr>
        <p:txBody>
          <a:bodyPr wrap="square" lIns="0" tIns="0" rIns="0" bIns="0" rtlCol="0" anchor="ctr"/>
          <a:lstStyle/>
          <a:p>
            <a:pPr algn="ctr" indent="0" marL="0">
              <a:buNone/>
            </a:pPr>
            <a:r>
              <a:rPr lang="en-US" sz="1600" dirty="0">
                <a:solidFill>
                  <a:srgbClr val="27496D"/>
                </a:solidFill>
                <a:latin typeface="Courier New" pitchFamily="34" charset="0"/>
                <a:ea typeface="Courier New" pitchFamily="34" charset="-122"/>
                <a:cs typeface="Courier New" pitchFamily="34" charset="-120"/>
              </a:rPr>
              <a:t>median(x_ft), median(y_ft)  where  x_ft^2 + y_ft^2 &gt; 10^2</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What Real Spacing Looks Like</a:t>
            </a:r>
            <a:endParaRPr lang="en-US" sz="2800" dirty="0"/>
          </a:p>
        </p:txBody>
      </p:sp>
      <p:sp>
        <p:nvSpPr>
          <p:cNvPr id="3" name="Text 1"/>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a:t>
            </a:r>
            <a:endParaRPr lang="en-US" sz="1300" dirty="0"/>
          </a:p>
        </p:txBody>
      </p:sp>
      <p:sp>
        <p:nvSpPr>
          <p:cNvPr id="4" name="Shape 2"/>
          <p:cNvSpPr/>
          <p:nvPr/>
        </p:nvSpPr>
        <p:spPr>
          <a:xfrm>
            <a:off x="548640" y="1965960"/>
            <a:ext cx="11091672" cy="3200400"/>
          </a:xfrm>
          <a:prstGeom prst="roundRect">
            <a:avLst>
              <a:gd name="adj" fmla="val 1714"/>
            </a:avLst>
          </a:prstGeom>
          <a:solidFill>
            <a:srgbClr val="0B1D33"/>
          </a:solidFill>
          <a:ln/>
        </p:spPr>
      </p:sp>
      <p:sp>
        <p:nvSpPr>
          <p:cNvPr id="5" name="Shape 3"/>
          <p:cNvSpPr/>
          <p:nvPr/>
        </p:nvSpPr>
        <p:spPr>
          <a:xfrm>
            <a:off x="1005840" y="2331720"/>
            <a:ext cx="3291840" cy="2468880"/>
          </a:xfrm>
          <a:prstGeom prst="roundRect">
            <a:avLst>
              <a:gd name="adj" fmla="val 2963"/>
            </a:avLst>
          </a:prstGeom>
          <a:solidFill>
            <a:srgbClr val="1B2A44"/>
          </a:solidFill>
          <a:ln w="25400">
            <a:solidFill>
              <a:srgbClr val="E4572E"/>
            </a:solidFill>
            <a:prstDash val="solid"/>
          </a:ln>
        </p:spPr>
      </p:sp>
      <p:sp>
        <p:nvSpPr>
          <p:cNvPr id="6" name="Shape 4"/>
          <p:cNvSpPr/>
          <p:nvPr/>
        </p:nvSpPr>
        <p:spPr>
          <a:xfrm rot="5400000">
            <a:off x="2240280" y="3337560"/>
            <a:ext cx="822960" cy="457200"/>
          </a:xfrm>
          <a:prstGeom prst="triangle">
            <a:avLst/>
          </a:prstGeom>
          <a:solidFill>
            <a:srgbClr val="FFFFFF"/>
          </a:solidFill>
          <a:ln/>
        </p:spPr>
      </p:sp>
      <p:sp>
        <p:nvSpPr>
          <p:cNvPr id="7" name="Text 5"/>
          <p:cNvSpPr txBox="1"/>
          <p:nvPr/>
        </p:nvSpPr>
        <p:spPr>
          <a:xfrm>
            <a:off x="4572000" y="2331720"/>
            <a:ext cx="6611112" cy="9144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Elite Spacing Isn't Just About Outside Shooting</a:t>
            </a:r>
            <a:endParaRPr lang="en-US" sz="1900" dirty="0"/>
          </a:p>
        </p:txBody>
      </p:sp>
      <p:sp>
        <p:nvSpPr>
          <p:cNvPr id="8" name="Text 6"/>
          <p:cNvSpPr txBox="1"/>
          <p:nvPr/>
        </p:nvSpPr>
        <p:spPr>
          <a:xfrm>
            <a:off x="4572000" y="3200400"/>
            <a:ext cx="6611112" cy="365760"/>
          </a:xfrm>
          <a:prstGeom prst="rect">
            <a:avLst/>
          </a:prstGeom>
          <a:noFill/>
          <a:ln/>
        </p:spPr>
        <p:txBody>
          <a:bodyPr wrap="square" lIns="0" tIns="0" rIns="0" bIns="0" rtlCol="0" anchor="ctr"/>
          <a:lstStyle/>
          <a:p>
            <a:pPr indent="0" marL="0">
              <a:buNone/>
            </a:pPr>
            <a:r>
              <a:rPr lang="en-US" sz="1300" i="1" dirty="0">
                <a:solidFill>
                  <a:srgbClr val="AEBBD1"/>
                </a:solidFill>
                <a:latin typeface="Calibri" pitchFamily="34" charset="0"/>
                <a:ea typeface="Calibri" pitchFamily="34" charset="-122"/>
                <a:cs typeface="Calibri" pitchFamily="34" charset="-120"/>
              </a:rPr>
              <a:t>YouTube</a:t>
            </a:r>
            <a:endParaRPr lang="en-US" sz="1300" dirty="0"/>
          </a:p>
        </p:txBody>
      </p:sp>
      <p:sp>
        <p:nvSpPr>
          <p:cNvPr id="9" name="Text 7"/>
          <p:cNvSpPr txBox="1"/>
          <p:nvPr/>
        </p:nvSpPr>
        <p:spPr>
          <a:xfrm>
            <a:off x="4572000" y="3657600"/>
            <a:ext cx="6611112" cy="137160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concept-explainer on real floor spacing, directly relevant to why some players claim larger real regions on the Voronoi map than others.</a:t>
            </a:r>
            <a:endParaRPr lang="en-US" sz="1300" dirty="0"/>
          </a:p>
        </p:txBody>
      </p:sp>
      <p:sp>
        <p:nvSpPr>
          <p:cNvPr id="10" name="Text 8"/>
          <p:cNvSpPr txBox="1"/>
          <p:nvPr/>
        </p:nvSpPr>
        <p:spPr>
          <a:xfrm>
            <a:off x="4572000" y="4892040"/>
            <a:ext cx="6611112" cy="274320"/>
          </a:xfrm>
          <a:prstGeom prst="rect">
            <a:avLst/>
          </a:prstGeom>
          <a:noFill/>
          <a:ln/>
        </p:spPr>
        <p:txBody>
          <a:bodyPr wrap="square" lIns="0" tIns="0" rIns="0" bIns="0" rtlCol="0" anchor="ctr"/>
          <a:lstStyle/>
          <a:p>
            <a:pPr indent="0" marL="0">
              <a:buNone/>
            </a:pPr>
            <a:r>
              <a:rPr lang="en-US" sz="1000" dirty="0">
                <a:solidFill>
                  <a:srgbClr val="E4572E"/>
                </a:solidFill>
                <a:latin typeface="Calibri" pitchFamily="34" charset="0"/>
                <a:ea typeface="Calibri" pitchFamily="34" charset="-122"/>
                <a:cs typeface="Calibri" pitchFamily="34" charset="-120"/>
              </a:rPr>
              <a:t>https://www.youtube.com/watch?v=osY0NWe4M0w</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Voronoi tessellation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Real Voronoi Map of GSW's Rotation</a:t>
            </a:r>
            <a:endParaRPr lang="en-US" sz="2600" dirty="0"/>
          </a:p>
        </p:txBody>
      </p:sp>
      <p:pic>
        <p:nvPicPr>
          <p:cNvPr id="4" name="Image 0" descr="module5_voronoi.png">    </p:cNvPr>
          <p:cNvPicPr>
            <a:picLocks noChangeAspect="1"/>
          </p:cNvPicPr>
          <p:nvPr/>
        </p:nvPicPr>
        <p:blipFill>
          <a:blip r:embed="rId1"/>
          <a:stretch>
            <a:fillRect/>
          </a:stretch>
        </p:blipFill>
        <p:spPr>
          <a:xfrm>
            <a:off x="2377440" y="1600200"/>
            <a:ext cx="7315200" cy="457200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deldir() on real median jump-shot locations (&gt;10 ft from rim), PbP.BDB, BasketballAnalyzeR.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Whose Region Would You Expect to Shrink?</a:t>
            </a:r>
            <a:endParaRPr lang="en-US" sz="26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Small groups (3-4 students).</a:t>
            </a:r>
            <a:endParaRPr lang="en-US" sz="1500" dirty="0"/>
          </a:p>
          <a:p>
            <a:pPr indent="0" marL="0">
              <a:lnSpc>
                <a:spcPct val="135000"/>
              </a:lnSpc>
              <a:buNone/>
            </a:pP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1. If a new player joined this roster with a real median jump-shot location near Stephen Curry's, whose real Voronoi region would shrink the most?</a:t>
            </a:r>
            <a:endParaRPr lang="en-US" sz="1500" dirty="0"/>
          </a:p>
          <a:p>
            <a:pPr indent="0" marL="0">
              <a:lnSpc>
                <a:spcPct val="135000"/>
              </a:lnSpc>
              <a:buNone/>
            </a:pPr>
            <a:r>
              <a:rPr lang="en-US" sz="1500" dirty="0">
                <a:solidFill>
                  <a:srgbClr val="16213E"/>
                </a:solidFill>
                <a:latin typeface="Calibri" pitchFamily="34" charset="0"/>
                <a:ea typeface="Calibri" pitchFamily="34" charset="-122"/>
                <a:cs typeface="Calibri" pitchFamily="34" charset="-120"/>
              </a:rPr>
              <a:t>2. Would that change tell you anything real about the two players' shooting, or only about where they happen to stand?</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2</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Voronoi Tessellation, Covered</a:t>
            </a:r>
            <a:endParaRPr lang="en-US" sz="30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a real Voronoi map from median jump-shot locations and saw a spatial version of the star-versus-role-player pattern.</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Segment 3 looks inside a player's own territory at the full shape of their shot distribution, then asks what real Gravity would add.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74320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10-Minute Break</a:t>
            </a:r>
            <a:endParaRPr lang="en-US" sz="4000" dirty="0"/>
          </a:p>
        </p:txBody>
      </p:sp>
      <p:sp>
        <p:nvSpPr>
          <p:cNvPr id="3" name="Text 1"/>
          <p:cNvSpPr txBox="1"/>
          <p:nvPr/>
        </p:nvSpPr>
        <p:spPr>
          <a:xfrm>
            <a:off x="548640" y="3657600"/>
            <a:ext cx="11091672" cy="548640"/>
          </a:xfrm>
          <a:prstGeom prst="rect">
            <a:avLst/>
          </a:prstGeom>
          <a:noFill/>
          <a:ln/>
        </p:spPr>
        <p:txBody>
          <a:bodyPr wrap="square" lIns="0" tIns="0" rIns="0" bIns="0" rtlCol="0" anchor="ctr"/>
          <a:lstStyle/>
          <a:p>
            <a:pPr indent="0" marL="0">
              <a:buNone/>
            </a:pPr>
            <a:r>
              <a:rPr lang="en-US" sz="1600" dirty="0">
                <a:solidFill>
                  <a:srgbClr val="AEBBD1"/>
                </a:solidFill>
                <a:latin typeface="Calibri" pitchFamily="34" charset="0"/>
                <a:ea typeface="Calibri" pitchFamily="34" charset="-122"/>
                <a:cs typeface="Calibri" pitchFamily="34" charset="-120"/>
              </a:rPr>
              <a:t>Back at the top of the hour. Next: spatial distribution and real Gravity.</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Inside the Hull: Where Do Shots Concentrate?</a:t>
            </a:r>
            <a:endParaRPr lang="en-US" sz="2800" dirty="0"/>
          </a:p>
        </p:txBody>
      </p:sp>
      <p:sp>
        <p:nvSpPr>
          <p:cNvPr id="4" name="Shape 2"/>
          <p:cNvSpPr/>
          <p:nvPr/>
        </p:nvSpPr>
        <p:spPr>
          <a:xfrm>
            <a:off x="548640" y="2103120"/>
            <a:ext cx="11091672" cy="1554480"/>
          </a:xfrm>
          <a:prstGeom prst="roundRect">
            <a:avLst>
              <a:gd name="adj" fmla="val 3529"/>
            </a:avLst>
          </a:prstGeom>
          <a:solidFill>
            <a:srgbClr val="EDF1F7"/>
          </a:solidFill>
          <a:ln/>
        </p:spPr>
      </p:sp>
      <p:sp>
        <p:nvSpPr>
          <p:cNvPr id="5" name="Text 3"/>
          <p:cNvSpPr txBox="1"/>
          <p:nvPr/>
        </p:nvSpPr>
        <p:spPr>
          <a:xfrm>
            <a:off x="914400" y="2377440"/>
            <a:ext cx="10360152" cy="1097280"/>
          </a:xfrm>
          <a:prstGeom prst="rect">
            <a:avLst/>
          </a:prstGeom>
          <a:noFill/>
          <a:ln/>
        </p:spPr>
        <p:txBody>
          <a:bodyPr wrap="square" lIns="0" tIns="0" rIns="0" bIns="0" rtlCol="0" anchor="ctr"/>
          <a:lstStyle/>
          <a:p>
            <a:pPr indent="0" marL="0">
              <a:lnSpc>
                <a:spcPct val="125000"/>
              </a:lnSpc>
              <a:buNone/>
            </a:pPr>
            <a:r>
              <a:rPr lang="en-US" sz="1600" dirty="0">
                <a:solidFill>
                  <a:srgbClr val="16213E"/>
                </a:solidFill>
                <a:latin typeface="Calibri" pitchFamily="34" charset="0"/>
                <a:ea typeface="Calibri" pitchFamily="34" charset="-122"/>
                <a:cs typeface="Calibri" pitchFamily="34" charset="-120"/>
              </a:rPr>
              <a:t>A convex hull tells you the boundary of where a player shoots. It does not tell you where, inside that boundary, they shoot most often. A two-dimensional kernel density estimate fills in that missing shape.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7496D"/>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LET'S RUN THIS TOGETHER</a:t>
            </a:r>
            <a:endParaRPr lang="en-US" sz="1300" dirty="0"/>
          </a:p>
        </p:txBody>
      </p:sp>
      <p:sp>
        <p:nvSpPr>
          <p:cNvPr id="3" name="Text 1"/>
          <p:cNvSpPr txBox="1"/>
          <p:nvPr/>
        </p:nvSpPr>
        <p:spPr>
          <a:xfrm>
            <a:off x="548640" y="2377440"/>
            <a:ext cx="11091672" cy="14630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Let's build the real kernel density comparison together.</a:t>
            </a:r>
            <a:endParaRPr lang="en-US" sz="3000" dirty="0"/>
          </a:p>
        </p:txBody>
      </p:sp>
      <p:sp>
        <p:nvSpPr>
          <p:cNvPr id="4" name="Text 2"/>
          <p:cNvSpPr txBox="1"/>
          <p:nvPr/>
        </p:nvSpPr>
        <p:spPr>
          <a:xfrm>
            <a:off x="548640" y="3931920"/>
            <a:ext cx="11091672" cy="54864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Pull up your own session. We'll run it line by line and look at the real output together.</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WORKED EXAMPLE, STEP 4</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400" b="1" dirty="0">
                <a:solidFill>
                  <a:srgbClr val="16213E"/>
                </a:solidFill>
                <a:latin typeface="Cambria" pitchFamily="34" charset="0"/>
                <a:ea typeface="Cambria" pitchFamily="34" charset="-122"/>
                <a:cs typeface="Cambria" pitchFamily="34" charset="-120"/>
              </a:rPr>
              <a:t>Real Spatial Shot Distribution: Curry vs. McGee</a:t>
            </a:r>
            <a:endParaRPr lang="en-US" sz="2400" dirty="0"/>
          </a:p>
        </p:txBody>
      </p:sp>
      <p:pic>
        <p:nvPicPr>
          <p:cNvPr id="4" name="Image 0" descr="module5_kernel_density.png">    </p:cNvPr>
          <p:cNvPicPr>
            <a:picLocks noChangeAspect="1"/>
          </p:cNvPicPr>
          <p:nvPr/>
        </p:nvPicPr>
        <p:blipFill>
          <a:blip r:embed="rId1"/>
          <a:stretch>
            <a:fillRect/>
          </a:stretch>
        </p:blipFill>
        <p:spPr>
          <a:xfrm>
            <a:off x="914400" y="1737360"/>
            <a:ext cx="10332720" cy="4389120"/>
          </a:xfrm>
          <a:prstGeom prst="rect">
            <a:avLst/>
          </a:prstGeom>
        </p:spPr>
      </p:pic>
      <p:sp>
        <p:nvSpPr>
          <p:cNvPr id="5" name="Text 2"/>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kde2d() on real shot coordinates, normalized to each player's own peak, PbP.BDB, BasketballAnalyzeR.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NBA's Real Gravity Stat</a:t>
            </a:r>
            <a:endParaRPr lang="en-US" sz="30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331720"/>
            <a:ext cx="10360152" cy="118872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"Gravity" quantifies how much defensive attention a player draws, on and off the ball, using 3D pose detection tracking 29 points on every player's body, 60 times per second.</a:t>
            </a:r>
            <a:endParaRPr lang="en-US" sz="1600" dirty="0"/>
          </a:p>
        </p:txBody>
      </p:sp>
      <p:sp>
        <p:nvSpPr>
          <p:cNvPr id="6" name="Text 4"/>
          <p:cNvSpPr txBox="1"/>
          <p:nvPr/>
        </p:nvSpPr>
        <p:spPr>
          <a:xfrm>
            <a:off x="914400" y="3566160"/>
            <a:ext cx="10360152" cy="1463040"/>
          </a:xfrm>
          <a:prstGeom prst="rect">
            <a:avLst/>
          </a:prstGeom>
          <a:noFill/>
          <a:ln/>
        </p:spPr>
        <p:txBody>
          <a:bodyPr wrap="square" lIns="0" tIns="0" rIns="0" bIns="0" rtlCol="0" anchor="ctr"/>
          <a:lstStyle/>
          <a:p>
            <a:pPr indent="0" marL="0">
              <a:lnSpc>
                <a:spcPct val="130000"/>
              </a:lnSpc>
              <a:buNone/>
            </a:pPr>
            <a:r>
              <a:rPr lang="en-US" sz="1500" i="1" dirty="0">
                <a:solidFill>
                  <a:srgbClr val="AEBBD1"/>
                </a:solidFill>
                <a:latin typeface="Calibri" pitchFamily="34" charset="0"/>
                <a:ea typeface="Calibri" pitchFamily="34" charset="-122"/>
                <a:cs typeface="Calibri" pitchFamily="34" charset="-120"/>
              </a:rPr>
              <a:t>That is real, official, frame-by-frame tracking data. It is genuinely out of reach of the event-level shot data this module works with, and this course does not have access to it.</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Real Technology Behind Gravity</a:t>
            </a:r>
            <a:endParaRPr lang="en-US" sz="2800" dirty="0"/>
          </a:p>
        </p:txBody>
      </p:sp>
      <p:sp>
        <p:nvSpPr>
          <p:cNvPr id="3" name="Text 1"/>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WATCH</a:t>
            </a:r>
            <a:endParaRPr lang="en-US" sz="1300" dirty="0"/>
          </a:p>
        </p:txBody>
      </p:sp>
      <p:sp>
        <p:nvSpPr>
          <p:cNvPr id="4" name="Shape 2"/>
          <p:cNvSpPr/>
          <p:nvPr/>
        </p:nvSpPr>
        <p:spPr>
          <a:xfrm>
            <a:off x="548640" y="1965960"/>
            <a:ext cx="11091672" cy="3200400"/>
          </a:xfrm>
          <a:prstGeom prst="roundRect">
            <a:avLst>
              <a:gd name="adj" fmla="val 1714"/>
            </a:avLst>
          </a:prstGeom>
          <a:solidFill>
            <a:srgbClr val="0B1D33"/>
          </a:solidFill>
          <a:ln/>
        </p:spPr>
      </p:sp>
      <p:sp>
        <p:nvSpPr>
          <p:cNvPr id="5" name="Shape 3"/>
          <p:cNvSpPr/>
          <p:nvPr/>
        </p:nvSpPr>
        <p:spPr>
          <a:xfrm>
            <a:off x="1005840" y="2331720"/>
            <a:ext cx="3291840" cy="2468880"/>
          </a:xfrm>
          <a:prstGeom prst="roundRect">
            <a:avLst>
              <a:gd name="adj" fmla="val 2963"/>
            </a:avLst>
          </a:prstGeom>
          <a:solidFill>
            <a:srgbClr val="1B2A44"/>
          </a:solidFill>
          <a:ln w="25400">
            <a:solidFill>
              <a:srgbClr val="E4572E"/>
            </a:solidFill>
            <a:prstDash val="solid"/>
          </a:ln>
        </p:spPr>
      </p:sp>
      <p:sp>
        <p:nvSpPr>
          <p:cNvPr id="6" name="Shape 4"/>
          <p:cNvSpPr/>
          <p:nvPr/>
        </p:nvSpPr>
        <p:spPr>
          <a:xfrm rot="5400000">
            <a:off x="2240280" y="3337560"/>
            <a:ext cx="822960" cy="457200"/>
          </a:xfrm>
          <a:prstGeom prst="triangle">
            <a:avLst/>
          </a:prstGeom>
          <a:solidFill>
            <a:srgbClr val="FFFFFF"/>
          </a:solidFill>
          <a:ln/>
        </p:spPr>
      </p:sp>
      <p:sp>
        <p:nvSpPr>
          <p:cNvPr id="7" name="Text 5"/>
          <p:cNvSpPr txBox="1"/>
          <p:nvPr/>
        </p:nvSpPr>
        <p:spPr>
          <a:xfrm>
            <a:off x="4572000" y="2331720"/>
            <a:ext cx="6611112" cy="914400"/>
          </a:xfrm>
          <a:prstGeom prst="rect">
            <a:avLst/>
          </a:prstGeom>
          <a:noFill/>
          <a:ln/>
        </p:spPr>
        <p:txBody>
          <a:bodyPr wrap="square" lIns="0" tIns="0" rIns="0" bIns="0" rtlCol="0" anchor="t"/>
          <a:lstStyle/>
          <a:p>
            <a:pPr indent="0" marL="0">
              <a:buNone/>
            </a:pPr>
            <a:r>
              <a:rPr lang="en-US" sz="1900" b="1" dirty="0">
                <a:solidFill>
                  <a:srgbClr val="FFFFFF"/>
                </a:solidFill>
                <a:latin typeface="Cambria" pitchFamily="34" charset="0"/>
                <a:ea typeface="Cambria" pitchFamily="34" charset="-122"/>
                <a:cs typeface="Cambria" pitchFamily="34" charset="-120"/>
              </a:rPr>
              <a:t>How AI Cameras Are Deciding NBA Playoff Games: Hawk-Eye and the Rise of Computer Vision in Sports</a:t>
            </a:r>
            <a:endParaRPr lang="en-US" sz="1900" dirty="0"/>
          </a:p>
        </p:txBody>
      </p:sp>
      <p:sp>
        <p:nvSpPr>
          <p:cNvPr id="8" name="Text 6"/>
          <p:cNvSpPr txBox="1"/>
          <p:nvPr/>
        </p:nvSpPr>
        <p:spPr>
          <a:xfrm>
            <a:off x="4572000" y="3200400"/>
            <a:ext cx="6611112" cy="365760"/>
          </a:xfrm>
          <a:prstGeom prst="rect">
            <a:avLst/>
          </a:prstGeom>
          <a:noFill/>
          <a:ln/>
        </p:spPr>
        <p:txBody>
          <a:bodyPr wrap="square" lIns="0" tIns="0" rIns="0" bIns="0" rtlCol="0" anchor="ctr"/>
          <a:lstStyle/>
          <a:p>
            <a:pPr indent="0" marL="0">
              <a:buNone/>
            </a:pPr>
            <a:r>
              <a:rPr lang="en-US" sz="1300" i="1" dirty="0">
                <a:solidFill>
                  <a:srgbClr val="AEBBD1"/>
                </a:solidFill>
                <a:latin typeface="Calibri" pitchFamily="34" charset="0"/>
                <a:ea typeface="Calibri" pitchFamily="34" charset="-122"/>
                <a:cs typeface="Calibri" pitchFamily="34" charset="-120"/>
              </a:rPr>
              <a:t>YouTube</a:t>
            </a:r>
            <a:endParaRPr lang="en-US" sz="1300" dirty="0"/>
          </a:p>
        </p:txBody>
      </p:sp>
      <p:sp>
        <p:nvSpPr>
          <p:cNvPr id="9" name="Text 7"/>
          <p:cNvSpPr txBox="1"/>
          <p:nvPr/>
        </p:nvSpPr>
        <p:spPr>
          <a:xfrm>
            <a:off x="4572000" y="3657600"/>
            <a:ext cx="6611112" cy="137160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A real explainer on the NBA's actual optical tracking camera system, the technology base behind both the real Gravity stat and the frame-by-frame data this module's notes explain we do not have direct access to.</a:t>
            </a:r>
            <a:endParaRPr lang="en-US" sz="1300" dirty="0"/>
          </a:p>
        </p:txBody>
      </p:sp>
      <p:sp>
        <p:nvSpPr>
          <p:cNvPr id="10" name="Text 8"/>
          <p:cNvSpPr txBox="1"/>
          <p:nvPr/>
        </p:nvSpPr>
        <p:spPr>
          <a:xfrm>
            <a:off x="4572000" y="4892040"/>
            <a:ext cx="6611112" cy="274320"/>
          </a:xfrm>
          <a:prstGeom prst="rect">
            <a:avLst/>
          </a:prstGeom>
          <a:noFill/>
          <a:ln/>
        </p:spPr>
        <p:txBody>
          <a:bodyPr wrap="square" lIns="0" tIns="0" rIns="0" bIns="0" rtlCol="0" anchor="ctr"/>
          <a:lstStyle/>
          <a:p>
            <a:pPr indent="0" marL="0">
              <a:buNone/>
            </a:pPr>
            <a:r>
              <a:rPr lang="en-US" sz="1000" dirty="0">
                <a:solidFill>
                  <a:srgbClr val="E4572E"/>
                </a:solidFill>
                <a:latin typeface="Calibri" pitchFamily="34" charset="0"/>
                <a:ea typeface="Calibri" pitchFamily="34" charset="-122"/>
                <a:cs typeface="Calibri" pitchFamily="34" charset="-120"/>
              </a:rPr>
              <a:t>https://www.youtube.com/watch?v=mIMeFEA7ZCM</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CONCEPT · A REAL, CURRENT JOURNAL FINDING</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What Real Tracking Data Actually Shows</a:t>
            </a:r>
            <a:endParaRPr lang="en-US" sz="2600" dirty="0"/>
          </a:p>
        </p:txBody>
      </p:sp>
      <p:sp>
        <p:nvSpPr>
          <p:cNvPr id="4" name="Shape 2"/>
          <p:cNvSpPr/>
          <p:nvPr/>
        </p:nvSpPr>
        <p:spPr>
          <a:xfrm>
            <a:off x="548640" y="2103120"/>
            <a:ext cx="11091672" cy="3108960"/>
          </a:xfrm>
          <a:prstGeom prst="roundRect">
            <a:avLst>
              <a:gd name="adj" fmla="val 1765"/>
            </a:avLst>
          </a:prstGeom>
          <a:solidFill>
            <a:srgbClr val="EDF1F7"/>
          </a:solidFill>
          <a:ln/>
        </p:spPr>
      </p:sp>
      <p:sp>
        <p:nvSpPr>
          <p:cNvPr id="5" name="Text 3"/>
          <p:cNvSpPr txBox="1"/>
          <p:nvPr/>
        </p:nvSpPr>
        <p:spPr>
          <a:xfrm>
            <a:off x="914400" y="2377440"/>
            <a:ext cx="10360152" cy="2651760"/>
          </a:xfrm>
          <a:prstGeom prst="rect">
            <a:avLst/>
          </a:prstGeom>
          <a:noFill/>
          <a:ln/>
        </p:spPr>
        <p:txBody>
          <a:bodyPr wrap="square" lIns="0" tIns="0" rIns="0" bIns="0" rtlCol="0" anchor="t"/>
          <a:lstStyle/>
          <a:p>
            <a:pPr indent="0" marL="0">
              <a:lnSpc>
                <a:spcPct val="135000"/>
              </a:lnSpc>
              <a:buNone/>
            </a:pPr>
            <a:r>
              <a:rPr lang="en-US" sz="1600" b="1" dirty="0">
                <a:solidFill>
                  <a:srgbClr val="27496D"/>
                </a:solidFill>
                <a:latin typeface="Calibri" pitchFamily="34" charset="0"/>
                <a:ea typeface="Calibri" pitchFamily="34" charset="-122"/>
                <a:cs typeface="Calibri" pitchFamily="34" charset="-120"/>
              </a:rPr>
              <a:t>Barron, Sitaraman &amp; Arias (2025), Scientific Reports: </a:t>
            </a:r>
            <a:pPr indent="0" marL="0">
              <a:lnSpc>
                <a:spcPct val="135000"/>
              </a:lnSpc>
              <a:buNone/>
            </a:pPr>
            <a:r>
              <a:rPr lang="en-US" sz="1600" dirty="0">
                <a:solidFill>
                  <a:srgbClr val="16213E"/>
                </a:solidFill>
                <a:latin typeface="Calibri" pitchFamily="34" charset="0"/>
                <a:ea typeface="Calibri" pitchFamily="34" charset="-122"/>
                <a:cs typeface="Calibri" pitchFamily="34" charset="-120"/>
              </a:rPr>
              <a:t>adapting density-functional fluctuation theory, a physics method for quantum systems, to real NBA tracking data.
</a:t>
            </a:r>
            <a:pPr indent="0" marL="0">
              <a:lnSpc>
                <a:spcPct val="135000"/>
              </a:lnSpc>
              <a:buNone/>
            </a:pPr>
            <a:r>
              <a:rPr lang="en-US" sz="1600" b="1" dirty="0">
                <a:solidFill>
                  <a:srgbClr val="E4572E"/>
                </a:solidFill>
                <a:latin typeface="Calibri" pitchFamily="34" charset="0"/>
                <a:ea typeface="Calibri" pitchFamily="34" charset="-122"/>
                <a:cs typeface="Calibri" pitchFamily="34" charset="-120"/>
              </a:rPr>
              <a:t>Real finding: </a:t>
            </a:r>
            <a:pPr indent="0" marL="0">
              <a:lnSpc>
                <a:spcPct val="135000"/>
              </a:lnSpc>
              <a:buNone/>
            </a:pPr>
            <a:r>
              <a:rPr lang="en-US" sz="1600" dirty="0">
                <a:solidFill>
                  <a:srgbClr val="16213E"/>
                </a:solidFill>
                <a:latin typeface="Calibri" pitchFamily="34" charset="0"/>
                <a:ea typeface="Calibri" pitchFamily="34" charset="-122"/>
                <a:cs typeface="Calibri" pitchFamily="34" charset="-120"/>
              </a:rPr>
              <a:t>the gap between elite and poor real defensive positioning is worth approximately 3 points saved per game, and real centers defend 2-point shots well but 3-point shots poorly compared to real wings.</a:t>
            </a:r>
            <a:endParaRPr lang="en-US" sz="1600" dirty="0"/>
          </a:p>
        </p:txBody>
      </p:sp>
      <p:sp>
        <p:nvSpPr>
          <p:cNvPr id="6" name="Text 4"/>
          <p:cNvSpPr txBox="1"/>
          <p:nvPr/>
        </p:nvSpPr>
        <p:spPr>
          <a:xfrm>
            <a:off x="548640" y="6355080"/>
            <a:ext cx="11091672" cy="365760"/>
          </a:xfrm>
          <a:prstGeom prst="rect">
            <a:avLst/>
          </a:prstGeom>
          <a:noFill/>
          <a:ln/>
        </p:spPr>
        <p:txBody>
          <a:bodyPr wrap="square" lIns="0" tIns="0" rIns="0" bIns="0" rtlCol="0" anchor="ctr"/>
          <a:lstStyle/>
          <a:p>
            <a:pPr indent="0" marL="0">
              <a:buNone/>
            </a:pPr>
            <a:r>
              <a:rPr lang="en-US" sz="1000" dirty="0">
                <a:solidFill>
                  <a:srgbClr val="6B7A99"/>
                </a:solidFill>
                <a:latin typeface="Calibri" pitchFamily="34" charset="0"/>
                <a:ea typeface="Calibri" pitchFamily="34" charset="-122"/>
                <a:cs typeface="Calibri" pitchFamily="34" charset="-120"/>
              </a:rPr>
              <a:t>Barron, B., Sitaraman, N., &amp; Arias, T. (2025). Scientific Reports. A real, current, peer-reviewed source.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PHD / ADVANCED PROJECT CALLOUT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Where This Leads: Spatial Data and Injury Risk</a:t>
            </a:r>
            <a:endParaRPr lang="en-US" sz="2600" dirty="0"/>
          </a:p>
        </p:txBody>
      </p:sp>
      <p:sp>
        <p:nvSpPr>
          <p:cNvPr id="4" name="Shape 2"/>
          <p:cNvSpPr/>
          <p:nvPr/>
        </p:nvSpPr>
        <p:spPr>
          <a:xfrm>
            <a:off x="548640" y="2103120"/>
            <a:ext cx="11091672" cy="3108960"/>
          </a:xfrm>
          <a:prstGeom prst="roundRect">
            <a:avLst>
              <a:gd name="adj" fmla="val 1765"/>
            </a:avLst>
          </a:prstGeom>
          <a:solidFill>
            <a:srgbClr val="27496D"/>
          </a:solidFill>
          <a:ln/>
        </p:spPr>
      </p:sp>
      <p:sp>
        <p:nvSpPr>
          <p:cNvPr id="5" name="Text 3"/>
          <p:cNvSpPr txBox="1"/>
          <p:nvPr/>
        </p:nvSpPr>
        <p:spPr>
          <a:xfrm>
            <a:off x="914400" y="2377440"/>
            <a:ext cx="10360152" cy="1463040"/>
          </a:xfrm>
          <a:prstGeom prst="rect">
            <a:avLst/>
          </a:prstGeom>
          <a:noFill/>
          <a:ln/>
        </p:spPr>
        <p:txBody>
          <a:bodyPr wrap="square" lIns="0" tIns="0" rIns="0" bIns="0" rtlCol="0" anchor="ctr"/>
          <a:lstStyle/>
          <a:p>
            <a:pPr indent="0" marL="0">
              <a:lnSpc>
                <a:spcPct val="130000"/>
              </a:lnSpc>
              <a:buNone/>
            </a:pPr>
            <a:r>
              <a:rPr lang="en-US" sz="1600" dirty="0">
                <a:solidFill>
                  <a:srgbClr val="FFFFFF"/>
                </a:solidFill>
                <a:latin typeface="Calibri" pitchFamily="34" charset="0"/>
                <a:ea typeface="Calibri" pitchFamily="34" charset="-122"/>
                <a:cs typeface="Calibri" pitchFamily="34" charset="-120"/>
              </a:rPr>
              <a:t>For students doing a larger independent project: the same convex-hull and density tools used here to describe where a player shoots are the same class of tool sports-medicine researchers use to describe how a player moves before connecting that movement pattern to real injury risk.</a:t>
            </a:r>
            <a:endParaRPr lang="en-US" sz="1600" dirty="0"/>
          </a:p>
        </p:txBody>
      </p:sp>
      <p:sp>
        <p:nvSpPr>
          <p:cNvPr id="6" name="Text 4"/>
          <p:cNvSpPr txBox="1"/>
          <p:nvPr/>
        </p:nvSpPr>
        <p:spPr>
          <a:xfrm>
            <a:off x="914400" y="3931920"/>
            <a:ext cx="10360152" cy="1005840"/>
          </a:xfrm>
          <a:prstGeom prst="rect">
            <a:avLst/>
          </a:prstGeom>
          <a:noFill/>
          <a:ln/>
        </p:spPr>
        <p:txBody>
          <a:bodyPr wrap="square" lIns="0" tIns="0" rIns="0" bIns="0" rtlCol="0" anchor="ctr"/>
          <a:lstStyle/>
          <a:p>
            <a:pPr indent="0" marL="0">
              <a:lnSpc>
                <a:spcPct val="130000"/>
              </a:lnSpc>
              <a:buNone/>
            </a:pPr>
            <a:r>
              <a:rPr lang="en-US" sz="1400" i="1" dirty="0">
                <a:solidFill>
                  <a:srgbClr val="AEBBD1"/>
                </a:solidFill>
                <a:latin typeface="Calibri" pitchFamily="34" charset="0"/>
                <a:ea typeface="Calibri" pitchFamily="34" charset="-122"/>
                <a:cs typeface="Calibri" pitchFamily="34" charset="-120"/>
              </a:rPr>
              <a:t>Module 10's signature research track (Muritala, Brown &amp; Haller 2026; West et al. 2026; Kanwal et al. 2025) picks this thread back up in depth.</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27496D"/>
                </a:solidFill>
                <a:latin typeface="Calibri" pitchFamily="34" charset="0"/>
                <a:ea typeface="Calibri" pitchFamily="34" charset="-122"/>
                <a:cs typeface="Calibri" pitchFamily="34" charset="-120"/>
              </a:rPr>
              <a:t>THROUGHLINE · POSITIONING &amp; SPATIAL ANALYSIS</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The Court as Data, Not Backdrop</a:t>
            </a:r>
            <a:endParaRPr lang="en-US" sz="2800" dirty="0"/>
          </a:p>
        </p:txBody>
      </p:sp>
      <p:sp>
        <p:nvSpPr>
          <p:cNvPr id="4" name="Shape 2"/>
          <p:cNvSpPr/>
          <p:nvPr/>
        </p:nvSpPr>
        <p:spPr>
          <a:xfrm>
            <a:off x="548640" y="1920240"/>
            <a:ext cx="54864" cy="2926080"/>
          </a:xfrm>
          <a:prstGeom prst="rect">
            <a:avLst/>
          </a:prstGeom>
          <a:solidFill>
            <a:srgbClr val="27496D"/>
          </a:solidFill>
          <a:ln/>
        </p:spPr>
      </p:sp>
      <p:sp>
        <p:nvSpPr>
          <p:cNvPr id="5" name="Text 3"/>
          <p:cNvSpPr txBox="1"/>
          <p:nvPr/>
        </p:nvSpPr>
        <p:spPr>
          <a:xfrm>
            <a:off x="914400" y="2011680"/>
            <a:ext cx="10725912" cy="365760"/>
          </a:xfrm>
          <a:prstGeom prst="rect">
            <a:avLst/>
          </a:prstGeom>
          <a:noFill/>
          <a:ln/>
        </p:spPr>
        <p:txBody>
          <a:bodyPr wrap="square" lIns="0" tIns="0" rIns="0" bIns="0" rtlCol="0" anchor="ctr"/>
          <a:lstStyle/>
          <a:p>
            <a:pPr indent="0" marL="0">
              <a:buNone/>
            </a:pPr>
            <a:r>
              <a:rPr lang="en-US" sz="1300" b="1" dirty="0">
                <a:solidFill>
                  <a:srgbClr val="27496D"/>
                </a:solidFill>
                <a:latin typeface="Calibri" pitchFamily="34" charset="0"/>
                <a:ea typeface="Calibri" pitchFamily="34" charset="-122"/>
                <a:cs typeface="Calibri" pitchFamily="34" charset="-120"/>
              </a:rPr>
              <a:t>The question:</a:t>
            </a:r>
            <a:endParaRPr lang="en-US" sz="1300" dirty="0"/>
          </a:p>
        </p:txBody>
      </p:sp>
      <p:sp>
        <p:nvSpPr>
          <p:cNvPr id="6" name="Text 4"/>
          <p:cNvSpPr txBox="1"/>
          <p:nvPr/>
        </p:nvSpPr>
        <p:spPr>
          <a:xfrm>
            <a:off x="914400" y="2377440"/>
            <a:ext cx="10725912" cy="822960"/>
          </a:xfrm>
          <a:prstGeom prst="rect">
            <a:avLst/>
          </a:prstGeom>
          <a:noFill/>
          <a:ln/>
        </p:spPr>
        <p:txBody>
          <a:bodyPr wrap="square" lIns="0" tIns="0" rIns="0" bIns="0" rtlCol="0" anchor="t"/>
          <a:lstStyle/>
          <a:p>
            <a:pPr indent="0" marL="0">
              <a:lnSpc>
                <a:spcPct val="125000"/>
              </a:lnSpc>
              <a:buNone/>
            </a:pPr>
            <a:r>
              <a:rPr lang="en-US" sz="1700" i="1" dirty="0">
                <a:solidFill>
                  <a:srgbClr val="16213E"/>
                </a:solidFill>
                <a:latin typeface="Calibri" pitchFamily="34" charset="0"/>
                <a:ea typeface="Calibri" pitchFamily="34" charset="-122"/>
                <a:cs typeface="Calibri" pitchFamily="34" charset="-120"/>
              </a:rPr>
              <a:t>Whether where a player operates on the real court reveals something a box score number cannot.</a:t>
            </a:r>
            <a:endParaRPr lang="en-US" sz="1700" dirty="0"/>
          </a:p>
        </p:txBody>
      </p:sp>
      <p:sp>
        <p:nvSpPr>
          <p:cNvPr id="7" name="Text 5"/>
          <p:cNvSpPr txBox="1"/>
          <p:nvPr/>
        </p:nvSpPr>
        <p:spPr>
          <a:xfrm>
            <a:off x="914400" y="3383280"/>
            <a:ext cx="10725912" cy="137160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Spatial dynamics is where basketball analytics stops treating the court as a backdrop and starts treating it as data. Module 6 goes further, into the athletic motion and pose-estimation techniques that produce real tracking data in the first place.</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PRACTICE</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800" b="1" dirty="0">
                <a:solidFill>
                  <a:srgbClr val="16213E"/>
                </a:solidFill>
                <a:latin typeface="Cambria" pitchFamily="34" charset="0"/>
                <a:ea typeface="Cambria" pitchFamily="34" charset="-122"/>
                <a:cs typeface="Cambria" pitchFamily="34" charset="-120"/>
              </a:rPr>
              <a:t>Read the Real Density Plot Again</a:t>
            </a:r>
            <a:endParaRPr lang="en-US" sz="2800" dirty="0"/>
          </a:p>
        </p:txBody>
      </p:sp>
      <p:sp>
        <p:nvSpPr>
          <p:cNvPr id="4" name="Shape 2"/>
          <p:cNvSpPr/>
          <p:nvPr/>
        </p:nvSpPr>
        <p:spPr>
          <a:xfrm>
            <a:off x="548640" y="2103120"/>
            <a:ext cx="11091672" cy="2377440"/>
          </a:xfrm>
          <a:prstGeom prst="roundRect">
            <a:avLst>
              <a:gd name="adj" fmla="val 2308"/>
            </a:avLst>
          </a:prstGeom>
          <a:solidFill>
            <a:srgbClr val="EDF1F7"/>
          </a:solidFill>
          <a:ln/>
        </p:spPr>
      </p:sp>
      <p:sp>
        <p:nvSpPr>
          <p:cNvPr id="5" name="Text 3"/>
          <p:cNvSpPr txBox="1"/>
          <p:nvPr/>
        </p:nvSpPr>
        <p:spPr>
          <a:xfrm>
            <a:off x="914400" y="2377440"/>
            <a:ext cx="10360152" cy="1828800"/>
          </a:xfrm>
          <a:prstGeom prst="rect">
            <a:avLst/>
          </a:prstGeom>
          <a:noFill/>
          <a:ln/>
        </p:spPr>
        <p:txBody>
          <a:bodyPr wrap="square" lIns="0" tIns="0" rIns="0" bIns="0" rtlCol="0" anchor="ctr"/>
          <a:lstStyle/>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Look back at the Curry-versus-McGee kernel density image.</a:t>
            </a:r>
            <a:endParaRPr lang="en-US" sz="1600" dirty="0"/>
          </a:p>
          <a:p>
            <a:pPr indent="0" marL="0">
              <a:lnSpc>
                <a:spcPct val="140000"/>
              </a:lnSpc>
              <a:buNone/>
            </a:pP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1. Estimate, just from the shapes, which player's real shots concentrate in a smaller area.</a:t>
            </a:r>
            <a:endParaRPr lang="en-US" sz="1600" dirty="0"/>
          </a:p>
          <a:p>
            <a:pPr indent="0" marL="0">
              <a:lnSpc>
                <a:spcPct val="140000"/>
              </a:lnSpc>
              <a:buNone/>
            </a:pPr>
            <a:r>
              <a:rPr lang="en-US" sz="1600" dirty="0">
                <a:solidFill>
                  <a:srgbClr val="16213E"/>
                </a:solidFill>
                <a:latin typeface="Calibri" pitchFamily="34" charset="0"/>
                <a:ea typeface="Calibri" pitchFamily="34" charset="-122"/>
                <a:cs typeface="Calibri" pitchFamily="34" charset="-120"/>
              </a:rPr>
              <a:t>2. Now check your estimate against the real mean-distance numbers (Curry 18.9 ft, McGee 5.0 ft). How close were you?</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INTERACTIVE ACTIVITY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600" b="1" dirty="0">
                <a:solidFill>
                  <a:srgbClr val="16213E"/>
                </a:solidFill>
                <a:latin typeface="Cambria" pitchFamily="34" charset="0"/>
                <a:ea typeface="Cambria" pitchFamily="34" charset="-122"/>
                <a:cs typeface="Cambria" pitchFamily="34" charset="-120"/>
              </a:rPr>
              <a:t>Does This Module's Data Prove "Gravity"?</a:t>
            </a:r>
            <a:endParaRPr lang="en-US" sz="2600" dirty="0"/>
          </a:p>
        </p:txBody>
      </p:sp>
      <p:sp>
        <p:nvSpPr>
          <p:cNvPr id="4" name="Shape 2"/>
          <p:cNvSpPr/>
          <p:nvPr/>
        </p:nvSpPr>
        <p:spPr>
          <a:xfrm>
            <a:off x="548640" y="2103120"/>
            <a:ext cx="5362956" cy="2834640"/>
          </a:xfrm>
          <a:prstGeom prst="roundRect">
            <a:avLst>
              <a:gd name="adj" fmla="val 1935"/>
            </a:avLst>
          </a:prstGeom>
          <a:solidFill>
            <a:srgbClr val="EDF1F7"/>
          </a:solidFill>
          <a:ln/>
        </p:spPr>
      </p:sp>
      <p:sp>
        <p:nvSpPr>
          <p:cNvPr id="5" name="Text 3"/>
          <p:cNvSpPr txBox="1"/>
          <p:nvPr/>
        </p:nvSpPr>
        <p:spPr>
          <a:xfrm>
            <a:off x="822960"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Case for: yes, enough</a:t>
            </a:r>
            <a:endParaRPr lang="en-US" sz="1500" dirty="0"/>
          </a:p>
        </p:txBody>
      </p:sp>
      <p:sp>
        <p:nvSpPr>
          <p:cNvPr id="6" name="Text 4"/>
          <p:cNvSpPr txBox="1"/>
          <p:nvPr/>
        </p:nvSpPr>
        <p:spPr>
          <a:xfrm>
            <a:off x="822960"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 real shot territory and real Voronoi region this large necessarily forces defenders to cover more ground, which is functionally the same thing Gravity measures.</a:t>
            </a:r>
            <a:endParaRPr lang="en-US" sz="1400" dirty="0"/>
          </a:p>
        </p:txBody>
      </p:sp>
      <p:sp>
        <p:nvSpPr>
          <p:cNvPr id="7" name="Shape 5"/>
          <p:cNvSpPr/>
          <p:nvPr/>
        </p:nvSpPr>
        <p:spPr>
          <a:xfrm>
            <a:off x="6277356" y="2103120"/>
            <a:ext cx="5362956" cy="2834640"/>
          </a:xfrm>
          <a:prstGeom prst="roundRect">
            <a:avLst>
              <a:gd name="adj" fmla="val 1935"/>
            </a:avLst>
          </a:prstGeom>
          <a:solidFill>
            <a:srgbClr val="EDF1F7"/>
          </a:solidFill>
          <a:ln/>
        </p:spPr>
      </p:sp>
      <p:sp>
        <p:nvSpPr>
          <p:cNvPr id="8" name="Text 6"/>
          <p:cNvSpPr txBox="1"/>
          <p:nvPr/>
        </p:nvSpPr>
        <p:spPr>
          <a:xfrm>
            <a:off x="6551676" y="2331720"/>
            <a:ext cx="4814316" cy="457200"/>
          </a:xfrm>
          <a:prstGeom prst="rect">
            <a:avLst/>
          </a:prstGeom>
          <a:noFill/>
          <a:ln/>
        </p:spPr>
        <p:txBody>
          <a:bodyPr wrap="square" lIns="0" tIns="0" rIns="0" bIns="0" rtlCol="0" anchor="ctr"/>
          <a:lstStyle/>
          <a:p>
            <a:pPr indent="0" marL="0">
              <a:buNone/>
            </a:pPr>
            <a:r>
              <a:rPr lang="en-US" sz="1500" b="1" dirty="0">
                <a:solidFill>
                  <a:srgbClr val="16213E"/>
                </a:solidFill>
                <a:latin typeface="Cambria" pitchFamily="34" charset="0"/>
                <a:ea typeface="Cambria" pitchFamily="34" charset="-122"/>
                <a:cs typeface="Cambria" pitchFamily="34" charset="-120"/>
              </a:rPr>
              <a:t>Case for: no, not enough</a:t>
            </a:r>
            <a:endParaRPr lang="en-US" sz="1500" dirty="0"/>
          </a:p>
        </p:txBody>
      </p:sp>
      <p:sp>
        <p:nvSpPr>
          <p:cNvPr id="9" name="Text 7"/>
          <p:cNvSpPr txBox="1"/>
          <p:nvPr/>
        </p:nvSpPr>
        <p:spPr>
          <a:xfrm>
            <a:off x="6551676" y="283464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Shot location only shows where a player ends up shooting, not how defenders actually reacted before the shot. Real Gravity needs real tracking data to confirm defensive attention directly.</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RECAP · SEGMENT 3</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2700" b="1" dirty="0">
                <a:solidFill>
                  <a:srgbClr val="16213E"/>
                </a:solidFill>
                <a:latin typeface="Cambria" pitchFamily="34" charset="0"/>
                <a:ea typeface="Cambria" pitchFamily="34" charset="-122"/>
                <a:cs typeface="Cambria" pitchFamily="34" charset="-120"/>
              </a:rPr>
              <a:t>Spatial Distribution and Real Gravity, Covered</a:t>
            </a:r>
            <a:endParaRPr lang="en-US" sz="2700" dirty="0"/>
          </a:p>
        </p:txBody>
      </p:sp>
      <p:sp>
        <p:nvSpPr>
          <p:cNvPr id="4" name="Shape 2"/>
          <p:cNvSpPr/>
          <p:nvPr/>
        </p:nvSpPr>
        <p:spPr>
          <a:xfrm>
            <a:off x="548640" y="2011680"/>
            <a:ext cx="5362956" cy="2651760"/>
          </a:xfrm>
          <a:prstGeom prst="roundRect">
            <a:avLst>
              <a:gd name="adj" fmla="val 2069"/>
            </a:avLst>
          </a:prstGeom>
          <a:solidFill>
            <a:srgbClr val="EDF1F7"/>
          </a:solidFill>
          <a:ln/>
        </p:spPr>
      </p:sp>
      <p:sp>
        <p:nvSpPr>
          <p:cNvPr id="5" name="Text 3"/>
          <p:cNvSpPr txBox="1"/>
          <p:nvPr/>
        </p:nvSpPr>
        <p:spPr>
          <a:xfrm>
            <a:off x="822960"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Covered</a:t>
            </a:r>
            <a:endParaRPr lang="en-US" sz="1300" dirty="0"/>
          </a:p>
        </p:txBody>
      </p:sp>
      <p:sp>
        <p:nvSpPr>
          <p:cNvPr id="6" name="Text 4"/>
          <p:cNvSpPr txBox="1"/>
          <p:nvPr/>
        </p:nvSpPr>
        <p:spPr>
          <a:xfrm>
            <a:off x="822960"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Built real kernel density comparisons, learned the NBA's own real Gravity stat, and saw what a real 2025 tracking-based paper actually found.</a:t>
            </a:r>
            <a:endParaRPr lang="en-US" sz="1400" dirty="0"/>
          </a:p>
        </p:txBody>
      </p:sp>
      <p:sp>
        <p:nvSpPr>
          <p:cNvPr id="7" name="Shape 5"/>
          <p:cNvSpPr/>
          <p:nvPr/>
        </p:nvSpPr>
        <p:spPr>
          <a:xfrm>
            <a:off x="6277356" y="2011680"/>
            <a:ext cx="5362956" cy="2651760"/>
          </a:xfrm>
          <a:prstGeom prst="roundRect">
            <a:avLst>
              <a:gd name="adj" fmla="val 2069"/>
            </a:avLst>
          </a:prstGeom>
          <a:solidFill>
            <a:srgbClr val="EDF1F7"/>
          </a:solidFill>
          <a:ln/>
        </p:spPr>
      </p:sp>
      <p:sp>
        <p:nvSpPr>
          <p:cNvPr id="8" name="Text 6"/>
          <p:cNvSpPr txBox="1"/>
          <p:nvPr/>
        </p:nvSpPr>
        <p:spPr>
          <a:xfrm>
            <a:off x="6551676" y="224028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Next</a:t>
            </a:r>
            <a:endParaRPr lang="en-US" sz="1300" dirty="0"/>
          </a:p>
        </p:txBody>
      </p:sp>
      <p:sp>
        <p:nvSpPr>
          <p:cNvPr id="9" name="Text 7"/>
          <p:cNvSpPr txBox="1"/>
          <p:nvPr/>
        </p:nvSpPr>
        <p:spPr>
          <a:xfrm>
            <a:off x="6551676" y="2651760"/>
            <a:ext cx="4814316" cy="182880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Module 6 moves from static shot locations to the computer-vision techniques that produce real tracking data: pose estimation.</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SUMMARY</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What to Carry Forward</a:t>
            </a:r>
            <a:endParaRPr lang="en-US" sz="3000" dirty="0"/>
          </a:p>
        </p:txBody>
      </p:sp>
      <p:sp>
        <p:nvSpPr>
          <p:cNvPr id="4" name="Shape 2"/>
          <p:cNvSpPr/>
          <p:nvPr/>
        </p:nvSpPr>
        <p:spPr>
          <a:xfrm>
            <a:off x="548640" y="2011680"/>
            <a:ext cx="164592" cy="164592"/>
          </a:xfrm>
          <a:prstGeom prst="rect">
            <a:avLst/>
          </a:prstGeom>
          <a:solidFill>
            <a:srgbClr val="27496D"/>
          </a:solidFill>
          <a:ln/>
        </p:spPr>
      </p:sp>
      <p:sp>
        <p:nvSpPr>
          <p:cNvPr id="5" name="Text 3"/>
          <p:cNvSpPr txBox="1"/>
          <p:nvPr/>
        </p:nvSpPr>
        <p:spPr>
          <a:xfrm>
            <a:off x="914400" y="18745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Convex hulls map a player's real shot territory; hull area is a real measure of floor coverage, separate from shot volume.</a:t>
            </a:r>
            <a:endParaRPr lang="en-US" sz="1500" dirty="0"/>
          </a:p>
        </p:txBody>
      </p:sp>
      <p:sp>
        <p:nvSpPr>
          <p:cNvPr id="6" name="Shape 4"/>
          <p:cNvSpPr/>
          <p:nvPr/>
        </p:nvSpPr>
        <p:spPr>
          <a:xfrm>
            <a:off x="548640" y="2926080"/>
            <a:ext cx="164592" cy="164592"/>
          </a:xfrm>
          <a:prstGeom prst="rect">
            <a:avLst/>
          </a:prstGeom>
          <a:solidFill>
            <a:srgbClr val="E4572E"/>
          </a:solidFill>
          <a:ln/>
        </p:spPr>
      </p:sp>
      <p:sp>
        <p:nvSpPr>
          <p:cNvPr id="7" name="Text 5"/>
          <p:cNvSpPr txBox="1"/>
          <p:nvPr/>
        </p:nvSpPr>
        <p:spPr>
          <a:xfrm>
            <a:off x="914400" y="27889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Voronoi tessellation divides the real floor by shooting tendency; region size reflects how far a player's real median location sits from teammates', not just shot count.</a:t>
            </a:r>
            <a:endParaRPr lang="en-US" sz="1500" dirty="0"/>
          </a:p>
        </p:txBody>
      </p:sp>
      <p:sp>
        <p:nvSpPr>
          <p:cNvPr id="8" name="Shape 6"/>
          <p:cNvSpPr/>
          <p:nvPr/>
        </p:nvSpPr>
        <p:spPr>
          <a:xfrm>
            <a:off x="548640" y="3840480"/>
            <a:ext cx="164592" cy="164592"/>
          </a:xfrm>
          <a:prstGeom prst="rect">
            <a:avLst/>
          </a:prstGeom>
          <a:solidFill>
            <a:srgbClr val="27496D"/>
          </a:solidFill>
          <a:ln/>
        </p:spPr>
      </p:sp>
      <p:sp>
        <p:nvSpPr>
          <p:cNvPr id="9" name="Text 7"/>
          <p:cNvSpPr txBox="1"/>
          <p:nvPr/>
        </p:nvSpPr>
        <p:spPr>
          <a:xfrm>
            <a:off x="914400" y="37033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Kernel density reveals the full real shape of a shot distribution, not just its average location.</a:t>
            </a:r>
            <a:endParaRPr lang="en-US" sz="1500" dirty="0"/>
          </a:p>
        </p:txBody>
      </p:sp>
      <p:sp>
        <p:nvSpPr>
          <p:cNvPr id="10" name="Shape 8"/>
          <p:cNvSpPr/>
          <p:nvPr/>
        </p:nvSpPr>
        <p:spPr>
          <a:xfrm>
            <a:off x="548640" y="4754880"/>
            <a:ext cx="164592" cy="164592"/>
          </a:xfrm>
          <a:prstGeom prst="rect">
            <a:avLst/>
          </a:prstGeom>
          <a:solidFill>
            <a:srgbClr val="E4572E"/>
          </a:solidFill>
          <a:ln/>
        </p:spPr>
      </p:sp>
      <p:sp>
        <p:nvSpPr>
          <p:cNvPr id="11" name="Text 9"/>
          <p:cNvSpPr txBox="1"/>
          <p:nvPr/>
        </p:nvSpPr>
        <p:spPr>
          <a:xfrm>
            <a:off x="914400" y="4617720"/>
            <a:ext cx="10725912" cy="822960"/>
          </a:xfrm>
          <a:prstGeom prst="rect">
            <a:avLst/>
          </a:prstGeom>
          <a:noFill/>
          <a:ln/>
        </p:spPr>
        <p:txBody>
          <a:bodyPr wrap="square" lIns="0" tIns="0" rIns="0" bIns="0" rtlCol="0" anchor="t"/>
          <a:lstStyle/>
          <a:p>
            <a:pPr indent="0" marL="0">
              <a:lnSpc>
                <a:spcPct val="125000"/>
              </a:lnSpc>
              <a:buNone/>
            </a:pPr>
            <a:r>
              <a:rPr lang="en-US" sz="1500" dirty="0">
                <a:solidFill>
                  <a:srgbClr val="16213E"/>
                </a:solidFill>
                <a:latin typeface="Calibri" pitchFamily="34" charset="0"/>
                <a:ea typeface="Calibri" pitchFamily="34" charset="-122"/>
                <a:cs typeface="Calibri" pitchFamily="34" charset="-120"/>
              </a:rPr>
              <a:t>This module's real shot-location proxies approximate, but do not replace, the NBA's tracking-based real Gravity stat, and that honest limit is itself part of what you should carry forward.</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BEFORE MODULE 06</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Two Things Before Next Class</a:t>
            </a:r>
            <a:endParaRPr lang="en-US" sz="3000" dirty="0"/>
          </a:p>
        </p:txBody>
      </p:sp>
      <p:sp>
        <p:nvSpPr>
          <p:cNvPr id="4" name="Shape 2"/>
          <p:cNvSpPr/>
          <p:nvPr/>
        </p:nvSpPr>
        <p:spPr>
          <a:xfrm>
            <a:off x="548640" y="2103120"/>
            <a:ext cx="5362956" cy="2377440"/>
          </a:xfrm>
          <a:prstGeom prst="roundRect">
            <a:avLst>
              <a:gd name="adj" fmla="val 2308"/>
            </a:avLst>
          </a:prstGeom>
          <a:solidFill>
            <a:srgbClr val="EDF1F7"/>
          </a:solidFill>
          <a:ln/>
        </p:spPr>
      </p:sp>
      <p:sp>
        <p:nvSpPr>
          <p:cNvPr id="5" name="Text 3"/>
          <p:cNvSpPr txBox="1"/>
          <p:nvPr/>
        </p:nvSpPr>
        <p:spPr>
          <a:xfrm>
            <a:off x="822960"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Read</a:t>
            </a:r>
            <a:endParaRPr lang="en-US" sz="1300" dirty="0"/>
          </a:p>
        </p:txBody>
      </p:sp>
      <p:sp>
        <p:nvSpPr>
          <p:cNvPr id="6" name="Text 4"/>
          <p:cNvSpPr txBox="1"/>
          <p:nvPr/>
        </p:nvSpPr>
        <p:spPr>
          <a:xfrm>
            <a:off x="822960"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Advanced Basketball Data Science, Ch. 6 (athletic motion kinematics and pose estimation).</a:t>
            </a:r>
            <a:endParaRPr lang="en-US" sz="1400" dirty="0"/>
          </a:p>
        </p:txBody>
      </p:sp>
      <p:sp>
        <p:nvSpPr>
          <p:cNvPr id="7" name="Shape 5"/>
          <p:cNvSpPr/>
          <p:nvPr/>
        </p:nvSpPr>
        <p:spPr>
          <a:xfrm>
            <a:off x="6277356" y="2103120"/>
            <a:ext cx="5362956" cy="2377440"/>
          </a:xfrm>
          <a:prstGeom prst="roundRect">
            <a:avLst>
              <a:gd name="adj" fmla="val 2308"/>
            </a:avLst>
          </a:prstGeom>
          <a:solidFill>
            <a:srgbClr val="EDF1F7"/>
          </a:solidFill>
          <a:ln/>
        </p:spPr>
      </p:sp>
      <p:sp>
        <p:nvSpPr>
          <p:cNvPr id="8" name="Text 6"/>
          <p:cNvSpPr txBox="1"/>
          <p:nvPr/>
        </p:nvSpPr>
        <p:spPr>
          <a:xfrm>
            <a:off x="6551676" y="2331720"/>
            <a:ext cx="4814316" cy="365760"/>
          </a:xfrm>
          <a:prstGeom prst="rect">
            <a:avLst/>
          </a:prstGeom>
          <a:noFill/>
          <a:ln/>
        </p:spPr>
        <p:txBody>
          <a:bodyPr wrap="square" lIns="0" tIns="0" rIns="0" bIns="0" rtlCol="0" anchor="ctr"/>
          <a:lstStyle/>
          <a:p>
            <a:pPr indent="0" marL="0">
              <a:buNone/>
            </a:pPr>
            <a:r>
              <a:rPr lang="en-US" sz="1300" b="1" dirty="0">
                <a:solidFill>
                  <a:srgbClr val="E4572E"/>
                </a:solidFill>
                <a:latin typeface="Calibri" pitchFamily="34" charset="0"/>
                <a:ea typeface="Calibri" pitchFamily="34" charset="-122"/>
                <a:cs typeface="Calibri" pitchFamily="34" charset="-120"/>
              </a:rPr>
              <a:t>Do</a:t>
            </a:r>
            <a:endParaRPr lang="en-US" sz="1300" dirty="0"/>
          </a:p>
        </p:txBody>
      </p:sp>
      <p:sp>
        <p:nvSpPr>
          <p:cNvPr id="9" name="Text 7"/>
          <p:cNvSpPr txBox="1"/>
          <p:nvPr/>
        </p:nvSpPr>
        <p:spPr>
          <a:xfrm>
            <a:off x="6551676" y="2743200"/>
            <a:ext cx="4814316" cy="1463040"/>
          </a:xfrm>
          <a:prstGeom prst="rect">
            <a:avLst/>
          </a:prstGeom>
          <a:noFill/>
          <a:ln/>
        </p:spPr>
        <p:txBody>
          <a:bodyPr wrap="square" lIns="0" tIns="0" rIns="0" bIns="0" rtlCol="0" anchor="t"/>
          <a:lstStyle/>
          <a:p>
            <a:pPr indent="0" marL="0">
              <a:lnSpc>
                <a:spcPct val="125000"/>
              </a:lnSpc>
              <a:buNone/>
            </a:pPr>
            <a:r>
              <a:rPr lang="en-US" sz="1400" dirty="0">
                <a:solidFill>
                  <a:srgbClr val="16213E"/>
                </a:solidFill>
                <a:latin typeface="Calibri" pitchFamily="34" charset="0"/>
                <a:ea typeface="Calibri" pitchFamily="34" charset="-122"/>
                <a:cs typeface="Calibri" pitchFamily="34" charset="-120"/>
              </a:rPr>
              <a:t>Complete Lab 5 (spatial dynamics), the practice questions, and the Module 5 quiz.</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91672" cy="320040"/>
          </a:xfrm>
          <a:prstGeom prst="rect">
            <a:avLst/>
          </a:prstGeom>
          <a:noFill/>
          <a:ln/>
        </p:spPr>
        <p:txBody>
          <a:bodyPr wrap="square" lIns="0" tIns="0" rIns="0" bIns="0" rtlCol="0" anchor="ctr"/>
          <a:lstStyle/>
          <a:p>
            <a:pPr indent="0" marL="0">
              <a:buNone/>
            </a:pPr>
            <a:r>
              <a:rPr lang="en-US" sz="1300" b="1" spc="200" kern="0" dirty="0">
                <a:solidFill>
                  <a:srgbClr val="E4572E"/>
                </a:solidFill>
                <a:latin typeface="Calibri" pitchFamily="34" charset="0"/>
                <a:ea typeface="Calibri" pitchFamily="34" charset="-122"/>
                <a:cs typeface="Calibri" pitchFamily="34" charset="-120"/>
              </a:rPr>
              <a:t>FULL READING LIST</a:t>
            </a:r>
            <a:endParaRPr lang="en-US" sz="1300" dirty="0"/>
          </a:p>
        </p:txBody>
      </p:sp>
      <p:sp>
        <p:nvSpPr>
          <p:cNvPr id="3" name="Text 1"/>
          <p:cNvSpPr txBox="1"/>
          <p:nvPr/>
        </p:nvSpPr>
        <p:spPr>
          <a:xfrm>
            <a:off x="548640" y="960120"/>
            <a:ext cx="11091672" cy="914400"/>
          </a:xfrm>
          <a:prstGeom prst="rect">
            <a:avLst/>
          </a:prstGeom>
          <a:noFill/>
          <a:ln/>
        </p:spPr>
        <p:txBody>
          <a:bodyPr wrap="square" lIns="0" tIns="0" rIns="0" bIns="0" rtlCol="0" anchor="ctr"/>
          <a:lstStyle/>
          <a:p>
            <a:pPr indent="0" marL="0">
              <a:buNone/>
            </a:pPr>
            <a:r>
              <a:rPr lang="en-US" sz="3000" b="1" dirty="0">
                <a:solidFill>
                  <a:srgbClr val="16213E"/>
                </a:solidFill>
                <a:latin typeface="Cambria" pitchFamily="34" charset="0"/>
                <a:ea typeface="Cambria" pitchFamily="34" charset="-122"/>
                <a:cs typeface="Cambria" pitchFamily="34" charset="-120"/>
              </a:rPr>
              <a:t>References Cited Today</a:t>
            </a:r>
            <a:endParaRPr lang="en-US" sz="3000" dirty="0"/>
          </a:p>
        </p:txBody>
      </p:sp>
      <p:sp>
        <p:nvSpPr>
          <p:cNvPr id="4" name="Text 2"/>
          <p:cNvSpPr txBox="1"/>
          <p:nvPr/>
        </p:nvSpPr>
        <p:spPr>
          <a:xfrm>
            <a:off x="548640" y="1920240"/>
            <a:ext cx="11091672" cy="914400"/>
          </a:xfrm>
          <a:prstGeom prst="rect">
            <a:avLst/>
          </a:prstGeom>
          <a:noFill/>
          <a:ln/>
        </p:spPr>
        <p:txBody>
          <a:bodyPr wrap="square" lIns="0" tIns="0" rIns="0" bIns="0" rtlCol="0" anchor="t"/>
          <a:lstStyle/>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Zuccolotto, Manisera &amp; Sandri (2026). Advanced Basketball Data Science, Ch. 5. CRC Press.</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NBA Advanced Stats (NBA.com). "Intro to Gravity" (2025). Official real Gravity stat definition.</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Barron, Sitaraman &amp; Arias (2025). Analyzing NBA player positions with density-functional fluctuation theory. Scientific Reports.</a:t>
            </a:r>
            <a:endParaRPr lang="en-US" sz="1400" dirty="0"/>
          </a:p>
          <a:p>
            <a:pPr indent="0" marL="0">
              <a:lnSpc>
                <a:spcPct val="150000"/>
              </a:lnSpc>
              <a:buNone/>
            </a:pPr>
            <a:endParaRPr lang="en-US" sz="1400" dirty="0"/>
          </a:p>
          <a:p>
            <a:pPr indent="0" marL="0">
              <a:lnSpc>
                <a:spcPct val="150000"/>
              </a:lnSpc>
              <a:buNone/>
            </a:pPr>
            <a:r>
              <a:rPr lang="en-US" sz="1400" dirty="0">
                <a:solidFill>
                  <a:srgbClr val="16213E"/>
                </a:solidFill>
                <a:latin typeface="Calibri" pitchFamily="34" charset="0"/>
                <a:ea typeface="Calibri" pitchFamily="34" charset="-122"/>
                <a:cs typeface="Calibri" pitchFamily="34" charset="-120"/>
              </a:rPr>
              <a:t>BasketballAnalyzeR (R package), PbP.BDB dataset; deldir and MASS (R packages), Zuccolotto/Manisera/Sandri and CRAN.</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B1D33"/>
        </a:solidFill>
      </p:bgPr>
    </p:bg>
    <p:spTree>
      <p:nvGrpSpPr>
        <p:cNvPr id="1" name=""/>
        <p:cNvGrpSpPr/>
        <p:nvPr/>
      </p:nvGrpSpPr>
      <p:grpSpPr>
        <a:xfrm>
          <a:off x="0" y="0"/>
          <a:ext cx="0" cy="0"/>
          <a:chOff x="0" y="0"/>
          <a:chExt cx="0" cy="0"/>
        </a:xfrm>
      </p:grpSpPr>
      <p:sp>
        <p:nvSpPr>
          <p:cNvPr id="2" name="Text 0"/>
          <p:cNvSpPr txBox="1"/>
          <p:nvPr/>
        </p:nvSpPr>
        <p:spPr>
          <a:xfrm>
            <a:off x="548640" y="2834640"/>
            <a:ext cx="11091672"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See You in Module 06</a:t>
            </a:r>
            <a:endParaRPr lang="en-US" sz="4000" dirty="0"/>
          </a:p>
        </p:txBody>
      </p:sp>
      <p:sp>
        <p:nvSpPr>
          <p:cNvPr id="3" name="Text 1"/>
          <p:cNvSpPr txBox="1"/>
          <p:nvPr/>
        </p:nvSpPr>
        <p:spPr>
          <a:xfrm>
            <a:off x="548640" y="3749040"/>
            <a:ext cx="11091672" cy="548640"/>
          </a:xfrm>
          <a:prstGeom prst="rect">
            <a:avLst/>
          </a:prstGeom>
          <a:noFill/>
          <a:ln/>
        </p:spPr>
        <p:txBody>
          <a:bodyPr wrap="square" lIns="0" tIns="0" rIns="0" bIns="0" rtlCol="0" anchor="ctr"/>
          <a:lstStyle/>
          <a:p>
            <a:pPr indent="0" marL="0">
              <a:buNone/>
            </a:pPr>
            <a:r>
              <a:rPr lang="en-US" sz="1800" dirty="0">
                <a:solidFill>
                  <a:srgbClr val="AEBBD1"/>
                </a:solidFill>
                <a:latin typeface="Calibri" pitchFamily="34" charset="0"/>
                <a:ea typeface="Calibri" pitchFamily="34" charset="-122"/>
                <a:cs typeface="Calibri" pitchFamily="34" charset="-120"/>
              </a:rPr>
              <a:t>Athletic Motion and Pose Estimation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2026-09-25T16:21:47Z</dcterms:created>
  <dcterms:modified xsi:type="dcterms:W3CDTF">2026-09-25T16:21:47Z</dcterms:modified>
</cp:coreProperties>
</file>