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student issue: students may assume these rows are simply missing due to an error. Clarify this is a real, honest consequence of shot geography, not a bug in the cut()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this is the single most important number in the module. Redirect every FG%-based claim back to expected points per shot. Push students to state why a lower-percentage shot can still be the better shot to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the loan-approval analogy before showing any code. Several students will not have seen a classification tree before; the analogy is what makes the first real rpart() output legible.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answer: a close shot taken from a sharp, tight angle near the baseline, a baseline floater or short runner that is close in distance but low-percentage because of the restricted finishing angle. This finding is the whole argument for letting CART find boundaries instead of fixing them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2880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40280"/>
            <a:ext cx="11091672" cy="137160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Basketball Performance Maps Based on Court Segmentation</a:t>
            </a:r>
            <a:endParaRPr lang="en-US" sz="3300" dirty="0"/>
          </a:p>
        </p:txBody>
      </p:sp>
      <p:sp>
        <p:nvSpPr>
          <p:cNvPr id="4" name="Text 2"/>
          <p:cNvSpPr txBox="1"/>
          <p:nvPr/>
        </p:nvSpPr>
        <p:spPr>
          <a:xfrm>
            <a:off x="548640" y="365760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08 · Graduate · 3-hour session</a:t>
            </a:r>
            <a:endParaRPr lang="en-US" sz="2000" dirty="0"/>
          </a:p>
        </p:txBody>
      </p:sp>
      <p:sp>
        <p:nvSpPr>
          <p:cNvPr id="5" name="Shape 3"/>
          <p:cNvSpPr/>
          <p:nvPr/>
        </p:nvSpPr>
        <p:spPr>
          <a:xfrm>
            <a:off x="548640" y="4389120"/>
            <a:ext cx="3291840" cy="777240"/>
          </a:xfrm>
          <a:prstGeom prst="roundRect">
            <a:avLst>
              <a:gd name="adj" fmla="val 7059"/>
            </a:avLst>
          </a:prstGeom>
          <a:solidFill>
            <a:srgbClr val="16213E"/>
          </a:solidFill>
          <a:ln/>
        </p:spPr>
      </p:sp>
      <p:sp>
        <p:nvSpPr>
          <p:cNvPr id="6" name="Text 4"/>
          <p:cNvSpPr txBox="1"/>
          <p:nvPr/>
        </p:nvSpPr>
        <p:spPr>
          <a:xfrm>
            <a:off x="731520" y="438912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8
</a:t>
            </a:r>
            <a:pPr indent="0" marL="0">
              <a:buNone/>
            </a:pPr>
            <a:r>
              <a:rPr lang="en-US" sz="1300" dirty="0">
                <a:solidFill>
                  <a:srgbClr val="FFFFFF"/>
                </a:solidFill>
                <a:latin typeface="Calibri" pitchFamily="34" charset="0"/>
                <a:ea typeface="Calibri" pitchFamily="34" charset="-122"/>
                <a:cs typeface="Calibri" pitchFamily="34" charset="-120"/>
              </a:rPr>
              <a:t>Graduate · 3-hour session</a:t>
            </a:r>
            <a:endParaRPr lang="en-US" sz="1300" dirty="0"/>
          </a:p>
        </p:txBody>
      </p:sp>
      <p:sp>
        <p:nvSpPr>
          <p:cNvPr id="7" name="Text 5"/>
          <p:cNvSpPr txBox="1"/>
          <p:nvPr/>
        </p:nvSpPr>
        <p:spPr>
          <a:xfrm>
            <a:off x="4114800" y="438912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Zuccolotto, P., Manisera, M., &amp; Sandri, M. (2026). Advanced Basketball Data Science: With Applications in R, Ch. 8. CRC Press / Chapman &amp; Hall.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560320"/>
          </a:xfrm>
          <a:prstGeom prst="roundRect">
            <a:avLst>
              <a:gd name="adj" fmla="val 2143"/>
            </a:avLst>
          </a:prstGeom>
          <a:solidFill>
            <a:srgbClr val="EDF1F7"/>
          </a:solidFill>
          <a:ln/>
        </p:spPr>
      </p:sp>
      <p:sp>
        <p:nvSpPr>
          <p:cNvPr id="5" name="Text 3"/>
          <p:cNvSpPr txBox="1"/>
          <p:nvPr/>
        </p:nvSpPr>
        <p:spPr>
          <a:xfrm>
            <a:off x="914400" y="2194560"/>
            <a:ext cx="10360152" cy="210312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Module 7 tracked the ball itself through the air, using object detection and the physics of a shot's minimum-speed trajectory. Today asks a related but different question: once you know where on the court a shot was taken from, how do you turn that single location into a defensible statement about how likely that shot was to go in? We build the answer in three stages: a sector-based performance map, a shot chart, and two data-driven maps built with Classification and Regression Trees, one on Cartesian shot coordinates and one on polar shot coordinates.</a:t>
            </a:r>
            <a:endParaRPr lang="en-US" sz="15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BasketballAnalyzeR::PbP.BDB, 14,354 shot attempts with valid location and distance, 2017-18 NBA season.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From sectors to a shot chart: the simplest performance map, then the ungrouped version</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Letting a model find the boundaries itself: CART on Cartesian shot coordinates</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The same question on polar coordinates, a model comparison, and wrap-up</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8, the Module 8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920240"/>
            <a:ext cx="411480" cy="411480"/>
          </a:xfrm>
          <a:prstGeom prst="ellipse">
            <a:avLst/>
          </a:prstGeom>
          <a:solidFill>
            <a:srgbClr val="27496D"/>
          </a:solidFill>
          <a:ln/>
        </p:spPr>
      </p:sp>
      <p:sp>
        <p:nvSpPr>
          <p:cNvPr id="5" name="Text 3"/>
          <p:cNvSpPr txBox="1"/>
          <p:nvPr/>
        </p:nvSpPr>
        <p:spPr>
          <a:xfrm>
            <a:off x="548640" y="19202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8745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 sector-based performance map from normalized shot coordinates and compute field goal percentage within each cell.</a:t>
            </a:r>
            <a:endParaRPr lang="en-US" sz="1600" dirty="0"/>
          </a:p>
        </p:txBody>
      </p:sp>
      <p:sp>
        <p:nvSpPr>
          <p:cNvPr id="7" name="Shape 5"/>
          <p:cNvSpPr/>
          <p:nvPr/>
        </p:nvSpPr>
        <p:spPr>
          <a:xfrm>
            <a:off x="548640" y="2743200"/>
            <a:ext cx="411480" cy="411480"/>
          </a:xfrm>
          <a:prstGeom prst="ellipse">
            <a:avLst/>
          </a:prstGeom>
          <a:solidFill>
            <a:srgbClr val="E4572E"/>
          </a:solidFill>
          <a:ln/>
        </p:spPr>
      </p:sp>
      <p:sp>
        <p:nvSpPr>
          <p:cNvPr id="8" name="Text 6"/>
          <p:cNvSpPr txBox="1"/>
          <p:nvPr/>
        </p:nvSpPr>
        <p:spPr>
          <a:xfrm>
            <a:off x="548640" y="27432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9748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why expected points per shot, not raw field goal percentage, is the correct basis for comparing shot values.</a:t>
            </a:r>
            <a:endParaRPr lang="en-US" sz="1600" dirty="0"/>
          </a:p>
        </p:txBody>
      </p:sp>
      <p:sp>
        <p:nvSpPr>
          <p:cNvPr id="10" name="Shape 8"/>
          <p:cNvSpPr/>
          <p:nvPr/>
        </p:nvSpPr>
        <p:spPr>
          <a:xfrm>
            <a:off x="548640" y="3566160"/>
            <a:ext cx="411480" cy="411480"/>
          </a:xfrm>
          <a:prstGeom prst="ellipse">
            <a:avLst/>
          </a:prstGeom>
          <a:solidFill>
            <a:srgbClr val="27496D"/>
          </a:solidFill>
          <a:ln/>
        </p:spPr>
      </p:sp>
      <p:sp>
        <p:nvSpPr>
          <p:cNvPr id="11" name="Text 9"/>
          <p:cNvSpPr txBox="1"/>
          <p:nvPr/>
        </p:nvSpPr>
        <p:spPr>
          <a:xfrm>
            <a:off x="548640" y="3566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204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and interpret a shot chart with drawNBAcourt() and connect its visual pattern back to the sector map.</a:t>
            </a:r>
            <a:endParaRPr lang="en-US" sz="1600" dirty="0"/>
          </a:p>
        </p:txBody>
      </p:sp>
      <p:sp>
        <p:nvSpPr>
          <p:cNvPr id="13" name="Shape 11"/>
          <p:cNvSpPr/>
          <p:nvPr/>
        </p:nvSpPr>
        <p:spPr>
          <a:xfrm>
            <a:off x="548640" y="4389120"/>
            <a:ext cx="411480" cy="411480"/>
          </a:xfrm>
          <a:prstGeom prst="ellipse">
            <a:avLst/>
          </a:prstGeom>
          <a:solidFill>
            <a:srgbClr val="E4572E"/>
          </a:solidFill>
          <a:ln/>
        </p:spPr>
      </p:sp>
      <p:sp>
        <p:nvSpPr>
          <p:cNvPr id="14" name="Text 12"/>
          <p:cNvSpPr txBox="1"/>
          <p:nvPr/>
        </p:nvSpPr>
        <p:spPr>
          <a:xfrm>
            <a:off x="548640" y="43891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4340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Fit a CART model with rpart() on Cartesian shot coordinates, read the printed tree, and translate a split back into a physical basketball situation.</a:t>
            </a:r>
            <a:endParaRPr lang="en-US" sz="1600" dirty="0"/>
          </a:p>
        </p:txBody>
      </p:sp>
      <p:sp>
        <p:nvSpPr>
          <p:cNvPr id="16" name="Shape 14"/>
          <p:cNvSpPr/>
          <p:nvPr/>
        </p:nvSpPr>
        <p:spPr>
          <a:xfrm>
            <a:off x="548640" y="5212080"/>
            <a:ext cx="411480" cy="411480"/>
          </a:xfrm>
          <a:prstGeom prst="ellipse">
            <a:avLst/>
          </a:prstGeom>
          <a:solidFill>
            <a:srgbClr val="27496D"/>
          </a:solidFill>
          <a:ln/>
        </p:spPr>
      </p:sp>
      <p:sp>
        <p:nvSpPr>
          <p:cNvPr id="17" name="Text 15"/>
          <p:cNvSpPr txBox="1"/>
          <p:nvPr/>
        </p:nvSpPr>
        <p:spPr>
          <a:xfrm>
            <a:off x="548640" y="52120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16636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Fit the same model on polar coordinates, compare its accuracy and structure to the Cartesian model, and argue for one over the other given a stated goal.</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From a Location to a Probability</a:t>
            </a:r>
            <a:endParaRPr lang="en-US" sz="2800" dirty="0"/>
          </a:p>
        </p:txBody>
      </p:sp>
      <p:sp>
        <p:nvSpPr>
          <p:cNvPr id="4" name="Shape 2"/>
          <p:cNvSpPr/>
          <p:nvPr/>
        </p:nvSpPr>
        <p:spPr>
          <a:xfrm>
            <a:off x="548640" y="2103120"/>
            <a:ext cx="11091672" cy="1737360"/>
          </a:xfrm>
          <a:prstGeom prst="roundRect">
            <a:avLst>
              <a:gd name="adj" fmla="val 3158"/>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performance map answers one question at every point on the floor: given a shot taken from here, what is the probability it goes in? We will build four versions of that answer today, in increasing order of how much the data itself gets to decide the boundaries, from a map we design by hand to two maps a model discovers on its own.</a:t>
            </a:r>
            <a:endParaRPr lang="en-US" sz="1600" dirty="0"/>
          </a:p>
        </p:txBody>
      </p:sp>
      <p:sp>
        <p:nvSpPr>
          <p:cNvPr id="6" name="Text 4"/>
          <p:cNvSpPr txBox="1"/>
          <p:nvPr/>
        </p:nvSpPr>
        <p:spPr>
          <a:xfrm>
            <a:off x="548640" y="4114800"/>
            <a:ext cx="11091672" cy="914400"/>
          </a:xfrm>
          <a:prstGeom prst="rect">
            <a:avLst/>
          </a:prstGeom>
          <a:noFill/>
          <a:ln/>
        </p:spPr>
        <p:txBody>
          <a:bodyPr wrap="square" lIns="0" tIns="0" rIns="0" bIns="0" rtlCol="0" anchor="t"/>
          <a:lstStyle/>
          <a:p>
            <a:pPr indent="0" marL="0">
              <a:lnSpc>
                <a:spcPct val="125000"/>
              </a:lnSpc>
              <a:buNone/>
            </a:pPr>
            <a:r>
              <a:rPr lang="en-US" sz="1600" b="1" dirty="0">
                <a:solidFill>
                  <a:srgbClr val="E4572E"/>
                </a:solidFill>
                <a:latin typeface="Calibri" pitchFamily="34" charset="0"/>
                <a:ea typeface="Calibri" pitchFamily="34" charset="-122"/>
                <a:cs typeface="Calibri" pitchFamily="34" charset="-120"/>
              </a:rPr>
              <a:t>We start with the version we design ourselves: sectors.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Segmenting the Court by Distance and Angle</a:t>
            </a:r>
            <a:endParaRPr lang="en-US" sz="2800" dirty="0"/>
          </a:p>
        </p:txBody>
      </p:sp>
      <p:sp>
        <p:nvSpPr>
          <p:cNvPr id="4" name="Shape 2"/>
          <p:cNvSpPr/>
          <p:nvPr/>
        </p:nvSpPr>
        <p:spPr>
          <a:xfrm>
            <a:off x="548640" y="2103120"/>
            <a:ext cx="11091672" cy="1737360"/>
          </a:xfrm>
          <a:prstGeom prst="roundRect">
            <a:avLst>
              <a:gd name="adj" fmla="val 3158"/>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The most direct way to segment a court is to bucket every shot by its distance from the hoop (rim, paint, mid-range, three) and its angle (left, center, right), then compute field goal percentage inside each resulting cell. Hoop distance is normalized to whichever basket is closer, since this half-court dataset mixes shots taken toward either end of a full court.</a:t>
            </a:r>
            <a:endParaRPr lang="en-US" sz="15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Methodology follows Zuccolotto, Manisera &amp; Sandri (2026), Ch. 8, applied to data computed independently for this course.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normalize our shot coordinates and build the sector map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Normalizing Coordinates and Building the Sector Map</a:t>
            </a:r>
            <a:endParaRPr lang="en-US" sz="26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sh &lt;- PbPmanipulation(PbP.BDB)</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sh &lt;- sh[!is.na(sh$shot_distance) &amp; !is.na(sh$x) &amp; !is.na(sh$y), ]</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sh$dist_band &lt;- cut(sh$shot_distance, c(0,4,14,22,Inf),</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labels = c("Rim","Paint","Mid-range","Three"))</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sh$angle_sector &lt;- cut(sh$angle_deg, c(-Inf,-15,15,Inf),</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labels = c("Left","Center","Right"))</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table(sh$dist_band, sh$angle_sector)</a:t>
            </a:r>
            <a:endParaRPr lang="en-US" sz="14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yourself. We'll compare your table to the one on the next slide.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1440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Sector-Based Performance Map</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4206240"/>
        </p:xfrm>
        <a:graphic>
          <a:graphicData uri="http://schemas.openxmlformats.org/drawingml/2006/table">
            <a:tbl>
              <a:tblPr/>
              <a:tblGrid>
                <a:gridCol w="3657600"/>
                <a:gridCol w="2468880"/>
                <a:gridCol w="2468880"/>
                <a:gridCol w="2496312"/>
              </a:tblGrid>
              <a:tr h="382385">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Distance Band</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Angle Sector</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Attempts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FG%</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82385">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Rim (0-4 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Center</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4,513</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64.4</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2385">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Paint (4-14 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Left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370</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47.8</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82385">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Paint (4-14 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Center</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2,052</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40.9</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2385">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Paint (4-14 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Right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348</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40.5</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82385">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Mid-range (14-22 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Left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842</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39.5</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2385">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Mid-range (14-22 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Center</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792</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43.8</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82385">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Mid-range (14-22 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Right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700</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41.1</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2385">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Three (22 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Left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1,890</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37.1</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82385">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Three (22 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Center</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1,003</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38.1</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82385">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Three (22 ft+)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Right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1,844</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00" dirty="0">
                          <a:solidFill>
                            <a:srgbClr val="16213E"/>
                          </a:solidFill>
                          <a:latin typeface="Calibri" pitchFamily="34" charset="0"/>
                          <a:ea typeface="Calibri" pitchFamily="34" charset="-122"/>
                          <a:cs typeface="Calibri" pitchFamily="34" charset="-120"/>
                        </a:rPr>
                        <a:t>37.3</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BasketballAnalyzeR::PbP.BDB, 14,354 shots with valid location, 2017-18 NBA season.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READING THE MAP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Why Is There No Rim-Left or Rim-Right Row?</a:t>
            </a:r>
            <a:endParaRPr lang="en-US" sz="2700" dirty="0"/>
          </a:p>
        </p:txBody>
      </p:sp>
      <p:sp>
        <p:nvSpPr>
          <p:cNvPr id="4" name="Shape 2"/>
          <p:cNvSpPr/>
          <p:nvPr/>
        </p:nvSpPr>
        <p:spPr>
          <a:xfrm>
            <a:off x="548640" y="2103120"/>
            <a:ext cx="11091672" cy="1828800"/>
          </a:xfrm>
          <a:prstGeom prst="roundRect">
            <a:avLst>
              <a:gd name="adj" fmla="val 3000"/>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At a distance of 0 to 4 feet, almost every attempt is close enough to center that this module's angle cutoff never separates one out. That absence is not a coding error. It is itself an honest finding about where shots that close to the basket actually happen on the floor.</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NUMBER TO SIT WITH</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Higher Field Goal % Does Not Mean a Better Shot</a:t>
            </a:r>
            <a:endParaRPr lang="en-US" sz="2600" dirty="0"/>
          </a:p>
        </p:txBody>
      </p:sp>
      <p:sp>
        <p:nvSpPr>
          <p:cNvPr id="4" name="Shape 2"/>
          <p:cNvSpPr/>
          <p:nvPr/>
        </p:nvSpPr>
        <p:spPr>
          <a:xfrm>
            <a:off x="548640" y="2103120"/>
            <a:ext cx="5362956" cy="3017520"/>
          </a:xfrm>
          <a:prstGeom prst="roundRect">
            <a:avLst>
              <a:gd name="adj" fmla="val 1818"/>
            </a:avLst>
          </a:prstGeom>
          <a:solidFill>
            <a:srgbClr val="27496D"/>
          </a:solidFill>
          <a:ln/>
        </p:spPr>
      </p:sp>
      <p:sp>
        <p:nvSpPr>
          <p:cNvPr id="5" name="Text 3"/>
          <p:cNvSpPr txBox="1"/>
          <p:nvPr/>
        </p:nvSpPr>
        <p:spPr>
          <a:xfrm>
            <a:off x="548640" y="2331720"/>
            <a:ext cx="5362956"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43.8%</a:t>
            </a:r>
            <a:endParaRPr lang="en-US" sz="4000" dirty="0"/>
          </a:p>
        </p:txBody>
      </p:sp>
      <p:sp>
        <p:nvSpPr>
          <p:cNvPr id="6" name="Text 4"/>
          <p:cNvSpPr txBox="1"/>
          <p:nvPr/>
        </p:nvSpPr>
        <p:spPr>
          <a:xfrm>
            <a:off x="822960" y="3200400"/>
            <a:ext cx="4814316" cy="8229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Mid-range center FG%</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Expected points: 2 x 0.438 = 0.876</a:t>
            </a:r>
            <a:endParaRPr lang="en-US" sz="1300" dirty="0"/>
          </a:p>
        </p:txBody>
      </p:sp>
      <p:sp>
        <p:nvSpPr>
          <p:cNvPr id="7" name="Shape 5"/>
          <p:cNvSpPr/>
          <p:nvPr/>
        </p:nvSpPr>
        <p:spPr>
          <a:xfrm>
            <a:off x="6277356" y="2103120"/>
            <a:ext cx="5362956" cy="3017520"/>
          </a:xfrm>
          <a:prstGeom prst="roundRect">
            <a:avLst>
              <a:gd name="adj" fmla="val 1818"/>
            </a:avLst>
          </a:prstGeom>
          <a:solidFill>
            <a:srgbClr val="E4572E"/>
          </a:solidFill>
          <a:ln/>
        </p:spPr>
      </p:sp>
      <p:sp>
        <p:nvSpPr>
          <p:cNvPr id="8" name="Text 6"/>
          <p:cNvSpPr txBox="1"/>
          <p:nvPr/>
        </p:nvSpPr>
        <p:spPr>
          <a:xfrm>
            <a:off x="6277356" y="2331720"/>
            <a:ext cx="5362956"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38.1%</a:t>
            </a:r>
            <a:endParaRPr lang="en-US" sz="4000" dirty="0"/>
          </a:p>
        </p:txBody>
      </p:sp>
      <p:sp>
        <p:nvSpPr>
          <p:cNvPr id="9" name="Text 7"/>
          <p:cNvSpPr txBox="1"/>
          <p:nvPr/>
        </p:nvSpPr>
        <p:spPr>
          <a:xfrm>
            <a:off x="6551676" y="3200400"/>
            <a:ext cx="4814316" cy="8229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Three-point center FG%</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Expected points: 3 x 0.381 = 1.143</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Why Modern Offenses Avoid the Mid-Range</a:t>
            </a:r>
            <a:endParaRPr lang="en-US" sz="2700" dirty="0"/>
          </a:p>
        </p:txBody>
      </p:sp>
      <p:sp>
        <p:nvSpPr>
          <p:cNvPr id="4" name="Shape 2"/>
          <p:cNvSpPr/>
          <p:nvPr/>
        </p:nvSpPr>
        <p:spPr>
          <a:xfrm>
            <a:off x="548640" y="2103120"/>
            <a:ext cx="11091672" cy="2103120"/>
          </a:xfrm>
          <a:prstGeom prst="roundRect">
            <a:avLst>
              <a:gd name="adj" fmla="val 2609"/>
            </a:avLst>
          </a:prstGeom>
          <a:solidFill>
            <a:srgbClr val="EDF1F7"/>
          </a:solidFill>
          <a:ln/>
        </p:spPr>
      </p:sp>
      <p:sp>
        <p:nvSpPr>
          <p:cNvPr id="5" name="Text 3"/>
          <p:cNvSpPr txBox="1"/>
          <p:nvPr/>
        </p:nvSpPr>
        <p:spPr>
          <a:xfrm>
            <a:off x="914400" y="2377440"/>
            <a:ext cx="10360152" cy="173736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You now have the two numbers that explain the three-point revolution in one comparison.</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If mid-range shots go in more often, why would a front office still discourage taking them?</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Is there a game situation where the higher-percentage, lower-value shot is still the correct one to take?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From Grouped Cells to Every Shot</a:t>
            </a:r>
            <a:endParaRPr lang="en-US" sz="28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9728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sector map compresses the court into a handful of cells. A shot chart keeps every shot's exact location. We plot all of Golden State's attempts from their complete 2017-18 season on a half-court, color-coded by make or miss.</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Golden State is used here because it is the one team in PbP.BDB with a full, complete 82-game season, giving the densest, most representative sample.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Golden State shot chart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Building the Shot Chart with drawNBAcourt()</a:t>
            </a:r>
            <a:endParaRPr lang="en-US" sz="26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sh.GSW &lt;- subset(sh, team == "Golden State Warriors")</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nrow(sh.GSW)          # 6,978</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mean(sh.GSW$made)    # 0.503</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drawNBAcourt(ylim = c(0,35))</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points(sh.GSW$x, sh.GSW$y,</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col = ifelse(sh.GSW$made, "dodgerblue", "tomato"),</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pch = 19, cex = 0.5)</a:t>
            </a:r>
            <a:endParaRPr lang="en-US" sz="14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together. We'll look at the pattern on the next slide.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1440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Golden State's Full 2017-18 Shot Chart</a:t>
            </a:r>
            <a:endParaRPr lang="en-US" sz="2700" dirty="0"/>
          </a:p>
        </p:txBody>
      </p:sp>
      <p:pic>
        <p:nvPicPr>
          <p:cNvPr id="4" name="Image 0" descr="images_grad/module8_gsw_shot_chart.png">    </p:cNvPr>
          <p:cNvPicPr>
            <a:picLocks noChangeAspect="1"/>
          </p:cNvPicPr>
          <p:nvPr/>
        </p:nvPicPr>
        <p:blipFill>
          <a:blip r:embed="rId1"/>
          <a:stretch>
            <a:fillRect/>
          </a:stretch>
        </p:blipFill>
        <p:spPr>
          <a:xfrm>
            <a:off x="2194560" y="1554480"/>
            <a:ext cx="7772400" cy="438912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6,978 attempts, 50.3% field goal percentage. Data: PbP.BDB, Golden State Warriors, full 2017-18 season.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The Pattern a Sector Map Can Only Hint At</a:t>
            </a:r>
            <a:endParaRPr lang="en-US" sz="2700" dirty="0"/>
          </a:p>
        </p:txBody>
      </p:sp>
      <p:sp>
        <p:nvSpPr>
          <p:cNvPr id="4" name="Shape 2"/>
          <p:cNvSpPr/>
          <p:nvPr/>
        </p:nvSpPr>
        <p:spPr>
          <a:xfrm>
            <a:off x="548640" y="2103120"/>
            <a:ext cx="11091672" cy="1828800"/>
          </a:xfrm>
          <a:prstGeom prst="roundRect">
            <a:avLst>
              <a:gd name="adj" fmla="val 3000"/>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dense cluster of makes right at the rim. A much sparser, more mixed cloud through the mid-range. Bands of attempts along the three-point line, heaviest above the break and in the corners. A shot chart is the ungrouped version of the same question the sector map already started answering.</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900" b="1" dirty="0">
                <a:solidFill>
                  <a:srgbClr val="16213E"/>
                </a:solidFill>
                <a:latin typeface="Cambria" pitchFamily="34" charset="0"/>
                <a:ea typeface="Cambria" pitchFamily="34" charset="-122"/>
                <a:cs typeface="Cambria" pitchFamily="34" charset="-120"/>
              </a:rPr>
              <a:t>Two Hand-Designed Maps, Covered</a:t>
            </a:r>
            <a:endParaRPr lang="en-US" sz="29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sector map by distance and angle, and a full shot chart for Golden State's complete season. Both are maps we designed ourselves, choosing the boundaries by hand.</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lets a model find its own boundaries directly from the data, using Classification and Regression Trees.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letting a model find the boundaries itself.</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Classification and Regression Trees</a:t>
            </a:r>
            <a:endParaRPr lang="en-US" sz="3000" dirty="0"/>
          </a:p>
        </p:txBody>
      </p:sp>
      <p:sp>
        <p:nvSpPr>
          <p:cNvPr id="4" name="Shape 2"/>
          <p:cNvSpPr/>
          <p:nvPr/>
        </p:nvSpPr>
        <p:spPr>
          <a:xfrm>
            <a:off x="548640" y="2103120"/>
            <a:ext cx="5362956" cy="3017520"/>
          </a:xfrm>
          <a:prstGeom prst="roundRect">
            <a:avLst>
              <a:gd name="adj" fmla="val 1818"/>
            </a:avLst>
          </a:prstGeom>
          <a:solidFill>
            <a:srgbClr val="27496D"/>
          </a:solidFill>
          <a:ln/>
        </p:spPr>
      </p:sp>
      <p:sp>
        <p:nvSpPr>
          <p:cNvPr id="5" name="Text 3"/>
          <p:cNvSpPr txBox="1"/>
          <p:nvPr/>
        </p:nvSpPr>
        <p:spPr>
          <a:xfrm>
            <a:off x="868680" y="2377440"/>
            <a:ext cx="4722876" cy="7315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 Non-Basketball Example First</a:t>
            </a:r>
            <a:endParaRPr lang="en-US" sz="1700" dirty="0"/>
          </a:p>
        </p:txBody>
      </p:sp>
      <p:sp>
        <p:nvSpPr>
          <p:cNvPr id="6" name="Text 4"/>
          <p:cNvSpPr txBox="1"/>
          <p:nvPr/>
        </p:nvSpPr>
        <p:spPr>
          <a:xfrm>
            <a:off x="868680" y="3200400"/>
            <a:ext cx="4722876" cy="182880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Picture a bank deciding loan approval. A tree might first split applicants by income, then split each income group again by credit score, repeating until the groups are as pure as possible.</a:t>
            </a:r>
            <a:endParaRPr lang="en-US" sz="1400" dirty="0"/>
          </a:p>
        </p:txBody>
      </p:sp>
      <p:sp>
        <p:nvSpPr>
          <p:cNvPr id="7" name="Shape 5"/>
          <p:cNvSpPr/>
          <p:nvPr/>
        </p:nvSpPr>
        <p:spPr>
          <a:xfrm>
            <a:off x="6277356" y="2103120"/>
            <a:ext cx="5362956" cy="3017520"/>
          </a:xfrm>
          <a:prstGeom prst="roundRect">
            <a:avLst>
              <a:gd name="adj" fmla="val 1818"/>
            </a:avLst>
          </a:prstGeom>
          <a:solidFill>
            <a:srgbClr val="E4572E"/>
          </a:solidFill>
          <a:ln/>
        </p:spPr>
      </p:sp>
      <p:sp>
        <p:nvSpPr>
          <p:cNvPr id="8" name="Text 6"/>
          <p:cNvSpPr txBox="1"/>
          <p:nvPr/>
        </p:nvSpPr>
        <p:spPr>
          <a:xfrm>
            <a:off x="6597396" y="2377440"/>
            <a:ext cx="4722876" cy="7315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Same Idea Here</a:t>
            </a:r>
            <a:endParaRPr lang="en-US" sz="1700" dirty="0"/>
          </a:p>
        </p:txBody>
      </p:sp>
      <p:sp>
        <p:nvSpPr>
          <p:cNvPr id="9" name="Text 7"/>
          <p:cNvSpPr txBox="1"/>
          <p:nvPr/>
        </p:nvSpPr>
        <p:spPr>
          <a:xfrm>
            <a:off x="6597396" y="3200400"/>
            <a:ext cx="4722876" cy="182880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CART repeats that same recursive splitting on shot coordinates instead of loan applicants, looking for the splits that best separate makes from misses.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fit the Cartesian CART model together and read the tree.</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Fitting CART on Cartesian Shot Coordinates</a:t>
            </a:r>
            <a:endParaRPr lang="en-US" sz="26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library(rpart)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library(rpart.plot)</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cart_xy &lt;- rpart(made ~ x_rel + y_rel, data = sh,</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method = "class",</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control = rpart.control(maxdepth = 4,</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cp = 0.001, minbucket = 150))</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rpart.plot(cart_xy)</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printcp(cart_xy)</a:t>
            </a:r>
            <a:endParaRPr lang="en-US" sz="14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x_rel and y_rel are hoop-relative Cartesian coordinates. Run this and look at the printed tree.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1440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The Cartesian Tree, Four Terminal Nodes</a:t>
            </a:r>
            <a:endParaRPr lang="en-US" sz="2700" dirty="0"/>
          </a:p>
        </p:txBody>
      </p:sp>
      <p:pic>
        <p:nvPicPr>
          <p:cNvPr id="4" name="Image 0" descr="images_grad/module8_cart_cartesian_tree.png">    </p:cNvPr>
          <p:cNvPicPr>
            <a:picLocks noChangeAspect="1"/>
          </p:cNvPicPr>
          <p:nvPr/>
        </p:nvPicPr>
        <p:blipFill>
          <a:blip r:embed="rId1"/>
          <a:stretch>
            <a:fillRect/>
          </a:stretch>
        </p:blipFill>
        <p:spPr>
          <a:xfrm>
            <a:off x="1828800" y="1645920"/>
            <a:ext cx="8503920" cy="429768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rpart.plot(cart_xy). Data: PbP.BDB, 14,354 shots, 2017-18 NBA season.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7</a:t>
            </a:r>
            <a:endParaRPr lang="en-US" sz="1300" dirty="0"/>
          </a:p>
        </p:txBody>
      </p:sp>
      <p:sp>
        <p:nvSpPr>
          <p:cNvPr id="3" name="Text 1"/>
          <p:cNvSpPr txBox="1"/>
          <p:nvPr/>
        </p:nvSpPr>
        <p:spPr>
          <a:xfrm>
            <a:off x="548640" y="91440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Reading the Four Terminal Nodes</a:t>
            </a:r>
            <a:endParaRPr lang="en-US" sz="27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2194560"/>
        </p:xfrm>
        <a:graphic>
          <a:graphicData uri="http://schemas.openxmlformats.org/drawingml/2006/table">
            <a:tbl>
              <a:tblPr/>
              <a:tblGrid>
                <a:gridCol w="6062472"/>
                <a:gridCol w="2286000"/>
                <a:gridCol w="2743200"/>
              </a:tblGrid>
              <a:tr h="438912">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Node Condition</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Attempts</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Scoring Probability</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38912">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y_rel &gt;= 1.9 ft from the hoop</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9,888 (69%)</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40.1%</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y_rel &lt; 1.9 ft, x_rel &gt;= 2.15 ft</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646 (4%)</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41.0%</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38912">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y_rel &lt; 1.9 ft, x_rel &lt; 2.15 ft, x_rel &lt; -1.95 ft</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536 (4%)</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45.1%</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y_rel &lt; 1.9 ft, x_rel &lt; 2.15 ft, x_rel &gt;= -1.95 ft</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3,284 (23%)</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250" dirty="0">
                          <a:solidFill>
                            <a:srgbClr val="16213E"/>
                          </a:solidFill>
                          <a:latin typeface="Calibri" pitchFamily="34" charset="0"/>
                          <a:ea typeface="Calibri" pitchFamily="34" charset="-122"/>
                          <a:cs typeface="Calibri" pitchFamily="34" charset="-120"/>
                        </a:rPr>
                        <a:t>71.0%</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20624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Training accuracy: 62.19%. Full node-by-node output is saved in module8_cart_cartesian_rules.txt.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 DISCUSSION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What Basketball Situation Does This Split Describe?</a:t>
            </a:r>
            <a:endParaRPr lang="en-US" sz="2600" dirty="0"/>
          </a:p>
        </p:txBody>
      </p:sp>
      <p:sp>
        <p:nvSpPr>
          <p:cNvPr id="4" name="Shape 2"/>
          <p:cNvSpPr/>
          <p:nvPr/>
        </p:nvSpPr>
        <p:spPr>
          <a:xfrm>
            <a:off x="548640" y="2103120"/>
            <a:ext cx="11091672" cy="2194560"/>
          </a:xfrm>
          <a:prstGeom prst="roundRect">
            <a:avLst>
              <a:gd name="adj" fmla="val 2500"/>
            </a:avLst>
          </a:prstGeom>
          <a:solidFill>
            <a:srgbClr val="EDF1F7"/>
          </a:solidFill>
          <a:ln/>
        </p:spPr>
      </p:sp>
      <p:sp>
        <p:nvSpPr>
          <p:cNvPr id="5" name="Text 3"/>
          <p:cNvSpPr txBox="1"/>
          <p:nvPr/>
        </p:nvSpPr>
        <p:spPr>
          <a:xfrm>
            <a:off x="914400" y="2377440"/>
            <a:ext cx="10360152" cy="1737360"/>
          </a:xfrm>
          <a:prstGeom prst="rect">
            <a:avLst/>
          </a:prstGeom>
          <a:noFill/>
          <a:ln/>
        </p:spPr>
        <p:txBody>
          <a:bodyPr wrap="square" lIns="0" tIns="0" rIns="0" bIns="0" rtlCol="0" anchor="ctr"/>
          <a:lstStyle/>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Even among shots close enough to the rim to be in a high-percentage group, a sharp lateral angle (x_rel &lt; -1.95, well off to one side, close to the baseline) drops scoring probability from 71.0% down to 45.1%. A smaller group on the opposite side (x_rel &gt;= 2.15) lands at 41.0%, despite being just as close to the hoop.</a:t>
            </a:r>
            <a:endParaRPr lang="en-US" sz="1500" dirty="0"/>
          </a:p>
          <a:p>
            <a:pPr indent="0" marL="0">
              <a:lnSpc>
                <a:spcPct val="130000"/>
              </a:lnSpc>
              <a:buNone/>
            </a:pPr>
            <a:endParaRPr lang="en-US" sz="1500" dirty="0"/>
          </a:p>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1. What real shot does the 71.0%-to-45.1% split describe?</a:t>
            </a:r>
            <a:endParaRPr lang="en-US" sz="1500" dirty="0"/>
          </a:p>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2. Why would a fixed distance-only sector rule, like the one from Segment 1, have missed this entirely?</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render the CART performance-map heat image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8</a:t>
            </a:r>
            <a:endParaRPr lang="en-US" sz="1300" dirty="0"/>
          </a:p>
        </p:txBody>
      </p:sp>
      <p:sp>
        <p:nvSpPr>
          <p:cNvPr id="3" name="Text 1"/>
          <p:cNvSpPr txBox="1"/>
          <p:nvPr/>
        </p:nvSpPr>
        <p:spPr>
          <a:xfrm>
            <a:off x="548640" y="914400"/>
            <a:ext cx="11091672" cy="914400"/>
          </a:xfrm>
          <a:prstGeom prst="rect">
            <a:avLst/>
          </a:prstGeom>
          <a:noFill/>
          <a:ln/>
        </p:spPr>
        <p:txBody>
          <a:bodyPr wrap="square" lIns="0" tIns="0" rIns="0" bIns="0" rtlCol="0" anchor="ctr"/>
          <a:lstStyle/>
          <a:p>
            <a:pPr indent="0" marL="0">
              <a:buNone/>
            </a:pPr>
            <a:r>
              <a:rPr lang="en-US" sz="2500" b="1" dirty="0">
                <a:solidFill>
                  <a:srgbClr val="16213E"/>
                </a:solidFill>
                <a:latin typeface="Cambria" pitchFamily="34" charset="0"/>
                <a:ea typeface="Cambria" pitchFamily="34" charset="-122"/>
                <a:cs typeface="Cambria" pitchFamily="34" charset="-120"/>
              </a:rPr>
              <a:t>The Cartesian Model as a Performance-Map Heat Image</a:t>
            </a:r>
            <a:endParaRPr lang="en-US" sz="2500" dirty="0"/>
          </a:p>
        </p:txBody>
      </p:sp>
      <p:pic>
        <p:nvPicPr>
          <p:cNvPr id="4" name="Image 0" descr="images_grad/module8_cart_cartesian_heatmap.png">    </p:cNvPr>
          <p:cNvPicPr>
            <a:picLocks noChangeAspect="1"/>
          </p:cNvPicPr>
          <p:nvPr/>
        </p:nvPicPr>
        <p:blipFill>
          <a:blip r:embed="rId1"/>
          <a:stretch>
            <a:fillRect/>
          </a:stretch>
        </p:blipFill>
        <p:spPr>
          <a:xfrm>
            <a:off x="1828800" y="1600200"/>
            <a:ext cx="8503920" cy="438912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Scoring probability by location, predicted from cart_xy. Compare this directly to the Part 1 sector map.</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A Model-Found Map vs. a Hand-Designed One</a:t>
            </a:r>
            <a:endParaRPr lang="en-US" sz="2700" dirty="0"/>
          </a:p>
        </p:txBody>
      </p:sp>
      <p:sp>
        <p:nvSpPr>
          <p:cNvPr id="4" name="Shape 2"/>
          <p:cNvSpPr/>
          <p:nvPr/>
        </p:nvSpPr>
        <p:spPr>
          <a:xfrm>
            <a:off x="548640" y="2103120"/>
            <a:ext cx="11091672" cy="1737360"/>
          </a:xfrm>
          <a:prstGeom prst="roundRect">
            <a:avLst>
              <a:gd name="adj" fmla="val 3158"/>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The sector map from Segment 1 used fixed, round-number boundaries we chose in advance: 4, 14, and 22 feet. The CART heat image found its own boundaries directly from the data, including the baseline-angle effect no fixed-distance rule could have found on its own.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A Model-Found Map,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four-node CART model on Cartesian coordinates, 62.19% training accuracy, that found a close-range, sharp-angle split a fixed sector rule would have missed.</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asks the same question using polar coordinates instead of Cartesian, and compares the two models directly.</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the same question on polar coordinates.</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Same Question, in Distance and Angle</a:t>
            </a:r>
            <a:endParaRPr lang="en-US" sz="2800" dirty="0"/>
          </a:p>
        </p:txBody>
      </p:sp>
      <p:sp>
        <p:nvSpPr>
          <p:cNvPr id="4" name="Shape 2"/>
          <p:cNvSpPr/>
          <p:nvPr/>
        </p:nvSpPr>
        <p:spPr>
          <a:xfrm>
            <a:off x="548640" y="2103120"/>
            <a:ext cx="11091672" cy="1737360"/>
          </a:xfrm>
          <a:prstGeom prst="roundRect">
            <a:avLst>
              <a:gd name="adj" fmla="val 3158"/>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Section 8.3 of this module's approach asks the same question using polar coordinates, distance and angle from the hoop, instead of x and y. The model is fit the same way, with the same control parameters, just on a different coordinate system.</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fit the polar CART model together and compare accuracy directly.</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9</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Fitting CART on Polar Shot Coordinates</a:t>
            </a:r>
            <a:endParaRPr lang="en-US" sz="26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cart_polar &lt;- rpart(made ~ shot_distance + angle_deg,</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data = sh, method = "class",</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control = rpart.control(maxdepth = 4,</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cp = 0.001, minbucket = 150))</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rpart.plot(cart_polar)</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printcp(cart_polar)</a:t>
            </a:r>
            <a:endParaRPr lang="en-US" sz="14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and compare the printed tree's size to the Cartesian tree from Segment 2.</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10</a:t>
            </a:r>
            <a:endParaRPr lang="en-US" sz="1300" dirty="0"/>
          </a:p>
        </p:txBody>
      </p:sp>
      <p:sp>
        <p:nvSpPr>
          <p:cNvPr id="3" name="Text 1"/>
          <p:cNvSpPr txBox="1"/>
          <p:nvPr/>
        </p:nvSpPr>
        <p:spPr>
          <a:xfrm>
            <a:off x="548640" y="91440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The Polar Tree: One Single Split</a:t>
            </a:r>
            <a:endParaRPr lang="en-US" sz="2700" dirty="0"/>
          </a:p>
        </p:txBody>
      </p:sp>
      <p:pic>
        <p:nvPicPr>
          <p:cNvPr id="4" name="Image 0" descr="images_grad/module8_cart_polar_tree.png">    </p:cNvPr>
          <p:cNvPicPr>
            <a:picLocks noChangeAspect="1"/>
          </p:cNvPicPr>
          <p:nvPr/>
        </p:nvPicPr>
        <p:blipFill>
          <a:blip r:embed="rId1"/>
          <a:stretch>
            <a:fillRect/>
          </a:stretch>
        </p:blipFill>
        <p:spPr>
          <a:xfrm>
            <a:off x="2560320" y="1691640"/>
            <a:ext cx="7040880" cy="420624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rpart.plot(cart_polar). Data: PbP.BDB, 14,354 shots, 2017-18 NBA season.</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11</a:t>
            </a:r>
            <a:endParaRPr lang="en-US" sz="1300" dirty="0"/>
          </a:p>
        </p:txBody>
      </p:sp>
      <p:sp>
        <p:nvSpPr>
          <p:cNvPr id="3" name="Text 1"/>
          <p:cNvSpPr txBox="1"/>
          <p:nvPr/>
        </p:nvSpPr>
        <p:spPr>
          <a:xfrm>
            <a:off x="548640" y="91440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 Much Simpler Model, Nearly the Same Accuracy</a:t>
            </a:r>
            <a:endParaRPr lang="en-US" sz="2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1463040"/>
        </p:xfrm>
        <a:graphic>
          <a:graphicData uri="http://schemas.openxmlformats.org/drawingml/2006/table">
            <a:tbl>
              <a:tblPr/>
              <a:tblGrid>
                <a:gridCol w="7434072"/>
                <a:gridCol w="3657600"/>
              </a:tblGrid>
              <a:tr h="48768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Node Condition</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Scoring Probability</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87680">
                <a:tc>
                  <a:txBody>
                    <a:bodyPr/>
                    <a:lstStyle/>
                    <a:p>
                      <a:pPr algn="ctr" indent="0" marL="0">
                        <a:buNone/>
                      </a:pPr>
                      <a:r>
                        <a:rPr lang="en-US" sz="1600" dirty="0">
                          <a:solidFill>
                            <a:srgbClr val="16213E"/>
                          </a:solidFill>
                          <a:latin typeface="Calibri" pitchFamily="34" charset="0"/>
                          <a:ea typeface="Calibri" pitchFamily="34" charset="-122"/>
                          <a:cs typeface="Calibri" pitchFamily="34" charset="-120"/>
                        </a:rPr>
                        <a:t>shot_distance &lt; 2.5 ft</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dirty="0">
                          <a:solidFill>
                            <a:srgbClr val="16213E"/>
                          </a:solidFill>
                          <a:latin typeface="Calibri" pitchFamily="34" charset="0"/>
                          <a:ea typeface="Calibri" pitchFamily="34" charset="-122"/>
                          <a:cs typeface="Calibri" pitchFamily="34" charset="-120"/>
                        </a:rPr>
                        <a:t>70.2%</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87680">
                <a:tc>
                  <a:txBody>
                    <a:bodyPr/>
                    <a:lstStyle/>
                    <a:p>
                      <a:pPr algn="ctr" indent="0" marL="0">
                        <a:buNone/>
                      </a:pPr>
                      <a:r>
                        <a:rPr lang="en-US" sz="1600" dirty="0">
                          <a:solidFill>
                            <a:srgbClr val="16213E"/>
                          </a:solidFill>
                          <a:latin typeface="Calibri" pitchFamily="34" charset="0"/>
                          <a:ea typeface="Calibri" pitchFamily="34" charset="-122"/>
                          <a:cs typeface="Calibri" pitchFamily="34" charset="-120"/>
                        </a:rPr>
                        <a:t>shot_distance &gt;= 2.5 ft</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600" dirty="0">
                          <a:solidFill>
                            <a:srgbClr val="16213E"/>
                          </a:solidFill>
                          <a:latin typeface="Calibri" pitchFamily="34" charset="0"/>
                          <a:ea typeface="Calibri" pitchFamily="34" charset="-122"/>
                          <a:cs typeface="Calibri" pitchFamily="34" charset="-120"/>
                        </a:rPr>
                        <a:t>40.2%</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365760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27496D"/>
                </a:solidFill>
                <a:latin typeface="Calibri" pitchFamily="34" charset="0"/>
                <a:ea typeface="Calibri" pitchFamily="34" charset="-122"/>
                <a:cs typeface="Calibri" pitchFamily="34" charset="-120"/>
              </a:rPr>
              <a:t>One single split, at exactly 2.5 feet from the hoop, with no angle information used at all.</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12</a:t>
            </a:r>
            <a:endParaRPr lang="en-US" sz="1300" dirty="0"/>
          </a:p>
        </p:txBody>
      </p:sp>
      <p:sp>
        <p:nvSpPr>
          <p:cNvPr id="3" name="Text 1"/>
          <p:cNvSpPr txBox="1"/>
          <p:nvPr/>
        </p:nvSpPr>
        <p:spPr>
          <a:xfrm>
            <a:off x="548640" y="914400"/>
            <a:ext cx="11091672" cy="914400"/>
          </a:xfrm>
          <a:prstGeom prst="rect">
            <a:avLst/>
          </a:prstGeom>
          <a:noFill/>
          <a:ln/>
        </p:spPr>
        <p:txBody>
          <a:bodyPr wrap="square" lIns="0" tIns="0" rIns="0" bIns="0" rtlCol="0" anchor="ctr"/>
          <a:lstStyle/>
          <a:p>
            <a:pPr indent="0" marL="0">
              <a:buNone/>
            </a:pPr>
            <a:r>
              <a:rPr lang="en-US" sz="2500" b="1" dirty="0">
                <a:solidFill>
                  <a:srgbClr val="16213E"/>
                </a:solidFill>
                <a:latin typeface="Cambria" pitchFamily="34" charset="0"/>
                <a:ea typeface="Cambria" pitchFamily="34" charset="-122"/>
                <a:cs typeface="Cambria" pitchFamily="34" charset="-120"/>
              </a:rPr>
              <a:t>The Polar Model as a Performance-Map Heat Image</a:t>
            </a:r>
            <a:endParaRPr lang="en-US" sz="2500" dirty="0"/>
          </a:p>
        </p:txBody>
      </p:sp>
      <p:pic>
        <p:nvPicPr>
          <p:cNvPr id="4" name="Image 0" descr="images_grad/module8_cart_polar_heatmap.png">    </p:cNvPr>
          <p:cNvPicPr>
            <a:picLocks noChangeAspect="1"/>
          </p:cNvPicPr>
          <p:nvPr/>
        </p:nvPicPr>
        <p:blipFill>
          <a:blip r:embed="rId1"/>
          <a:stretch>
            <a:fillRect/>
          </a:stretch>
        </p:blipFill>
        <p:spPr>
          <a:xfrm>
            <a:off x="1828800" y="1600200"/>
            <a:ext cx="8503920" cy="438912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Scoring probability by location, predicted from cart_polar. A single ring around the hoop, not four distinct regions.</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COMPARISON THIS MODULE WANTS YOU TO CARRY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500" b="1" dirty="0">
                <a:solidFill>
                  <a:srgbClr val="16213E"/>
                </a:solidFill>
                <a:latin typeface="Cambria" pitchFamily="34" charset="0"/>
                <a:ea typeface="Cambria" pitchFamily="34" charset="-122"/>
                <a:cs typeface="Cambria" pitchFamily="34" charset="-120"/>
              </a:rPr>
              <a:t>Distance Alone Captured Nearly All the Signal</a:t>
            </a:r>
            <a:endParaRPr lang="en-US" sz="2500" dirty="0"/>
          </a:p>
        </p:txBody>
      </p:sp>
      <p:sp>
        <p:nvSpPr>
          <p:cNvPr id="4" name="Shape 2"/>
          <p:cNvSpPr/>
          <p:nvPr/>
        </p:nvSpPr>
        <p:spPr>
          <a:xfrm>
            <a:off x="548640" y="2103120"/>
            <a:ext cx="5362956" cy="3017520"/>
          </a:xfrm>
          <a:prstGeom prst="roundRect">
            <a:avLst>
              <a:gd name="adj" fmla="val 1818"/>
            </a:avLst>
          </a:prstGeom>
          <a:solidFill>
            <a:srgbClr val="E4572E"/>
          </a:solidFill>
          <a:ln/>
        </p:spPr>
      </p:sp>
      <p:sp>
        <p:nvSpPr>
          <p:cNvPr id="5" name="Text 3"/>
          <p:cNvSpPr txBox="1"/>
          <p:nvPr/>
        </p:nvSpPr>
        <p:spPr>
          <a:xfrm>
            <a:off x="548640" y="2331720"/>
            <a:ext cx="5362956"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62.19%</a:t>
            </a:r>
            <a:endParaRPr lang="en-US" sz="3800" dirty="0"/>
          </a:p>
        </p:txBody>
      </p:sp>
      <p:sp>
        <p:nvSpPr>
          <p:cNvPr id="6" name="Text 4"/>
          <p:cNvSpPr txBox="1"/>
          <p:nvPr/>
        </p:nvSpPr>
        <p:spPr>
          <a:xfrm>
            <a:off x="822960" y="3063240"/>
            <a:ext cx="4814316" cy="82296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Cartesian model</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4 terminal nodes, x and y</a:t>
            </a:r>
            <a:endParaRPr lang="en-US" sz="1400" dirty="0"/>
          </a:p>
        </p:txBody>
      </p:sp>
      <p:sp>
        <p:nvSpPr>
          <p:cNvPr id="7" name="Shape 5"/>
          <p:cNvSpPr/>
          <p:nvPr/>
        </p:nvSpPr>
        <p:spPr>
          <a:xfrm>
            <a:off x="6277356" y="2103120"/>
            <a:ext cx="5362956" cy="3017520"/>
          </a:xfrm>
          <a:prstGeom prst="roundRect">
            <a:avLst>
              <a:gd name="adj" fmla="val 1818"/>
            </a:avLst>
          </a:prstGeom>
          <a:solidFill>
            <a:srgbClr val="27496D"/>
          </a:solidFill>
          <a:ln/>
        </p:spPr>
      </p:sp>
      <p:sp>
        <p:nvSpPr>
          <p:cNvPr id="8" name="Text 6"/>
          <p:cNvSpPr txBox="1"/>
          <p:nvPr/>
        </p:nvSpPr>
        <p:spPr>
          <a:xfrm>
            <a:off x="6277356" y="2331720"/>
            <a:ext cx="5362956"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62.32%</a:t>
            </a:r>
            <a:endParaRPr lang="en-US" sz="3800" dirty="0"/>
          </a:p>
        </p:txBody>
      </p:sp>
      <p:sp>
        <p:nvSpPr>
          <p:cNvPr id="9" name="Text 7"/>
          <p:cNvSpPr txBox="1"/>
          <p:nvPr/>
        </p:nvSpPr>
        <p:spPr>
          <a:xfrm>
            <a:off x="6551676" y="3063240"/>
            <a:ext cx="4814316" cy="82296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Polar model</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1 split, distance only</a:t>
            </a:r>
            <a:endParaRPr lang="en-US" sz="1400" dirty="0"/>
          </a:p>
        </p:txBody>
      </p:sp>
      <p:sp>
        <p:nvSpPr>
          <p:cNvPr id="10" name="Text 8"/>
          <p:cNvSpPr txBox="1"/>
          <p:nvPr/>
        </p:nvSpPr>
        <p:spPr>
          <a:xfrm>
            <a:off x="548640" y="5303520"/>
            <a:ext cx="11091672" cy="914400"/>
          </a:xfrm>
          <a:prstGeom prst="rect">
            <a:avLst/>
          </a:prstGeom>
          <a:noFill/>
          <a:ln/>
        </p:spPr>
        <p:txBody>
          <a:bodyPr wrap="square" lIns="0" tIns="0" rIns="0" bIns="0" rtlCol="0" anchor="t"/>
          <a:lstStyle/>
          <a:p>
            <a:pPr indent="0" marL="0">
              <a:lnSpc>
                <a:spcPct val="125000"/>
              </a:lnSpc>
              <a:buNone/>
            </a:pPr>
            <a:r>
              <a:rPr lang="en-US" sz="1300" dirty="0">
                <a:solidFill>
                  <a:srgbClr val="27496D"/>
                </a:solidFill>
                <a:latin typeface="Calibri" pitchFamily="34" charset="0"/>
                <a:ea typeface="Calibri" pitchFamily="34" charset="-122"/>
                <a:cs typeface="Calibri" pitchFamily="34" charset="-120"/>
              </a:rPr>
              <a:t>Distance from the hoop is the dominant signal in whether a shot goes in. The Cartesian model's extra nodes bought a small amount of nuance, the baseline-angle effect, not a large jump in overall accuracy.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Simplicity vs. Detail, Not Right vs. Wrong</a:t>
            </a:r>
            <a:endParaRPr lang="en-US" sz="2800" dirty="0"/>
          </a:p>
        </p:txBody>
      </p:sp>
      <p:sp>
        <p:nvSpPr>
          <p:cNvPr id="4" name="Shape 2"/>
          <p:cNvSpPr/>
          <p:nvPr/>
        </p:nvSpPr>
        <p:spPr>
          <a:xfrm>
            <a:off x="548640" y="2103120"/>
            <a:ext cx="11091672" cy="1828800"/>
          </a:xfrm>
          <a:prstGeom prst="roundRect">
            <a:avLst>
              <a:gd name="adj" fmla="val 3000"/>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Both models are valid, honestly computed performance maps. They make a different trade-off between simplicity and detail: the polar model is nearly as accurate and far easier to explain, while the Cartesian model captures one additional real effect the polar model cannot see at all.</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 SMALL GROUPS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Argue for One Model, to a Coaching Staff</a:t>
            </a:r>
            <a:endParaRPr lang="en-US" sz="2700" dirty="0"/>
          </a:p>
        </p:txBody>
      </p:sp>
      <p:sp>
        <p:nvSpPr>
          <p:cNvPr id="4" name="Shape 2"/>
          <p:cNvSpPr/>
          <p:nvPr/>
        </p:nvSpPr>
        <p:spPr>
          <a:xfrm>
            <a:off x="548640" y="2103120"/>
            <a:ext cx="11091672" cy="2194560"/>
          </a:xfrm>
          <a:prstGeom prst="roundRect">
            <a:avLst>
              <a:gd name="adj" fmla="val 2500"/>
            </a:avLst>
          </a:prstGeom>
          <a:solidFill>
            <a:srgbClr val="EDF1F7"/>
          </a:solidFill>
          <a:ln/>
        </p:spPr>
      </p:sp>
      <p:sp>
        <p:nvSpPr>
          <p:cNvPr id="5" name="Text 3"/>
          <p:cNvSpPr txBox="1"/>
          <p:nvPr/>
        </p:nvSpPr>
        <p:spPr>
          <a:xfrm>
            <a:off x="914400" y="2377440"/>
            <a:ext cx="10360152" cy="1737360"/>
          </a:xfrm>
          <a:prstGeom prst="rect">
            <a:avLst/>
          </a:prstGeom>
          <a:noFill/>
          <a:ln/>
        </p:spPr>
        <p:txBody>
          <a:bodyPr wrap="square" lIns="0" tIns="0" rIns="0" bIns="0" rtlCol="0" anchor="ctr"/>
          <a:lstStyle/>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Groups of 3-4. Half the groups argue for the Cartesian model, half for the polar model, as the one they would hand to a real coaching staff.</a:t>
            </a:r>
            <a:endParaRPr lang="en-US" sz="1500" dirty="0"/>
          </a:p>
          <a:p>
            <a:pPr indent="0" marL="0">
              <a:lnSpc>
                <a:spcPct val="130000"/>
              </a:lnSpc>
              <a:buNone/>
            </a:pPr>
            <a:endParaRPr lang="en-US" sz="1500" dirty="0"/>
          </a:p>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1. State your model's accuracy and structure.</a:t>
            </a:r>
            <a:endParaRPr lang="en-US" sz="1500" dirty="0"/>
          </a:p>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2. State one concrete reason a coaching staff would prefer it over the other.</a:t>
            </a:r>
            <a:endParaRPr lang="en-US" sz="1500" dirty="0"/>
          </a:p>
          <a:p>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3. One group from each side presents its case to the class.</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PHD / ADVANCED-PROJECT TRACK</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Same Model Structure, a Different Target</a:t>
            </a:r>
            <a:endParaRPr lang="en-US" sz="2800" dirty="0"/>
          </a:p>
        </p:txBody>
      </p:sp>
      <p:sp>
        <p:nvSpPr>
          <p:cNvPr id="4" name="Shape 2"/>
          <p:cNvSpPr/>
          <p:nvPr/>
        </p:nvSpPr>
        <p:spPr>
          <a:xfrm>
            <a:off x="548640" y="2103120"/>
            <a:ext cx="11091672" cy="2743200"/>
          </a:xfrm>
          <a:prstGeom prst="roundRect">
            <a:avLst>
              <a:gd name="adj" fmla="val 2000"/>
            </a:avLst>
          </a:prstGeom>
          <a:solidFill>
            <a:srgbClr val="27496D"/>
          </a:solidFill>
          <a:ln/>
        </p:spPr>
      </p:sp>
      <p:sp>
        <p:nvSpPr>
          <p:cNvPr id="5" name="Text 3"/>
          <p:cNvSpPr txBox="1"/>
          <p:nvPr/>
        </p:nvSpPr>
        <p:spPr>
          <a:xfrm>
            <a:off x="914400" y="2377440"/>
            <a:ext cx="10360152" cy="2103120"/>
          </a:xfrm>
          <a:prstGeom prst="rect">
            <a:avLst/>
          </a:prstGeom>
          <a:noFill/>
          <a:ln/>
        </p:spPr>
        <p:txBody>
          <a:bodyPr wrap="square" lIns="0" tIns="0" rIns="0" bIns="0" rtlCol="0" anchor="ctr"/>
          <a:lstStyle/>
          <a:p>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A CART-based performance map is exactly the kind of model structure the injury-risk track in Module 10 depends on: a model that takes a handful of measurable inputs and partitions them into interpretable groups. Here, the inputs are court coordinates and the groups are scoring-probability regions. In Module 10, the inputs are athlete workload indicators and the groups are risk categories.</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Connects to the PhD track: Muritala, Brown &amp; Haller (2026), Research in Sports Medicine; West et al. (2026), JSCR.</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900" b="1" dirty="0">
                <a:solidFill>
                  <a:srgbClr val="16213E"/>
                </a:solidFill>
                <a:latin typeface="Cambria" pitchFamily="34" charset="0"/>
                <a:ea typeface="Cambria" pitchFamily="34" charset="-122"/>
                <a:cs typeface="Cambria" pitchFamily="34" charset="-120"/>
              </a:rPr>
              <a:t>Cartesian vs. Polar, Covered</a:t>
            </a:r>
            <a:endParaRPr lang="en-US" sz="29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one-split polar model nearly matched a four-node Cartesian model's accuracy, and we connected this CART structure to the Module 10 injury-risk track.</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9 moves from CART-based scoring probability to full machine learning models: Random Forests, Oblique Random Forests, and Extremely Randomized Trees.</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1965960"/>
            <a:ext cx="164592" cy="164592"/>
          </a:xfrm>
          <a:prstGeom prst="rect">
            <a:avLst/>
          </a:prstGeom>
          <a:solidFill>
            <a:srgbClr val="27496D"/>
          </a:solidFill>
          <a:ln/>
        </p:spPr>
      </p:sp>
      <p:sp>
        <p:nvSpPr>
          <p:cNvPr id="5" name="Text 3"/>
          <p:cNvSpPr txBox="1"/>
          <p:nvPr/>
        </p:nvSpPr>
        <p:spPr>
          <a:xfrm>
            <a:off x="914400" y="1828800"/>
            <a:ext cx="10725912" cy="86868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sector map and a shot chart are performance maps we design by hand; CART models let the data find its own boundaries.</a:t>
            </a:r>
            <a:endParaRPr lang="en-US" sz="14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6868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Expected points per shot, not raw field goal percentage, is the correct basis for comparing shot value: 0.876 for mid-range center versus 1.143 for three-point center.</a:t>
            </a:r>
            <a:endParaRPr lang="en-US" sz="1400" dirty="0"/>
          </a:p>
        </p:txBody>
      </p:sp>
      <p:sp>
        <p:nvSpPr>
          <p:cNvPr id="8" name="Shape 6"/>
          <p:cNvSpPr/>
          <p:nvPr/>
        </p:nvSpPr>
        <p:spPr>
          <a:xfrm>
            <a:off x="548640" y="3886200"/>
            <a:ext cx="164592" cy="164592"/>
          </a:xfrm>
          <a:prstGeom prst="rect">
            <a:avLst/>
          </a:prstGeom>
          <a:solidFill>
            <a:srgbClr val="27496D"/>
          </a:solidFill>
          <a:ln/>
        </p:spPr>
      </p:sp>
      <p:sp>
        <p:nvSpPr>
          <p:cNvPr id="9" name="Text 7"/>
          <p:cNvSpPr txBox="1"/>
          <p:nvPr/>
        </p:nvSpPr>
        <p:spPr>
          <a:xfrm>
            <a:off x="914400" y="3749040"/>
            <a:ext cx="10725912" cy="86868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The Cartesian CART model found a close-range, sharp-angle effect a fixed sector rule could not: 71.0% dropping to 45.1%.</a:t>
            </a:r>
            <a:endParaRPr lang="en-US" sz="1400" dirty="0"/>
          </a:p>
        </p:txBody>
      </p:sp>
      <p:sp>
        <p:nvSpPr>
          <p:cNvPr id="10" name="Shape 8"/>
          <p:cNvSpPr/>
          <p:nvPr/>
        </p:nvSpPr>
        <p:spPr>
          <a:xfrm>
            <a:off x="548640" y="4846320"/>
            <a:ext cx="164592" cy="164592"/>
          </a:xfrm>
          <a:prstGeom prst="rect">
            <a:avLst/>
          </a:prstGeom>
          <a:solidFill>
            <a:srgbClr val="E4572E"/>
          </a:solidFill>
          <a:ln/>
        </p:spPr>
      </p:sp>
      <p:sp>
        <p:nvSpPr>
          <p:cNvPr id="11" name="Text 9"/>
          <p:cNvSpPr txBox="1"/>
          <p:nvPr/>
        </p:nvSpPr>
        <p:spPr>
          <a:xfrm>
            <a:off x="914400" y="4709160"/>
            <a:ext cx="10725912" cy="86868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The polar model's single distance-based split, at 2.5 feet, nearly matched the four-node Cartesian model's accuracy, 62.32% versus 62.19%, showing distance is the dominant signal.</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09</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8 (sector maps, shot charts, and both CART models), the practice questions, and the Module 8 quiz.</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Looking Ahead</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9: full machine learning scoring probability models, Random Forests, Oblique Random Forests, and Extremely Randomized Trees.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Zuccolotto, P., Manisera, M., &amp; Sandri, M. (2026). Advanced Basketball Data Science: With Applications in R, Ch. 8. CRC Press / Chapman &amp; Hall.</a:t>
            </a:r>
            <a:endParaRPr lang="en-US" sz="1400" dirty="0"/>
          </a:p>
          <a:p>
            <a:pPr indent="0" marL="0">
              <a:lnSpc>
                <a:spcPct val="150000"/>
              </a:lnSpc>
              <a:buNone/>
            </a:pPr>
            <a:endParaRPr lang="en-US" sz="1400" dirty="0"/>
          </a:p>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Sandri, M., Zuccolotto, P., &amp; Manisera, M. BasketballAnalyzeR (R package): PbP.BDB, PbPmanipulation(), drawNBAcourt(). CRAN.</a:t>
            </a:r>
            <a:endParaRPr lang="en-US" sz="1400" dirty="0"/>
          </a:p>
          <a:p>
            <a:pPr indent="0" marL="0">
              <a:lnSpc>
                <a:spcPct val="150000"/>
              </a:lnSpc>
              <a:buNone/>
            </a:pPr>
            <a:endParaRPr lang="en-US" sz="1400" dirty="0"/>
          </a:p>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Therneau, T., &amp; Atkinson, B. rpart (R package). Milborrow, S. rpart.plot (R package). CRAN.</a:t>
            </a:r>
            <a:endParaRPr lang="en-US" sz="1400" dirty="0"/>
          </a:p>
          <a:p>
            <a:pPr indent="0" marL="0">
              <a:lnSpc>
                <a:spcPct val="150000"/>
              </a:lnSpc>
              <a:buNone/>
            </a:pPr>
            <a:endParaRPr lang="en-US" sz="1400" dirty="0"/>
          </a:p>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All figures in this module were computed directly from the real PbP.BDB dataset and can be reproduced by running Coding_Exercise/module8_performance_maps.R.</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09</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Machine Learning Scoring Probability Models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2026-10-04T11:22:14Z</dcterms:created>
  <dcterms:modified xsi:type="dcterms:W3CDTF">2026-10-04T11:22:14Z</dcterms:modified>
</cp:coreProperties>
</file>