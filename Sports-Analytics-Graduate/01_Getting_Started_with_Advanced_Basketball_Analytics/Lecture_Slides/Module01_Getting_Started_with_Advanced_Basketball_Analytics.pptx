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point out that a single leaderboard number hides a lot about how a player actually produces those points. Ask the class what this table can't tell you about a player's actual value to a team -- use it to set up why we're about to look at assist NETWORKS instead of single-number leaderboards. Timing: about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8 minutes. Common mistake: forgetting to change PTS to REB in both the filter threshold and the mutate line -- use it as a teaching moment about reading your own pipeline back to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Draymond Green is a forward, not a point guard, yet he led this team in assists by a wide margin. Ask the class why -- Golden State ran offense through him at the elbow and top of the key ('point-Draymond'). This is the module's core hook: a leaderboard by points would have buried this. Timing: about 6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8 minutes. There's no single right answer -- the point is that both arguments now have to use real numbers (assist count, assisted-FG share, points) instead of just reputation. Cold-call two or three pairs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8 minutes total. Walk the room during the individual-writing part. Save a few of the more interesting questions to reference later in the semester when we reach the modules that could actually answer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www.nba.com/watch/video/nba-breakdown-draymond-green-playmaking" TargetMode="Externa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187452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SPORTS ANALYTICS · GRADUATE</a:t>
            </a:r>
            <a:endParaRPr lang="en-US" sz="1300" dirty="0"/>
          </a:p>
        </p:txBody>
      </p:sp>
      <p:sp>
        <p:nvSpPr>
          <p:cNvPr id="3" name="Text 1"/>
          <p:cNvSpPr txBox="1"/>
          <p:nvPr/>
        </p:nvSpPr>
        <p:spPr>
          <a:xfrm>
            <a:off x="548640" y="2286000"/>
            <a:ext cx="11091672" cy="12801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Advanced Basketball Data Science</a:t>
            </a:r>
            <a:endParaRPr lang="en-US" sz="4200" dirty="0"/>
          </a:p>
        </p:txBody>
      </p:sp>
      <p:sp>
        <p:nvSpPr>
          <p:cNvPr id="4" name="Text 2"/>
          <p:cNvSpPr txBox="1"/>
          <p:nvPr/>
        </p:nvSpPr>
        <p:spPr>
          <a:xfrm>
            <a:off x="548640" y="3520440"/>
            <a:ext cx="11091672" cy="457200"/>
          </a:xfrm>
          <a:prstGeom prst="rect">
            <a:avLst/>
          </a:prstGeom>
          <a:noFill/>
          <a:ln/>
        </p:spPr>
        <p:txBody>
          <a:bodyPr wrap="square" lIns="0" tIns="0" rIns="0" bIns="0" rtlCol="0" anchor="ctr"/>
          <a:lstStyle/>
          <a:p>
            <a:pPr indent="0" marL="0">
              <a:buNone/>
            </a:pPr>
            <a:r>
              <a:rPr lang="en-US" sz="2000" dirty="0">
                <a:solidFill>
                  <a:srgbClr val="AEBBD1"/>
                </a:solidFill>
                <a:latin typeface="Calibri" pitchFamily="34" charset="0"/>
                <a:ea typeface="Calibri" pitchFamily="34" charset="-122"/>
                <a:cs typeface="Calibri" pitchFamily="34" charset="-120"/>
              </a:rPr>
              <a:t>Module 01 · Getting Started with Advanced Basketball Analytics</a:t>
            </a:r>
            <a:endParaRPr lang="en-US" sz="2000" dirty="0"/>
          </a:p>
        </p:txBody>
      </p:sp>
      <p:sp>
        <p:nvSpPr>
          <p:cNvPr id="5" name="Shape 3"/>
          <p:cNvSpPr/>
          <p:nvPr/>
        </p:nvSpPr>
        <p:spPr>
          <a:xfrm>
            <a:off x="548640" y="4251960"/>
            <a:ext cx="3291840" cy="777240"/>
          </a:xfrm>
          <a:prstGeom prst="roundRect">
            <a:avLst>
              <a:gd name="adj" fmla="val 7059"/>
            </a:avLst>
          </a:prstGeom>
          <a:solidFill>
            <a:srgbClr val="16213E"/>
          </a:solidFill>
          <a:ln/>
        </p:spPr>
      </p:sp>
      <p:sp>
        <p:nvSpPr>
          <p:cNvPr id="6" name="Text 4"/>
          <p:cNvSpPr txBox="1"/>
          <p:nvPr/>
        </p:nvSpPr>
        <p:spPr>
          <a:xfrm>
            <a:off x="731520" y="4251960"/>
            <a:ext cx="2926080"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Week 1
</a:t>
            </a:r>
            <a:pPr indent="0" marL="0">
              <a:buNone/>
            </a:pPr>
            <a:r>
              <a:rPr lang="en-US" sz="1300" dirty="0">
                <a:solidFill>
                  <a:srgbClr val="FFFFFF"/>
                </a:solidFill>
                <a:latin typeface="Calibri" pitchFamily="34" charset="0"/>
                <a:ea typeface="Calibri" pitchFamily="34" charset="-122"/>
                <a:cs typeface="Calibri" pitchFamily="34" charset="-120"/>
              </a:rPr>
              <a:t>Graduate · 3-hour session</a:t>
            </a:r>
            <a:endParaRPr lang="en-US" sz="1300" dirty="0"/>
          </a:p>
        </p:txBody>
      </p:sp>
      <p:sp>
        <p:nvSpPr>
          <p:cNvPr id="7" name="Text 5"/>
          <p:cNvSpPr txBox="1"/>
          <p:nvPr/>
        </p:nvSpPr>
        <p:spPr>
          <a:xfrm>
            <a:off x="4114800" y="4251960"/>
            <a:ext cx="6949440" cy="777240"/>
          </a:xfrm>
          <a:prstGeom prst="rect">
            <a:avLst/>
          </a:prstGeom>
          <a:noFill/>
          <a:ln/>
        </p:spPr>
        <p:txBody>
          <a:bodyPr wrap="square" lIns="0" tIns="0" rIns="0" bIns="0" rtlCol="0" anchor="ctr"/>
          <a:lstStyle/>
          <a:p>
            <a:pPr indent="0" marL="0">
              <a:buNone/>
            </a:pPr>
            <a:r>
              <a:rPr lang="en-US" sz="1200" dirty="0">
                <a:solidFill>
                  <a:srgbClr val="AEBBD1"/>
                </a:solidFill>
                <a:latin typeface="Calibri" pitchFamily="34" charset="0"/>
                <a:ea typeface="Calibri" pitchFamily="34" charset="-122"/>
                <a:cs typeface="Calibri" pitchFamily="34" charset="-120"/>
              </a:rPr>
              <a:t>Maps to Chapter 1:</a:t>
            </a:r>
            <a:endParaRPr lang="en-US" sz="1200" dirty="0"/>
          </a:p>
          <a:p>
            <a:pPr indent="0" marL="0">
              <a:buNone/>
            </a:pPr>
            <a:r>
              <a:rPr lang="en-US" sz="1200" dirty="0">
                <a:solidFill>
                  <a:srgbClr val="AEBBD1"/>
                </a:solidFill>
                <a:latin typeface="Calibri" pitchFamily="34" charset="0"/>
                <a:ea typeface="Calibri" pitchFamily="34" charset="-122"/>
                <a:cs typeface="Calibri" pitchFamily="34" charset="-120"/>
              </a:rPr>
              <a:t>Zuccolotto, P., Manisera, M., &amp; Sandri, M. (2026). Advanced Basketball Data Science: With Applications in R. CRC Press.</a:t>
            </a:r>
            <a:endParaRPr lang="en-US" sz="1200" dirty="0"/>
          </a:p>
        </p:txBody>
      </p:sp>
    </p:spTree>
  </p:cSld>
  <p:clrMapOvr>
    <a:masterClrMapping/>
  </p:clrMapOvr>
  <p:transition xmlns:p="http://schemas.openxmlformats.org/presentationml/2006/mai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WE START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What's Coming Up</a:t>
            </a:r>
            <a:endParaRPr lang="en-US" sz="3000" dirty="0"/>
          </a:p>
        </p:txBody>
      </p:sp>
      <p:sp>
        <p:nvSpPr>
          <p:cNvPr id="4" name="Shape 2"/>
          <p:cNvSpPr/>
          <p:nvPr/>
        </p:nvSpPr>
        <p:spPr>
          <a:xfrm>
            <a:off x="548640" y="2011680"/>
            <a:ext cx="11091672" cy="1051560"/>
          </a:xfrm>
          <a:prstGeom prst="roundRect">
            <a:avLst>
              <a:gd name="adj" fmla="val 5217"/>
            </a:avLst>
          </a:prstGeom>
          <a:solidFill>
            <a:srgbClr val="EDF1F7"/>
          </a:solidFill>
          <a:ln/>
        </p:spPr>
      </p:sp>
      <p:sp>
        <p:nvSpPr>
          <p:cNvPr id="5" name="Text 3"/>
          <p:cNvSpPr txBox="1"/>
          <p:nvPr/>
        </p:nvSpPr>
        <p:spPr>
          <a:xfrm>
            <a:off x="822960" y="201168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Due This Week</a:t>
            </a:r>
            <a:endParaRPr lang="en-US" sz="1500" dirty="0"/>
          </a:p>
        </p:txBody>
      </p:sp>
      <p:sp>
        <p:nvSpPr>
          <p:cNvPr id="6" name="Text 4"/>
          <p:cNvSpPr txBox="1"/>
          <p:nvPr/>
        </p:nvSpPr>
        <p:spPr>
          <a:xfrm>
            <a:off x="3566160" y="201168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7" name="Shape 5"/>
          <p:cNvSpPr/>
          <p:nvPr/>
        </p:nvSpPr>
        <p:spPr>
          <a:xfrm>
            <a:off x="548640" y="3246120"/>
            <a:ext cx="11091672" cy="1051560"/>
          </a:xfrm>
          <a:prstGeom prst="roundRect">
            <a:avLst>
              <a:gd name="adj" fmla="val 5217"/>
            </a:avLst>
          </a:prstGeom>
          <a:solidFill>
            <a:srgbClr val="EDF1F7"/>
          </a:solidFill>
          <a:ln/>
        </p:spPr>
      </p:sp>
      <p:sp>
        <p:nvSpPr>
          <p:cNvPr id="8" name="Text 6"/>
          <p:cNvSpPr txBox="1"/>
          <p:nvPr/>
        </p:nvSpPr>
        <p:spPr>
          <a:xfrm>
            <a:off x="822960" y="324612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Coming Up</a:t>
            </a:r>
            <a:endParaRPr lang="en-US" sz="1500" dirty="0"/>
          </a:p>
        </p:txBody>
      </p:sp>
      <p:sp>
        <p:nvSpPr>
          <p:cNvPr id="9" name="Text 7"/>
          <p:cNvSpPr txBox="1"/>
          <p:nvPr/>
        </p:nvSpPr>
        <p:spPr>
          <a:xfrm>
            <a:off x="3566160" y="324612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10" name="Shape 8"/>
          <p:cNvSpPr/>
          <p:nvPr/>
        </p:nvSpPr>
        <p:spPr>
          <a:xfrm>
            <a:off x="548640" y="4480560"/>
            <a:ext cx="11091672" cy="1051560"/>
          </a:xfrm>
          <a:prstGeom prst="roundRect">
            <a:avLst>
              <a:gd name="adj" fmla="val 5217"/>
            </a:avLst>
          </a:prstGeom>
          <a:solidFill>
            <a:srgbClr val="EDF1F7"/>
          </a:solidFill>
          <a:ln/>
        </p:spPr>
      </p:sp>
      <p:sp>
        <p:nvSpPr>
          <p:cNvPr id="11" name="Text 9"/>
          <p:cNvSpPr txBox="1"/>
          <p:nvPr/>
        </p:nvSpPr>
        <p:spPr>
          <a:xfrm>
            <a:off x="822960" y="448056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Office Hours</a:t>
            </a:r>
            <a:endParaRPr lang="en-US" sz="1500" dirty="0"/>
          </a:p>
        </p:txBody>
      </p:sp>
      <p:sp>
        <p:nvSpPr>
          <p:cNvPr id="12" name="Text 10"/>
          <p:cNvSpPr txBox="1"/>
          <p:nvPr/>
        </p:nvSpPr>
        <p:spPr>
          <a:xfrm>
            <a:off x="3566160" y="448056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Tree>
  </p:cSld>
  <p:clrMapOvr>
    <a:masterClrMapping/>
  </p:clrMapOvr>
  <p:transition xmlns:p="http://schemas.openxmlformats.org/presentationml/2006/mai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OUTLINE FOR THE DAY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We're Headed</a:t>
            </a:r>
            <a:endParaRPr lang="en-US" sz="3200" dirty="0"/>
          </a:p>
        </p:txBody>
      </p:sp>
      <p:sp>
        <p:nvSpPr>
          <p:cNvPr id="4" name="Shape 2"/>
          <p:cNvSpPr/>
          <p:nvPr/>
        </p:nvSpPr>
        <p:spPr>
          <a:xfrm>
            <a:off x="548640" y="1965960"/>
            <a:ext cx="5362956" cy="1691640"/>
          </a:xfrm>
          <a:prstGeom prst="roundRect">
            <a:avLst>
              <a:gd name="adj" fmla="val 3243"/>
            </a:avLst>
          </a:prstGeom>
          <a:solidFill>
            <a:srgbClr val="EDF1F7"/>
          </a:solidFill>
          <a:ln/>
        </p:spPr>
      </p:sp>
      <p:sp>
        <p:nvSpPr>
          <p:cNvPr id="5" name="Text 3"/>
          <p:cNvSpPr txBox="1"/>
          <p:nvPr/>
        </p:nvSpPr>
        <p:spPr>
          <a:xfrm>
            <a:off x="777240"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a:t>
            </a:r>
            <a:endParaRPr lang="en-US" sz="1600" dirty="0"/>
          </a:p>
        </p:txBody>
      </p:sp>
      <p:sp>
        <p:nvSpPr>
          <p:cNvPr id="6" name="Text 4"/>
          <p:cNvSpPr txBox="1"/>
          <p:nvPr/>
        </p:nvSpPr>
        <p:spPr>
          <a:xfrm>
            <a:off x="1188720"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1</a:t>
            </a:r>
            <a:endParaRPr lang="en-US" sz="1600" dirty="0"/>
          </a:p>
        </p:txBody>
      </p:sp>
      <p:sp>
        <p:nvSpPr>
          <p:cNvPr id="7" name="Text 5"/>
          <p:cNvSpPr txBox="1"/>
          <p:nvPr/>
        </p:nvSpPr>
        <p:spPr>
          <a:xfrm>
            <a:off x="777240"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What this course covers, and getting our tools set up</a:t>
            </a:r>
            <a:endParaRPr lang="en-US" sz="1200" dirty="0"/>
          </a:p>
        </p:txBody>
      </p:sp>
      <p:sp>
        <p:nvSpPr>
          <p:cNvPr id="8" name="Shape 6"/>
          <p:cNvSpPr/>
          <p:nvPr/>
        </p:nvSpPr>
        <p:spPr>
          <a:xfrm>
            <a:off x="6277356" y="1965960"/>
            <a:ext cx="5362956" cy="1691640"/>
          </a:xfrm>
          <a:prstGeom prst="roundRect">
            <a:avLst>
              <a:gd name="adj" fmla="val 3243"/>
            </a:avLst>
          </a:prstGeom>
          <a:solidFill>
            <a:srgbClr val="EDF1F7"/>
          </a:solidFill>
          <a:ln/>
        </p:spPr>
      </p:sp>
      <p:sp>
        <p:nvSpPr>
          <p:cNvPr id="9" name="Text 7"/>
          <p:cNvSpPr txBox="1"/>
          <p:nvPr/>
        </p:nvSpPr>
        <p:spPr>
          <a:xfrm>
            <a:off x="6505956"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a:t>
            </a:r>
            <a:endParaRPr lang="en-US" sz="1600" dirty="0"/>
          </a:p>
        </p:txBody>
      </p:sp>
      <p:sp>
        <p:nvSpPr>
          <p:cNvPr id="10" name="Text 8"/>
          <p:cNvSpPr txBox="1"/>
          <p:nvPr/>
        </p:nvSpPr>
        <p:spPr>
          <a:xfrm>
            <a:off x="6917436"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2</a:t>
            </a:r>
            <a:endParaRPr lang="en-US" sz="1600" dirty="0"/>
          </a:p>
        </p:txBody>
      </p:sp>
      <p:sp>
        <p:nvSpPr>
          <p:cNvPr id="11" name="Text 9"/>
          <p:cNvSpPr txBox="1"/>
          <p:nvPr/>
        </p:nvSpPr>
        <p:spPr>
          <a:xfrm>
            <a:off x="6505956"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A real first analysis: individual stats with dplyr, then a look beyond individual skills</a:t>
            </a:r>
            <a:endParaRPr lang="en-US" sz="1200" dirty="0"/>
          </a:p>
        </p:txBody>
      </p:sp>
      <p:sp>
        <p:nvSpPr>
          <p:cNvPr id="12" name="Shape 10"/>
          <p:cNvSpPr/>
          <p:nvPr/>
        </p:nvSpPr>
        <p:spPr>
          <a:xfrm>
            <a:off x="548640" y="3886200"/>
            <a:ext cx="5362956" cy="1691640"/>
          </a:xfrm>
          <a:prstGeom prst="roundRect">
            <a:avLst>
              <a:gd name="adj" fmla="val 3243"/>
            </a:avLst>
          </a:prstGeom>
          <a:solidFill>
            <a:srgbClr val="EDF1F7"/>
          </a:solidFill>
          <a:ln/>
        </p:spPr>
      </p:sp>
      <p:sp>
        <p:nvSpPr>
          <p:cNvPr id="13" name="Text 11"/>
          <p:cNvSpPr txBox="1"/>
          <p:nvPr/>
        </p:nvSpPr>
        <p:spPr>
          <a:xfrm>
            <a:off x="777240"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III</a:t>
            </a:r>
            <a:endParaRPr lang="en-US" sz="1600" dirty="0"/>
          </a:p>
        </p:txBody>
      </p:sp>
      <p:sp>
        <p:nvSpPr>
          <p:cNvPr id="14" name="Text 12"/>
          <p:cNvSpPr txBox="1"/>
          <p:nvPr/>
        </p:nvSpPr>
        <p:spPr>
          <a:xfrm>
            <a:off x="1188720"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3</a:t>
            </a:r>
            <a:endParaRPr lang="en-US" sz="1600" dirty="0"/>
          </a:p>
        </p:txBody>
      </p:sp>
      <p:sp>
        <p:nvSpPr>
          <p:cNvPr id="15" name="Text 13"/>
          <p:cNvSpPr txBox="1"/>
          <p:nvPr/>
        </p:nvSpPr>
        <p:spPr>
          <a:xfrm>
            <a:off x="777240"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The rest of the course, the PhD/injury-detection track, and your first assignment</a:t>
            </a:r>
            <a:endParaRPr lang="en-US" sz="1200" dirty="0"/>
          </a:p>
        </p:txBody>
      </p:sp>
      <p:sp>
        <p:nvSpPr>
          <p:cNvPr id="16" name="Shape 14"/>
          <p:cNvSpPr/>
          <p:nvPr/>
        </p:nvSpPr>
        <p:spPr>
          <a:xfrm>
            <a:off x="6277356" y="3886200"/>
            <a:ext cx="5362956" cy="1691640"/>
          </a:xfrm>
          <a:prstGeom prst="roundRect">
            <a:avLst>
              <a:gd name="adj" fmla="val 3243"/>
            </a:avLst>
          </a:prstGeom>
          <a:solidFill>
            <a:srgbClr val="EDF1F7"/>
          </a:solidFill>
          <a:ln/>
        </p:spPr>
      </p:sp>
      <p:sp>
        <p:nvSpPr>
          <p:cNvPr id="17" name="Text 15"/>
          <p:cNvSpPr txBox="1"/>
          <p:nvPr/>
        </p:nvSpPr>
        <p:spPr>
          <a:xfrm>
            <a:off x="6505956"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IV</a:t>
            </a:r>
            <a:endParaRPr lang="en-US" sz="1600" dirty="0"/>
          </a:p>
        </p:txBody>
      </p:sp>
      <p:sp>
        <p:nvSpPr>
          <p:cNvPr id="18" name="Text 16"/>
          <p:cNvSpPr txBox="1"/>
          <p:nvPr/>
        </p:nvSpPr>
        <p:spPr>
          <a:xfrm>
            <a:off x="6917436"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Before Next Class</a:t>
            </a:r>
            <a:endParaRPr lang="en-US" sz="1600" dirty="0"/>
          </a:p>
        </p:txBody>
      </p:sp>
      <p:sp>
        <p:nvSpPr>
          <p:cNvPr id="19" name="Text 17"/>
          <p:cNvSpPr txBox="1"/>
          <p:nvPr/>
        </p:nvSpPr>
        <p:spPr>
          <a:xfrm>
            <a:off x="6505956"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The Module 1 lab and quiz</a:t>
            </a:r>
            <a:endParaRPr lang="en-US" sz="1200" dirty="0"/>
          </a:p>
        </p:txBody>
      </p:sp>
    </p:spTree>
  </p:cSld>
  <p:clrMapOvr>
    <a:masterClrMapping/>
  </p:clrMapOvr>
  <p:transition xmlns:p="http://schemas.openxmlformats.org/presentationml/2006/mai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LEARNING OBJECTIVES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By the End of Today, You Will Be Able To</a:t>
            </a:r>
            <a:endParaRPr lang="en-US" sz="2800" dirty="0"/>
          </a:p>
        </p:txBody>
      </p:sp>
      <p:sp>
        <p:nvSpPr>
          <p:cNvPr id="4" name="Shape 2"/>
          <p:cNvSpPr/>
          <p:nvPr/>
        </p:nvSpPr>
        <p:spPr>
          <a:xfrm>
            <a:off x="548640" y="1828800"/>
            <a:ext cx="411480" cy="411480"/>
          </a:xfrm>
          <a:prstGeom prst="ellipse">
            <a:avLst/>
          </a:prstGeom>
          <a:solidFill>
            <a:srgbClr val="27496D"/>
          </a:solidFill>
          <a:ln/>
        </p:spPr>
      </p:sp>
      <p:sp>
        <p:nvSpPr>
          <p:cNvPr id="5" name="Text 3"/>
          <p:cNvSpPr txBox="1"/>
          <p:nvPr/>
        </p:nvSpPr>
        <p:spPr>
          <a:xfrm>
            <a:off x="548640" y="182880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43000" y="178308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Explain what this course covers, and set up the R environment the rest of the semester runs on.</a:t>
            </a:r>
            <a:endParaRPr lang="en-US" sz="1600" dirty="0"/>
          </a:p>
        </p:txBody>
      </p:sp>
      <p:sp>
        <p:nvSpPr>
          <p:cNvPr id="7" name="Shape 5"/>
          <p:cNvSpPr/>
          <p:nvPr/>
        </p:nvSpPr>
        <p:spPr>
          <a:xfrm>
            <a:off x="548640" y="2697480"/>
            <a:ext cx="411480" cy="411480"/>
          </a:xfrm>
          <a:prstGeom prst="ellipse">
            <a:avLst/>
          </a:prstGeom>
          <a:solidFill>
            <a:srgbClr val="E4572E"/>
          </a:solidFill>
          <a:ln/>
        </p:spPr>
      </p:sp>
      <p:sp>
        <p:nvSpPr>
          <p:cNvPr id="8" name="Text 6"/>
          <p:cNvSpPr txBox="1"/>
          <p:nvPr/>
        </p:nvSpPr>
        <p:spPr>
          <a:xfrm>
            <a:off x="548640" y="269748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43000" y="265176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Use dplyr verbs (filter, mutate, arrange, select) to answer a real question from real box-score data.</a:t>
            </a:r>
            <a:endParaRPr lang="en-US" sz="1600" dirty="0"/>
          </a:p>
        </p:txBody>
      </p:sp>
      <p:sp>
        <p:nvSpPr>
          <p:cNvPr id="10" name="Shape 8"/>
          <p:cNvSpPr/>
          <p:nvPr/>
        </p:nvSpPr>
        <p:spPr>
          <a:xfrm>
            <a:off x="548640" y="3566160"/>
            <a:ext cx="411480" cy="411480"/>
          </a:xfrm>
          <a:prstGeom prst="ellipse">
            <a:avLst/>
          </a:prstGeom>
          <a:solidFill>
            <a:srgbClr val="27496D"/>
          </a:solidFill>
          <a:ln/>
        </p:spPr>
      </p:sp>
      <p:sp>
        <p:nvSpPr>
          <p:cNvPr id="11" name="Text 9"/>
          <p:cNvSpPr txBox="1"/>
          <p:nvPr/>
        </p:nvSpPr>
        <p:spPr>
          <a:xfrm>
            <a:off x="548640" y="3566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43000" y="352044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Build and read a real assist network for an NBA team, and explain why it can surface a team's actual offensive structure better than a single-stat leaderboard.</a:t>
            </a:r>
            <a:endParaRPr lang="en-US" sz="1600" dirty="0"/>
          </a:p>
        </p:txBody>
      </p:sp>
      <p:sp>
        <p:nvSpPr>
          <p:cNvPr id="13" name="Shape 11"/>
          <p:cNvSpPr/>
          <p:nvPr/>
        </p:nvSpPr>
        <p:spPr>
          <a:xfrm>
            <a:off x="548640" y="4434840"/>
            <a:ext cx="411480" cy="411480"/>
          </a:xfrm>
          <a:prstGeom prst="ellipse">
            <a:avLst/>
          </a:prstGeom>
          <a:solidFill>
            <a:srgbClr val="E4572E"/>
          </a:solidFill>
          <a:ln/>
        </p:spPr>
      </p:sp>
      <p:sp>
        <p:nvSpPr>
          <p:cNvPr id="14" name="Text 12"/>
          <p:cNvSpPr txBox="1"/>
          <p:nvPr/>
        </p:nvSpPr>
        <p:spPr>
          <a:xfrm>
            <a:off x="548640" y="44348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43000" y="438912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Describe, at a glance, what each remaining chapter of the textbook covers and how it builds toward the course's injury-detection track.</a:t>
            </a:r>
            <a:endParaRPr lang="en-US" sz="1600" dirty="0"/>
          </a:p>
        </p:txBody>
      </p:sp>
      <p:sp>
        <p:nvSpPr>
          <p:cNvPr id="16" name="Shape 14"/>
          <p:cNvSpPr/>
          <p:nvPr/>
        </p:nvSpPr>
        <p:spPr>
          <a:xfrm>
            <a:off x="548640" y="5303520"/>
            <a:ext cx="411480" cy="411480"/>
          </a:xfrm>
          <a:prstGeom prst="ellipse">
            <a:avLst/>
          </a:prstGeom>
          <a:solidFill>
            <a:srgbClr val="27496D"/>
          </a:solidFill>
          <a:ln/>
        </p:spPr>
      </p:sp>
      <p:sp>
        <p:nvSpPr>
          <p:cNvPr id="17" name="Text 15"/>
          <p:cNvSpPr txBox="1"/>
          <p:nvPr/>
        </p:nvSpPr>
        <p:spPr>
          <a:xfrm>
            <a:off x="548640" y="53035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143000" y="525780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Understand how this course's quizzes, assignments, and projects fit together across the semester.</a:t>
            </a:r>
            <a:endParaRPr lang="en-US" sz="1600" dirty="0"/>
          </a:p>
        </p:txBody>
      </p:sp>
    </p:spTree>
  </p:cSld>
  <p:clrMapOvr>
    <a:masterClrMapping/>
  </p:clrMapOvr>
  <p:transition xmlns:p="http://schemas.openxmlformats.org/presentationml/2006/mai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Same Lab, Higher Complexity Level</a:t>
            </a:r>
            <a:endParaRPr lang="en-US" sz="2800" dirty="0"/>
          </a:p>
        </p:txBody>
      </p:sp>
      <p:sp>
        <p:nvSpPr>
          <p:cNvPr id="4" name="Shape 2"/>
          <p:cNvSpPr/>
          <p:nvPr/>
        </p:nvSpPr>
        <p:spPr>
          <a:xfrm>
            <a:off x="548640" y="2103120"/>
            <a:ext cx="11091672" cy="1737360"/>
          </a:xfrm>
          <a:prstGeom prst="roundRect">
            <a:avLst>
              <a:gd name="adj" fmla="val 3158"/>
            </a:avLst>
          </a:prstGeom>
          <a:solidFill>
            <a:srgbClr val="EDF1F7"/>
          </a:solidFill>
          <a:ln/>
        </p:spPr>
      </p:sp>
      <p:sp>
        <p:nvSpPr>
          <p:cNvPr id="5" name="Text 3"/>
          <p:cNvSpPr txBox="1"/>
          <p:nvPr/>
        </p:nvSpPr>
        <p:spPr>
          <a:xfrm>
            <a:off x="914400" y="2377440"/>
            <a:ext cx="10360152" cy="128016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This course runs on the BasketballAnalyzeR package throughout, and adds the tools from the book's own second step: statistical models, data mining, machine learning, and computer vision, applied to basketball.</a:t>
            </a:r>
            <a:endParaRPr lang="en-US" sz="16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Zuccolotto, Manisera &amp; Sandri (2026), Preface, p. xx-xxi.</a:t>
            </a:r>
            <a:endParaRPr lang="en-US" sz="1000" dirty="0"/>
          </a:p>
        </p:txBody>
      </p:sp>
    </p:spTree>
  </p:cSld>
  <p:clrMapOvr>
    <a:masterClrMapping/>
  </p:clrMapOvr>
  <p:transition xmlns:p="http://schemas.openxmlformats.org/presentationml/2006/mai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What's Actually New In This Book</a:t>
            </a:r>
            <a:endParaRPr lang="en-US" sz="2800" dirty="0"/>
          </a:p>
        </p:txBody>
      </p:sp>
      <p:sp>
        <p:nvSpPr>
          <p:cNvPr id="4" name="Shape 2"/>
          <p:cNvSpPr/>
          <p:nvPr/>
        </p:nvSpPr>
        <p:spPr>
          <a:xfrm>
            <a:off x="548640" y="2011680"/>
            <a:ext cx="11091672" cy="1691640"/>
          </a:xfrm>
          <a:prstGeom prst="roundRect">
            <a:avLst>
              <a:gd name="adj" fmla="val 3243"/>
            </a:avLst>
          </a:prstGeom>
          <a:solidFill>
            <a:srgbClr val="27496D"/>
          </a:solidFill>
          <a:ln/>
        </p:spPr>
      </p:sp>
      <p:sp>
        <p:nvSpPr>
          <p:cNvPr id="5" name="Text 3"/>
          <p:cNvSpPr txBox="1"/>
          <p:nvPr/>
        </p:nvSpPr>
        <p:spPr>
          <a:xfrm>
            <a:off x="868680" y="2240280"/>
            <a:ext cx="10451592"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More kinds of data</a:t>
            </a:r>
            <a:endParaRPr lang="en-US" sz="1800" dirty="0"/>
          </a:p>
        </p:txBody>
      </p:sp>
      <p:sp>
        <p:nvSpPr>
          <p:cNvPr id="6" name="Text 4"/>
          <p:cNvSpPr txBox="1"/>
          <p:nvPr/>
        </p:nvSpPr>
        <p:spPr>
          <a:xfrm>
            <a:off x="868680" y="2743200"/>
            <a:ext cx="10451592" cy="868680"/>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Not only the NBA, but an Italian championship too. Not only box scores and play-by-play, but player tracking, images, video, pose-detection data, and ball trajectories.</a:t>
            </a:r>
            <a:endParaRPr lang="en-US" sz="1400" dirty="0"/>
          </a:p>
        </p:txBody>
      </p:sp>
      <p:sp>
        <p:nvSpPr>
          <p:cNvPr id="7" name="Shape 5"/>
          <p:cNvSpPr/>
          <p:nvPr/>
        </p:nvSpPr>
        <p:spPr>
          <a:xfrm>
            <a:off x="548640" y="3931920"/>
            <a:ext cx="11091672" cy="1691640"/>
          </a:xfrm>
          <a:prstGeom prst="roundRect">
            <a:avLst>
              <a:gd name="adj" fmla="val 3243"/>
            </a:avLst>
          </a:prstGeom>
          <a:solidFill>
            <a:srgbClr val="E4572E"/>
          </a:solidFill>
          <a:ln/>
        </p:spPr>
      </p:sp>
      <p:sp>
        <p:nvSpPr>
          <p:cNvPr id="8" name="Text 6"/>
          <p:cNvSpPr txBox="1"/>
          <p:nvPr/>
        </p:nvSpPr>
        <p:spPr>
          <a:xfrm>
            <a:off x="868680" y="4160520"/>
            <a:ext cx="10451592"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More kinds of tools</a:t>
            </a:r>
            <a:endParaRPr lang="en-US" sz="1800" dirty="0"/>
          </a:p>
        </p:txBody>
      </p:sp>
      <p:sp>
        <p:nvSpPr>
          <p:cNvPr id="9" name="Text 7"/>
          <p:cNvSpPr txBox="1"/>
          <p:nvPr/>
        </p:nvSpPr>
        <p:spPr>
          <a:xfrm>
            <a:off x="868680" y="4663440"/>
            <a:ext cx="10451592" cy="868680"/>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BasketballAnalyzeR is still here, but the book now integrates many other R packages, and even calls Python from inside R for some of the computer-vision work.</a:t>
            </a:r>
            <a:endParaRPr lang="en-US" sz="1400" dirty="0"/>
          </a:p>
        </p:txBody>
      </p:sp>
      <p:sp>
        <p:nvSpPr>
          <p:cNvPr id="10" name="Text 8"/>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Zuccolotto, Manisera &amp; Sandri (2026), Preface and Chapter 1.</a:t>
            </a:r>
            <a:endParaRPr lang="en-US" sz="1000" dirty="0"/>
          </a:p>
        </p:txBody>
      </p:sp>
    </p:spTree>
  </p:cSld>
  <p:clrMapOvr>
    <a:masterClrMapping/>
  </p:clrMapOvr>
  <p:transition xmlns:p="http://schemas.openxmlformats.org/presentationml/2006/mai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Nine Chapters Ahead (Part 1 of 2)</a:t>
            </a:r>
            <a:endParaRPr lang="en-US" sz="2800" dirty="0"/>
          </a:p>
        </p:txBody>
      </p:sp>
      <p:sp>
        <p:nvSpPr>
          <p:cNvPr id="4" name="Text 2"/>
          <p:cNvSpPr txBox="1"/>
          <p:nvPr/>
        </p:nvSpPr>
        <p:spPr>
          <a:xfrm>
            <a:off x="548640" y="1920240"/>
            <a:ext cx="1188720" cy="731520"/>
          </a:xfrm>
          <a:prstGeom prst="rect">
            <a:avLst/>
          </a:prstGeom>
          <a:noFill/>
          <a:ln/>
        </p:spPr>
        <p:txBody>
          <a:bodyPr wrap="square" lIns="0" tIns="0" rIns="0" bIns="0" rtlCol="0" anchor="ctr"/>
          <a:lstStyle/>
          <a:p>
            <a:pPr indent="0" marL="0">
              <a:buNone/>
            </a:pPr>
            <a:r>
              <a:rPr lang="en-US" sz="1800" b="1" dirty="0">
                <a:solidFill>
                  <a:srgbClr val="E4572E"/>
                </a:solidFill>
                <a:latin typeface="Cambria" pitchFamily="34" charset="0"/>
                <a:ea typeface="Cambria" pitchFamily="34" charset="-122"/>
                <a:cs typeface="Cambria" pitchFamily="34" charset="-120"/>
              </a:rPr>
              <a:t>Ch. 2</a:t>
            </a:r>
            <a:endParaRPr lang="en-US" sz="1800" dirty="0"/>
          </a:p>
        </p:txBody>
      </p:sp>
      <p:sp>
        <p:nvSpPr>
          <p:cNvPr id="5" name="Text 3"/>
          <p:cNvSpPr txBox="1"/>
          <p:nvPr/>
        </p:nvSpPr>
        <p:spPr>
          <a:xfrm>
            <a:off x="1920240" y="1920240"/>
            <a:ext cx="9720072"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Beyond individual skills: lineups and player combinations</a:t>
            </a:r>
            <a:endParaRPr lang="en-US" sz="1600" dirty="0"/>
          </a:p>
        </p:txBody>
      </p:sp>
      <p:sp>
        <p:nvSpPr>
          <p:cNvPr id="6" name="Text 4"/>
          <p:cNvSpPr txBox="1"/>
          <p:nvPr/>
        </p:nvSpPr>
        <p:spPr>
          <a:xfrm>
            <a:off x="548640" y="2761488"/>
            <a:ext cx="1188720" cy="731520"/>
          </a:xfrm>
          <a:prstGeom prst="rect">
            <a:avLst/>
          </a:prstGeom>
          <a:noFill/>
          <a:ln/>
        </p:spPr>
        <p:txBody>
          <a:bodyPr wrap="square" lIns="0" tIns="0" rIns="0" bIns="0" rtlCol="0" anchor="ctr"/>
          <a:lstStyle/>
          <a:p>
            <a:pPr indent="0" marL="0">
              <a:buNone/>
            </a:pPr>
            <a:r>
              <a:rPr lang="en-US" sz="1800" b="1" dirty="0">
                <a:solidFill>
                  <a:srgbClr val="E4572E"/>
                </a:solidFill>
                <a:latin typeface="Cambria" pitchFamily="34" charset="0"/>
                <a:ea typeface="Cambria" pitchFamily="34" charset="-122"/>
                <a:cs typeface="Cambria" pitchFamily="34" charset="-120"/>
              </a:rPr>
              <a:t>Ch. 3</a:t>
            </a:r>
            <a:endParaRPr lang="en-US" sz="1800" dirty="0"/>
          </a:p>
        </p:txBody>
      </p:sp>
      <p:sp>
        <p:nvSpPr>
          <p:cNvPr id="7" name="Text 5"/>
          <p:cNvSpPr txBox="1"/>
          <p:nvPr/>
        </p:nvSpPr>
        <p:spPr>
          <a:xfrm>
            <a:off x="1920240" y="2761488"/>
            <a:ext cx="9720072"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Clutch performance and situational splits</a:t>
            </a:r>
            <a:endParaRPr lang="en-US" sz="1600" dirty="0"/>
          </a:p>
        </p:txBody>
      </p:sp>
      <p:sp>
        <p:nvSpPr>
          <p:cNvPr id="8" name="Text 6"/>
          <p:cNvSpPr txBox="1"/>
          <p:nvPr/>
        </p:nvSpPr>
        <p:spPr>
          <a:xfrm>
            <a:off x="548640" y="3602736"/>
            <a:ext cx="1188720" cy="731520"/>
          </a:xfrm>
          <a:prstGeom prst="rect">
            <a:avLst/>
          </a:prstGeom>
          <a:noFill/>
          <a:ln/>
        </p:spPr>
        <p:txBody>
          <a:bodyPr wrap="square" lIns="0" tIns="0" rIns="0" bIns="0" rtlCol="0" anchor="ctr"/>
          <a:lstStyle/>
          <a:p>
            <a:pPr indent="0" marL="0">
              <a:buNone/>
            </a:pPr>
            <a:r>
              <a:rPr lang="en-US" sz="1800" b="1" dirty="0">
                <a:solidFill>
                  <a:srgbClr val="E4572E"/>
                </a:solidFill>
                <a:latin typeface="Cambria" pitchFamily="34" charset="0"/>
                <a:ea typeface="Cambria" pitchFamily="34" charset="-122"/>
                <a:cs typeface="Cambria" pitchFamily="34" charset="-120"/>
              </a:rPr>
              <a:t>Ch. 4</a:t>
            </a:r>
            <a:endParaRPr lang="en-US" sz="1800" dirty="0"/>
          </a:p>
        </p:txBody>
      </p:sp>
      <p:sp>
        <p:nvSpPr>
          <p:cNvPr id="9" name="Text 7"/>
          <p:cNvSpPr txBox="1"/>
          <p:nvPr/>
        </p:nvSpPr>
        <p:spPr>
          <a:xfrm>
            <a:off x="1920240" y="3602736"/>
            <a:ext cx="9720072"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Season segments and final rankings</a:t>
            </a:r>
            <a:endParaRPr lang="en-US" sz="1600" dirty="0"/>
          </a:p>
        </p:txBody>
      </p:sp>
      <p:sp>
        <p:nvSpPr>
          <p:cNvPr id="10" name="Text 8"/>
          <p:cNvSpPr txBox="1"/>
          <p:nvPr/>
        </p:nvSpPr>
        <p:spPr>
          <a:xfrm>
            <a:off x="548640" y="4443984"/>
            <a:ext cx="1188720" cy="731520"/>
          </a:xfrm>
          <a:prstGeom prst="rect">
            <a:avLst/>
          </a:prstGeom>
          <a:noFill/>
          <a:ln/>
        </p:spPr>
        <p:txBody>
          <a:bodyPr wrap="square" lIns="0" tIns="0" rIns="0" bIns="0" rtlCol="0" anchor="ctr"/>
          <a:lstStyle/>
          <a:p>
            <a:pPr indent="0" marL="0">
              <a:buNone/>
            </a:pPr>
            <a:r>
              <a:rPr lang="en-US" sz="1800" b="1" dirty="0">
                <a:solidFill>
                  <a:srgbClr val="E4572E"/>
                </a:solidFill>
                <a:latin typeface="Cambria" pitchFamily="34" charset="0"/>
                <a:ea typeface="Cambria" pitchFamily="34" charset="-122"/>
                <a:cs typeface="Cambria" pitchFamily="34" charset="-120"/>
              </a:rPr>
              <a:t>Ch. 5</a:t>
            </a:r>
            <a:endParaRPr lang="en-US" sz="1800" dirty="0"/>
          </a:p>
        </p:txBody>
      </p:sp>
      <p:sp>
        <p:nvSpPr>
          <p:cNvPr id="11" name="Text 9"/>
          <p:cNvSpPr txBox="1"/>
          <p:nvPr/>
        </p:nvSpPr>
        <p:spPr>
          <a:xfrm>
            <a:off x="1920240" y="4443984"/>
            <a:ext cx="9720072"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Spatial dynamics and player tracking data</a:t>
            </a:r>
            <a:endParaRPr lang="en-US" sz="1600" dirty="0"/>
          </a:p>
        </p:txBody>
      </p:sp>
      <p:sp>
        <p:nvSpPr>
          <p:cNvPr id="12" name="Text 10"/>
          <p:cNvSpPr txBox="1"/>
          <p:nvPr/>
        </p:nvSpPr>
        <p:spPr>
          <a:xfrm>
            <a:off x="548640" y="5285232"/>
            <a:ext cx="1188720" cy="731520"/>
          </a:xfrm>
          <a:prstGeom prst="rect">
            <a:avLst/>
          </a:prstGeom>
          <a:noFill/>
          <a:ln/>
        </p:spPr>
        <p:txBody>
          <a:bodyPr wrap="square" lIns="0" tIns="0" rIns="0" bIns="0" rtlCol="0" anchor="ctr"/>
          <a:lstStyle/>
          <a:p>
            <a:pPr indent="0" marL="0">
              <a:buNone/>
            </a:pPr>
            <a:r>
              <a:rPr lang="en-US" sz="1800" b="1" dirty="0">
                <a:solidFill>
                  <a:srgbClr val="E4572E"/>
                </a:solidFill>
                <a:latin typeface="Cambria" pitchFamily="34" charset="0"/>
                <a:ea typeface="Cambria" pitchFamily="34" charset="-122"/>
                <a:cs typeface="Cambria" pitchFamily="34" charset="-120"/>
              </a:rPr>
              <a:t>Ch. 6</a:t>
            </a:r>
            <a:endParaRPr lang="en-US" sz="1800" dirty="0"/>
          </a:p>
        </p:txBody>
      </p:sp>
      <p:sp>
        <p:nvSpPr>
          <p:cNvPr id="13" name="Text 11"/>
          <p:cNvSpPr txBox="1"/>
          <p:nvPr/>
        </p:nvSpPr>
        <p:spPr>
          <a:xfrm>
            <a:off x="1920240" y="5285232"/>
            <a:ext cx="9720072"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Athletic motion and pose estimation</a:t>
            </a:r>
            <a:endParaRPr lang="en-US" sz="1600" dirty="0"/>
          </a:p>
        </p:txBody>
      </p:sp>
      <p:sp>
        <p:nvSpPr>
          <p:cNvPr id="14" name="Text 1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Table 1.1, Zuccolotto, Manisera &amp; Sandri (2026), p. 2.</a:t>
            </a:r>
            <a:endParaRPr lang="en-US" sz="1000" dirty="0"/>
          </a:p>
        </p:txBody>
      </p:sp>
    </p:spTree>
  </p:cSld>
  <p:clrMapOvr>
    <a:masterClrMapping/>
  </p:clrMapOvr>
  <p:transition xmlns:p="http://schemas.openxmlformats.org/presentationml/2006/mai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Nine Chapters Ahead (Part 2 of 2)</a:t>
            </a:r>
            <a:endParaRPr lang="en-US" sz="2800" dirty="0"/>
          </a:p>
        </p:txBody>
      </p:sp>
      <p:sp>
        <p:nvSpPr>
          <p:cNvPr id="4" name="Text 2"/>
          <p:cNvSpPr txBox="1"/>
          <p:nvPr/>
        </p:nvSpPr>
        <p:spPr>
          <a:xfrm>
            <a:off x="548640" y="2103120"/>
            <a:ext cx="1188720" cy="777240"/>
          </a:xfrm>
          <a:prstGeom prst="rect">
            <a:avLst/>
          </a:prstGeom>
          <a:noFill/>
          <a:ln/>
        </p:spPr>
        <p:txBody>
          <a:bodyPr wrap="square" lIns="0" tIns="0" rIns="0" bIns="0" rtlCol="0" anchor="ctr"/>
          <a:lstStyle/>
          <a:p>
            <a:pPr indent="0" marL="0">
              <a:buNone/>
            </a:pPr>
            <a:r>
              <a:rPr lang="en-US" sz="1800" b="1" dirty="0">
                <a:solidFill>
                  <a:srgbClr val="E4572E"/>
                </a:solidFill>
                <a:latin typeface="Cambria" pitchFamily="34" charset="0"/>
                <a:ea typeface="Cambria" pitchFamily="34" charset="-122"/>
                <a:cs typeface="Cambria" pitchFamily="34" charset="-120"/>
              </a:rPr>
              <a:t>Ch. 7</a:t>
            </a:r>
            <a:endParaRPr lang="en-US" sz="1800" dirty="0"/>
          </a:p>
        </p:txBody>
      </p:sp>
      <p:sp>
        <p:nvSpPr>
          <p:cNvPr id="5" name="Text 3"/>
          <p:cNvSpPr txBox="1"/>
          <p:nvPr/>
        </p:nvSpPr>
        <p:spPr>
          <a:xfrm>
            <a:off x="1920240" y="2103120"/>
            <a:ext cx="9720072" cy="7772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Ball trajectories and object detection</a:t>
            </a:r>
            <a:endParaRPr lang="en-US" sz="1600" dirty="0"/>
          </a:p>
        </p:txBody>
      </p:sp>
      <p:sp>
        <p:nvSpPr>
          <p:cNvPr id="6" name="Text 4"/>
          <p:cNvSpPr txBox="1"/>
          <p:nvPr/>
        </p:nvSpPr>
        <p:spPr>
          <a:xfrm>
            <a:off x="548640" y="3017520"/>
            <a:ext cx="1188720" cy="777240"/>
          </a:xfrm>
          <a:prstGeom prst="rect">
            <a:avLst/>
          </a:prstGeom>
          <a:noFill/>
          <a:ln/>
        </p:spPr>
        <p:txBody>
          <a:bodyPr wrap="square" lIns="0" tIns="0" rIns="0" bIns="0" rtlCol="0" anchor="ctr"/>
          <a:lstStyle/>
          <a:p>
            <a:pPr indent="0" marL="0">
              <a:buNone/>
            </a:pPr>
            <a:r>
              <a:rPr lang="en-US" sz="1800" b="1" dirty="0">
                <a:solidFill>
                  <a:srgbClr val="E4572E"/>
                </a:solidFill>
                <a:latin typeface="Cambria" pitchFamily="34" charset="0"/>
                <a:ea typeface="Cambria" pitchFamily="34" charset="-122"/>
                <a:cs typeface="Cambria" pitchFamily="34" charset="-120"/>
              </a:rPr>
              <a:t>Ch. 8</a:t>
            </a:r>
            <a:endParaRPr lang="en-US" sz="1800" dirty="0"/>
          </a:p>
        </p:txBody>
      </p:sp>
      <p:sp>
        <p:nvSpPr>
          <p:cNvPr id="7" name="Text 5"/>
          <p:cNvSpPr txBox="1"/>
          <p:nvPr/>
        </p:nvSpPr>
        <p:spPr>
          <a:xfrm>
            <a:off x="1920240" y="3017520"/>
            <a:ext cx="9720072" cy="7772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Performance maps and court segmentation</a:t>
            </a:r>
            <a:endParaRPr lang="en-US" sz="1600" dirty="0"/>
          </a:p>
        </p:txBody>
      </p:sp>
      <p:sp>
        <p:nvSpPr>
          <p:cNvPr id="8" name="Text 6"/>
          <p:cNvSpPr txBox="1"/>
          <p:nvPr/>
        </p:nvSpPr>
        <p:spPr>
          <a:xfrm>
            <a:off x="548640" y="3931920"/>
            <a:ext cx="1188720" cy="777240"/>
          </a:xfrm>
          <a:prstGeom prst="rect">
            <a:avLst/>
          </a:prstGeom>
          <a:noFill/>
          <a:ln/>
        </p:spPr>
        <p:txBody>
          <a:bodyPr wrap="square" lIns="0" tIns="0" rIns="0" bIns="0" rtlCol="0" anchor="ctr"/>
          <a:lstStyle/>
          <a:p>
            <a:pPr indent="0" marL="0">
              <a:buNone/>
            </a:pPr>
            <a:r>
              <a:rPr lang="en-US" sz="1800" b="1" dirty="0">
                <a:solidFill>
                  <a:srgbClr val="E4572E"/>
                </a:solidFill>
                <a:latin typeface="Cambria" pitchFamily="34" charset="0"/>
                <a:ea typeface="Cambria" pitchFamily="34" charset="-122"/>
                <a:cs typeface="Cambria" pitchFamily="34" charset="-120"/>
              </a:rPr>
              <a:t>Ch. 9</a:t>
            </a:r>
            <a:endParaRPr lang="en-US" sz="1800" dirty="0"/>
          </a:p>
        </p:txBody>
      </p:sp>
      <p:sp>
        <p:nvSpPr>
          <p:cNvPr id="9" name="Text 7"/>
          <p:cNvSpPr txBox="1"/>
          <p:nvPr/>
        </p:nvSpPr>
        <p:spPr>
          <a:xfrm>
            <a:off x="1920240" y="3931920"/>
            <a:ext cx="9720072" cy="7772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Machine learning models for scoring probability</a:t>
            </a:r>
            <a:endParaRPr lang="en-US" sz="1600" dirty="0"/>
          </a:p>
        </p:txBody>
      </p:sp>
      <p:sp>
        <p:nvSpPr>
          <p:cNvPr id="10" name="Text 8"/>
          <p:cNvSpPr txBox="1"/>
          <p:nvPr/>
        </p:nvSpPr>
        <p:spPr>
          <a:xfrm>
            <a:off x="548640" y="4846320"/>
            <a:ext cx="1188720" cy="777240"/>
          </a:xfrm>
          <a:prstGeom prst="rect">
            <a:avLst/>
          </a:prstGeom>
          <a:noFill/>
          <a:ln/>
        </p:spPr>
        <p:txBody>
          <a:bodyPr wrap="square" lIns="0" tIns="0" rIns="0" bIns="0" rtlCol="0" anchor="ctr"/>
          <a:lstStyle/>
          <a:p>
            <a:pPr indent="0" marL="0">
              <a:buNone/>
            </a:pPr>
            <a:r>
              <a:rPr lang="en-US" sz="1800" b="1" dirty="0">
                <a:solidFill>
                  <a:srgbClr val="E4572E"/>
                </a:solidFill>
                <a:latin typeface="Cambria" pitchFamily="34" charset="0"/>
                <a:ea typeface="Cambria" pitchFamily="34" charset="-122"/>
                <a:cs typeface="Cambria" pitchFamily="34" charset="-120"/>
              </a:rPr>
              <a:t>Ch. 10</a:t>
            </a:r>
            <a:endParaRPr lang="en-US" sz="1800" dirty="0"/>
          </a:p>
        </p:txBody>
      </p:sp>
      <p:sp>
        <p:nvSpPr>
          <p:cNvPr id="11" name="Text 9"/>
          <p:cNvSpPr txBox="1"/>
          <p:nvPr/>
        </p:nvSpPr>
        <p:spPr>
          <a:xfrm>
            <a:off x="1920240" y="4846320"/>
            <a:ext cx="9720072" cy="7772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Our own signature module: injury-risk indicators (the PhD track)</a:t>
            </a:r>
            <a:endParaRPr lang="en-US" sz="1600" dirty="0"/>
          </a:p>
        </p:txBody>
      </p:sp>
      <p:sp>
        <p:nvSpPr>
          <p:cNvPr id="12" name="Text 10"/>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Table 1.2, Zuccolotto, Manisera &amp; Sandri (2026), p. 3; Module 10 is this course's own addition.</a:t>
            </a:r>
            <a:endParaRPr lang="en-US" sz="1000" dirty="0"/>
          </a:p>
        </p:txBody>
      </p:sp>
    </p:spTree>
  </p:cSld>
  <p:clrMapOvr>
    <a:masterClrMapping/>
  </p:clrMapOvr>
  <p:transition xmlns:p="http://schemas.openxmlformats.org/presentationml/2006/mai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Setting Up: pacman and dplyr</a:t>
            </a:r>
            <a:endParaRPr lang="en-US" sz="2800" dirty="0"/>
          </a:p>
        </p:txBody>
      </p:sp>
      <p:sp>
        <p:nvSpPr>
          <p:cNvPr id="4" name="Shape 2"/>
          <p:cNvSpPr/>
          <p:nvPr/>
        </p:nvSpPr>
        <p:spPr>
          <a:xfrm>
            <a:off x="548640" y="2011680"/>
            <a:ext cx="11091672" cy="2834640"/>
          </a:xfrm>
          <a:prstGeom prst="roundRect">
            <a:avLst>
              <a:gd name="adj" fmla="val 1935"/>
            </a:avLst>
          </a:prstGeom>
          <a:solidFill>
            <a:srgbClr val="0B1D33"/>
          </a:solidFill>
          <a:ln/>
        </p:spPr>
      </p:sp>
      <p:sp>
        <p:nvSpPr>
          <p:cNvPr id="5" name="Text 3"/>
          <p:cNvSpPr txBox="1"/>
          <p:nvPr/>
        </p:nvSpPr>
        <p:spPr>
          <a:xfrm>
            <a:off x="914400" y="2240280"/>
            <a:ext cx="10360152" cy="2377440"/>
          </a:xfrm>
          <a:prstGeom prst="rect">
            <a:avLst/>
          </a:prstGeom>
          <a:noFill/>
          <a:ln/>
        </p:spPr>
        <p:txBody>
          <a:bodyPr wrap="square" lIns="0" tIns="0" rIns="0" bIns="0" rtlCol="0" anchor="ctr"/>
          <a:lstStyle/>
          <a:p>
            <a:pPr indent="0" marL="0">
              <a:buNone/>
            </a:pPr>
            <a:r>
              <a:rPr lang="en-US" sz="1500" dirty="0">
                <a:solidFill>
                  <a:srgbClr val="D9E2F3"/>
                </a:solidFill>
                <a:latin typeface="Courier New" pitchFamily="34" charset="0"/>
                <a:ea typeface="Courier New" pitchFamily="34" charset="-122"/>
                <a:cs typeface="Courier New" pitchFamily="34" charset="-120"/>
              </a:rPr>
              <a:t># the book installs pacman once, then uses it to load everything else</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install.packages("pacman")</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library(pacman)</a:t>
            </a:r>
            <a:endParaRPr lang="en-US" sz="1500" dirty="0"/>
          </a:p>
          <a:p>
            <a:pPr indent="0" marL="0">
              <a:buNone/>
            </a:pP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 dplyr is used constantly -- if %&gt;% or filter() misbehave:</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library(conflicted)</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conflict_prefer("%&gt;%", "dplyr")</a:t>
            </a:r>
            <a:endParaRPr lang="en-US" sz="1500" dirty="0"/>
          </a:p>
          <a:p>
            <a:pPr indent="0" marL="0">
              <a:buNone/>
            </a:pPr>
            <a:r>
              <a:rPr lang="en-US" sz="1500" dirty="0">
                <a:solidFill>
                  <a:srgbClr val="D9E2F3"/>
                </a:solidFill>
                <a:latin typeface="Courier New" pitchFamily="34" charset="0"/>
                <a:ea typeface="Courier New" pitchFamily="34" charset="-122"/>
                <a:cs typeface="Courier New" pitchFamily="34" charset="-120"/>
              </a:rPr>
              <a:t>conflict_prefer("filter", "dplyr")</a:t>
            </a:r>
            <a:endParaRPr lang="en-US" sz="1500" dirty="0"/>
          </a:p>
        </p:txBody>
      </p:sp>
      <p:sp>
        <p:nvSpPr>
          <p:cNvPr id="6" name="Text 4"/>
          <p:cNvSpPr txBox="1"/>
          <p:nvPr/>
        </p:nvSpPr>
        <p:spPr>
          <a:xfrm>
            <a:off x="548640" y="502920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We'll hit this exact conflict warning later today -- now you'll know what it means.</a:t>
            </a:r>
            <a:endParaRPr lang="en-US" sz="1300" dirty="0"/>
          </a:p>
        </p:txBody>
      </p:sp>
      <p:sp>
        <p:nvSpPr>
          <p:cNvPr id="7" name="Text 5"/>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Zuccolotto, Manisera &amp; Sandri (2026), Section 1.2, p. 6.</a:t>
            </a:r>
            <a:endParaRPr lang="en-US" sz="1000" dirty="0"/>
          </a:p>
        </p:txBody>
      </p:sp>
    </p:spTree>
  </p:cSld>
  <p:clrMapOvr>
    <a:masterClrMapping/>
  </p:clrMapOvr>
  <p:transition xmlns:p="http://schemas.openxmlformats.org/presentationml/2006/mai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open RStudio and get dplyr loaded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transition xmlns:p="http://schemas.openxmlformats.org/presentationml/2006/mai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A Real Question: Who Actually Led The League?</a:t>
            </a:r>
            <a:endParaRPr lang="en-US" sz="2800" dirty="0"/>
          </a:p>
        </p:txBody>
      </p:sp>
      <p:sp>
        <p:nvSpPr>
          <p:cNvPr id="4" name="Shape 2"/>
          <p:cNvSpPr/>
          <p:nvPr/>
        </p:nvSpPr>
        <p:spPr>
          <a:xfrm>
            <a:off x="548640" y="2011680"/>
            <a:ext cx="11091672" cy="2834640"/>
          </a:xfrm>
          <a:prstGeom prst="roundRect">
            <a:avLst>
              <a:gd name="adj" fmla="val 1935"/>
            </a:avLst>
          </a:prstGeom>
          <a:solidFill>
            <a:srgbClr val="0B1D33"/>
          </a:solidFill>
          <a:ln/>
        </p:spPr>
      </p:sp>
      <p:sp>
        <p:nvSpPr>
          <p:cNvPr id="5" name="Text 3"/>
          <p:cNvSpPr txBox="1"/>
          <p:nvPr/>
        </p:nvSpPr>
        <p:spPr>
          <a:xfrm>
            <a:off x="914400" y="2240280"/>
            <a:ext cx="10360152" cy="2377440"/>
          </a:xfrm>
          <a:prstGeom prst="rect">
            <a:avLst/>
          </a:prstGeom>
          <a:noFill/>
          <a:ln/>
        </p:spPr>
        <p:txBody>
          <a:bodyPr wrap="square" lIns="0" tIns="0" rIns="0" bIns="0" rtlCol="0" anchor="ctr"/>
          <a:lstStyle/>
          <a:p>
            <a:pPr indent="0" marL="0">
              <a:buNone/>
            </a:pPr>
            <a:r>
              <a:rPr lang="en-US" sz="1400" dirty="0">
                <a:solidFill>
                  <a:srgbClr val="D9E2F3"/>
                </a:solidFill>
                <a:latin typeface="Courier New" pitchFamily="34" charset="0"/>
                <a:ea typeface="Courier New" pitchFamily="34" charset="-122"/>
                <a:cs typeface="Courier New" pitchFamily="34" charset="-120"/>
              </a:rPr>
              <a:t>library(BasketballAnalyzeR); library(dplyr)</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data(Pbox)</a:t>
            </a:r>
            <a:endParaRPr lang="en-US" sz="1400" dirty="0"/>
          </a:p>
          <a:p>
            <a:pPr indent="0" marL="0">
              <a:buNone/>
            </a:pP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top_scorers &lt;- Pbox %&gt;%</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filter(MIN &gt;= 500) %&gt;%</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mutate(PPG = round(PTS / GP, 1)) %&gt;%</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arrange(desc(PPG)) %&gt;%</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select(Player, Team, GP, MIN, PTS, PPG) %&gt;%</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slice(1:8)</a:t>
            </a:r>
            <a:endParaRPr lang="en-US" sz="1400" dirty="0"/>
          </a:p>
          <a:p>
            <a:pPr indent="0" marL="0">
              <a:buNone/>
            </a:pP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print(top_scorers)</a:t>
            </a:r>
            <a:endParaRPr lang="en-US" sz="1400" dirty="0"/>
          </a:p>
        </p:txBody>
      </p:sp>
      <p:sp>
        <p:nvSpPr>
          <p:cNvPr id="6" name="Text 4"/>
          <p:cNvSpPr txBox="1"/>
          <p:nvPr/>
        </p:nvSpPr>
        <p:spPr>
          <a:xfrm>
            <a:off x="548640" y="502920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Four verbs, one pipeline: filter, mutate, arrange, select. Run this yourself before the next slide.</a:t>
            </a:r>
            <a:endParaRPr lang="en-US" sz="1300" dirty="0"/>
          </a:p>
        </p:txBody>
      </p:sp>
    </p:spTree>
  </p:cSld>
  <p:clrMapOvr>
    <a:masterClrMapping/>
  </p:clrMapOvr>
  <p:transition xmlns:p="http://schemas.openxmlformats.org/presentationml/2006/mai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2017-18's Real Top Scorers (Min. 500 Minutes)</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2743200"/>
        </p:xfrm>
        <a:graphic>
          <a:graphicData uri="http://schemas.openxmlformats.org/drawingml/2006/table">
            <a:tbl>
              <a:tblPr/>
              <a:tblGrid>
                <a:gridCol w="4114800"/>
                <a:gridCol w="5148072"/>
                <a:gridCol w="1828800"/>
              </a:tblGrid>
              <a:tr h="34290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Player</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Team</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PPG</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34290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James Harden</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Houston Rockets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30.4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4290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Anthony Davis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New Orleans Pelicans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28.1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4290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LeBron James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Cleveland Cavaliers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27.5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4290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Giannis Antetokounmpo</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Milwaukee Bucks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26.9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4290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Damian Lillard</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Portland Trail Blazers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26.9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4290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Kevin Durant</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Golden State Warriors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26.4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4290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Stephen Curry</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Golden State Warriors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26.4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Pbox, BasketballAnalyzeR (Zuccolotto &amp; Manisera, 2020); 2017-18 NBA regular season.</a:t>
            </a:r>
            <a:endParaRPr lang="en-US" sz="1000" dirty="0"/>
          </a:p>
        </p:txBody>
      </p:sp>
    </p:spTree>
  </p:cSld>
  <p:clrMapOvr>
    <a:masterClrMapping/>
  </p:clrMapOvr>
  <p:transition xmlns:p="http://schemas.openxmlformats.org/presentationml/2006/mai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One Number Never Tells The Whole Story</a:t>
            </a:r>
            <a:endParaRPr lang="en-US" sz="2800" dirty="0"/>
          </a:p>
        </p:txBody>
      </p:sp>
      <p:sp>
        <p:nvSpPr>
          <p:cNvPr id="4" name="Shape 2"/>
          <p:cNvSpPr/>
          <p:nvPr/>
        </p:nvSpPr>
        <p:spPr>
          <a:xfrm>
            <a:off x="548640" y="2103120"/>
            <a:ext cx="11091672" cy="1645920"/>
          </a:xfrm>
          <a:prstGeom prst="roundRect">
            <a:avLst>
              <a:gd name="adj" fmla="val 3333"/>
            </a:avLst>
          </a:prstGeom>
          <a:solidFill>
            <a:srgbClr val="EDF1F7"/>
          </a:solidFill>
          <a:ln/>
        </p:spPr>
      </p:sp>
      <p:sp>
        <p:nvSpPr>
          <p:cNvPr id="5" name="Text 3"/>
          <p:cNvSpPr txBox="1"/>
          <p:nvPr/>
        </p:nvSpPr>
        <p:spPr>
          <a:xfrm>
            <a:off x="914400" y="2377440"/>
            <a:ext cx="10360152" cy="128016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A points-per-game leaderboard tells you who scores. It says nothing about how a team actually moves the ball, or which player is quietly the hub everything runs through. That's what the rest of today builds toward: looking beyond one player's own stat line at how players connect.</a:t>
            </a:r>
            <a:endParaRPr lang="en-US" sz="1600" dirty="0"/>
          </a:p>
        </p:txBody>
      </p:sp>
    </p:spTree>
  </p:cSld>
  <p:clrMapOvr>
    <a:masterClrMapping/>
  </p:clrMapOvr>
  <p:transition xmlns:p="http://schemas.openxmlformats.org/presentationml/2006/mai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Try It Yourself</a:t>
            </a:r>
            <a:endParaRPr lang="en-US" sz="2800" dirty="0"/>
          </a:p>
        </p:txBody>
      </p:sp>
      <p:sp>
        <p:nvSpPr>
          <p:cNvPr id="4" name="Shape 2"/>
          <p:cNvSpPr/>
          <p:nvPr/>
        </p:nvSpPr>
        <p:spPr>
          <a:xfrm>
            <a:off x="548640" y="2103120"/>
            <a:ext cx="11091672" cy="2194560"/>
          </a:xfrm>
          <a:prstGeom prst="roundRect">
            <a:avLst>
              <a:gd name="adj" fmla="val 2500"/>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Using the same Pbox data, change the pipeline to answer a different question: which eight players had the best rebounds-per-game among those who played at least 1,000 minutes? Compare your top eight with the person next to you -- did you get the same list?</a:t>
            </a:r>
            <a:endParaRPr lang="en-US" sz="1600" dirty="0"/>
          </a:p>
        </p:txBody>
      </p:sp>
    </p:spTree>
  </p:cSld>
  <p:clrMapOvr>
    <a:masterClrMapping/>
  </p:clrMapOvr>
  <p:transition xmlns:p="http://schemas.openxmlformats.org/presentationml/2006/mai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Setup and a First Real Pipeline, Covered</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What this course covers, how to set up pacman and dplyr, and a real dplyr pipeline on real 2017-18 data.</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2 goes beyond one player's own stat line and builds a real assist network for an NBA team.</a:t>
            </a:r>
            <a:endParaRPr lang="en-US" sz="1400" dirty="0"/>
          </a:p>
        </p:txBody>
      </p:sp>
    </p:spTree>
  </p:cSld>
  <p:clrMapOvr>
    <a:masterClrMapping/>
  </p:clrMapOvr>
  <p:transition xmlns:p="http://schemas.openxmlformats.org/presentationml/2006/mai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beyond individual skills.</a:t>
            </a:r>
            <a:endParaRPr lang="en-US" sz="1600" dirty="0"/>
          </a:p>
        </p:txBody>
      </p:sp>
    </p:spTree>
  </p:cSld>
  <p:clrMapOvr>
    <a:masterClrMapping/>
  </p:clrMapOvr>
  <p:transition xmlns:p="http://schemas.openxmlformats.org/presentationml/2006/mai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Beyond Individual Skills</a:t>
            </a:r>
            <a:endParaRPr lang="en-US" sz="2800" dirty="0"/>
          </a:p>
        </p:txBody>
      </p:sp>
      <p:sp>
        <p:nvSpPr>
          <p:cNvPr id="4" name="Shape 2"/>
          <p:cNvSpPr/>
          <p:nvPr/>
        </p:nvSpPr>
        <p:spPr>
          <a:xfrm>
            <a:off x="548640" y="2103120"/>
            <a:ext cx="11091672" cy="1737360"/>
          </a:xfrm>
          <a:prstGeom prst="roundRect">
            <a:avLst>
              <a:gd name="adj" fmla="val 3158"/>
            </a:avLst>
          </a:prstGeom>
          <a:solidFill>
            <a:srgbClr val="EDF1F7"/>
          </a:solidFill>
          <a:ln/>
        </p:spPr>
      </p:sp>
      <p:sp>
        <p:nvSpPr>
          <p:cNvPr id="5" name="Text 3"/>
          <p:cNvSpPr txBox="1"/>
          <p:nvPr/>
        </p:nvSpPr>
        <p:spPr>
          <a:xfrm>
            <a:off x="914400" y="2377440"/>
            <a:ext cx="10360152" cy="128016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Chapter 2 of the textbook moves past individual box-score stats to lineups and player combinations. Today we take a first real step in that direction with something you can build in the next ten minutes: an assist network for an actual NBA team.</a:t>
            </a:r>
            <a:endParaRPr lang="en-US" sz="16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Zuccolotto, Manisera &amp; Sandri (2026), Table 1.1, Chapter 2.</a:t>
            </a:r>
            <a:endParaRPr lang="en-US" sz="1000" dirty="0"/>
          </a:p>
        </p:txBody>
      </p:sp>
    </p:spTree>
  </p:cSld>
  <p:clrMapOvr>
    <a:masterClrMapping/>
  </p:clrMapOvr>
  <p:transition xmlns:p="http://schemas.openxmlformats.org/presentationml/2006/mai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What An Assist Network Actually Shows</a:t>
            </a:r>
            <a:endParaRPr lang="en-US" sz="2800" dirty="0"/>
          </a:p>
        </p:txBody>
      </p:sp>
      <p:sp>
        <p:nvSpPr>
          <p:cNvPr id="4" name="Shape 2"/>
          <p:cNvSpPr/>
          <p:nvPr/>
        </p:nvSpPr>
        <p:spPr>
          <a:xfrm>
            <a:off x="548640" y="2103120"/>
            <a:ext cx="11091672" cy="1737360"/>
          </a:xfrm>
          <a:prstGeom prst="roundRect">
            <a:avLst>
              <a:gd name="adj" fmla="val 3158"/>
            </a:avLst>
          </a:prstGeom>
          <a:solidFill>
            <a:srgbClr val="27496D"/>
          </a:solidFill>
          <a:ln/>
        </p:spPr>
      </p:sp>
      <p:sp>
        <p:nvSpPr>
          <p:cNvPr id="5" name="Text 3"/>
          <p:cNvSpPr txBox="1"/>
          <p:nvPr/>
        </p:nvSpPr>
        <p:spPr>
          <a:xfrm>
            <a:off x="914400" y="2377440"/>
            <a:ext cx="10360152" cy="1280160"/>
          </a:xfrm>
          <a:prstGeom prst="rect">
            <a:avLst/>
          </a:prstGeom>
          <a:noFill/>
          <a:ln/>
        </p:spPr>
        <p:txBody>
          <a:bodyPr wrap="square" lIns="0" tIns="0" rIns="0" bIns="0" rtlCol="0" anchor="ctr"/>
          <a:lstStyle/>
          <a:p>
            <a:pPr indent="0" marL="0">
              <a:lnSpc>
                <a:spcPct val="130000"/>
              </a:lnSpc>
              <a:buNone/>
            </a:pPr>
            <a:r>
              <a:rPr lang="en-US" sz="1600" dirty="0">
                <a:solidFill>
                  <a:srgbClr val="FFFFFF"/>
                </a:solidFill>
                <a:latin typeface="Calibri" pitchFamily="34" charset="0"/>
                <a:ea typeface="Calibri" pitchFamily="34" charset="-122"/>
                <a:cs typeface="Calibri" pitchFamily="34" charset="-120"/>
              </a:rPr>
              <a:t>Every made basket that follows a pass is one edge in the network: passer to scorer. Add up every one of those across a season and you get a real map of who a team's offense actually runs through -- which is not always the players with the most points.</a:t>
            </a:r>
            <a:endParaRPr lang="en-US" sz="1600" dirty="0"/>
          </a:p>
        </p:txBody>
      </p:sp>
    </p:spTree>
  </p:cSld>
  <p:clrMapOvr>
    <a:masterClrMapping/>
  </p:clrMapOvr>
  <p:transition xmlns:p="http://schemas.openxmlformats.org/presentationml/2006/mai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open our R package and build a real assist network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transition xmlns:p="http://schemas.openxmlformats.org/presentationml/2006/mai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Building The Golden State Warriors' Assist Network</a:t>
            </a:r>
            <a:endParaRPr lang="en-US" sz="2600" dirty="0"/>
          </a:p>
        </p:txBody>
      </p:sp>
      <p:sp>
        <p:nvSpPr>
          <p:cNvPr id="4" name="Shape 2"/>
          <p:cNvSpPr/>
          <p:nvPr/>
        </p:nvSpPr>
        <p:spPr>
          <a:xfrm>
            <a:off x="548640" y="2011680"/>
            <a:ext cx="11091672" cy="2834640"/>
          </a:xfrm>
          <a:prstGeom prst="roundRect">
            <a:avLst>
              <a:gd name="adj" fmla="val 1935"/>
            </a:avLst>
          </a:prstGeom>
          <a:solidFill>
            <a:srgbClr val="0B1D33"/>
          </a:solidFill>
          <a:ln/>
        </p:spPr>
      </p:sp>
      <p:sp>
        <p:nvSpPr>
          <p:cNvPr id="5" name="Text 3"/>
          <p:cNvSpPr txBox="1"/>
          <p:nvPr/>
        </p:nvSpPr>
        <p:spPr>
          <a:xfrm>
            <a:off x="914400" y="2240280"/>
            <a:ext cx="10360152" cy="2377440"/>
          </a:xfrm>
          <a:prstGeom prst="rect">
            <a:avLst/>
          </a:prstGeom>
          <a:noFill/>
          <a:ln/>
        </p:spPr>
        <p:txBody>
          <a:bodyPr wrap="square" lIns="0" tIns="0" rIns="0" bIns="0" rtlCol="0" anchor="ctr"/>
          <a:lstStyle/>
          <a:p>
            <a:pPr indent="0" marL="0">
              <a:buNone/>
            </a:pPr>
            <a:r>
              <a:rPr lang="en-US" sz="1400" dirty="0">
                <a:solidFill>
                  <a:srgbClr val="D9E2F3"/>
                </a:solidFill>
                <a:latin typeface="Courier New" pitchFamily="34" charset="0"/>
                <a:ea typeface="Courier New" pitchFamily="34" charset="-122"/>
                <a:cs typeface="Courier New" pitchFamily="34" charset="-120"/>
              </a:rPr>
              <a:t>data(PbP.BDB)</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PbP2 &lt;- PbPmanipulation(PbP.BDB)</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pbp_gsw &lt;- subset(PbP2, team == "GSW")</a:t>
            </a:r>
            <a:endParaRPr lang="en-US" sz="1400" dirty="0"/>
          </a:p>
          <a:p>
            <a:pPr indent="0" marL="0">
              <a:buNone/>
            </a:pP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net &lt;- assistnet(pbp_gsw)</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ns &lt;- net$nodeStats</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ns[order(-ns$AST), c("player","AST","FGM","FGM_AST")][1:6, ]</a:t>
            </a:r>
            <a:endParaRPr lang="en-US" sz="1400" dirty="0"/>
          </a:p>
        </p:txBody>
      </p:sp>
      <p:sp>
        <p:nvSpPr>
          <p:cNvPr id="6" name="Text 4"/>
          <p:cNvSpPr txBox="1"/>
          <p:nvPr/>
        </p:nvSpPr>
        <p:spPr>
          <a:xfrm>
            <a:off x="548640" y="502920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GSW = Golden State Warriors, 2017-18 regular season play-by-play.</a:t>
            </a:r>
            <a:endParaRPr lang="en-US" sz="1300" dirty="0"/>
          </a:p>
        </p:txBody>
      </p:sp>
    </p:spTree>
  </p:cSld>
  <p:clrMapOvr>
    <a:masterClrMapping/>
  </p:clrMapOvr>
  <p:transition xmlns:p="http://schemas.openxmlformats.org/presentationml/2006/mai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Who Actually Leads This Team In Assists?</a:t>
            </a:r>
            <a:endParaRPr lang="en-US" sz="2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2377440"/>
        </p:xfrm>
        <a:graphic>
          <a:graphicData uri="http://schemas.openxmlformats.org/drawingml/2006/table">
            <a:tbl>
              <a:tblPr/>
              <a:tblGrid>
                <a:gridCol w="4114800"/>
                <a:gridCol w="2743200"/>
                <a:gridCol w="4233672"/>
              </a:tblGrid>
              <a:tr h="39624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Player</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Assists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Makes Assisted</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39624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Draymond Green</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509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216 of 281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9624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Kevin Durant</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366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342 of 630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9624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Stephen Curry</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309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221 of 428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39624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Andre Iguodala</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210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96 of 148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39624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Klay Thompson</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185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475 of 575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assistnet(PbPmanipulation(PbP.BDB)), BasketballAnalyzeR, GSW 2017-18 regular season.</a:t>
            </a:r>
            <a:endParaRPr lang="en-US" sz="1000" dirty="0"/>
          </a:p>
        </p:txBody>
      </p:sp>
    </p:spTree>
  </p:cSld>
  <p:clrMapOvr>
    <a:masterClrMapping/>
  </p:clrMapOvr>
  <p:transition xmlns:p="http://schemas.openxmlformats.org/presentationml/2006/mai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The Full Network</a:t>
            </a:r>
            <a:endParaRPr lang="en-US" sz="2800" dirty="0"/>
          </a:p>
        </p:txBody>
      </p:sp>
      <p:pic>
        <p:nvPicPr>
          <p:cNvPr id="4" name="Image 0" descr="gsw_assistnet.png">    </p:cNvPr>
          <p:cNvPicPr>
            <a:picLocks noChangeAspect="1"/>
          </p:cNvPicPr>
          <p:nvPr/>
        </p:nvPicPr>
        <p:blipFill>
          <a:blip r:embed="rId1"/>
          <a:stretch>
            <a:fillRect/>
          </a:stretch>
        </p:blipFill>
        <p:spPr>
          <a:xfrm>
            <a:off x="1920240" y="1737360"/>
            <a:ext cx="8321040" cy="429768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Node size = shots made. Node color and edge color = assists. Draymond Green -&gt; Kevin Durant is the team's single heaviest assist connection.</a:t>
            </a:r>
            <a:endParaRPr lang="en-US" sz="1000" dirty="0"/>
          </a:p>
        </p:txBody>
      </p:sp>
    </p:spTree>
  </p:cSld>
  <p:clrMapOvr>
    <a:masterClrMapping/>
  </p:clrMapOvr>
  <p:transition xmlns:p="http://schemas.openxmlformats.org/presentationml/2006/mai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Same Team, Two Different Roles</a:t>
            </a:r>
            <a:endParaRPr lang="en-US" sz="28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468880"/>
            <a:ext cx="3840480" cy="118872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83%</a:t>
            </a:r>
            <a:endParaRPr lang="en-US" sz="6000" dirty="0"/>
          </a:p>
        </p:txBody>
      </p:sp>
      <p:sp>
        <p:nvSpPr>
          <p:cNvPr id="6" name="Text 4"/>
          <p:cNvSpPr txBox="1"/>
          <p:nvPr/>
        </p:nvSpPr>
        <p:spPr>
          <a:xfrm>
            <a:off x="822960" y="3749040"/>
            <a:ext cx="3291840" cy="12801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of Klay Thompson's made</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shots were assisted</a:t>
            </a:r>
            <a:endParaRPr lang="en-US" sz="13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500" b="1" dirty="0">
                <a:solidFill>
                  <a:srgbClr val="16213E"/>
                </a:solidFill>
                <a:latin typeface="Calibri" pitchFamily="34" charset="0"/>
                <a:ea typeface="Calibri" pitchFamily="34" charset="-122"/>
                <a:cs typeface="Calibri" pitchFamily="34" charset="-120"/>
              </a:rPr>
              <a:t>Compare that to: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only 54% of Kevin Durant's made shots were assisted -- the rest he created for himself.
</a:t>
            </a:r>
            <a:pPr indent="0" marL="0">
              <a:lnSpc>
                <a:spcPct val="130000"/>
              </a:lnSpc>
              <a:buNone/>
            </a:pPr>
            <a:r>
              <a:rPr lang="en-US" sz="1500" b="1" dirty="0">
                <a:solidFill>
                  <a:srgbClr val="E4572E"/>
                </a:solidFill>
                <a:latin typeface="Calibri" pitchFamily="34" charset="0"/>
                <a:ea typeface="Calibri" pitchFamily="34" charset="-122"/>
                <a:cs typeface="Calibri" pitchFamily="34" charset="-120"/>
              </a:rPr>
              <a:t>The takeaway: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raw shot totals treat every made basket the same. A network shows you who finishes plays other people started, and who starts most of their own.</a:t>
            </a:r>
            <a:endParaRPr lang="en-US" sz="1500" dirty="0"/>
          </a:p>
        </p:txBody>
      </p:sp>
      <p:sp>
        <p:nvSpPr>
          <p:cNvPr id="8" name="Text 6"/>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Computed from assistnet(PbPmanipulation(PbP.BDB)) node stats, GSW 2017-18 regular season.</a:t>
            </a:r>
            <a:endParaRPr lang="en-US" sz="1000" dirty="0"/>
          </a:p>
        </p:txBody>
      </p:sp>
    </p:spTree>
  </p:cSld>
  <p:clrMapOvr>
    <a:masterClrMapping/>
  </p:clrMapOvr>
  <p:transition xmlns:p="http://schemas.openxmlformats.org/presentationml/2006/mai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VIDEO · SEEING IT ON FILM</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What This Looks Like On The Court</a:t>
            </a:r>
            <a:endParaRPr lang="en-US" sz="2800" dirty="0"/>
          </a:p>
        </p:txBody>
      </p:sp>
      <p:sp>
        <p:nvSpPr>
          <p:cNvPr id="4" name="Text 2"/>
          <p:cNvSpPr txBox="1"/>
          <p:nvPr/>
        </p:nvSpPr>
        <p:spPr>
          <a:xfrm>
            <a:off x="548640" y="1920240"/>
            <a:ext cx="11091672" cy="914400"/>
          </a:xfrm>
          <a:prstGeom prst="rect">
            <a:avLst/>
          </a:prstGeom>
          <a:noFill/>
          <a:ln/>
        </p:spPr>
        <p:txBody>
          <a:bodyPr wrap="square" lIns="0" tIns="0" rIns="0" bIns="0" rtlCol="0" anchor="t"/>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The numbers say Draymond Green was Golden State's real passing hub. Here's what that looked like in an actual game breakdown.</a:t>
            </a:r>
            <a:endParaRPr lang="en-US" sz="1600" dirty="0"/>
          </a:p>
        </p:txBody>
      </p:sp>
    </p:spTree>
  </p:cSld>
  <p:clrMapOvr>
    <a:masterClrMapping/>
  </p:clrMapOvr>
  <p:transition xmlns:p="http://schemas.openxmlformats.org/presentationml/2006/mai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VIDEO</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Draymond Green, Playmaking</a:t>
            </a:r>
            <a:endParaRPr lang="en-US" sz="2800" dirty="0"/>
          </a:p>
        </p:txBody>
      </p:sp>
      <p:sp>
        <p:nvSpPr>
          <p:cNvPr id="4" name="Shape 2"/>
          <p:cNvSpPr/>
          <p:nvPr/>
        </p:nvSpPr>
        <p:spPr>
          <a:xfrm>
            <a:off x="548640" y="1965960"/>
            <a:ext cx="11091672" cy="3108960"/>
          </a:xfrm>
          <a:prstGeom prst="roundRect">
            <a:avLst>
              <a:gd name="adj" fmla="val 1765"/>
            </a:avLst>
          </a:prstGeom>
          <a:solidFill>
            <a:srgbClr val="0B1D33"/>
          </a:solidFill>
          <a:ln/>
        </p:spPr>
      </p:sp>
      <p:sp>
        <p:nvSpPr>
          <p:cNvPr id="5" name="Shape 3"/>
          <p:cNvSpPr/>
          <p:nvPr/>
        </p:nvSpPr>
        <p:spPr>
          <a:xfrm>
            <a:off x="5591556" y="2377440"/>
            <a:ext cx="1005840" cy="1005840"/>
          </a:xfrm>
          <a:prstGeom prst="ellipse">
            <a:avLst/>
          </a:prstGeom>
          <a:solidFill>
            <a:srgbClr val="E4572E"/>
          </a:solidFill>
          <a:ln/>
        </p:spPr>
      </p:sp>
      <p:sp>
        <p:nvSpPr>
          <p:cNvPr id="6" name="Text 4"/>
          <p:cNvSpPr txBox="1"/>
          <p:nvPr/>
        </p:nvSpPr>
        <p:spPr>
          <a:xfrm>
            <a:off x="5591556" y="2377440"/>
            <a:ext cx="1005840" cy="1005840"/>
          </a:xfrm>
          <a:prstGeom prst="rect">
            <a:avLst/>
          </a:prstGeom>
          <a:noFill/>
          <a:ln/>
        </p:spPr>
        <p:txBody>
          <a:bodyPr wrap="square" lIns="0" tIns="0" rIns="0" bIns="0" rtlCol="0" anchor="ctr"/>
          <a:lstStyle/>
          <a:p>
            <a:pPr algn="ctr" indent="0" marL="0">
              <a:buNone/>
            </a:pPr>
            <a:r>
              <a:rPr lang="en-US" sz="3200" dirty="0">
                <a:solidFill>
                  <a:srgbClr val="FFFFFF"/>
                </a:solidFill>
              </a:rPr>
              <a:t>▶</a:t>
            </a:r>
            <a:endParaRPr lang="en-US" sz="3200" dirty="0"/>
          </a:p>
        </p:txBody>
      </p:sp>
      <p:sp>
        <p:nvSpPr>
          <p:cNvPr id="7" name="Text 5"/>
          <p:cNvSpPr txBox="1"/>
          <p:nvPr/>
        </p:nvSpPr>
        <p:spPr>
          <a:xfrm>
            <a:off x="1097280" y="3520440"/>
            <a:ext cx="9994392"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NBA Breakdown: Draymond Green Playmaking</a:t>
            </a:r>
            <a:endParaRPr lang="en-US" sz="2000" dirty="0"/>
          </a:p>
        </p:txBody>
      </p:sp>
      <p:sp>
        <p:nvSpPr>
          <p:cNvPr id="8" name="Text 6"/>
          <p:cNvSpPr txBox="1"/>
          <p:nvPr/>
        </p:nvSpPr>
        <p:spPr>
          <a:xfrm>
            <a:off x="1097280" y="3977640"/>
            <a:ext cx="9994392" cy="365760"/>
          </a:xfrm>
          <a:prstGeom prst="rect">
            <a:avLst/>
          </a:prstGeom>
          <a:noFill/>
          <a:ln/>
        </p:spPr>
        <p:txBody>
          <a:bodyPr wrap="square" lIns="0" tIns="0" rIns="0" bIns="0" rtlCol="0" anchor="ctr"/>
          <a:lstStyle/>
          <a:p>
            <a:pPr algn="ctr" indent="0" marL="0">
              <a:buNone/>
            </a:pPr>
            <a:r>
              <a:rPr lang="en-US" sz="1300" dirty="0">
                <a:solidFill>
                  <a:srgbClr val="AEBBD1"/>
                </a:solidFill>
                <a:latin typeface="Calibri" pitchFamily="34" charset="0"/>
                <a:ea typeface="Calibri" pitchFamily="34" charset="-122"/>
                <a:cs typeface="Calibri" pitchFamily="34" charset="-120"/>
              </a:rPr>
              <a:t>NBA.com, published November 18, 2022</a:t>
            </a:r>
            <a:endParaRPr lang="en-US" sz="1300" dirty="0"/>
          </a:p>
        </p:txBody>
      </p:sp>
      <p:sp>
        <p:nvSpPr>
          <p:cNvPr id="9" name="Text 7">
            <a:hlinkClick r:id="rId1" tooltip=""/>
          </p:cNvPr>
          <p:cNvSpPr txBox="1"/>
          <p:nvPr/>
        </p:nvSpPr>
        <p:spPr>
          <a:xfrm>
            <a:off x="1097280" y="4343400"/>
            <a:ext cx="9994392" cy="365760"/>
          </a:xfrm>
          <a:prstGeom prst="rect">
            <a:avLst/>
          </a:prstGeom>
          <a:noFill/>
          <a:ln/>
        </p:spPr>
        <p:txBody>
          <a:bodyPr wrap="square" lIns="0" tIns="0" rIns="0" bIns="0" rtlCol="0" anchor="ctr"/>
          <a:lstStyle/>
          <a:p>
            <a:pPr algn="ctr" indent="0" marL="0">
              <a:buNone/>
            </a:pPr>
            <a:r>
              <a:rPr lang="en-US" sz="1200" u="sng" dirty="0">
                <a:solidFill>
                  <a:srgbClr val="E4572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https://www.nba.com/watch/video/nba-breakdown-draymond-green-playmaking</a:t>
            </a:r>
            <a:endParaRPr lang="en-US" sz="1200" dirty="0"/>
          </a:p>
        </p:txBody>
      </p:sp>
      <p:sp>
        <p:nvSpPr>
          <p:cNvPr id="10" name="Text 8"/>
          <p:cNvSpPr txBox="1"/>
          <p:nvPr/>
        </p:nvSpPr>
        <p:spPr>
          <a:xfrm>
            <a:off x="548640" y="5257800"/>
            <a:ext cx="11091672" cy="914400"/>
          </a:xfrm>
          <a:prstGeom prst="rect">
            <a:avLst/>
          </a:prstGeom>
          <a:noFill/>
          <a:ln/>
        </p:spPr>
        <p:txBody>
          <a:bodyPr wrap="square" lIns="0" tIns="0" rIns="0" bIns="0" rtlCol="0" anchor="t"/>
          <a:lstStyle/>
          <a:p>
            <a:pPr indent="0" marL="0">
              <a:lnSpc>
                <a:spcPct val="125000"/>
              </a:lnSpc>
              <a:buNone/>
            </a:pPr>
            <a:r>
              <a:rPr lang="en-US" sz="1400" i="1" dirty="0">
                <a:solidFill>
                  <a:srgbClr val="27496D"/>
                </a:solidFill>
                <a:latin typeface="Calibri" pitchFamily="34" charset="0"/>
                <a:ea typeface="Calibri" pitchFamily="34" charset="-122"/>
                <a:cs typeface="Calibri" pitchFamily="34" charset="-120"/>
              </a:rPr>
              <a:t>A short official NBA.com breakdown of exactly the playmaking role the network chart just showed you in numbers.</a:t>
            </a:r>
            <a:endParaRPr lang="en-US" sz="1400" dirty="0"/>
          </a:p>
        </p:txBody>
      </p:sp>
    </p:spTree>
  </p:cSld>
  <p:clrMapOvr>
    <a:masterClrMapping/>
  </p:clrMapOvr>
  <p:transition xmlns:p="http://schemas.openxmlformats.org/presentationml/2006/mai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Read The Network, Out Loud</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Turn to the person next to you. One of you argues Draymond Green was Golden State's most important offensive player that season; the other argues it was Stephen Curry. Use only the numbers on these last few slides -- no outside knowledge of the team.</a:t>
            </a:r>
            <a:endParaRPr lang="en-US" sz="1600" dirty="0"/>
          </a:p>
        </p:txBody>
      </p:sp>
    </p:spTree>
  </p:cSld>
  <p:clrMapOvr>
    <a:masterClrMapping/>
  </p:clrMapOvr>
  <p:transition xmlns:p="http://schemas.openxmlformats.org/presentationml/2006/mai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From One Stat Line To A Real Network</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Built a real assist network from real 2017-18 play-by-play data, and found a genuinely surprising real result: a forward, not a guard, led the team in assists.</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3 maps out where the rest of the course goes, including this course's own injury-detection track.</a:t>
            </a:r>
            <a:endParaRPr lang="en-US" sz="1400" dirty="0"/>
          </a:p>
        </p:txBody>
      </p:sp>
    </p:spTree>
  </p:cSld>
  <p:clrMapOvr>
    <a:masterClrMapping/>
  </p:clrMapOvr>
  <p:transition xmlns:p="http://schemas.openxmlformats.org/presentationml/2006/mai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where this course is headed.</a:t>
            </a:r>
            <a:endParaRPr lang="en-US" sz="1600" dirty="0"/>
          </a:p>
        </p:txBody>
      </p:sp>
    </p:spTree>
  </p:cSld>
  <p:clrMapOvr>
    <a:masterClrMapping/>
  </p:clrMapOvr>
  <p:transition xmlns:p="http://schemas.openxmlformats.org/presentationml/2006/mai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Not Restricted To The Textbook</a:t>
            </a:r>
            <a:endParaRPr lang="en-US" sz="2800" dirty="0"/>
          </a:p>
        </p:txBody>
      </p:sp>
      <p:sp>
        <p:nvSpPr>
          <p:cNvPr id="4" name="Shape 2"/>
          <p:cNvSpPr/>
          <p:nvPr/>
        </p:nvSpPr>
        <p:spPr>
          <a:xfrm>
            <a:off x="548640" y="2103120"/>
            <a:ext cx="11091672" cy="1737360"/>
          </a:xfrm>
          <a:prstGeom prst="roundRect">
            <a:avLst>
              <a:gd name="adj" fmla="val 3158"/>
            </a:avLst>
          </a:prstGeom>
          <a:solidFill>
            <a:srgbClr val="EDF1F7"/>
          </a:solidFill>
          <a:ln/>
        </p:spPr>
      </p:sp>
      <p:sp>
        <p:nvSpPr>
          <p:cNvPr id="5" name="Text 3"/>
          <p:cNvSpPr txBox="1"/>
          <p:nvPr/>
        </p:nvSpPr>
        <p:spPr>
          <a:xfrm>
            <a:off x="914400" y="2377440"/>
            <a:ext cx="10360152" cy="128016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The textbook is our spine, not our ceiling. At this level, whenever a real, current journal article adds something the book doesn't, I'll bring it to a slide directly and cite it in the notes -- this matters more the further we get, especially if you're aiming at a larger independent project.</a:t>
            </a:r>
            <a:endParaRPr lang="en-US" sz="1600" dirty="0"/>
          </a:p>
        </p:txBody>
      </p:sp>
    </p:spTree>
  </p:cSld>
  <p:clrMapOvr>
    <a:masterClrMapping/>
  </p:clrMapOvr>
  <p:transition xmlns:p="http://schemas.openxmlformats.org/presentationml/2006/mai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This Course's Own Track: Injury Detection</a:t>
            </a:r>
            <a:endParaRPr lang="en-US" sz="3000" dirty="0"/>
          </a:p>
        </p:txBody>
      </p:sp>
      <p:sp>
        <p:nvSpPr>
          <p:cNvPr id="4" name="Shape 2"/>
          <p:cNvSpPr/>
          <p:nvPr/>
        </p:nvSpPr>
        <p:spPr>
          <a:xfrm>
            <a:off x="548640" y="2103120"/>
            <a:ext cx="11091672" cy="3200400"/>
          </a:xfrm>
          <a:prstGeom prst="roundRect">
            <a:avLst>
              <a:gd name="adj" fmla="val 1714"/>
            </a:avLst>
          </a:prstGeom>
          <a:solidFill>
            <a:srgbClr val="27496D"/>
          </a:solidFill>
          <a:ln/>
        </p:spPr>
      </p:sp>
      <p:sp>
        <p:nvSpPr>
          <p:cNvPr id="5" name="Text 3"/>
          <p:cNvSpPr txBox="1"/>
          <p:nvPr/>
        </p:nvSpPr>
        <p:spPr>
          <a:xfrm>
            <a:off x="914400" y="2377440"/>
            <a:ext cx="10360152" cy="1005840"/>
          </a:xfrm>
          <a:prstGeom prst="rect">
            <a:avLst/>
          </a:prstGeom>
          <a:noFill/>
          <a:ln/>
        </p:spPr>
        <p:txBody>
          <a:bodyPr wrap="square" lIns="0" tIns="0" rIns="0" bIns="0" rtlCol="0" anchor="t"/>
          <a:lstStyle/>
          <a:p>
            <a:pPr indent="0" marL="0">
              <a:lnSpc>
                <a:spcPct val="130000"/>
              </a:lnSpc>
              <a:buNone/>
            </a:pPr>
            <a:r>
              <a:rPr lang="en-US" sz="1500" dirty="0">
                <a:solidFill>
                  <a:srgbClr val="FFFFFF"/>
                </a:solidFill>
                <a:latin typeface="Calibri" pitchFamily="34" charset="0"/>
                <a:ea typeface="Calibri" pitchFamily="34" charset="-122"/>
                <a:cs typeface="Calibri" pitchFamily="34" charset="-120"/>
              </a:rPr>
              <a:t>By Module 10, the goal is for you to be able to find a real indicator of injury risk in data and connect it to a specific model. If you want to go further with a larger project, three of my own published papers are the jumping-off point:</a:t>
            </a:r>
            <a:endParaRPr lang="en-US" sz="1500" dirty="0"/>
          </a:p>
        </p:txBody>
      </p:sp>
      <p:sp>
        <p:nvSpPr>
          <p:cNvPr id="6" name="Text 4"/>
          <p:cNvSpPr txBox="1"/>
          <p:nvPr/>
        </p:nvSpPr>
        <p:spPr>
          <a:xfrm>
            <a:off x="914400" y="3474720"/>
            <a:ext cx="10360152" cy="5029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Muritala, Brown &amp; Haller (2026), Research in Sports Medicine -- MLB pitcher reinjury.</a:t>
            </a:r>
            <a:endParaRPr lang="en-US" sz="1300" dirty="0"/>
          </a:p>
        </p:txBody>
      </p:sp>
      <p:sp>
        <p:nvSpPr>
          <p:cNvPr id="7" name="Text 5"/>
          <p:cNvSpPr txBox="1"/>
          <p:nvPr/>
        </p:nvSpPr>
        <p:spPr>
          <a:xfrm>
            <a:off x="914400" y="4023360"/>
            <a:ext cx="10360152" cy="5029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West et al. (2026), Journal of Strength and Conditioning Research -- statistical process control for sport-science data quality.</a:t>
            </a:r>
            <a:endParaRPr lang="en-US" sz="1300" dirty="0"/>
          </a:p>
        </p:txBody>
      </p:sp>
      <p:sp>
        <p:nvSpPr>
          <p:cNvPr id="8" name="Text 6"/>
          <p:cNvSpPr txBox="1"/>
          <p:nvPr/>
        </p:nvSpPr>
        <p:spPr>
          <a:xfrm>
            <a:off x="914400" y="4572000"/>
            <a:ext cx="10360152" cy="5029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Kanwal et al. (2025) -- a critique of the Acute:Chronic Workload Ratio (ACWR).</a:t>
            </a:r>
            <a:endParaRPr lang="en-US" sz="1300" dirty="0"/>
          </a:p>
        </p:txBody>
      </p:sp>
    </p:spTree>
  </p:cSld>
  <p:clrMapOvr>
    <a:masterClrMapping/>
  </p:clrMapOvr>
  <p:transition xmlns:p="http://schemas.openxmlformats.org/presentationml/2006/mai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Course Structure: What You'll Turn In</a:t>
            </a:r>
            <a:endParaRPr lang="en-US" sz="2800" dirty="0"/>
          </a:p>
        </p:txBody>
      </p:sp>
      <p:sp>
        <p:nvSpPr>
          <p:cNvPr id="4" name="Shape 2"/>
          <p:cNvSpPr/>
          <p:nvPr/>
        </p:nvSpPr>
        <p:spPr>
          <a:xfrm>
            <a:off x="548640" y="1965960"/>
            <a:ext cx="11091672" cy="1051560"/>
          </a:xfrm>
          <a:prstGeom prst="roundRect">
            <a:avLst>
              <a:gd name="adj" fmla="val 5217"/>
            </a:avLst>
          </a:prstGeom>
          <a:solidFill>
            <a:srgbClr val="EDF1F7"/>
          </a:solidFill>
          <a:ln/>
        </p:spPr>
      </p:sp>
      <p:sp>
        <p:nvSpPr>
          <p:cNvPr id="5" name="Text 3"/>
          <p:cNvSpPr txBox="1"/>
          <p:nvPr/>
        </p:nvSpPr>
        <p:spPr>
          <a:xfrm>
            <a:off x="822960" y="1965960"/>
            <a:ext cx="274320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Lab Activity</a:t>
            </a:r>
            <a:endParaRPr lang="en-US" sz="1500" dirty="0"/>
          </a:p>
        </p:txBody>
      </p:sp>
      <p:sp>
        <p:nvSpPr>
          <p:cNvPr id="6" name="Text 4"/>
          <p:cNvSpPr txBox="1"/>
          <p:nvPr/>
        </p:nvSpPr>
        <p:spPr>
          <a:xfrm>
            <a:off x="3657600" y="1965960"/>
            <a:ext cx="7708392" cy="105156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Guided, ungraded practice with the same real data as class.</a:t>
            </a:r>
            <a:endParaRPr lang="en-US" sz="1400" dirty="0"/>
          </a:p>
        </p:txBody>
      </p:sp>
      <p:sp>
        <p:nvSpPr>
          <p:cNvPr id="7" name="Shape 5"/>
          <p:cNvSpPr/>
          <p:nvPr/>
        </p:nvSpPr>
        <p:spPr>
          <a:xfrm>
            <a:off x="548640" y="3200400"/>
            <a:ext cx="11091672" cy="1051560"/>
          </a:xfrm>
          <a:prstGeom prst="roundRect">
            <a:avLst>
              <a:gd name="adj" fmla="val 5217"/>
            </a:avLst>
          </a:prstGeom>
          <a:solidFill>
            <a:srgbClr val="EDF1F7"/>
          </a:solidFill>
          <a:ln/>
        </p:spPr>
      </p:sp>
      <p:sp>
        <p:nvSpPr>
          <p:cNvPr id="8" name="Text 6"/>
          <p:cNvSpPr txBox="1"/>
          <p:nvPr/>
        </p:nvSpPr>
        <p:spPr>
          <a:xfrm>
            <a:off x="822960" y="3200400"/>
            <a:ext cx="274320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Course-Wide Assignments</a:t>
            </a:r>
            <a:endParaRPr lang="en-US" sz="1500" dirty="0"/>
          </a:p>
        </p:txBody>
      </p:sp>
      <p:sp>
        <p:nvSpPr>
          <p:cNvPr id="9" name="Text 7"/>
          <p:cNvSpPr txBox="1"/>
          <p:nvPr/>
        </p:nvSpPr>
        <p:spPr>
          <a:xfrm>
            <a:off x="3657600" y="3200400"/>
            <a:ext cx="7708392" cy="105156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3 assignments, a midterm project, and a final project run at set points across the whole semester, graded and hand-checked -- not one per module.</a:t>
            </a:r>
            <a:endParaRPr lang="en-US" sz="1400" dirty="0"/>
          </a:p>
        </p:txBody>
      </p:sp>
      <p:sp>
        <p:nvSpPr>
          <p:cNvPr id="10" name="Shape 8"/>
          <p:cNvSpPr/>
          <p:nvPr/>
        </p:nvSpPr>
        <p:spPr>
          <a:xfrm>
            <a:off x="548640" y="4434840"/>
            <a:ext cx="11091672" cy="1051560"/>
          </a:xfrm>
          <a:prstGeom prst="roundRect">
            <a:avLst>
              <a:gd name="adj" fmla="val 5217"/>
            </a:avLst>
          </a:prstGeom>
          <a:solidFill>
            <a:srgbClr val="EDF1F7"/>
          </a:solidFill>
          <a:ln/>
        </p:spPr>
      </p:sp>
      <p:sp>
        <p:nvSpPr>
          <p:cNvPr id="11" name="Text 9"/>
          <p:cNvSpPr txBox="1"/>
          <p:nvPr/>
        </p:nvSpPr>
        <p:spPr>
          <a:xfrm>
            <a:off x="822960" y="4434840"/>
            <a:ext cx="274320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Auto-graded Quiz</a:t>
            </a:r>
            <a:endParaRPr lang="en-US" sz="1500" dirty="0"/>
          </a:p>
        </p:txBody>
      </p:sp>
      <p:sp>
        <p:nvSpPr>
          <p:cNvPr id="12" name="Text 10"/>
          <p:cNvSpPr txBox="1"/>
          <p:nvPr/>
        </p:nvSpPr>
        <p:spPr>
          <a:xfrm>
            <a:off x="3657600" y="4434840"/>
            <a:ext cx="7708392" cy="105156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Short, D2L-based check of the module's key definitions.</a:t>
            </a:r>
            <a:endParaRPr lang="en-US" sz="1400" dirty="0"/>
          </a:p>
        </p:txBody>
      </p:sp>
    </p:spTree>
  </p:cSld>
  <p:clrMapOvr>
    <a:masterClrMapping/>
  </p:clrMapOvr>
  <p:transition xmlns:p="http://schemas.openxmlformats.org/presentationml/2006/mai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Picking A Project Direction</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I want you to spend five minutes on your own writing down one question about basketball you'd genuinely like to answer with data by the end of the semester. Then tell the person next to you. You are not committing to it yet -- we'll come back to this before Module 10.</a:t>
            </a:r>
            <a:endParaRPr lang="en-US" sz="1600" dirty="0"/>
          </a:p>
        </p:txBody>
      </p:sp>
    </p:spTree>
  </p:cSld>
  <p:clrMapOvr>
    <a:masterClrMapping/>
  </p:clrMapOvr>
  <p:transition xmlns:p="http://schemas.openxmlformats.org/presentationml/2006/mai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SUMMARY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 We Did Today</a:t>
            </a:r>
            <a:endParaRPr lang="en-US" sz="3000" dirty="0"/>
          </a:p>
        </p:txBody>
      </p:sp>
      <p:sp>
        <p:nvSpPr>
          <p:cNvPr id="4" name="Shape 2"/>
          <p:cNvSpPr/>
          <p:nvPr/>
        </p:nvSpPr>
        <p:spPr>
          <a:xfrm>
            <a:off x="548640" y="1965960"/>
            <a:ext cx="411480" cy="411480"/>
          </a:xfrm>
          <a:prstGeom prst="ellipse">
            <a:avLst/>
          </a:prstGeom>
          <a:solidFill>
            <a:srgbClr val="27496D"/>
          </a:solidFill>
          <a:ln/>
        </p:spPr>
      </p:sp>
      <p:sp>
        <p:nvSpPr>
          <p:cNvPr id="5" name="Text 3"/>
          <p:cNvSpPr txBox="1"/>
          <p:nvPr/>
        </p:nvSpPr>
        <p:spPr>
          <a:xfrm>
            <a:off x="548640" y="19659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43000" y="192024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Set up the tools this course runs on: pacman, dplyr, and the BasketballAnalyzeR package.</a:t>
            </a:r>
            <a:endParaRPr lang="en-US" sz="1600" dirty="0"/>
          </a:p>
        </p:txBody>
      </p:sp>
      <p:sp>
        <p:nvSpPr>
          <p:cNvPr id="7" name="Shape 5"/>
          <p:cNvSpPr/>
          <p:nvPr/>
        </p:nvSpPr>
        <p:spPr>
          <a:xfrm>
            <a:off x="548640" y="2834640"/>
            <a:ext cx="411480" cy="411480"/>
          </a:xfrm>
          <a:prstGeom prst="ellipse">
            <a:avLst/>
          </a:prstGeom>
          <a:solidFill>
            <a:srgbClr val="E4572E"/>
          </a:solidFill>
          <a:ln/>
        </p:spPr>
      </p:sp>
      <p:sp>
        <p:nvSpPr>
          <p:cNvPr id="8" name="Text 6"/>
          <p:cNvSpPr txBox="1"/>
          <p:nvPr/>
        </p:nvSpPr>
        <p:spPr>
          <a:xfrm>
            <a:off x="548640" y="28346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43000" y="278892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Built a real dplyr pipeline on real 2017-18 box scores.</a:t>
            </a:r>
            <a:endParaRPr lang="en-US" sz="1600" dirty="0"/>
          </a:p>
        </p:txBody>
      </p:sp>
      <p:sp>
        <p:nvSpPr>
          <p:cNvPr id="10" name="Shape 8"/>
          <p:cNvSpPr/>
          <p:nvPr/>
        </p:nvSpPr>
        <p:spPr>
          <a:xfrm>
            <a:off x="548640" y="3703320"/>
            <a:ext cx="411480" cy="411480"/>
          </a:xfrm>
          <a:prstGeom prst="ellipse">
            <a:avLst/>
          </a:prstGeom>
          <a:solidFill>
            <a:srgbClr val="27496D"/>
          </a:solidFill>
          <a:ln/>
        </p:spPr>
      </p:sp>
      <p:sp>
        <p:nvSpPr>
          <p:cNvPr id="11" name="Text 9"/>
          <p:cNvSpPr txBox="1"/>
          <p:nvPr/>
        </p:nvSpPr>
        <p:spPr>
          <a:xfrm>
            <a:off x="548640" y="37033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43000" y="365760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Built a real assist network for the Golden State Warriors and found that Draymond Green, not a guard, led the team in assists.</a:t>
            </a:r>
            <a:endParaRPr lang="en-US" sz="1600" dirty="0"/>
          </a:p>
        </p:txBody>
      </p:sp>
      <p:sp>
        <p:nvSpPr>
          <p:cNvPr id="13" name="Shape 11"/>
          <p:cNvSpPr/>
          <p:nvPr/>
        </p:nvSpPr>
        <p:spPr>
          <a:xfrm>
            <a:off x="548640" y="4572000"/>
            <a:ext cx="411480" cy="411480"/>
          </a:xfrm>
          <a:prstGeom prst="ellipse">
            <a:avLst/>
          </a:prstGeom>
          <a:solidFill>
            <a:srgbClr val="E4572E"/>
          </a:solidFill>
          <a:ln/>
        </p:spPr>
      </p:sp>
      <p:sp>
        <p:nvSpPr>
          <p:cNvPr id="14" name="Text 12"/>
          <p:cNvSpPr txBox="1"/>
          <p:nvPr/>
        </p:nvSpPr>
        <p:spPr>
          <a:xfrm>
            <a:off x="548640" y="457200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43000" y="452628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Previewed the rest of the course, including this course's own injury-detection track.</a:t>
            </a:r>
            <a:endParaRPr lang="en-US" sz="1600" dirty="0"/>
          </a:p>
        </p:txBody>
      </p:sp>
    </p:spTree>
  </p:cSld>
  <p:clrMapOvr>
    <a:masterClrMapping/>
  </p:clrMapOvr>
  <p:transition xmlns:p="http://schemas.openxmlformats.org/presentationml/2006/mai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NEXT CLASS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Get These Done</a:t>
            </a:r>
            <a:endParaRPr lang="en-US" sz="3000" dirty="0"/>
          </a:p>
        </p:txBody>
      </p:sp>
      <p:sp>
        <p:nvSpPr>
          <p:cNvPr id="4" name="Shape 2"/>
          <p:cNvSpPr/>
          <p:nvPr/>
        </p:nvSpPr>
        <p:spPr>
          <a:xfrm>
            <a:off x="548640" y="1965960"/>
            <a:ext cx="411480" cy="411480"/>
          </a:xfrm>
          <a:prstGeom prst="ellipse">
            <a:avLst/>
          </a:prstGeom>
          <a:solidFill>
            <a:srgbClr val="27496D"/>
          </a:solidFill>
          <a:ln/>
        </p:spPr>
      </p:sp>
      <p:sp>
        <p:nvSpPr>
          <p:cNvPr id="5" name="Text 3"/>
          <p:cNvSpPr txBox="1"/>
          <p:nvPr/>
        </p:nvSpPr>
        <p:spPr>
          <a:xfrm>
            <a:off x="548640" y="19659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43000" y="192024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Lab 1: rebuild today's assist network for a different team of your choice.</a:t>
            </a:r>
            <a:endParaRPr lang="en-US" sz="1600" dirty="0"/>
          </a:p>
        </p:txBody>
      </p:sp>
      <p:sp>
        <p:nvSpPr>
          <p:cNvPr id="7" name="Shape 5"/>
          <p:cNvSpPr/>
          <p:nvPr/>
        </p:nvSpPr>
        <p:spPr>
          <a:xfrm>
            <a:off x="548640" y="2834640"/>
            <a:ext cx="411480" cy="411480"/>
          </a:xfrm>
          <a:prstGeom prst="ellipse">
            <a:avLst/>
          </a:prstGeom>
          <a:solidFill>
            <a:srgbClr val="E4572E"/>
          </a:solidFill>
          <a:ln/>
        </p:spPr>
      </p:sp>
      <p:sp>
        <p:nvSpPr>
          <p:cNvPr id="8" name="Text 6"/>
          <p:cNvSpPr txBox="1"/>
          <p:nvPr/>
        </p:nvSpPr>
        <p:spPr>
          <a:xfrm>
            <a:off x="548640" y="28346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43000" y="278892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Practice questions in this module's folder, any time you want extra reps.</a:t>
            </a:r>
            <a:endParaRPr lang="en-US" sz="1600" dirty="0"/>
          </a:p>
        </p:txBody>
      </p:sp>
      <p:sp>
        <p:nvSpPr>
          <p:cNvPr id="10" name="Shape 8"/>
          <p:cNvSpPr/>
          <p:nvPr/>
        </p:nvSpPr>
        <p:spPr>
          <a:xfrm>
            <a:off x="548640" y="3703320"/>
            <a:ext cx="411480" cy="411480"/>
          </a:xfrm>
          <a:prstGeom prst="ellipse">
            <a:avLst/>
          </a:prstGeom>
          <a:solidFill>
            <a:srgbClr val="27496D"/>
          </a:solidFill>
          <a:ln/>
        </p:spPr>
      </p:sp>
      <p:sp>
        <p:nvSpPr>
          <p:cNvPr id="11" name="Text 9"/>
          <p:cNvSpPr txBox="1"/>
          <p:nvPr/>
        </p:nvSpPr>
        <p:spPr>
          <a:xfrm>
            <a:off x="548640" y="37033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43000" y="365760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Module 1 quiz on D2L.</a:t>
            </a:r>
            <a:endParaRPr lang="en-US" sz="1600" dirty="0"/>
          </a:p>
        </p:txBody>
      </p:sp>
      <p:sp>
        <p:nvSpPr>
          <p:cNvPr id="13" name="Shape 11"/>
          <p:cNvSpPr/>
          <p:nvPr/>
        </p:nvSpPr>
        <p:spPr>
          <a:xfrm>
            <a:off x="548640" y="4572000"/>
            <a:ext cx="411480" cy="411480"/>
          </a:xfrm>
          <a:prstGeom prst="ellipse">
            <a:avLst/>
          </a:prstGeom>
          <a:solidFill>
            <a:srgbClr val="E4572E"/>
          </a:solidFill>
          <a:ln/>
        </p:spPr>
      </p:sp>
      <p:sp>
        <p:nvSpPr>
          <p:cNvPr id="14" name="Text 12"/>
          <p:cNvSpPr txBox="1"/>
          <p:nvPr/>
        </p:nvSpPr>
        <p:spPr>
          <a:xfrm>
            <a:off x="548640" y="457200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43000" y="452628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Bring one question about today's material to next class -- we'll open with it.</a:t>
            </a:r>
            <a:endParaRPr lang="en-US" sz="1600" dirty="0"/>
          </a:p>
        </p:txBody>
      </p:sp>
    </p:spTree>
  </p:cSld>
  <p:clrMapOvr>
    <a:masterClrMapping/>
  </p:clrMapOvr>
  <p:transition xmlns:p="http://schemas.openxmlformats.org/presentationml/2006/main" spd="med">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REFERENCES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Cited Today</a:t>
            </a:r>
            <a:endParaRPr lang="en-US" sz="3000" dirty="0"/>
          </a:p>
        </p:txBody>
      </p:sp>
      <p:sp>
        <p:nvSpPr>
          <p:cNvPr id="4" name="Text 2"/>
          <p:cNvSpPr txBox="1"/>
          <p:nvPr/>
        </p:nvSpPr>
        <p:spPr>
          <a:xfrm>
            <a:off x="548640" y="1920240"/>
            <a:ext cx="11091672" cy="914400"/>
          </a:xfrm>
          <a:prstGeom prst="rect">
            <a:avLst/>
          </a:prstGeom>
          <a:noFill/>
          <a:ln/>
        </p:spPr>
        <p:txBody>
          <a:bodyPr wrap="square" lIns="0" tIns="0" rIns="0" bIns="0" rtlCol="0" anchor="t"/>
          <a:lstStyle/>
          <a:p>
            <a:pPr indent="0" marL="0">
              <a:lnSpc>
                <a:spcPct val="130000"/>
              </a:lnSpc>
              <a:buNone/>
            </a:pPr>
            <a:r>
              <a:rPr lang="en-US" sz="1300" dirty="0">
                <a:solidFill>
                  <a:srgbClr val="16213E"/>
                </a:solidFill>
                <a:latin typeface="Calibri" pitchFamily="34" charset="0"/>
                <a:ea typeface="Calibri" pitchFamily="34" charset="-122"/>
                <a:cs typeface="Calibri" pitchFamily="34" charset="-120"/>
              </a:rPr>
              <a:t>Zuccolotto, P., Manisera, M., &amp; Sandri, M. (2026). Advanced Basketball Data Science: With Applications in R. CRC Press / Chapman &amp; Hall.</a:t>
            </a:r>
            <a:endParaRPr lang="en-US" sz="1300" dirty="0"/>
          </a:p>
        </p:txBody>
      </p:sp>
      <p:sp>
        <p:nvSpPr>
          <p:cNvPr id="5" name="Text 3"/>
          <p:cNvSpPr txBox="1"/>
          <p:nvPr/>
        </p:nvSpPr>
        <p:spPr>
          <a:xfrm>
            <a:off x="548640" y="2834640"/>
            <a:ext cx="11091672" cy="914400"/>
          </a:xfrm>
          <a:prstGeom prst="rect">
            <a:avLst/>
          </a:prstGeom>
          <a:noFill/>
          <a:ln/>
        </p:spPr>
        <p:txBody>
          <a:bodyPr wrap="square" lIns="0" tIns="0" rIns="0" bIns="0" rtlCol="0" anchor="t"/>
          <a:lstStyle/>
          <a:p>
            <a:pPr indent="0" marL="0">
              <a:lnSpc>
                <a:spcPct val="130000"/>
              </a:lnSpc>
              <a:buNone/>
            </a:pPr>
            <a:r>
              <a:rPr lang="en-US" sz="1300" dirty="0">
                <a:solidFill>
                  <a:srgbClr val="16213E"/>
                </a:solidFill>
                <a:latin typeface="Calibri" pitchFamily="34" charset="0"/>
                <a:ea typeface="Calibri" pitchFamily="34" charset="-122"/>
                <a:cs typeface="Calibri" pitchFamily="34" charset="-120"/>
              </a:rPr>
              <a:t>Zuccolotto, P., &amp; Manisera, M. (2020). Basketball Data Science: With Applications in R. Chapman &amp; Hall/CRC.</a:t>
            </a:r>
            <a:endParaRPr lang="en-US" sz="1300" dirty="0"/>
          </a:p>
        </p:txBody>
      </p:sp>
      <p:sp>
        <p:nvSpPr>
          <p:cNvPr id="6" name="Text 4"/>
          <p:cNvSpPr txBox="1"/>
          <p:nvPr/>
        </p:nvSpPr>
        <p:spPr>
          <a:xfrm>
            <a:off x="548640" y="3749040"/>
            <a:ext cx="11091672" cy="914400"/>
          </a:xfrm>
          <a:prstGeom prst="rect">
            <a:avLst/>
          </a:prstGeom>
          <a:noFill/>
          <a:ln/>
        </p:spPr>
        <p:txBody>
          <a:bodyPr wrap="square" lIns="0" tIns="0" rIns="0" bIns="0" rtlCol="0" anchor="t"/>
          <a:lstStyle/>
          <a:p>
            <a:pPr indent="0" marL="0">
              <a:lnSpc>
                <a:spcPct val="130000"/>
              </a:lnSpc>
              <a:buNone/>
            </a:pPr>
            <a:r>
              <a:rPr lang="en-US" sz="1300" dirty="0">
                <a:solidFill>
                  <a:srgbClr val="16213E"/>
                </a:solidFill>
                <a:latin typeface="Calibri" pitchFamily="34" charset="0"/>
                <a:ea typeface="Calibri" pitchFamily="34" charset="-122"/>
                <a:cs typeface="Calibri" pitchFamily="34" charset="-120"/>
              </a:rPr>
              <a:t>NBA.com (2022, November 18). NBA Breakdown: Draymond Green Playmaking. https://www.nba.com/watch/video/nba-breakdown-draymond-green-playmaking</a:t>
            </a:r>
            <a:endParaRPr lang="en-US" sz="1300" dirty="0"/>
          </a:p>
        </p:txBody>
      </p:sp>
    </p:spTree>
  </p:cSld>
  <p:clrMapOvr>
    <a:masterClrMapping/>
  </p:clrMapOvr>
  <p:transition xmlns:p="http://schemas.openxmlformats.org/presentationml/2006/main" spd="med">
    <p:fade/>
  </p:transition>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83464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See You Next Class</a:t>
            </a:r>
            <a:endParaRPr lang="en-US" sz="4000" dirty="0"/>
          </a:p>
        </p:txBody>
      </p:sp>
      <p:sp>
        <p:nvSpPr>
          <p:cNvPr id="3" name="Text 1"/>
          <p:cNvSpPr txBox="1"/>
          <p:nvPr/>
        </p:nvSpPr>
        <p:spPr>
          <a:xfrm>
            <a:off x="548640" y="3749040"/>
            <a:ext cx="11091672" cy="548640"/>
          </a:xfrm>
          <a:prstGeom prst="rect">
            <a:avLst/>
          </a:prstGeom>
          <a:noFill/>
          <a:ln/>
        </p:spPr>
        <p:txBody>
          <a:bodyPr wrap="square" lIns="0" tIns="0" rIns="0" bIns="0" rtlCol="0" anchor="ctr"/>
          <a:lstStyle/>
          <a:p>
            <a:pPr indent="0" marL="0">
              <a:buNone/>
            </a:pPr>
            <a:r>
              <a:rPr lang="en-US" sz="1800" dirty="0">
                <a:solidFill>
                  <a:srgbClr val="AEBBD1"/>
                </a:solidFill>
                <a:latin typeface="Calibri" pitchFamily="34" charset="0"/>
                <a:ea typeface="Calibri" pitchFamily="34" charset="-122"/>
                <a:cs typeface="Calibri" pitchFamily="34" charset="-120"/>
              </a:rPr>
              <a:t>Module 02: Beyond Individual Skills, Lineups and Combinations</a:t>
            </a:r>
            <a:endParaRPr lang="en-US" sz="1800" dirty="0"/>
          </a:p>
        </p:txBody>
      </p:sp>
    </p:spTree>
  </p:cSld>
  <p:clrMapOvr>
    <a:masterClrMapping/>
  </p:clrMapOvr>
  <p:transition xmlns:p="http://schemas.openxmlformats.org/presentationml/2006/mai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2026-09-20T23:02:25Z</dcterms:created>
  <dcterms:modified xsi:type="dcterms:W3CDTF">2026-09-20T23:02:25Z</dcterms:modified>
</cp:coreProperties>
</file>