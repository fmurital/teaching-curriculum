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ask the class to read the Defensive Four Factors panel first. Push toward: Golden State's clutch eFG% allowed (2:TO.Off Ratio, 3:REB%) shifted noticeably. Then reveal the real ORtg/DRtg numbers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37.88% General to 59.83% Clutch. Ask: is a rise in scoring concentration in the clutch a sign of a problem, or exactly what you would expect from a well-run offense? Push toward: it depends entirely on who the ball is going to -- concentration around your best shooter is very different from concentration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 · GRADUATE</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Advanced Basketball Data Science</a:t>
            </a:r>
            <a:endParaRPr lang="en-US" sz="4000" dirty="0"/>
          </a:p>
        </p:txBody>
      </p:sp>
      <p:sp>
        <p:nvSpPr>
          <p:cNvPr id="4" name="Text 2"/>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03 · Clutch Performance and Situational Splits</a:t>
            </a:r>
            <a:endParaRPr lang="en-US" sz="2000" dirty="0"/>
          </a:p>
        </p:txBody>
      </p:sp>
      <p:sp>
        <p:nvSpPr>
          <p:cNvPr id="5" name="Shape 3"/>
          <p:cNvSpPr/>
          <p:nvPr/>
        </p:nvSpPr>
        <p:spPr>
          <a:xfrm>
            <a:off x="548640" y="4251960"/>
            <a:ext cx="3291840" cy="777240"/>
          </a:xfrm>
          <a:prstGeom prst="roundRect">
            <a:avLst>
              <a:gd name="adj" fmla="val 7059"/>
            </a:avLst>
          </a:prstGeom>
          <a:solidFill>
            <a:srgbClr val="16213E"/>
          </a:solidFill>
          <a:ln/>
        </p:spPr>
      </p:sp>
      <p:sp>
        <p:nvSpPr>
          <p:cNvPr id="6" name="Text 4"/>
          <p:cNvSpPr txBox="1"/>
          <p:nvPr/>
        </p:nvSpPr>
        <p:spPr>
          <a:xfrm>
            <a:off x="731520" y="425196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3
</a:t>
            </a:r>
            <a:pPr indent="0" marL="0">
              <a:buNone/>
            </a:pPr>
            <a:r>
              <a:rPr lang="en-US" sz="1300" dirty="0">
                <a:solidFill>
                  <a:srgbClr val="FFFFFF"/>
                </a:solidFill>
                <a:latin typeface="Calibri" pitchFamily="34" charset="0"/>
                <a:ea typeface="Calibri" pitchFamily="34" charset="-122"/>
                <a:cs typeface="Calibri" pitchFamily="34" charset="-120"/>
              </a:rPr>
              <a:t>Graduate · 3-hour session</a:t>
            </a:r>
            <a:endParaRPr lang="en-US" sz="1300" dirty="0"/>
          </a:p>
        </p:txBody>
      </p:sp>
      <p:sp>
        <p:nvSpPr>
          <p:cNvPr id="7" name="Text 5"/>
          <p:cNvSpPr txBox="1"/>
          <p:nvPr/>
        </p:nvSpPr>
        <p:spPr>
          <a:xfrm>
            <a:off x="4114800" y="425196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Maps to Chapter 3:</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Zuccolotto, P., Manisera, M., &amp; Sandri, M. (2026). Advanced Basketball Data Science: With Applications in R. CRC Press/Chapman &amp; Hall.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377440"/>
          </a:xfrm>
          <a:prstGeom prst="roundRect">
            <a:avLst>
              <a:gd name="adj" fmla="val 2308"/>
            </a:avLst>
          </a:prstGeom>
          <a:solidFill>
            <a:srgbClr val="EDF1F7"/>
          </a:solidFill>
          <a:ln/>
        </p:spPr>
      </p:sp>
      <p:sp>
        <p:nvSpPr>
          <p:cNvPr id="5" name="Text 3"/>
          <p:cNvSpPr txBox="1"/>
          <p:nvPr/>
        </p:nvSpPr>
        <p:spPr>
          <a:xfrm>
            <a:off x="914400" y="219456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Module 2 took you beyond individual box scores into lineups: how a team's real performance shifts depending on which five players share the floor. Today we apply that same situational thinking to time and score instead of personnel -- because a team's real performance is not one fixed number across 48 minutes.</a:t>
            </a:r>
            <a:endParaRPr lang="en-US" sz="16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500" i="1" dirty="0">
                <a:solidFill>
                  <a:srgbClr val="27496D"/>
                </a:solidFill>
                <a:latin typeface="Calibri" pitchFamily="34" charset="0"/>
                <a:ea typeface="Calibri" pitchFamily="34" charset="-122"/>
                <a:cs typeface="Calibri" pitchFamily="34" charset="-120"/>
              </a:rPr>
              <a:t>Same rigor as every module: a precise, reproducible definition, real play-by-play data, real numbers.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TODAY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Defining clutch precisely, and real team-level splits</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Scoring inequality: who takes over in the clutch</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Player-level indices, the literature, and a PhD-track connection</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3, the Module 3 quiz, and the practice questions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By the End of Today, You Will Be Able To</a:t>
            </a:r>
            <a:endParaRPr lang="en-US" sz="2800" dirty="0"/>
          </a:p>
        </p:txBody>
      </p:sp>
      <p:sp>
        <p:nvSpPr>
          <p:cNvPr id="4" name="Shape 2"/>
          <p:cNvSpPr/>
          <p:nvPr/>
        </p:nvSpPr>
        <p:spPr>
          <a:xfrm>
            <a:off x="548640" y="1874520"/>
            <a:ext cx="411480" cy="411480"/>
          </a:xfrm>
          <a:prstGeom prst="ellipse">
            <a:avLst/>
          </a:prstGeom>
          <a:solidFill>
            <a:srgbClr val="27496D"/>
          </a:solidFill>
          <a:ln/>
        </p:spPr>
      </p:sp>
      <p:sp>
        <p:nvSpPr>
          <p:cNvPr id="5" name="Text 3"/>
          <p:cNvSpPr txBox="1"/>
          <p:nvPr/>
        </p:nvSpPr>
        <p:spPr>
          <a:xfrm>
            <a:off x="548640" y="18745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82880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State the precise, reproducible definition of a clutch situation used throughout this module.</a:t>
            </a:r>
            <a:endParaRPr lang="en-US" sz="1600" dirty="0"/>
          </a:p>
        </p:txBody>
      </p:sp>
      <p:sp>
        <p:nvSpPr>
          <p:cNvPr id="7" name="Shape 5"/>
          <p:cNvSpPr/>
          <p:nvPr/>
        </p:nvSpPr>
        <p:spPr>
          <a:xfrm>
            <a:off x="548640" y="2670048"/>
            <a:ext cx="411480" cy="411480"/>
          </a:xfrm>
          <a:prstGeom prst="ellipse">
            <a:avLst/>
          </a:prstGeom>
          <a:solidFill>
            <a:srgbClr val="E4572E"/>
          </a:solidFill>
          <a:ln/>
        </p:spPr>
      </p:sp>
      <p:sp>
        <p:nvSpPr>
          <p:cNvPr id="8" name="Text 6"/>
          <p:cNvSpPr txBox="1"/>
          <p:nvPr/>
        </p:nvSpPr>
        <p:spPr>
          <a:xfrm>
            <a:off x="548640" y="267004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624328"/>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the TOPboxes() input pipeline from raw play-by-play data, including the oreb/dreb/turnover/PF indicators it requires.</a:t>
            </a:r>
            <a:endParaRPr lang="en-US" sz="1600" dirty="0"/>
          </a:p>
        </p:txBody>
      </p:sp>
      <p:sp>
        <p:nvSpPr>
          <p:cNvPr id="10" name="Shape 8"/>
          <p:cNvSpPr/>
          <p:nvPr/>
        </p:nvSpPr>
        <p:spPr>
          <a:xfrm>
            <a:off x="548640" y="3465576"/>
            <a:ext cx="411480" cy="411480"/>
          </a:xfrm>
          <a:prstGeom prst="ellipse">
            <a:avLst/>
          </a:prstGeom>
          <a:solidFill>
            <a:srgbClr val="27496D"/>
          </a:solidFill>
          <a:ln/>
        </p:spPr>
      </p:sp>
      <p:sp>
        <p:nvSpPr>
          <p:cNvPr id="11" name="Text 9"/>
          <p:cNvSpPr txBox="1"/>
          <p:nvPr/>
        </p:nvSpPr>
        <p:spPr>
          <a:xfrm>
            <a:off x="548640" y="346557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419856"/>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Compute and interpret real Clutch-versus-General Four Factors splits for two real NBA teams.</a:t>
            </a:r>
            <a:endParaRPr lang="en-US" sz="1600" dirty="0"/>
          </a:p>
        </p:txBody>
      </p:sp>
      <p:sp>
        <p:nvSpPr>
          <p:cNvPr id="13" name="Shape 11"/>
          <p:cNvSpPr/>
          <p:nvPr/>
        </p:nvSpPr>
        <p:spPr>
          <a:xfrm>
            <a:off x="548640" y="4261104"/>
            <a:ext cx="411480" cy="411480"/>
          </a:xfrm>
          <a:prstGeom prst="ellipse">
            <a:avLst/>
          </a:prstGeom>
          <a:solidFill>
            <a:srgbClr val="E4572E"/>
          </a:solidFill>
          <a:ln/>
        </p:spPr>
      </p:sp>
      <p:sp>
        <p:nvSpPr>
          <p:cNvPr id="14" name="Text 12"/>
          <p:cNvSpPr txBox="1"/>
          <p:nvPr/>
        </p:nvSpPr>
        <p:spPr>
          <a:xfrm>
            <a:off x="548640" y="426110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215384"/>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Compute the Gini coefficient for scoring concentration and interpret a real shift between two situational splits.</a:t>
            </a:r>
            <a:endParaRPr lang="en-US" sz="1600" dirty="0"/>
          </a:p>
        </p:txBody>
      </p:sp>
      <p:sp>
        <p:nvSpPr>
          <p:cNvPr id="16" name="Shape 14"/>
          <p:cNvSpPr/>
          <p:nvPr/>
        </p:nvSpPr>
        <p:spPr>
          <a:xfrm>
            <a:off x="548640" y="5056632"/>
            <a:ext cx="411480" cy="411480"/>
          </a:xfrm>
          <a:prstGeom prst="ellipse">
            <a:avLst/>
          </a:prstGeom>
          <a:solidFill>
            <a:srgbClr val="27496D"/>
          </a:solidFill>
          <a:ln/>
        </p:spPr>
      </p:sp>
      <p:sp>
        <p:nvSpPr>
          <p:cNvPr id="17" name="Text 15"/>
          <p:cNvSpPr txBox="1"/>
          <p:nvPr/>
        </p:nvSpPr>
        <p:spPr>
          <a:xfrm>
            <a:off x="548640" y="505663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010912"/>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Compute and interpret the player-level clutch indices (SP, SPc, Diff, Pr_c, MINcp) from Zuccolotto et al. (2018).</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"Clutch" Needs a Precise Definition</a:t>
            </a:r>
            <a:endParaRPr lang="en-US" sz="2800" dirty="0"/>
          </a:p>
        </p:txBody>
      </p:sp>
      <p:sp>
        <p:nvSpPr>
          <p:cNvPr id="4" name="Shape 2"/>
          <p:cNvSpPr/>
          <p:nvPr/>
        </p:nvSpPr>
        <p:spPr>
          <a:xfrm>
            <a:off x="548640" y="2103120"/>
            <a:ext cx="11091672" cy="1554480"/>
          </a:xfrm>
          <a:prstGeom prst="roundRect">
            <a:avLst>
              <a:gd name="adj" fmla="val 3529"/>
            </a:avLst>
          </a:prstGeom>
          <a:solidFill>
            <a:srgbClr val="EDF1F7"/>
          </a:solidFill>
          <a:ln/>
        </p:spPr>
      </p:sp>
      <p:sp>
        <p:nvSpPr>
          <p:cNvPr id="5" name="Text 3"/>
          <p:cNvSpPr txBox="1"/>
          <p:nvPr/>
        </p:nvSpPr>
        <p:spPr>
          <a:xfrm>
            <a:off x="914400" y="2377440"/>
            <a:ext cx="10360152" cy="100584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Broadcast commentary uses "clutch" impressionistically -- whatever moment felt tense. For this to be a reproducible analysis, we need a mechanical rule applied identically to every game, every team, every player.</a:t>
            </a:r>
            <a:endParaRPr lang="en-US" sz="16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This module follows the exact rule used in Zuccolotto, Manisera &amp; Sandri's Advanced Basketball Data Science, Chapter 3.</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Real Clutch Definition</a:t>
            </a:r>
            <a:endParaRPr lang="en-US" sz="3000" dirty="0"/>
          </a:p>
        </p:txBody>
      </p:sp>
      <p:sp>
        <p:nvSpPr>
          <p:cNvPr id="4" name="Shape 2"/>
          <p:cNvSpPr/>
          <p:nvPr/>
        </p:nvSpPr>
        <p:spPr>
          <a:xfrm>
            <a:off x="548640" y="2103120"/>
            <a:ext cx="11091672" cy="3017520"/>
          </a:xfrm>
          <a:prstGeom prst="roundRect">
            <a:avLst>
              <a:gd name="adj" fmla="val 1818"/>
            </a:avLst>
          </a:prstGeom>
          <a:solidFill>
            <a:srgbClr val="27496D"/>
          </a:solidFill>
          <a:ln/>
        </p:spPr>
      </p:sp>
      <p:sp>
        <p:nvSpPr>
          <p:cNvPr id="5" name="Text 3"/>
          <p:cNvSpPr txBox="1"/>
          <p:nvPr/>
        </p:nvSpPr>
        <p:spPr>
          <a:xfrm>
            <a:off x="914400" y="2377440"/>
            <a:ext cx="10360152" cy="2560320"/>
          </a:xfrm>
          <a:prstGeom prst="rect">
            <a:avLst/>
          </a:prstGeom>
          <a:noFill/>
          <a:ln/>
        </p:spPr>
        <p:txBody>
          <a:bodyPr wrap="square" lIns="0" tIns="0" rIns="0" bIns="0" rtlCol="0" anchor="ctr"/>
          <a:lstStyle/>
          <a:p>
            <a:pPr indent="0" marL="0">
              <a:lnSpc>
                <a:spcPct val="130000"/>
              </a:lnSpc>
              <a:buNone/>
            </a:pPr>
            <a:r>
              <a:rPr lang="en-US" sz="2200" b="1" dirty="0">
                <a:solidFill>
                  <a:srgbClr val="FFFFFF"/>
                </a:solidFill>
                <a:latin typeface="Calibri" pitchFamily="34" charset="0"/>
                <a:ea typeface="Calibri" pitchFamily="34" charset="-122"/>
                <a:cs typeface="Calibri" pitchFamily="34" charset="-120"/>
              </a:rPr>
              <a:t>totalTime_c = 2580 seconds
</a:t>
            </a:r>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Fewer than 5 minutes remain in a 48-minute game (48 × 60 = 2880; 2880 - 2580 = 300 seconds = 5 minutes), including overtime.
</a:t>
            </a:r>
            <a:pPr indent="0" marL="0">
              <a:lnSpc>
                <a:spcPct val="130000"/>
              </a:lnSpc>
              <a:buNone/>
            </a:pPr>
            <a:r>
              <a:rPr lang="en-US" sz="2200" b="1" dirty="0">
                <a:solidFill>
                  <a:srgbClr val="FFFFFF"/>
                </a:solidFill>
                <a:latin typeface="Calibri" pitchFamily="34" charset="0"/>
                <a:ea typeface="Calibri" pitchFamily="34" charset="-122"/>
                <a:cs typeface="Calibri" pitchFamily="34" charset="-120"/>
              </a:rPr>
              <a:t>scorediff_c = 5 points
</a:t>
            </a:r>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The score is within 5 points either way.
</a:t>
            </a:r>
            <a:pPr indent="0" marL="0">
              <a:lnSpc>
                <a:spcPct val="130000"/>
              </a:lnSpc>
              <a:buNone/>
            </a:pPr>
            <a:r>
              <a:rPr lang="en-US" sz="1500" i="1" dirty="0">
                <a:solidFill>
                  <a:srgbClr val="FFFFFF"/>
                </a:solidFill>
                <a:latin typeface="Calibri" pitchFamily="34" charset="0"/>
                <a:ea typeface="Calibri" pitchFamily="34" charset="-122"/>
                <a:cs typeface="Calibri" pitchFamily="34" charset="-120"/>
              </a:rPr>
              <a:t>Everything else is labeled "General."</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LET'S WATCH THIS TOGETHER</a:t>
            </a:r>
            <a:endParaRPr lang="en-US" sz="1300" dirty="0"/>
          </a:p>
        </p:txBody>
      </p:sp>
      <p:sp>
        <p:nvSpPr>
          <p:cNvPr id="3" name="Text 1"/>
          <p:cNvSpPr txBox="1"/>
          <p:nvPr/>
        </p:nvSpPr>
        <p:spPr>
          <a:xfrm>
            <a:off x="548640" y="1554480"/>
            <a:ext cx="11091672" cy="10972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Does the NBA Actually Mean by "Clutch Time"?</a:t>
            </a:r>
            <a:endParaRPr lang="en-US" sz="2800" dirty="0"/>
          </a:p>
        </p:txBody>
      </p:sp>
      <p:sp>
        <p:nvSpPr>
          <p:cNvPr id="4" name="Shape 2"/>
          <p:cNvSpPr/>
          <p:nvPr/>
        </p:nvSpPr>
        <p:spPr>
          <a:xfrm>
            <a:off x="548640" y="2834640"/>
            <a:ext cx="11091672" cy="1737360"/>
          </a:xfrm>
          <a:prstGeom prst="roundRect">
            <a:avLst>
              <a:gd name="adj" fmla="val 3158"/>
            </a:avLst>
          </a:prstGeom>
          <a:solidFill>
            <a:srgbClr val="16213E"/>
          </a:solidFill>
          <a:ln/>
        </p:spPr>
      </p:sp>
      <p:sp>
        <p:nvSpPr>
          <p:cNvPr id="5" name="Shape 3"/>
          <p:cNvSpPr/>
          <p:nvPr/>
        </p:nvSpPr>
        <p:spPr>
          <a:xfrm>
            <a:off x="1005840" y="3246120"/>
            <a:ext cx="914400" cy="914400"/>
          </a:xfrm>
          <a:prstGeom prst="ellipse">
            <a:avLst/>
          </a:prstGeom>
          <a:solidFill>
            <a:srgbClr val="E4572E"/>
          </a:solidFill>
          <a:ln/>
        </p:spPr>
      </p:sp>
      <p:sp>
        <p:nvSpPr>
          <p:cNvPr id="6" name="Text 4"/>
          <p:cNvSpPr txBox="1"/>
          <p:nvPr/>
        </p:nvSpPr>
        <p:spPr>
          <a:xfrm>
            <a:off x="1005840" y="3246120"/>
            <a:ext cx="914400" cy="91440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7" name="Text 5"/>
          <p:cNvSpPr txBox="1"/>
          <p:nvPr/>
        </p:nvSpPr>
        <p:spPr>
          <a:xfrm>
            <a:off x="2194560" y="3063240"/>
            <a:ext cx="9262872" cy="8229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"What Are The Official NBA Rules For 'Clutch Time'?" (Basketball Stats Central, YouTube)</a:t>
            </a:r>
            <a:endParaRPr lang="en-US" sz="1800" dirty="0"/>
          </a:p>
        </p:txBody>
      </p:sp>
      <p:sp>
        <p:nvSpPr>
          <p:cNvPr id="8" name="Text 6"/>
          <p:cNvSpPr txBox="1"/>
          <p:nvPr/>
        </p:nvSpPr>
        <p:spPr>
          <a:xfrm>
            <a:off x="2194560" y="3794760"/>
            <a:ext cx="9262872" cy="640080"/>
          </a:xfrm>
          <a:prstGeom prst="rect">
            <a:avLst/>
          </a:prstGeom>
          <a:noFill/>
          <a:ln/>
        </p:spPr>
        <p:txBody>
          <a:bodyPr wrap="square" lIns="0" tIns="0" rIns="0" bIns="0" rtlCol="0" anchor="ctr"/>
          <a:lstStyle/>
          <a:p>
            <a:pPr indent="0" marL="0">
              <a:buNone/>
            </a:pPr>
            <a:r>
              <a:rPr lang="en-US" sz="1300" dirty="0">
                <a:solidFill>
                  <a:srgbClr val="AEBBD1"/>
                </a:solidFill>
                <a:latin typeface="Calibri" pitchFamily="34" charset="0"/>
                <a:ea typeface="Calibri" pitchFamily="34" charset="-122"/>
                <a:cs typeface="Calibri" pitchFamily="34" charset="-120"/>
              </a:rPr>
              <a:t>A concept explainer on how clutch time is officially defined and measured, grounding this module's own precise definition in the real-world convention before we apply it in code.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A METHODOLOGICAL NOTE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Reproducing the Method on Different Real Data</a:t>
            </a:r>
            <a:endParaRPr lang="en-US" sz="2700" dirty="0"/>
          </a:p>
        </p:txBody>
      </p:sp>
      <p:sp>
        <p:nvSpPr>
          <p:cNvPr id="4" name="Shape 2"/>
          <p:cNvSpPr/>
          <p:nvPr/>
        </p:nvSpPr>
        <p:spPr>
          <a:xfrm>
            <a:off x="548640" y="2057400"/>
            <a:ext cx="11091672" cy="3017520"/>
          </a:xfrm>
          <a:prstGeom prst="roundRect">
            <a:avLst>
              <a:gd name="adj" fmla="val 1818"/>
            </a:avLst>
          </a:prstGeom>
          <a:solidFill>
            <a:srgbClr val="EDF1F7"/>
          </a:solidFill>
          <a:ln/>
        </p:spPr>
      </p:sp>
      <p:sp>
        <p:nvSpPr>
          <p:cNvPr id="5" name="Text 3"/>
          <p:cNvSpPr txBox="1"/>
          <p:nvPr/>
        </p:nvSpPr>
        <p:spPr>
          <a:xfrm>
            <a:off x="914400" y="2331720"/>
            <a:ext cx="10360152" cy="2468880"/>
          </a:xfrm>
          <a:prstGeom prst="rect">
            <a:avLst/>
          </a:prstGeom>
          <a:noFill/>
          <a:ln/>
        </p:spPr>
        <p:txBody>
          <a:bodyPr wrap="square" lIns="0" tIns="0" rIns="0" bIns="0" rtlCol="0" anchor="ctr"/>
          <a:lstStyle/>
          <a:p>
            <a:pPr indent="0" marL="0">
              <a:lnSpc>
                <a:spcPct val="135000"/>
              </a:lnSpc>
              <a:buNone/>
            </a:pPr>
            <a:r>
              <a:rPr lang="en-US" sz="1550" dirty="0">
                <a:solidFill>
                  <a:srgbClr val="16213E"/>
                </a:solidFill>
                <a:latin typeface="Calibri" pitchFamily="34" charset="0"/>
                <a:ea typeface="Calibri" pitchFamily="34" charset="-122"/>
                <a:cs typeface="Calibri" pitchFamily="34" charset="-120"/>
              </a:rPr>
              <a:t>The textbook builds its Chapter 3 example from a private play-by-play file covering the Celtics' and Warriors' 2021-22 regular season and playoffs. That specific file is not part of the public BasketballAnalyzeR package. This module reproduces the identical PbPmanipulation/TOPboxes/fourfactors/inequality pipeline, and the same clutch indices, on real, freely available data instead: PbP.BDB, Golden State's real, complete 2017-18 NBA regular-season play-by-play log (82 games), still using Golden State and, in their two real regular-season meetings that year, the Boston Celtics as our two case-study teams.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TOPboxes() input pipeline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Building the Variables TOPboxes() Requires</a:t>
            </a:r>
            <a:endParaRPr lang="en-US" sz="2600" dirty="0"/>
          </a:p>
        </p:txBody>
      </p:sp>
      <p:sp>
        <p:nvSpPr>
          <p:cNvPr id="4" name="Shape 2"/>
          <p:cNvSpPr/>
          <p:nvPr/>
        </p:nvSpPr>
        <p:spPr>
          <a:xfrm>
            <a:off x="548640" y="2011680"/>
            <a:ext cx="11091672" cy="3017520"/>
          </a:xfrm>
          <a:prstGeom prst="roundRect">
            <a:avLst>
              <a:gd name="adj" fmla="val 1818"/>
            </a:avLst>
          </a:prstGeom>
          <a:solidFill>
            <a:srgbClr val="0B1D33"/>
          </a:solidFill>
          <a:ln/>
        </p:spPr>
      </p:sp>
      <p:sp>
        <p:nvSpPr>
          <p:cNvPr id="5" name="Text 3"/>
          <p:cNvSpPr txBox="1"/>
          <p:nvPr/>
        </p:nvSpPr>
        <p:spPr>
          <a:xfrm>
            <a:off x="914400" y="2240280"/>
            <a:ext cx="10360152" cy="2560320"/>
          </a:xfrm>
          <a:prstGeom prst="rect">
            <a:avLst/>
          </a:prstGeom>
          <a:noFill/>
          <a:ln/>
        </p:spPr>
        <p:txBody>
          <a:bodyPr wrap="square" lIns="0" tIns="0" rIns="0" bIns="0" rtlCol="0" anchor="ctr"/>
          <a:lstStyle/>
          <a:p>
            <a:pPr indent="0" marL="0">
              <a:buNone/>
            </a:pPr>
            <a:r>
              <a:rPr lang="en-US" sz="1400" dirty="0">
                <a:solidFill>
                  <a:srgbClr val="D9E2F3"/>
                </a:solidFill>
                <a:latin typeface="Courier New" pitchFamily="34" charset="0"/>
                <a:ea typeface="Courier New" pitchFamily="34" charset="-122"/>
                <a:cs typeface="Courier New" pitchFamily="34" charset="-120"/>
              </a:rPr>
              <a:t>`%~%` &lt;- function(x, pattern) grepl(pattern, x, fixed = TRUE)</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TOPPbP &lt;- PbP %&gt;%</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mutate(across(c(game_id, ShotType, result, team, ...), as.character)) %&gt;%</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mutate(</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oreb = type %~% "rebound offensive",</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dreb = type %~% "rebound defensive",</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turnover = event_type == "turnover",</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PF = (event_type == "foul") &amp; !(type %~% "technical")</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a:t>
            </a:r>
            <a:endParaRPr lang="en-US" sz="1400" dirty="0"/>
          </a:p>
        </p:txBody>
      </p:sp>
      <p:sp>
        <p:nvSpPr>
          <p:cNvPr id="6" name="Text 4"/>
          <p:cNvSpPr txBox="1"/>
          <p:nvPr/>
        </p:nvSpPr>
        <p:spPr>
          <a:xfrm>
            <a:off x="548640" y="516636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Run this yourself. TOPboxes() will error with a clear message if any of these are missing.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Filtering to Real Clutch Possessions</a:t>
            </a:r>
            <a:endParaRPr lang="en-US" sz="2700" dirty="0"/>
          </a:p>
        </p:txBody>
      </p:sp>
      <p:sp>
        <p:nvSpPr>
          <p:cNvPr id="4" name="Shape 2"/>
          <p:cNvSpPr/>
          <p:nvPr/>
        </p:nvSpPr>
        <p:spPr>
          <a:xfrm>
            <a:off x="548640" y="2011680"/>
            <a:ext cx="11091672" cy="2743200"/>
          </a:xfrm>
          <a:prstGeom prst="roundRect">
            <a:avLst>
              <a:gd name="adj" fmla="val 2000"/>
            </a:avLst>
          </a:prstGeom>
          <a:solidFill>
            <a:srgbClr val="0B1D33"/>
          </a:solidFill>
          <a:ln/>
        </p:spPr>
      </p:sp>
      <p:sp>
        <p:nvSpPr>
          <p:cNvPr id="5" name="Text 3"/>
          <p:cNvSpPr txBox="1"/>
          <p:nvPr/>
        </p:nvSpPr>
        <p:spPr>
          <a:xfrm>
            <a:off x="914400" y="2240280"/>
            <a:ext cx="10360152" cy="2286000"/>
          </a:xfrm>
          <a:prstGeom prst="rect">
            <a:avLst/>
          </a:prstGeom>
          <a:noFill/>
          <a:ln/>
        </p:spPr>
        <p:txBody>
          <a:bodyPr wrap="square" lIns="0" tIns="0" rIns="0" bIns="0" rtlCol="0" anchor="ctr"/>
          <a:lstStyle/>
          <a:p>
            <a:pPr indent="0" marL="0">
              <a:buNone/>
            </a:pPr>
            <a:r>
              <a:rPr lang="en-US" sz="1400" dirty="0">
                <a:solidFill>
                  <a:srgbClr val="D9E2F3"/>
                </a:solidFill>
                <a:latin typeface="Courier New" pitchFamily="34" charset="0"/>
                <a:ea typeface="Courier New" pitchFamily="34" charset="-122"/>
                <a:cs typeface="Courier New" pitchFamily="34" charset="-120"/>
              </a:rPr>
              <a:t>totalTime_c &lt;- 2580</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scorediff_c &lt;- 5</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TOPPbPc &lt;- TOPPbP %&gt;%</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mutate(scorediff = abs(home_score - away_score)) %&gt;%</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filter(scorediff &lt;= scorediff_c &amp; totalTime &gt; totalTime_c)</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TOP  &lt;- TOPboxes(TOPPbP,  team = "GSW")</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TOPc &lt;- TOPboxes(TOPPbPc, team = "GSW")</a:t>
            </a:r>
            <a:endParaRPr lang="en-US" sz="14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TOP holds the General split; TOPc holds the Clutch split. Same pipeline for team = "BOS".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Four Factors, Split by Situation</a:t>
            </a:r>
            <a:endParaRPr lang="en-US" sz="2800" dirty="0"/>
          </a:p>
        </p:txBody>
      </p:sp>
      <p:sp>
        <p:nvSpPr>
          <p:cNvPr id="4" name="Shape 2"/>
          <p:cNvSpPr/>
          <p:nvPr/>
        </p:nvSpPr>
        <p:spPr>
          <a:xfrm>
            <a:off x="548640" y="2103120"/>
            <a:ext cx="11091672" cy="1554480"/>
          </a:xfrm>
          <a:prstGeom prst="roundRect">
            <a:avLst>
              <a:gd name="adj" fmla="val 3529"/>
            </a:avLst>
          </a:prstGeom>
          <a:solidFill>
            <a:srgbClr val="EDF1F7"/>
          </a:solidFill>
          <a:ln/>
        </p:spPr>
      </p:sp>
      <p:sp>
        <p:nvSpPr>
          <p:cNvPr id="5" name="Text 3"/>
          <p:cNvSpPr txBox="1"/>
          <p:nvPr/>
        </p:nvSpPr>
        <p:spPr>
          <a:xfrm>
            <a:off x="914400" y="2377440"/>
            <a:ext cx="10360152" cy="100584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fourfactors() works identically whether you feed it a full season or a one-row clutch split -- it just needs box scores in, Team labels attached. That lets us stack a Clutch row and a General row for the same team and compare them directly.</a:t>
            </a:r>
            <a:endParaRPr lang="en-US" sz="16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Pace, ORtg, DRtg, and all eight offensive/defensive factors -- now computed separately for each situation.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compute Golden State's real Clutch-vs-General split.</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500" b="1" dirty="0">
                <a:solidFill>
                  <a:srgbClr val="16213E"/>
                </a:solidFill>
                <a:latin typeface="Cambria" pitchFamily="34" charset="0"/>
                <a:ea typeface="Cambria" pitchFamily="34" charset="-122"/>
                <a:cs typeface="Cambria" pitchFamily="34" charset="-120"/>
              </a:rPr>
              <a:t>Golden State Warriors: Real Clutch vs. General</a:t>
            </a:r>
            <a:endParaRPr lang="en-US" sz="2500" dirty="0"/>
          </a:p>
        </p:txBody>
      </p:sp>
      <p:pic>
        <p:nvPicPr>
          <p:cNvPr id="4" name="Image 0" descr="module3_gsw_fourfactors.png">    </p:cNvPr>
          <p:cNvPicPr>
            <a:picLocks noChangeAspect="1"/>
          </p:cNvPicPr>
          <p:nvPr/>
        </p:nvPicPr>
        <p:blipFill>
          <a:blip r:embed="rId1"/>
          <a:stretch>
            <a:fillRect/>
          </a:stretch>
        </p:blipFill>
        <p:spPr>
          <a:xfrm>
            <a:off x="2468880" y="1600200"/>
            <a:ext cx="7132320" cy="466344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fourfactors(Tboxes, Oboxes), Team=Clutch/General. Data: PbP.BDB, Golden State's real full 2017-18 regular season.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A REAL SURPRISE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Even a Champion's Defense Can Slip in the Clutch</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514600"/>
            <a:ext cx="3840480" cy="1188720"/>
          </a:xfrm>
          <a:prstGeom prst="rect">
            <a:avLst/>
          </a:prstGeom>
          <a:noFill/>
          <a:ln/>
        </p:spPr>
        <p:txBody>
          <a:bodyPr wrap="square" lIns="0" tIns="0" rIns="0" bIns="0"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+11.6</a:t>
            </a:r>
            <a:endParaRPr lang="en-US" sz="52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250" dirty="0">
                <a:solidFill>
                  <a:srgbClr val="FFFFFF"/>
                </a:solidFill>
                <a:latin typeface="Calibri" pitchFamily="34" charset="0"/>
                <a:ea typeface="Calibri" pitchFamily="34" charset="-122"/>
                <a:cs typeface="Calibri" pitchFamily="34" charset="-120"/>
              </a:rPr>
              <a:t>points -- Golden State's real</a:t>
            </a:r>
            <a:endParaRPr lang="en-US" sz="1250" dirty="0"/>
          </a:p>
          <a:p>
            <a:pPr algn="ctr" indent="0" marL="0">
              <a:lnSpc>
                <a:spcPct val="130000"/>
              </a:lnSpc>
              <a:buNone/>
            </a:pPr>
            <a:r>
              <a:rPr lang="en-US" sz="1250" dirty="0">
                <a:solidFill>
                  <a:srgbClr val="FFFFFF"/>
                </a:solidFill>
                <a:latin typeface="Calibri" pitchFamily="34" charset="0"/>
                <a:ea typeface="Calibri" pitchFamily="34" charset="-122"/>
                <a:cs typeface="Calibri" pitchFamily="34" charset="-120"/>
              </a:rPr>
              <a:t>defensive rating increase,</a:t>
            </a:r>
            <a:endParaRPr lang="en-US" sz="1250" dirty="0"/>
          </a:p>
          <a:p>
            <a:pPr algn="ctr" indent="0" marL="0">
              <a:lnSpc>
                <a:spcPct val="130000"/>
              </a:lnSpc>
              <a:buNone/>
            </a:pPr>
            <a:r>
              <a:rPr lang="en-US" sz="1250" dirty="0">
                <a:solidFill>
                  <a:srgbClr val="FFFFFF"/>
                </a:solidFill>
                <a:latin typeface="Calibri" pitchFamily="34" charset="0"/>
                <a:ea typeface="Calibri" pitchFamily="34" charset="-122"/>
                <a:cs typeface="Calibri" pitchFamily="34" charset="-120"/>
              </a:rPr>
              <a:t>General (103.8) to Clutch (115.4)</a:t>
            </a:r>
            <a:endParaRPr lang="en-US" sz="125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Context: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this is the real 2017-18 Golden State Warriors -- the team that went on to win the title that same postseason.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The lesson: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"clutch" is a situational split, not a value judgment. A great team's defense can still measurably worsen in these specific real, high-leverage minutes.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Boston Celtics: Real Clutch vs. General</a:t>
            </a:r>
            <a:endParaRPr lang="en-US" sz="2600" dirty="0"/>
          </a:p>
        </p:txBody>
      </p:sp>
      <p:pic>
        <p:nvPicPr>
          <p:cNvPr id="4" name="Image 0" descr="module3_bos_fourfactors.png">    </p:cNvPr>
          <p:cNvPicPr>
            <a:picLocks noChangeAspect="1"/>
          </p:cNvPicPr>
          <p:nvPr/>
        </p:nvPicPr>
        <p:blipFill>
          <a:blip r:embed="rId1"/>
          <a:stretch>
            <a:fillRect/>
          </a:stretch>
        </p:blipFill>
        <p:spPr>
          <a:xfrm>
            <a:off x="2468880" y="1600200"/>
            <a:ext cx="7132320" cy="466344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fourfactors(Tboxes, Oboxes), Team=Clutch/General. Data: PbP.BDB, Boston's two real 2017-18 regular-season games vs. Golden State.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OPPOSITE DIRECTION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Boston's Real Split Moved the Other Way</a:t>
            </a:r>
            <a:endParaRPr lang="en-US" sz="2700" dirty="0"/>
          </a:p>
        </p:txBody>
      </p:sp>
      <p:sp>
        <p:nvSpPr>
          <p:cNvPr id="4" name="Shape 2"/>
          <p:cNvSpPr/>
          <p:nvPr/>
        </p:nvSpPr>
        <p:spPr>
          <a:xfrm>
            <a:off x="548640" y="2103120"/>
            <a:ext cx="3840480" cy="3108960"/>
          </a:xfrm>
          <a:prstGeom prst="roundRect">
            <a:avLst>
              <a:gd name="adj" fmla="val 1765"/>
            </a:avLst>
          </a:prstGeom>
          <a:solidFill>
            <a:srgbClr val="27496D"/>
          </a:solidFill>
          <a:ln/>
        </p:spPr>
      </p:sp>
      <p:sp>
        <p:nvSpPr>
          <p:cNvPr id="5" name="Text 3"/>
          <p:cNvSpPr txBox="1"/>
          <p:nvPr/>
        </p:nvSpPr>
        <p:spPr>
          <a:xfrm>
            <a:off x="548640" y="2606040"/>
            <a:ext cx="3840480" cy="100584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97.4 → 125.4</a:t>
            </a:r>
            <a:endParaRPr lang="en-US" sz="3400" dirty="0"/>
          </a:p>
        </p:txBody>
      </p:sp>
      <p:sp>
        <p:nvSpPr>
          <p:cNvPr id="6" name="Text 4"/>
          <p:cNvSpPr txBox="1"/>
          <p:nvPr/>
        </p:nvSpPr>
        <p:spPr>
          <a:xfrm>
            <a:off x="822960" y="365760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Boston's real offensive rating,</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General to Clutch, 2017-18 regular season</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The real pattern: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Golden State's offense held roughly steady while their defense worsened. Boston's offense improved sharply in the clutch while their defense worsened only slightly.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Why this matters: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"clutch performance" is not one universal shift. It is team-specific, and only a real, computed split tells you which direction a given team actually moves.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Two Teams, Two Real Directions</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5000"/>
              </a:lnSpc>
              <a:buNone/>
            </a:pPr>
            <a:r>
              <a:rPr lang="en-US" sz="1550" dirty="0">
                <a:solidFill>
                  <a:srgbClr val="16213E"/>
                </a:solidFill>
                <a:latin typeface="Calibri" pitchFamily="34" charset="0"/>
                <a:ea typeface="Calibri" pitchFamily="34" charset="-122"/>
                <a:cs typeface="Calibri" pitchFamily="34" charset="-120"/>
              </a:rPr>
              <a:t>In pairs.</a:t>
            </a:r>
            <a:endParaRPr lang="en-US" sz="1550" dirty="0"/>
          </a:p>
          <a:p>
            <a:pPr indent="0" marL="0">
              <a:lnSpc>
                <a:spcPct val="135000"/>
              </a:lnSpc>
              <a:buNone/>
            </a:pPr>
            <a:endParaRPr lang="en-US" sz="1550" dirty="0"/>
          </a:p>
          <a:p>
            <a:pPr indent="0" marL="0">
              <a:lnSpc>
                <a:spcPct val="135000"/>
              </a:lnSpc>
              <a:buNone/>
            </a:pPr>
            <a:r>
              <a:rPr lang="en-US" sz="1550" dirty="0">
                <a:solidFill>
                  <a:srgbClr val="16213E"/>
                </a:solidFill>
                <a:latin typeface="Calibri" pitchFamily="34" charset="0"/>
                <a:ea typeface="Calibri" pitchFamily="34" charset="-122"/>
                <a:cs typeface="Calibri" pitchFamily="34" charset="-120"/>
              </a:rPr>
              <a:t>1. Golden State's clutch shift was mostly defensive; Boston's was mostly offensive. Propose one real, testable hypothesis for why two different real teams would show two different patterns.</a:t>
            </a:r>
            <a:endParaRPr lang="en-US" sz="1550" dirty="0"/>
          </a:p>
          <a:p>
            <a:pPr indent="0" marL="0">
              <a:lnSpc>
                <a:spcPct val="135000"/>
              </a:lnSpc>
              <a:buNone/>
            </a:pPr>
            <a:r>
              <a:rPr lang="en-US" sz="1550" dirty="0">
                <a:solidFill>
                  <a:srgbClr val="16213E"/>
                </a:solidFill>
                <a:latin typeface="Calibri" pitchFamily="34" charset="0"/>
                <a:ea typeface="Calibri" pitchFamily="34" charset="-122"/>
                <a:cs typeface="Calibri" pitchFamily="34" charset="-120"/>
              </a:rPr>
              <a:t>2. What additional real data (beyond what we've computed so far) would you want to test your hypothesis?</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Team Splits, Two Real Directions</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The precise clutch definition, the TOPboxes() pipeline, and real Clutch-vs-General Four Factors splits for Golden State's full real season and Boston's real two-game sample against them, moving in two different real directions.</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asks who, specifically, takes over a team's offense once the game gets close -- measured directly with the Gini coefficient.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who takes over in the clutch.</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Inequality: A Concept Borrowed From Economics</a:t>
            </a:r>
            <a:endParaRPr lang="en-US" sz="2700" dirty="0"/>
          </a:p>
        </p:txBody>
      </p:sp>
      <p:sp>
        <p:nvSpPr>
          <p:cNvPr id="4" name="Text 2"/>
          <p:cNvSpPr txBox="1"/>
          <p:nvPr/>
        </p:nvSpPr>
        <p:spPr>
          <a:xfrm>
            <a:off x="548640" y="2103120"/>
            <a:ext cx="11091672" cy="1645920"/>
          </a:xfrm>
          <a:prstGeom prst="rect">
            <a:avLst/>
          </a:prstGeom>
          <a:noFill/>
          <a:ln/>
        </p:spPr>
        <p:txBody>
          <a:bodyPr wrap="square" lIns="0" tIns="0" rIns="0" bIns="0" rtlCol="0" anchor="ctr"/>
          <a:lstStyle/>
          <a:p>
            <a:pPr indent="0" marL="0">
              <a:lnSpc>
                <a:spcPct val="125000"/>
              </a:lnSpc>
              <a:buNone/>
            </a:pPr>
            <a:r>
              <a:rPr lang="en-US" sz="1700" dirty="0">
                <a:solidFill>
                  <a:srgbClr val="FFFFFF"/>
                </a:solidFill>
                <a:latin typeface="Calibri" pitchFamily="34" charset="0"/>
                <a:ea typeface="Calibri" pitchFamily="34" charset="-122"/>
                <a:cs typeface="Calibri" pitchFamily="34" charset="-120"/>
              </a:rPr>
              <a:t>The Gini coefficient was originally developed to measure wealth concentration within countries. Zuccolotto &amp; Manisera (2020) translated the same idea to basketball: how concentrated is a team's scoring among its players? This module applies it to a Clutch-versus-General comparison.</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Reading the Gini Coefficient</a:t>
            </a:r>
            <a:endParaRPr lang="en-US" sz="2800" dirty="0"/>
          </a:p>
        </p:txBody>
      </p:sp>
      <p:sp>
        <p:nvSpPr>
          <p:cNvPr id="4" name="Shape 2"/>
          <p:cNvSpPr/>
          <p:nvPr/>
        </p:nvSpPr>
        <p:spPr>
          <a:xfrm>
            <a:off x="548640" y="2103120"/>
            <a:ext cx="11091672" cy="2926080"/>
          </a:xfrm>
          <a:prstGeom prst="roundRect">
            <a:avLst>
              <a:gd name="adj" fmla="val 1875"/>
            </a:avLst>
          </a:prstGeom>
          <a:solidFill>
            <a:srgbClr val="EDF1F7"/>
          </a:solidFill>
          <a:ln/>
        </p:spPr>
      </p:sp>
      <p:sp>
        <p:nvSpPr>
          <p:cNvPr id="5" name="Text 3"/>
          <p:cNvSpPr txBox="1"/>
          <p:nvPr/>
        </p:nvSpPr>
        <p:spPr>
          <a:xfrm>
            <a:off x="914400" y="2377440"/>
            <a:ext cx="10360152" cy="2377440"/>
          </a:xfrm>
          <a:prstGeom prst="rect">
            <a:avLst/>
          </a:prstGeom>
          <a:noFill/>
          <a:ln/>
        </p:spPr>
        <p:txBody>
          <a:bodyPr wrap="square" lIns="0" tIns="0" rIns="0" bIns="0" rtlCol="0" anchor="ctr"/>
          <a:lstStyle/>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Given N players, ordered by points scored, with Si the cumulative fraction of total points scored by the first i players and Fi = i/N the cumulative fraction of players:</a:t>
            </a:r>
            <a:endParaRPr lang="en-US" sz="1500" dirty="0"/>
          </a:p>
          <a:p>
            <a:pPr indent="0" marL="0">
              <a:lnSpc>
                <a:spcPct val="130000"/>
              </a:lnSpc>
              <a:buNone/>
            </a:pPr>
            <a:endParaRPr lang="en-US" sz="1500" dirty="0"/>
          </a:p>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G = sum(Fi - Si) / sum(Fi), for i = 1 to N-1</a:t>
            </a:r>
            <a:endParaRPr lang="en-US" sz="1500" dirty="0"/>
          </a:p>
          <a:p>
            <a:pPr indent="0" marL="0">
              <a:lnSpc>
                <a:spcPct val="130000"/>
              </a:lnSpc>
              <a:buNone/>
            </a:pPr>
            <a:endParaRPr lang="en-US" sz="1500" dirty="0"/>
          </a:p>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G = 0% means every player scored an equal share (perfect equality). G = 100% means one player scored everything (maximum inequality). The Lorenz curve plots Si against Fi -- the larger the gap between the curve and the 45-degree line, the greater the inequality.</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compute the real Gini coefficient for both splits.</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Golden State's Real Scoring Concentration</a:t>
            </a:r>
            <a:endParaRPr lang="en-US" sz="2600" dirty="0"/>
          </a:p>
        </p:txBody>
      </p:sp>
      <p:pic>
        <p:nvPicPr>
          <p:cNvPr id="4" name="Image 0" descr="module3_gsw_inequality.png">    </p:cNvPr>
          <p:cNvPicPr>
            <a:picLocks noChangeAspect="1"/>
          </p:cNvPicPr>
          <p:nvPr/>
        </p:nvPicPr>
        <p:blipFill>
          <a:blip r:embed="rId1"/>
          <a:stretch>
            <a:fillRect/>
          </a:stretch>
        </p:blipFill>
        <p:spPr>
          <a:xfrm>
            <a:off x="1737360" y="1737360"/>
            <a:ext cx="8686800" cy="43434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inequality(Pbox$PTS, nplayers). Data: PbP.BDB, Golden State's real full 2017-18 regular season.</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6</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Boston's Real Scoring Concentration</a:t>
            </a:r>
            <a:endParaRPr lang="en-US" sz="2700" dirty="0"/>
          </a:p>
        </p:txBody>
      </p:sp>
      <p:pic>
        <p:nvPicPr>
          <p:cNvPr id="4" name="Image 0" descr="module3_bos_inequality.png">    </p:cNvPr>
          <p:cNvPicPr>
            <a:picLocks noChangeAspect="1"/>
          </p:cNvPicPr>
          <p:nvPr/>
        </p:nvPicPr>
        <p:blipFill>
          <a:blip r:embed="rId1"/>
          <a:stretch>
            <a:fillRect/>
          </a:stretch>
        </p:blipFill>
        <p:spPr>
          <a:xfrm>
            <a:off x="1737360" y="1737360"/>
            <a:ext cx="8686800" cy="43434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inequality(Pbox$PTS, nplayers). Data: PbP.BDB, Boston's two real 2017-18 regular-season games vs. Golden State.</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COMPARING TWO REAL SHIFTS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500" b="1" dirty="0">
                <a:solidFill>
                  <a:srgbClr val="16213E"/>
                </a:solidFill>
                <a:latin typeface="Cambria" pitchFamily="34" charset="0"/>
                <a:ea typeface="Cambria" pitchFamily="34" charset="-122"/>
                <a:cs typeface="Cambria" pitchFamily="34" charset="-120"/>
              </a:rPr>
              <a:t>Both Teams Concentrated Scoring -- Boston Far More</a:t>
            </a:r>
            <a:endParaRPr lang="en-US" sz="25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1645920"/>
        </p:xfrm>
        <a:graphic>
          <a:graphicData uri="http://schemas.openxmlformats.org/drawingml/2006/table">
            <a:tbl>
              <a:tblPr/>
              <a:tblGrid>
                <a:gridCol w="3776472"/>
                <a:gridCol w="2468880"/>
                <a:gridCol w="2468880"/>
                <a:gridCol w="2377440"/>
              </a:tblGrid>
              <a:tr h="54864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Team</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General Gini</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Clutch Gini</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Real Shift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54864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Golden State Warriors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37.88%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59.83%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+21.95 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Boston Celtics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53.06%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80.65%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+27.59 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500" dirty="0">
                <a:solidFill>
                  <a:srgbClr val="27496D"/>
                </a:solidFill>
                <a:latin typeface="Calibri" pitchFamily="34" charset="0"/>
                <a:ea typeface="Calibri" pitchFamily="34" charset="-122"/>
                <a:cs typeface="Calibri" pitchFamily="34" charset="-120"/>
              </a:rPr>
              <a:t>Boston's real clutch offense concentrated more heavily than Golden State's -- driven largely by Kyrie Irving's real usage spike, which the player-level indices in Segment 3 will make precise.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LET'S WATCH THIS TOGETHER</a:t>
            </a:r>
            <a:endParaRPr lang="en-US" sz="1300" dirty="0"/>
          </a:p>
        </p:txBody>
      </p:sp>
      <p:sp>
        <p:nvSpPr>
          <p:cNvPr id="3" name="Text 1"/>
          <p:cNvSpPr txBox="1"/>
          <p:nvPr/>
        </p:nvSpPr>
        <p:spPr>
          <a:xfrm>
            <a:off x="548640" y="1554480"/>
            <a:ext cx="11091672" cy="10972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Watching Concentration Happen, in Real Footage</a:t>
            </a:r>
            <a:endParaRPr lang="en-US" sz="2800" dirty="0"/>
          </a:p>
        </p:txBody>
      </p:sp>
      <p:sp>
        <p:nvSpPr>
          <p:cNvPr id="4" name="Shape 2"/>
          <p:cNvSpPr/>
          <p:nvPr/>
        </p:nvSpPr>
        <p:spPr>
          <a:xfrm>
            <a:off x="548640" y="2834640"/>
            <a:ext cx="11091672" cy="1737360"/>
          </a:xfrm>
          <a:prstGeom prst="roundRect">
            <a:avLst>
              <a:gd name="adj" fmla="val 3158"/>
            </a:avLst>
          </a:prstGeom>
          <a:solidFill>
            <a:srgbClr val="16213E"/>
          </a:solidFill>
          <a:ln/>
        </p:spPr>
      </p:sp>
      <p:sp>
        <p:nvSpPr>
          <p:cNvPr id="5" name="Shape 3"/>
          <p:cNvSpPr/>
          <p:nvPr/>
        </p:nvSpPr>
        <p:spPr>
          <a:xfrm>
            <a:off x="1005840" y="3246120"/>
            <a:ext cx="914400" cy="914400"/>
          </a:xfrm>
          <a:prstGeom prst="ellipse">
            <a:avLst/>
          </a:prstGeom>
          <a:solidFill>
            <a:srgbClr val="E4572E"/>
          </a:solidFill>
          <a:ln/>
        </p:spPr>
      </p:sp>
      <p:sp>
        <p:nvSpPr>
          <p:cNvPr id="6" name="Text 4"/>
          <p:cNvSpPr txBox="1"/>
          <p:nvPr/>
        </p:nvSpPr>
        <p:spPr>
          <a:xfrm>
            <a:off x="1005840" y="3246120"/>
            <a:ext cx="914400" cy="91440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7" name="Text 5"/>
          <p:cNvSpPr txBox="1"/>
          <p:nvPr/>
        </p:nvSpPr>
        <p:spPr>
          <a:xfrm>
            <a:off x="2194560" y="3063240"/>
            <a:ext cx="9262872" cy="8229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"Warriors BIG 3 Full Game 2 Highlights vs Cavaliers (2018 NBA Finals) -- Stephen Curry, Durant &amp; Klay!" (YouTube)</a:t>
            </a:r>
            <a:endParaRPr lang="en-US" sz="1800" dirty="0"/>
          </a:p>
        </p:txBody>
      </p:sp>
      <p:sp>
        <p:nvSpPr>
          <p:cNvPr id="8" name="Text 6"/>
          <p:cNvSpPr txBox="1"/>
          <p:nvPr/>
        </p:nvSpPr>
        <p:spPr>
          <a:xfrm>
            <a:off x="2194560" y="3794760"/>
            <a:ext cx="9262872" cy="640080"/>
          </a:xfrm>
          <a:prstGeom prst="rect">
            <a:avLst/>
          </a:prstGeom>
          <a:noFill/>
          <a:ln/>
        </p:spPr>
        <p:txBody>
          <a:bodyPr wrap="square" lIns="0" tIns="0" rIns="0" bIns="0" rtlCol="0" anchor="ctr"/>
          <a:lstStyle/>
          <a:p>
            <a:pPr indent="0" marL="0">
              <a:buNone/>
            </a:pPr>
            <a:r>
              <a:rPr lang="en-US" sz="1300" dirty="0">
                <a:solidFill>
                  <a:srgbClr val="AEBBD1"/>
                </a:solidFill>
                <a:latin typeface="Calibri" pitchFamily="34" charset="0"/>
                <a:ea typeface="Calibri" pitchFamily="34" charset="-122"/>
                <a:cs typeface="Calibri" pitchFamily="34" charset="-120"/>
              </a:rPr>
              <a:t>Real footage from the same Golden State roster this module's real regular-season data comes from, during the year they went on to win the 2018 title. Watch for which three players the offense actually runs through in the closing minutes.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Predict Before You Compute</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5000"/>
              </a:lnSpc>
              <a:buNone/>
            </a:pPr>
            <a:r>
              <a:rPr lang="en-US" sz="1550" dirty="0">
                <a:solidFill>
                  <a:srgbClr val="16213E"/>
                </a:solidFill>
                <a:latin typeface="Calibri" pitchFamily="34" charset="0"/>
                <a:ea typeface="Calibri" pitchFamily="34" charset="-122"/>
                <a:cs typeface="Calibri" pitchFamily="34" charset="-120"/>
              </a:rPr>
              <a:t>Small groups (3-4).</a:t>
            </a:r>
            <a:endParaRPr lang="en-US" sz="1550" dirty="0"/>
          </a:p>
          <a:p>
            <a:pPr indent="0" marL="0">
              <a:lnSpc>
                <a:spcPct val="135000"/>
              </a:lnSpc>
              <a:buNone/>
            </a:pPr>
            <a:endParaRPr lang="en-US" sz="1550" dirty="0"/>
          </a:p>
          <a:p>
            <a:pPr indent="0" marL="0">
              <a:lnSpc>
                <a:spcPct val="135000"/>
              </a:lnSpc>
              <a:buNone/>
            </a:pPr>
            <a:r>
              <a:rPr lang="en-US" sz="1550" dirty="0">
                <a:solidFill>
                  <a:srgbClr val="16213E"/>
                </a:solidFill>
                <a:latin typeface="Calibri" pitchFamily="34" charset="0"/>
                <a:ea typeface="Calibri" pitchFamily="34" charset="-122"/>
                <a:cs typeface="Calibri" pitchFamily="34" charset="-120"/>
              </a:rPr>
              <a:t>1. Before looking ahead to Segment 3's player table, predict which Golden State player you think had the largest real drop in shooting performance specifically in the clutch, and which one improved.</a:t>
            </a:r>
            <a:endParaRPr lang="en-US" sz="1550" dirty="0"/>
          </a:p>
          <a:p>
            <a:pPr indent="0" marL="0">
              <a:lnSpc>
                <a:spcPct val="135000"/>
              </a:lnSpc>
              <a:buNone/>
            </a:pPr>
            <a:r>
              <a:rPr lang="en-US" sz="1550" dirty="0">
                <a:solidFill>
                  <a:srgbClr val="16213E"/>
                </a:solidFill>
                <a:latin typeface="Calibri" pitchFamily="34" charset="0"/>
                <a:ea typeface="Calibri" pitchFamily="34" charset="-122"/>
                <a:cs typeface="Calibri" pitchFamily="34" charset="-120"/>
              </a:rPr>
              <a:t>2. Write down your prediction and your one-sentence reasoning. We'll check it against the real numbers next.</a:t>
            </a:r>
            <a:endParaRPr lang="en-US" sz="15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900" b="1" dirty="0">
                <a:solidFill>
                  <a:srgbClr val="16213E"/>
                </a:solidFill>
                <a:latin typeface="Cambria" pitchFamily="34" charset="0"/>
                <a:ea typeface="Cambria" pitchFamily="34" charset="-122"/>
                <a:cs typeface="Cambria" pitchFamily="34" charset="-120"/>
              </a:rPr>
              <a:t>Concentration, Measured Two Real Ways</a:t>
            </a:r>
            <a:endParaRPr lang="en-US" sz="29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The Gini coefficient and Lorenz curve, and a real comparison showing Boston's clutch offense concentrated more sharply than Golden State's.</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goes player by player: who specifically improves, who declines, and what the wider literature says about why.</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player-level clutch indices.</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Five Indices, One Player at a Time</a:t>
            </a:r>
            <a:endParaRPr lang="en-US" sz="2800" dirty="0"/>
          </a:p>
        </p:txBody>
      </p:sp>
      <p:sp>
        <p:nvSpPr>
          <p:cNvPr id="4" name="Shape 2"/>
          <p:cNvSpPr/>
          <p:nvPr/>
        </p:nvSpPr>
        <p:spPr>
          <a:xfrm>
            <a:off x="548640" y="2011680"/>
            <a:ext cx="11091672" cy="3108960"/>
          </a:xfrm>
          <a:prstGeom prst="roundRect">
            <a:avLst>
              <a:gd name="adj" fmla="val 1765"/>
            </a:avLst>
          </a:prstGeom>
          <a:solidFill>
            <a:srgbClr val="27496D"/>
          </a:solidFill>
          <a:ln/>
        </p:spPr>
      </p:sp>
      <p:sp>
        <p:nvSpPr>
          <p:cNvPr id="5" name="Text 3"/>
          <p:cNvSpPr txBox="1"/>
          <p:nvPr/>
        </p:nvSpPr>
        <p:spPr>
          <a:xfrm>
            <a:off x="914400" y="2286000"/>
            <a:ext cx="10360152" cy="2560320"/>
          </a:xfrm>
          <a:prstGeom prst="rect">
            <a:avLst/>
          </a:prstGeom>
          <a:noFill/>
          <a:ln/>
        </p:spPr>
        <p:txBody>
          <a:bodyPr wrap="square" lIns="0" tIns="0" rIns="0" bIns="0" rtlCol="0" anchor="ctr"/>
          <a:lstStyle/>
          <a:p>
            <a:pPr indent="0" marL="0">
              <a:lnSpc>
                <a:spcPct val="150000"/>
              </a:lnSpc>
              <a:buNone/>
            </a:pPr>
            <a:r>
              <a:rPr lang="en-US" sz="1500" b="1" dirty="0">
                <a:solidFill>
                  <a:srgbClr val="FFFFFF"/>
                </a:solidFill>
                <a:latin typeface="Calibri" pitchFamily="34" charset="0"/>
                <a:ea typeface="Calibri" pitchFamily="34" charset="-122"/>
                <a:cs typeface="Calibri" pitchFamily="34" charset="-120"/>
              </a:rPr>
              <a:t>SP / SPc  </a:t>
            </a:r>
            <a:pPr indent="0" marL="0">
              <a:lnSpc>
                <a:spcPct val="150000"/>
              </a:lnSpc>
              <a:buNone/>
            </a:pPr>
            <a:r>
              <a:rPr lang="en-US" sz="1500" dirty="0">
                <a:solidFill>
                  <a:srgbClr val="FFFFFF"/>
                </a:solidFill>
                <a:latin typeface="Calibri" pitchFamily="34" charset="0"/>
                <a:ea typeface="Calibri" pitchFamily="34" charset="-122"/>
                <a:cs typeface="Calibri" pitchFamily="34" charset="-120"/>
              </a:rPr>
              <a:t>Shooting performance, general and clutch, weighted by shot type relative to the team's own splits.
</a:t>
            </a:r>
            <a:pPr indent="0" marL="0">
              <a:lnSpc>
                <a:spcPct val="150000"/>
              </a:lnSpc>
              <a:buNone/>
            </a:pPr>
            <a:r>
              <a:rPr lang="en-US" sz="1500" b="1" dirty="0">
                <a:solidFill>
                  <a:srgbClr val="FFFFFF"/>
                </a:solidFill>
                <a:latin typeface="Calibri" pitchFamily="34" charset="0"/>
                <a:ea typeface="Calibri" pitchFamily="34" charset="-122"/>
                <a:cs typeface="Calibri" pitchFamily="34" charset="-120"/>
              </a:rPr>
              <a:t>Diff = SPc - SP  </a:t>
            </a:r>
            <a:pPr indent="0" marL="0">
              <a:lnSpc>
                <a:spcPct val="150000"/>
              </a:lnSpc>
              <a:buNone/>
            </a:pPr>
            <a:r>
              <a:rPr lang="en-US" sz="1500" dirty="0">
                <a:solidFill>
                  <a:srgbClr val="FFFFFF"/>
                </a:solidFill>
                <a:latin typeface="Calibri" pitchFamily="34" charset="0"/>
                <a:ea typeface="Calibri" pitchFamily="34" charset="-122"/>
                <a:cs typeface="Calibri" pitchFamily="34" charset="-120"/>
              </a:rPr>
              <a:t>Whether a player's shooting improves, worsens, or holds steady in the clutch.
</a:t>
            </a:r>
            <a:pPr indent="0" marL="0">
              <a:lnSpc>
                <a:spcPct val="150000"/>
              </a:lnSpc>
              <a:buNone/>
            </a:pPr>
            <a:r>
              <a:rPr lang="en-US" sz="1500" b="1" dirty="0">
                <a:solidFill>
                  <a:srgbClr val="FFFFFF"/>
                </a:solidFill>
                <a:latin typeface="Calibri" pitchFamily="34" charset="0"/>
                <a:ea typeface="Calibri" pitchFamily="34" charset="-122"/>
                <a:cs typeface="Calibri" pitchFamily="34" charset="-120"/>
              </a:rPr>
              <a:t>Pr_c  </a:t>
            </a:r>
            <a:pPr indent="0" marL="0">
              <a:lnSpc>
                <a:spcPct val="150000"/>
              </a:lnSpc>
              <a:buNone/>
            </a:pPr>
            <a:r>
              <a:rPr lang="en-US" sz="1500" dirty="0">
                <a:solidFill>
                  <a:srgbClr val="FFFFFF"/>
                </a:solidFill>
                <a:latin typeface="Calibri" pitchFamily="34" charset="0"/>
                <a:ea typeface="Calibri" pitchFamily="34" charset="-122"/>
                <a:cs typeface="Calibri" pitchFamily="34" charset="-120"/>
              </a:rPr>
              <a:t>Propensity to shoot in the clutch, relative to clutch minutes played.
</a:t>
            </a:r>
            <a:pPr indent="0" marL="0">
              <a:lnSpc>
                <a:spcPct val="150000"/>
              </a:lnSpc>
              <a:buNone/>
            </a:pPr>
            <a:r>
              <a:rPr lang="en-US" sz="1500" b="1" dirty="0">
                <a:solidFill>
                  <a:srgbClr val="FFFFFF"/>
                </a:solidFill>
                <a:latin typeface="Calibri" pitchFamily="34" charset="0"/>
                <a:ea typeface="Calibri" pitchFamily="34" charset="-122"/>
                <a:cs typeface="Calibri" pitchFamily="34" charset="-120"/>
              </a:rPr>
              <a:t>MINcp  </a:t>
            </a:r>
            <a:pPr indent="0" marL="0">
              <a:lnSpc>
                <a:spcPct val="150000"/>
              </a:lnSpc>
              <a:buNone/>
            </a:pPr>
            <a:r>
              <a:rPr lang="en-US" sz="1500" dirty="0">
                <a:solidFill>
                  <a:srgbClr val="FFFFFF"/>
                </a:solidFill>
                <a:latin typeface="Calibri" pitchFamily="34" charset="0"/>
                <a:ea typeface="Calibri" pitchFamily="34" charset="-122"/>
                <a:cs typeface="Calibri" pitchFamily="34" charset="-120"/>
              </a:rPr>
              <a:t>Percentage of team clutch minutes the player was on the floor.</a:t>
            </a:r>
            <a:endParaRPr lang="en-US" sz="15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Framework: Zuccolotto, Manisera &amp; Sandri (2018).</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real player clutch index table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7</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500" b="1" dirty="0">
                <a:solidFill>
                  <a:srgbClr val="16213E"/>
                </a:solidFill>
                <a:latin typeface="Cambria" pitchFamily="34" charset="0"/>
                <a:ea typeface="Cambria" pitchFamily="34" charset="-122"/>
                <a:cs typeface="Cambria" pitchFamily="34" charset="-120"/>
              </a:rPr>
              <a:t>Golden State's Real Player Clutch Indices</a:t>
            </a:r>
            <a:endParaRPr lang="en-US" sz="2500" dirty="0"/>
          </a:p>
        </p:txBody>
      </p:sp>
      <p:pic>
        <p:nvPicPr>
          <p:cNvPr id="4" name="Image 0" descr="module3_gsw_bubbleplot.png">    </p:cNvPr>
          <p:cNvPicPr>
            <a:picLocks noChangeAspect="1"/>
          </p:cNvPicPr>
          <p:nvPr/>
        </p:nvPicPr>
        <p:blipFill>
          <a:blip r:embed="rId1"/>
          <a:stretch>
            <a:fillRect/>
          </a:stretch>
        </p:blipFill>
        <p:spPr>
          <a:xfrm>
            <a:off x="1463040" y="1645920"/>
            <a:ext cx="9326880" cy="45720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bubbleplot(): x=SPc, y=Diff, color=Prc, size=MINcp. Data: PbP.BDB, Golden State's real full 2017-18 regular season.</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8</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Reading Three Real Players' Real Numbers</a:t>
            </a:r>
            <a:endParaRPr lang="en-US" sz="27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1828800"/>
        </p:xfrm>
        <a:graphic>
          <a:graphicData uri="http://schemas.openxmlformats.org/drawingml/2006/table">
            <a:tbl>
              <a:tblPr/>
              <a:tblGrid>
                <a:gridCol w="3776472"/>
                <a:gridCol w="2468880"/>
                <a:gridCol w="2468880"/>
                <a:gridCol w="2377440"/>
              </a:tblGrid>
              <a:tr h="45720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Player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SPc</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Diff</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Pr_c</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5720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Kevin Durant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16.9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Draymond Green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-15.4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5720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Stephen Curry</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20.9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206240"/>
            <a:ext cx="11091672" cy="914400"/>
          </a:xfrm>
          <a:prstGeom prst="rect">
            <a:avLst/>
          </a:prstGeom>
          <a:noFill/>
          <a:ln/>
        </p:spPr>
        <p:txBody>
          <a:bodyPr wrap="square" lIns="0" tIns="0" rIns="0" bIns="0" rtlCol="0" anchor="t"/>
          <a:lstStyle/>
          <a:p>
            <a:pPr indent="0" marL="0">
              <a:lnSpc>
                <a:spcPct val="130000"/>
              </a:lnSpc>
              <a:buNone/>
            </a:pPr>
            <a:r>
              <a:rPr lang="en-US" sz="1450" dirty="0">
                <a:solidFill>
                  <a:srgbClr val="27496D"/>
                </a:solidFill>
                <a:latin typeface="Calibri" pitchFamily="34" charset="0"/>
                <a:ea typeface="Calibri" pitchFamily="34" charset="-122"/>
                <a:cs typeface="Calibri" pitchFamily="34" charset="-120"/>
              </a:rPr>
              <a:t>Durant's Diff barely moves -- a stable shooter. Green's Diff is sharply negative despite an above-average Pr_c -- he kept shooting more even as his efficiency dropped. Curry's Pr_c jumped, a real increase in clutch shot-taking, alongside a real efficiency dip.</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9</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Boston's Real Player Clutch Indices</a:t>
            </a:r>
            <a:endParaRPr lang="en-US" sz="27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1463040"/>
        </p:xfrm>
        <a:graphic>
          <a:graphicData uri="http://schemas.openxmlformats.org/drawingml/2006/table">
            <a:tbl>
              <a:tblPr/>
              <a:tblGrid>
                <a:gridCol w="2587752"/>
                <a:gridCol w="1417320"/>
                <a:gridCol w="1417320"/>
                <a:gridCol w="1417320"/>
                <a:gridCol w="1417320"/>
                <a:gridCol w="1417320"/>
                <a:gridCol w="1417320"/>
              </a:tblGrid>
              <a:tr h="4876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Player</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MINc</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ASc</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SPc</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Diff</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Pr_c</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MINcp</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8768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Al Horford</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9.6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-13.8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8768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Kyrie Irving</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10.5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189.8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3840480"/>
            <a:ext cx="11091672" cy="914400"/>
          </a:xfrm>
          <a:prstGeom prst="rect">
            <a:avLst/>
          </a:prstGeom>
          <a:noFill/>
          <a:ln/>
        </p:spPr>
        <p:txBody>
          <a:bodyPr wrap="square" lIns="0" tIns="0" rIns="0" bIns="0" rtlCol="0" anchor="t"/>
          <a:lstStyle/>
          <a:p>
            <a:pPr indent="0" marL="0">
              <a:lnSpc>
                <a:spcPct val="130000"/>
              </a:lnSpc>
              <a:buNone/>
            </a:pPr>
            <a:r>
              <a:rPr lang="en-US" sz="1450" dirty="0">
                <a:solidFill>
                  <a:srgbClr val="27496D"/>
                </a:solidFill>
                <a:latin typeface="Calibri" pitchFamily="34" charset="0"/>
                <a:ea typeface="Calibri" pitchFamily="34" charset="-122"/>
                <a:cs typeface="Calibri" pitchFamily="34" charset="-120"/>
              </a:rPr>
              <a:t>Only two Boston players cleared this module's minimum clutch-attempt threshold -- a real, honest consequence of using a much smaller, two-game real sample against Golden State (see the methodological note from Segment 1).</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ONE REAL NUMBER WORTH PAUSING ON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189.8: Boston's Offense Ran Through One Player</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514600"/>
            <a:ext cx="3840480" cy="1188720"/>
          </a:xfrm>
          <a:prstGeom prst="rect">
            <a:avLst/>
          </a:prstGeom>
          <a:noFill/>
          <a:ln/>
        </p:spPr>
        <p:txBody>
          <a:bodyPr wrap="square" lIns="0" tIns="0" rIns="0" bIns="0" rtlCol="0" anchor="ctr"/>
          <a:lstStyle/>
          <a:p>
            <a:pPr algn="ctr" indent="0" marL="0">
              <a:buNone/>
            </a:pPr>
            <a:r>
              <a:rPr lang="en-US" sz="5000" b="1" dirty="0">
                <a:solidFill>
                  <a:srgbClr val="FFFFFF"/>
                </a:solidFill>
                <a:latin typeface="Cambria" pitchFamily="34" charset="0"/>
                <a:ea typeface="Cambria" pitchFamily="34" charset="-122"/>
                <a:cs typeface="Cambria" pitchFamily="34" charset="-120"/>
              </a:rPr>
              <a:t>189.8</a:t>
            </a:r>
            <a:endParaRPr lang="en-US" sz="50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Kyrie Irving's real Pr_c --</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his clutch shot share versus</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his clutch minute share</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What it means: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Irving's real share of Boston's clutch shot attempts was dramatically larger than his share of clutch minutes -- and his Diff was still positive (+2.6), a real clutch improvement, not just added volume.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Worth naming: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this is a real number from a real, smaller sample. It is exactly the kind of concentration the Gini coefficient in Segment 2 already flagged.</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LITERATURE BEHIND THIS MODULE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Where These Indices Actually Come From</a:t>
            </a:r>
            <a:endParaRPr lang="en-US" sz="2700" dirty="0"/>
          </a:p>
        </p:txBody>
      </p:sp>
      <p:sp>
        <p:nvSpPr>
          <p:cNvPr id="4" name="Shape 2"/>
          <p:cNvSpPr/>
          <p:nvPr/>
        </p:nvSpPr>
        <p:spPr>
          <a:xfrm>
            <a:off x="548640" y="2057400"/>
            <a:ext cx="11091672" cy="3017520"/>
          </a:xfrm>
          <a:prstGeom prst="roundRect">
            <a:avLst>
              <a:gd name="adj" fmla="val 1818"/>
            </a:avLst>
          </a:prstGeom>
          <a:solidFill>
            <a:srgbClr val="EDF1F7"/>
          </a:solidFill>
          <a:ln/>
        </p:spPr>
      </p:sp>
      <p:sp>
        <p:nvSpPr>
          <p:cNvPr id="5" name="Text 3"/>
          <p:cNvSpPr txBox="1"/>
          <p:nvPr/>
        </p:nvSpPr>
        <p:spPr>
          <a:xfrm>
            <a:off x="914400" y="2331720"/>
            <a:ext cx="10360152" cy="2468880"/>
          </a:xfrm>
          <a:prstGeom prst="rect">
            <a:avLst/>
          </a:prstGeom>
          <a:noFill/>
          <a:ln/>
        </p:spPr>
        <p:txBody>
          <a:bodyPr wrap="square" lIns="0" tIns="0" rIns="0" bIns="0" rtlCol="0" anchor="ctr"/>
          <a:lstStyle/>
          <a:p>
            <a:pPr indent="0" marL="0">
              <a:lnSpc>
                <a:spcPct val="135000"/>
              </a:lnSpc>
              <a:buNone/>
            </a:pPr>
            <a:r>
              <a:rPr lang="en-US" sz="1550" dirty="0">
                <a:solidFill>
                  <a:srgbClr val="16213E"/>
                </a:solidFill>
                <a:latin typeface="Calibri" pitchFamily="34" charset="0"/>
                <a:ea typeface="Calibri" pitchFamily="34" charset="-122"/>
                <a:cs typeface="Calibri" pitchFamily="34" charset="-120"/>
              </a:rPr>
              <a:t>Zuccolotto, Manisera &amp; Sandri (2018), published in the International Journal of Sports Science &amp; Coaching, used Classification and Regression Trees on real high-pressure shooting data (Italian Serie A2 and Rio 2016 Olympic data) to model scoring probability under pressure directly, and proposed the SP/SPc/Diff/Pr_c/MINcp framework this module builds by hand. This is not a textbook exercise invented for teaching -- it is the real, published methodological paradigm the textbook chapter itself cites.</a:t>
            </a:r>
            <a:endParaRPr lang="en-US" sz="15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A SUPPLEMENTARY REAL SOURCE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Goldman &amp; Rao (2012): Pressure Is Asymmetric</a:t>
            </a:r>
            <a:endParaRPr lang="en-US" sz="2600" dirty="0"/>
          </a:p>
        </p:txBody>
      </p:sp>
      <p:sp>
        <p:nvSpPr>
          <p:cNvPr id="4" name="Shape 2"/>
          <p:cNvSpPr/>
          <p:nvPr/>
        </p:nvSpPr>
        <p:spPr>
          <a:xfrm>
            <a:off x="548640" y="2103120"/>
            <a:ext cx="11091672" cy="3108960"/>
          </a:xfrm>
          <a:prstGeom prst="roundRect">
            <a:avLst>
              <a:gd name="adj" fmla="val 1765"/>
            </a:avLst>
          </a:prstGeom>
          <a:solidFill>
            <a:srgbClr val="27496D"/>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5000"/>
              </a:lnSpc>
              <a:buNone/>
            </a:pPr>
            <a:r>
              <a:rPr lang="en-US" sz="1600" dirty="0">
                <a:solidFill>
                  <a:srgbClr val="FFFFFF"/>
                </a:solidFill>
                <a:latin typeface="Calibri" pitchFamily="34" charset="0"/>
                <a:ea typeface="Calibri" pitchFamily="34" charset="-122"/>
                <a:cs typeface="Calibri" pitchFamily="34" charset="-120"/>
              </a:rPr>
              <a:t>"Effort vs. Concentration: The Asymmetric Impact of Pressure on NBA Performance," MIT Sloan Sports Analytics Conference (2012), argues pressure does not affect every player the same way: some respond with more effort (offensive rebounding, drawing fouls), while others show measurably reduced shooting efficiency as defensive pressure intensifies late in close games.</a:t>
            </a:r>
            <a:endParaRPr lang="en-US" sz="1600" dirty="0"/>
          </a:p>
        </p:txBody>
      </p:sp>
      <p:sp>
        <p:nvSpPr>
          <p:cNvPr id="6" name="Text 4"/>
          <p:cNvSpPr txBox="1"/>
          <p:nvPr/>
        </p:nvSpPr>
        <p:spPr>
          <a:xfrm>
            <a:off x="914400" y="4480560"/>
            <a:ext cx="10360152" cy="640080"/>
          </a:xfrm>
          <a:prstGeom prst="rect">
            <a:avLst/>
          </a:prstGeom>
          <a:noFill/>
          <a:ln/>
        </p:spPr>
        <p:txBody>
          <a:bodyPr wrap="square" lIns="0" tIns="0" rIns="0" bIns="0" rtlCol="0" anchor="ctr"/>
          <a:lstStyle/>
          <a:p>
            <a:pPr indent="0" marL="0">
              <a:buNone/>
            </a:pPr>
            <a:r>
              <a:rPr lang="en-US" sz="1400" i="1" dirty="0">
                <a:solidFill>
                  <a:srgbClr val="AEBBD1"/>
                </a:solidFill>
                <a:latin typeface="Calibri" pitchFamily="34" charset="0"/>
                <a:ea typeface="Calibri" pitchFamily="34" charset="-122"/>
                <a:cs typeface="Calibri" pitchFamily="34" charset="-120"/>
              </a:rPr>
              <a:t>That asymmetry is a real, testable explanation for exactly the kind of Diff/Pr_c split our real Golden State numbers show.</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Sort the Real Roster: Effort or Efficiency?</a:t>
            </a:r>
            <a:endParaRPr lang="en-US" sz="27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5000"/>
              </a:lnSpc>
              <a:buNone/>
            </a:pPr>
            <a:r>
              <a:rPr lang="en-US" sz="1550" dirty="0">
                <a:solidFill>
                  <a:srgbClr val="16213E"/>
                </a:solidFill>
                <a:latin typeface="Calibri" pitchFamily="34" charset="0"/>
                <a:ea typeface="Calibri" pitchFamily="34" charset="-122"/>
                <a:cs typeface="Calibri" pitchFamily="34" charset="-120"/>
              </a:rPr>
              <a:t>Using the real Golden State cindex table from Step 7-8.</a:t>
            </a:r>
            <a:endParaRPr lang="en-US" sz="1550" dirty="0"/>
          </a:p>
          <a:p>
            <a:pPr indent="0" marL="0">
              <a:lnSpc>
                <a:spcPct val="135000"/>
              </a:lnSpc>
              <a:buNone/>
            </a:pPr>
            <a:endParaRPr lang="en-US" sz="1550" dirty="0"/>
          </a:p>
          <a:p>
            <a:pPr indent="0" marL="0">
              <a:lnSpc>
                <a:spcPct val="135000"/>
              </a:lnSpc>
              <a:buNone/>
            </a:pPr>
            <a:r>
              <a:rPr lang="en-US" sz="1550" dirty="0">
                <a:solidFill>
                  <a:srgbClr val="16213E"/>
                </a:solidFill>
                <a:latin typeface="Calibri" pitchFamily="34" charset="0"/>
                <a:ea typeface="Calibri" pitchFamily="34" charset="-122"/>
                <a:cs typeface="Calibri" pitchFamily="34" charset="-120"/>
              </a:rPr>
              <a:t>1. Sort each of the eight real players into "more effort" (high Pr_c, small or positive Diff) or "less efficient" (notably negative Diff) based on Goldman &amp; Rao's framework.</a:t>
            </a:r>
            <a:endParaRPr lang="en-US" sz="1550" dirty="0"/>
          </a:p>
          <a:p>
            <a:pPr indent="0" marL="0">
              <a:lnSpc>
                <a:spcPct val="135000"/>
              </a:lnSpc>
              <a:buNone/>
            </a:pPr>
            <a:r>
              <a:rPr lang="en-US" sz="1550" dirty="0">
                <a:solidFill>
                  <a:srgbClr val="16213E"/>
                </a:solidFill>
                <a:latin typeface="Calibri" pitchFamily="34" charset="0"/>
                <a:ea typeface="Calibri" pitchFamily="34" charset="-122"/>
                <a:cs typeface="Calibri" pitchFamily="34" charset="-120"/>
              </a:rPr>
              <a:t>2. Was your prediction from the Segment 2 activity correct?</a:t>
            </a:r>
            <a:endParaRPr lang="en-US" sz="15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5B3A8E"/>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2D9A8"/>
                </a:solidFill>
                <a:latin typeface="Calibri" pitchFamily="34" charset="0"/>
                <a:ea typeface="Calibri" pitchFamily="34" charset="-122"/>
                <a:cs typeface="Calibri" pitchFamily="34" charset="-120"/>
              </a:rPr>
              <a:t>PHD / ADVANCED PROJECT CALLOUT</a:t>
            </a:r>
            <a:endParaRPr lang="en-US" sz="1300" dirty="0"/>
          </a:p>
        </p:txBody>
      </p:sp>
      <p:sp>
        <p:nvSpPr>
          <p:cNvPr id="3" name="Text 1"/>
          <p:cNvSpPr txBox="1"/>
          <p:nvPr/>
        </p:nvSpPr>
        <p:spPr>
          <a:xfrm>
            <a:off x="548640" y="1371600"/>
            <a:ext cx="11091672" cy="100584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From Situational Splits to Workload Monitoring</a:t>
            </a:r>
            <a:endParaRPr lang="en-US" sz="2700" dirty="0"/>
          </a:p>
        </p:txBody>
      </p:sp>
      <p:sp>
        <p:nvSpPr>
          <p:cNvPr id="4" name="Shape 2"/>
          <p:cNvSpPr/>
          <p:nvPr/>
        </p:nvSpPr>
        <p:spPr>
          <a:xfrm>
            <a:off x="548640" y="2651760"/>
            <a:ext cx="11091672" cy="2743200"/>
          </a:xfrm>
          <a:prstGeom prst="roundRect">
            <a:avLst>
              <a:gd name="adj" fmla="val 2000"/>
            </a:avLst>
          </a:prstGeom>
          <a:solidFill>
            <a:srgbClr val="4A2F73"/>
          </a:solidFill>
          <a:ln/>
        </p:spPr>
      </p:sp>
      <p:sp>
        <p:nvSpPr>
          <p:cNvPr id="5" name="Text 3"/>
          <p:cNvSpPr txBox="1"/>
          <p:nvPr/>
        </p:nvSpPr>
        <p:spPr>
          <a:xfrm>
            <a:off x="914400" y="2926080"/>
            <a:ext cx="10360152" cy="2194560"/>
          </a:xfrm>
          <a:prstGeom prst="rect">
            <a:avLst/>
          </a:prstGeom>
          <a:noFill/>
          <a:ln/>
        </p:spPr>
        <p:txBody>
          <a:bodyPr wrap="square" lIns="0" tIns="0" rIns="0" bIns="0" rtlCol="0" anchor="ctr"/>
          <a:lstStyle/>
          <a:p>
            <a:pPr indent="0" marL="0">
              <a:lnSpc>
                <a:spcPct val="135000"/>
              </a:lnSpc>
              <a:buNone/>
            </a:pPr>
            <a:r>
              <a:rPr lang="en-US" sz="1600" dirty="0">
                <a:solidFill>
                  <a:srgbClr val="FFFFFF"/>
                </a:solidFill>
                <a:latin typeface="Calibri" pitchFamily="34" charset="0"/>
                <a:ea typeface="Calibri" pitchFamily="34" charset="-122"/>
                <a:cs typeface="Calibri" pitchFamily="34" charset="-120"/>
              </a:rPr>
              <a:t>For students considering the larger independent project track: the logic used all module -- splitting a real data stream by game context and comparing distributions across the split -- is structurally related to the workload and injury-risk monitoring methods this course returns to in Module 10, built from the instructor's own published control-chart methodology. There, the split is healthy-versus-elevated-risk rather than clutch-versus-general. If a situational-performance-to-athlete-monitoring project interests you, this is a genuine methodological bridge worth exploring once we reach Module 10.</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900" b="1" dirty="0">
                <a:solidFill>
                  <a:srgbClr val="16213E"/>
                </a:solidFill>
                <a:latin typeface="Cambria" pitchFamily="34" charset="0"/>
                <a:ea typeface="Cambria" pitchFamily="34" charset="-122"/>
                <a:cs typeface="Cambria" pitchFamily="34" charset="-120"/>
              </a:rPr>
              <a:t>Player Indices and the Wider Literature</a:t>
            </a:r>
            <a:endParaRPr lang="en-US" sz="29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Built real player-level clutch indices for both teams, connected them to Goldman &amp; Rao's asymmetric-pressure argument, and previewed a PhD-track connection to Module 10.</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Module 4 moves from single-game situational splits to season-long segments and how they relate to final rankings.</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2011680"/>
            <a:ext cx="164592" cy="164592"/>
          </a:xfrm>
          <a:prstGeom prst="rect">
            <a:avLst/>
          </a:prstGeom>
          <a:solidFill>
            <a:srgbClr val="27496D"/>
          </a:solidFill>
          <a:ln/>
        </p:spPr>
      </p:sp>
      <p:sp>
        <p:nvSpPr>
          <p:cNvPr id="5" name="Text 3"/>
          <p:cNvSpPr txBox="1"/>
          <p:nvPr/>
        </p:nvSpPr>
        <p:spPr>
          <a:xfrm>
            <a:off x="914400" y="18745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A precise, reproducible clutch definition (under 5 minutes remaining, score within 5 points) is what makes any of this analysis meaningful.</a:t>
            </a:r>
            <a:endParaRPr lang="en-US" sz="1500" dirty="0"/>
          </a:p>
        </p:txBody>
      </p:sp>
      <p:sp>
        <p:nvSpPr>
          <p:cNvPr id="6" name="Shape 4"/>
          <p:cNvSpPr/>
          <p:nvPr/>
        </p:nvSpPr>
        <p:spPr>
          <a:xfrm>
            <a:off x="548640" y="2926080"/>
            <a:ext cx="164592" cy="164592"/>
          </a:xfrm>
          <a:prstGeom prst="rect">
            <a:avLst/>
          </a:prstGeom>
          <a:solidFill>
            <a:srgbClr val="E4572E"/>
          </a:solidFill>
          <a:ln/>
        </p:spPr>
      </p:sp>
      <p:sp>
        <p:nvSpPr>
          <p:cNvPr id="7" name="Text 5"/>
          <p:cNvSpPr txBox="1"/>
          <p:nvPr/>
        </p:nvSpPr>
        <p:spPr>
          <a:xfrm>
            <a:off x="914400" y="27889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Team-level clutch shifts are real but team-specific -- Golden State's defense worsened while Boston's offense improved, across the same real 2017-18 season.</a:t>
            </a:r>
            <a:endParaRPr lang="en-US" sz="1500" dirty="0"/>
          </a:p>
        </p:txBody>
      </p:sp>
      <p:sp>
        <p:nvSpPr>
          <p:cNvPr id="8" name="Shape 6"/>
          <p:cNvSpPr/>
          <p:nvPr/>
        </p:nvSpPr>
        <p:spPr>
          <a:xfrm>
            <a:off x="548640" y="3840480"/>
            <a:ext cx="164592" cy="164592"/>
          </a:xfrm>
          <a:prstGeom prst="rect">
            <a:avLst/>
          </a:prstGeom>
          <a:solidFill>
            <a:srgbClr val="27496D"/>
          </a:solidFill>
          <a:ln/>
        </p:spPr>
      </p:sp>
      <p:sp>
        <p:nvSpPr>
          <p:cNvPr id="9" name="Text 7"/>
          <p:cNvSpPr txBox="1"/>
          <p:nvPr/>
        </p:nvSpPr>
        <p:spPr>
          <a:xfrm>
            <a:off x="914400" y="37033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Scoring concentration (Gini) rose for both real teams in the clutch, but Boston's rose further, driven by one player's real usage spike.</a:t>
            </a:r>
            <a:endParaRPr lang="en-US" sz="1500" dirty="0"/>
          </a:p>
        </p:txBody>
      </p:sp>
      <p:sp>
        <p:nvSpPr>
          <p:cNvPr id="10" name="Shape 8"/>
          <p:cNvSpPr/>
          <p:nvPr/>
        </p:nvSpPr>
        <p:spPr>
          <a:xfrm>
            <a:off x="548640" y="4754880"/>
            <a:ext cx="164592" cy="164592"/>
          </a:xfrm>
          <a:prstGeom prst="rect">
            <a:avLst/>
          </a:prstGeom>
          <a:solidFill>
            <a:srgbClr val="E4572E"/>
          </a:solidFill>
          <a:ln/>
        </p:spPr>
      </p:sp>
      <p:sp>
        <p:nvSpPr>
          <p:cNvPr id="11" name="Text 9"/>
          <p:cNvSpPr txBox="1"/>
          <p:nvPr/>
        </p:nvSpPr>
        <p:spPr>
          <a:xfrm>
            <a:off x="914400" y="46177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Every number in this module came from PbP.BDB, Golden State's real, complete 2017-18 NBA regular-season play-by-play log, reproducible by running Coding_Exercise/module3_clutch_splits.R.</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04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Two Things Before Next Class</a:t>
            </a:r>
            <a:endParaRPr lang="en-US" sz="30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Read</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Advanced Basketball Data Science, Ch. 4 (season segments and final rankings).</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3 (clutch performance and situational splits), the practice questions, and the Module 3 quiz on D2L.</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874520"/>
            <a:ext cx="11091672" cy="914400"/>
          </a:xfrm>
          <a:prstGeom prst="rect">
            <a:avLst/>
          </a:prstGeom>
          <a:noFill/>
          <a:ln/>
        </p:spPr>
        <p:txBody>
          <a:bodyPr wrap="square" lIns="0" tIns="0" rIns="0" bIns="0" rtlCol="0" anchor="t"/>
          <a:lstStyle/>
          <a:p>
            <a:pPr indent="0" marL="0">
              <a:lnSpc>
                <a:spcPct val="150000"/>
              </a:lnSpc>
              <a:buNone/>
            </a:pPr>
            <a:r>
              <a:rPr lang="en-US" sz="1350" dirty="0">
                <a:solidFill>
                  <a:srgbClr val="16213E"/>
                </a:solidFill>
                <a:latin typeface="Calibri" pitchFamily="34" charset="0"/>
                <a:ea typeface="Calibri" pitchFamily="34" charset="-122"/>
                <a:cs typeface="Calibri" pitchFamily="34" charset="-120"/>
              </a:rPr>
              <a:t>Zuccolotto, P., Manisera, M., &amp; Sandri, M. (2026). Advanced Basketball Data Science: With Applications in R, Ch. 3. CRC Press/Chapman &amp; Hall.</a:t>
            </a:r>
            <a:endParaRPr lang="en-US" sz="1350" dirty="0"/>
          </a:p>
          <a:p>
            <a:pPr indent="0" marL="0">
              <a:lnSpc>
                <a:spcPct val="150000"/>
              </a:lnSpc>
              <a:buNone/>
            </a:pPr>
            <a:endParaRPr lang="en-US" sz="1350" dirty="0"/>
          </a:p>
          <a:p>
            <a:pPr indent="0" marL="0">
              <a:lnSpc>
                <a:spcPct val="150000"/>
              </a:lnSpc>
              <a:buNone/>
            </a:pPr>
            <a:r>
              <a:rPr lang="en-US" sz="1350" dirty="0">
                <a:solidFill>
                  <a:srgbClr val="16213E"/>
                </a:solidFill>
                <a:latin typeface="Calibri" pitchFamily="34" charset="0"/>
                <a:ea typeface="Calibri" pitchFamily="34" charset="-122"/>
                <a:cs typeface="Calibri" pitchFamily="34" charset="-120"/>
              </a:rPr>
              <a:t>Zuccolotto, P., Manisera, M., &amp; Sandri, M. (2018). Big data analytics for modeling scoring probability in basketball. International Journal of Sports Science &amp; Coaching, 13(4), 569-589.</a:t>
            </a:r>
            <a:endParaRPr lang="en-US" sz="1350" dirty="0"/>
          </a:p>
          <a:p>
            <a:pPr indent="0" marL="0">
              <a:lnSpc>
                <a:spcPct val="150000"/>
              </a:lnSpc>
              <a:buNone/>
            </a:pPr>
            <a:endParaRPr lang="en-US" sz="1350" dirty="0"/>
          </a:p>
          <a:p>
            <a:pPr indent="0" marL="0">
              <a:lnSpc>
                <a:spcPct val="150000"/>
              </a:lnSpc>
              <a:buNone/>
            </a:pPr>
            <a:r>
              <a:rPr lang="en-US" sz="1350" dirty="0">
                <a:solidFill>
                  <a:srgbClr val="16213E"/>
                </a:solidFill>
                <a:latin typeface="Calibri" pitchFamily="34" charset="0"/>
                <a:ea typeface="Calibri" pitchFamily="34" charset="-122"/>
                <a:cs typeface="Calibri" pitchFamily="34" charset="-120"/>
              </a:rPr>
              <a:t>Goldman, M., &amp; Rao, J. M. (2012). Effort vs. concentration: The asymmetric impact of pressure on NBA performance. MIT Sloan Sports Analytics Conference.</a:t>
            </a:r>
            <a:endParaRPr lang="en-US" sz="1350" dirty="0"/>
          </a:p>
          <a:p>
            <a:pPr indent="0" marL="0">
              <a:lnSpc>
                <a:spcPct val="150000"/>
              </a:lnSpc>
              <a:buNone/>
            </a:pPr>
            <a:endParaRPr lang="en-US" sz="1350" dirty="0"/>
          </a:p>
          <a:p>
            <a:pPr indent="0" marL="0">
              <a:lnSpc>
                <a:spcPct val="150000"/>
              </a:lnSpc>
              <a:buNone/>
            </a:pPr>
            <a:r>
              <a:rPr lang="en-US" sz="1350" dirty="0">
                <a:solidFill>
                  <a:srgbClr val="16213E"/>
                </a:solidFill>
                <a:latin typeface="Calibri" pitchFamily="34" charset="0"/>
                <a:ea typeface="Calibri" pitchFamily="34" charset="-122"/>
                <a:cs typeface="Calibri" pitchFamily="34" charset="-120"/>
              </a:rPr>
              <a:t>Zuccolotto, Manisera &amp; Sandri. BasketballAnalyzeR (R package) and the PbP.BDB dataset. CRAN.</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in Module 04</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Season Segments and Final Rankings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2026-09-21T12:59:33Z</dcterms:created>
  <dcterms:modified xsi:type="dcterms:W3CDTF">2026-09-21T12:59:33Z</dcterms:modified>
</cp:coreProperties>
</file>