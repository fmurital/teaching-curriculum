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clip if internet allows. Ask: what do these shots have in common physically (rushed release, off-balance, contested)? That's the real behavior behind the late-clock bucket we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where does the curve peak? Point out the smaller second cluster later in the clock. Ask the class what real possession behavior produces that second bump (broken plays, late kick-outs, shot-clock violations narrowly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the best.scorer overlay labels the leading scorer in each time interval. Ask whether the same player shows up across multiple intervals, and what that implies about a team's offensive role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to name the size of the drop (7.2 points) before you show the next slide. Push on whether this alone proves pressure causes worse shooting, or whether shot quality could be confounded with clock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students to notice the defense in these clips specifically, not just the shot. This sets up the next segment's point about why clutch defenses can play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out that even Kevin Durant's real clutch FG% (47.6%) is close to a typical non-clutch league-average number, while his teammates' real clutch numbers are noticeably lower. Ask: is that about shot difficulty, shooter,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room into two sides for a short structured debate. Push each side to use the real numbers on the slide (42.4% late clock, 41.7% clutch, KD's 47.6%) rather than opinions about specific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06 · Event Density and Shooting Under Pressure</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6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3B:</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5 asked how box score stats and players relate to each other, using a real correlation matrix and real assist networks built from season-long totals. Both of those tools flatten time out of the picture. Today we put time back in and ask whether when a shot happens changes how likely it is to go in.</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textbook, same real play-by-play data, same BasketballAnalyzeR package.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Event density: where shot attempts pile up across the shot clock</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Turning "late in the clock" into a real, computed pressure number</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Clutch time: real game-pressure shooting and who takes those shots</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6, the Module 6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an event density plot shows and build one from real play-by-play data with densityplot().</a:t>
            </a:r>
            <a:endParaRPr lang="en-US" sz="1600" dirty="0"/>
          </a:p>
        </p:txBody>
      </p:sp>
      <p:sp>
        <p:nvSpPr>
          <p:cNvPr id="7" name="Shape 5"/>
          <p:cNvSpPr/>
          <p:nvPr/>
        </p:nvSpPr>
        <p:spPr>
          <a:xfrm>
            <a:off x="548640" y="2715768"/>
            <a:ext cx="411480" cy="411480"/>
          </a:xfrm>
          <a:prstGeom prst="ellipse">
            <a:avLst/>
          </a:prstGeom>
          <a:solidFill>
            <a:srgbClr val="E4572E"/>
          </a:solidFill>
          <a:ln/>
        </p:spPr>
      </p:sp>
      <p:sp>
        <p:nvSpPr>
          <p:cNvPr id="8" name="Text 6"/>
          <p:cNvSpPr txBox="1"/>
          <p:nvPr/>
        </p:nvSpPr>
        <p:spPr>
          <a:xfrm>
            <a:off x="548640" y="27157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7004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Define shot-clock pressure using playlength and compute real field goal percentage across pressure buckets.</a:t>
            </a:r>
            <a:endParaRPr lang="en-US" sz="1600" dirty="0"/>
          </a:p>
        </p:txBody>
      </p:sp>
      <p:sp>
        <p:nvSpPr>
          <p:cNvPr id="10" name="Shape 8"/>
          <p:cNvSpPr/>
          <p:nvPr/>
        </p:nvSpPr>
        <p:spPr>
          <a:xfrm>
            <a:off x="548640" y="3511296"/>
            <a:ext cx="411480" cy="411480"/>
          </a:xfrm>
          <a:prstGeom prst="ellipse">
            <a:avLst/>
          </a:prstGeom>
          <a:solidFill>
            <a:srgbClr val="27496D"/>
          </a:solidFill>
          <a:ln/>
        </p:spPr>
      </p:sp>
      <p:sp>
        <p:nvSpPr>
          <p:cNvPr id="11" name="Text 9"/>
          <p:cNvSpPr txBox="1"/>
          <p:nvPr/>
        </p:nvSpPr>
        <p:spPr>
          <a:xfrm>
            <a:off x="548640" y="351129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46557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Apply the NBA's own real clutch-time definition to play-by-play data and compute a real clutch shooting split.</a:t>
            </a:r>
            <a:endParaRPr lang="en-US" sz="1600" dirty="0"/>
          </a:p>
        </p:txBody>
      </p:sp>
      <p:sp>
        <p:nvSpPr>
          <p:cNvPr id="13" name="Shape 11"/>
          <p:cNvSpPr/>
          <p:nvPr/>
        </p:nvSpPr>
        <p:spPr>
          <a:xfrm>
            <a:off x="548640" y="4306824"/>
            <a:ext cx="411480" cy="411480"/>
          </a:xfrm>
          <a:prstGeom prst="ellipse">
            <a:avLst/>
          </a:prstGeom>
          <a:solidFill>
            <a:srgbClr val="E4572E"/>
          </a:solidFill>
          <a:ln/>
        </p:spPr>
      </p:sp>
      <p:sp>
        <p:nvSpPr>
          <p:cNvPr id="14" name="Text 12"/>
          <p:cNvSpPr txBox="1"/>
          <p:nvPr/>
        </p:nvSpPr>
        <p:spPr>
          <a:xfrm>
            <a:off x="548640" y="430682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26110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Read a real player-level clutch attempts table and reason about volume versus efficiency under pressure.</a:t>
            </a:r>
            <a:endParaRPr lang="en-US" sz="1600" dirty="0"/>
          </a:p>
        </p:txBody>
      </p:sp>
      <p:sp>
        <p:nvSpPr>
          <p:cNvPr id="16" name="Shape 14"/>
          <p:cNvSpPr/>
          <p:nvPr/>
        </p:nvSpPr>
        <p:spPr>
          <a:xfrm>
            <a:off x="548640" y="5102352"/>
            <a:ext cx="411480" cy="411480"/>
          </a:xfrm>
          <a:prstGeom prst="ellipse">
            <a:avLst/>
          </a:prstGeom>
          <a:solidFill>
            <a:srgbClr val="27496D"/>
          </a:solidFill>
          <a:ln/>
        </p:spPr>
      </p:sp>
      <p:sp>
        <p:nvSpPr>
          <p:cNvPr id="17" name="Text 15"/>
          <p:cNvSpPr txBox="1"/>
          <p:nvPr/>
        </p:nvSpPr>
        <p:spPr>
          <a:xfrm>
            <a:off x="548640" y="510235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05663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a lower shooting percentage under pressure does not, by itself, prove a player performs worse when it counts.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A Shot Is Not Just a Shot</a:t>
            </a:r>
            <a:endParaRPr lang="en-US" sz="30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9728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Every tool we've used so far, box score totals, ratings, correlations, assist networks, treats every shot the same regardless of when it happened. A wide-open shot 4 seconds into a possession gets averaged in with a rushed, contested shot with 1 second left on the clock. That hides something real.</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800" b="1" dirty="0">
                <a:solidFill>
                  <a:srgbClr val="E4572E"/>
                </a:solidFill>
                <a:latin typeface="Calibri" pitchFamily="34" charset="0"/>
                <a:ea typeface="Calibri" pitchFamily="34" charset="-122"/>
                <a:cs typeface="Calibri" pitchFamily="34" charset="-120"/>
              </a:rPr>
              <a:t>Today's question: does when a shot happens change how likely it is to go in?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Event Density: Where the Action Piles Up</a:t>
            </a:r>
            <a:endParaRPr lang="en-US" sz="2800" dirty="0"/>
          </a:p>
        </p:txBody>
      </p:sp>
      <p:sp>
        <p:nvSpPr>
          <p:cNvPr id="4" name="Shape 2"/>
          <p:cNvSpPr/>
          <p:nvPr/>
        </p:nvSpPr>
        <p:spPr>
          <a:xfrm>
            <a:off x="548640" y="2103120"/>
            <a:ext cx="11091672" cy="1645920"/>
          </a:xfrm>
          <a:prstGeom prst="roundRect">
            <a:avLst>
              <a:gd name="adj" fmla="val 3333"/>
            </a:avLst>
          </a:prstGeom>
          <a:solidFill>
            <a:srgbClr val="27496D"/>
          </a:solidFill>
          <a:ln/>
        </p:spPr>
      </p:sp>
      <p:sp>
        <p:nvSpPr>
          <p:cNvPr id="5" name="Text 3"/>
          <p:cNvSpPr txBox="1"/>
          <p:nvPr/>
        </p:nvSpPr>
        <p:spPr>
          <a:xfrm>
            <a:off x="914400" y="2331720"/>
            <a:ext cx="10360152" cy="118872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An event density plot smooths real event counts (like every field goal attempt) into a curve over a time variable. Instead of one average number, it shows you the whole shape: where events cluster, where they thin out, and whether there's a second cluster you would have missed.</a:t>
            </a:r>
            <a:endParaRPr lang="en-US" sz="1600" dirty="0"/>
          </a:p>
        </p:txBody>
      </p:sp>
      <p:sp>
        <p:nvSpPr>
          <p:cNvPr id="6" name="Text 4"/>
          <p:cNvSpPr txBox="1"/>
          <p:nvPr/>
        </p:nvSpPr>
        <p:spPr>
          <a:xfrm>
            <a:off x="548640" y="397764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BasketballAnalyzeR::densityplot(data, var, shot.type) builds this directly from real play-by-play data.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It Before You Calculate It</a:t>
            </a:r>
            <a:endParaRPr lang="en-US" sz="28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FIRST</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Every Iconic NBA Buzzer Beater Explained in 1 Minutes</a:t>
            </a:r>
            <a:endParaRPr lang="en-US" sz="20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RULES (YouTube)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short highlight reel of real shot-clock and game-clock buzzer beaters. Watch for what the player's decision-making looks like when the clock is the real constraint, not just a number on a slide.</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https://www.youtube.com/watch?v=ookQ-WD7ZM0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a real density plot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Shot Density Across the Shot Clock</a:t>
            </a:r>
            <a:endParaRPr lang="en-US" sz="2600" dirty="0"/>
          </a:p>
        </p:txBody>
      </p:sp>
      <p:pic>
        <p:nvPicPr>
          <p:cNvPr id="4" name="Image 0" descr="module6_density_playlength.png">    </p:cNvPr>
          <p:cNvPicPr>
            <a:picLocks noChangeAspect="1"/>
          </p:cNvPicPr>
          <p:nvPr/>
        </p:nvPicPr>
        <p:blipFill>
          <a:blip r:embed="rId1"/>
          <a:stretch>
            <a:fillRect/>
          </a:stretch>
        </p:blipFill>
        <p:spPr>
          <a:xfrm>
            <a:off x="1280160" y="1691640"/>
            <a:ext cx="960120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densityplot(FG, var="playlength", shot.type="field"). Data: PbP.BDB, 14,355 real field goal attempts, BasketballAnalyzeR.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Who Is Taking the Highest-Density Shots?</a:t>
            </a:r>
            <a:endParaRPr lang="en-US" sz="2600" dirty="0"/>
          </a:p>
        </p:txBody>
      </p:sp>
      <p:pic>
        <p:nvPicPr>
          <p:cNvPr id="4" name="Image 0" descr="module6_density_playlength_bestscorer.png">    </p:cNvPr>
          <p:cNvPicPr>
            <a:picLocks noChangeAspect="1"/>
          </p:cNvPicPr>
          <p:nvPr/>
        </p:nvPicPr>
        <p:blipFill>
          <a:blip r:embed="rId1"/>
          <a:stretch>
            <a:fillRect/>
          </a:stretch>
        </p:blipFill>
        <p:spPr>
          <a:xfrm>
            <a:off x="1280160" y="1691640"/>
            <a:ext cx="960120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densityplot(FG, var="playlength", shot.type="field", best.scorer=TRUE). Data: PbP.BDB, BasketballAnalyzeR.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Curve With a Partner</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Turn to the person next to you and look back at the density plot.</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Where does the curve peak, and what does that tell you about when most shots happen in a possession?</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Point to the smaller late-clock bump. Name one real, specific in-game situation that could produce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Event Density,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a real density plot of field goal attempts across the shot clock and found a second, later cluster beyond the early peak.</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turns that late-clock cluster into a real, computed shooting percentage question.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turning "late in the clock" into a real number.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Real Shot-Clock Buckets</a:t>
            </a:r>
            <a:endParaRPr lang="en-US" sz="3000" dirty="0"/>
          </a:p>
        </p:txBody>
      </p:sp>
      <p:sp>
        <p:nvSpPr>
          <p:cNvPr id="4" name="Shape 2"/>
          <p:cNvSpPr/>
          <p:nvPr/>
        </p:nvSpPr>
        <p:spPr>
          <a:xfrm>
            <a:off x="548640" y="2148840"/>
            <a:ext cx="11091672" cy="960120"/>
          </a:xfrm>
          <a:prstGeom prst="roundRect">
            <a:avLst>
              <a:gd name="adj" fmla="val 5714"/>
            </a:avLst>
          </a:prstGeom>
          <a:solidFill>
            <a:srgbClr val="27496D"/>
          </a:solidFill>
          <a:ln/>
        </p:spPr>
      </p:sp>
      <p:sp>
        <p:nvSpPr>
          <p:cNvPr id="5" name="Text 3"/>
          <p:cNvSpPr txBox="1"/>
          <p:nvPr/>
        </p:nvSpPr>
        <p:spPr>
          <a:xfrm>
            <a:off x="868680" y="2148840"/>
            <a:ext cx="4114800" cy="9601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Early clock</a:t>
            </a:r>
            <a:endParaRPr lang="en-US" sz="1700" dirty="0"/>
          </a:p>
        </p:txBody>
      </p:sp>
      <p:sp>
        <p:nvSpPr>
          <p:cNvPr id="6" name="Text 4"/>
          <p:cNvSpPr txBox="1"/>
          <p:nvPr/>
        </p:nvSpPr>
        <p:spPr>
          <a:xfrm>
            <a:off x="5120640" y="2148840"/>
            <a:ext cx="6245352" cy="96012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playlength &lt; 12 seconds elapsed</a:t>
            </a:r>
            <a:endParaRPr lang="en-US" sz="1500" dirty="0"/>
          </a:p>
        </p:txBody>
      </p:sp>
      <p:sp>
        <p:nvSpPr>
          <p:cNvPr id="7" name="Shape 5"/>
          <p:cNvSpPr/>
          <p:nvPr/>
        </p:nvSpPr>
        <p:spPr>
          <a:xfrm>
            <a:off x="548640" y="3291840"/>
            <a:ext cx="11091672" cy="960120"/>
          </a:xfrm>
          <a:prstGeom prst="roundRect">
            <a:avLst>
              <a:gd name="adj" fmla="val 5714"/>
            </a:avLst>
          </a:prstGeom>
          <a:solidFill>
            <a:srgbClr val="27496D"/>
          </a:solidFill>
          <a:ln/>
        </p:spPr>
      </p:sp>
      <p:sp>
        <p:nvSpPr>
          <p:cNvPr id="8" name="Text 6"/>
          <p:cNvSpPr txBox="1"/>
          <p:nvPr/>
        </p:nvSpPr>
        <p:spPr>
          <a:xfrm>
            <a:off x="868680" y="3291840"/>
            <a:ext cx="4114800" cy="9601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Mid clock</a:t>
            </a:r>
            <a:endParaRPr lang="en-US" sz="1700" dirty="0"/>
          </a:p>
        </p:txBody>
      </p:sp>
      <p:sp>
        <p:nvSpPr>
          <p:cNvPr id="9" name="Text 7"/>
          <p:cNvSpPr txBox="1"/>
          <p:nvPr/>
        </p:nvSpPr>
        <p:spPr>
          <a:xfrm>
            <a:off x="5120640" y="3291840"/>
            <a:ext cx="6245352" cy="96012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playlength 12-17 seconds elapsed</a:t>
            </a:r>
            <a:endParaRPr lang="en-US" sz="1500" dirty="0"/>
          </a:p>
        </p:txBody>
      </p:sp>
      <p:sp>
        <p:nvSpPr>
          <p:cNvPr id="10" name="Shape 8"/>
          <p:cNvSpPr/>
          <p:nvPr/>
        </p:nvSpPr>
        <p:spPr>
          <a:xfrm>
            <a:off x="548640" y="4434840"/>
            <a:ext cx="11091672" cy="960120"/>
          </a:xfrm>
          <a:prstGeom prst="roundRect">
            <a:avLst>
              <a:gd name="adj" fmla="val 5714"/>
            </a:avLst>
          </a:prstGeom>
          <a:solidFill>
            <a:srgbClr val="E4572E"/>
          </a:solidFill>
          <a:ln/>
        </p:spPr>
      </p:sp>
      <p:sp>
        <p:nvSpPr>
          <p:cNvPr id="11" name="Text 9"/>
          <p:cNvSpPr txBox="1"/>
          <p:nvPr/>
        </p:nvSpPr>
        <p:spPr>
          <a:xfrm>
            <a:off x="868680" y="4434840"/>
            <a:ext cx="4114800" cy="9601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Late clock, high pressure</a:t>
            </a:r>
            <a:endParaRPr lang="en-US" sz="1700" dirty="0"/>
          </a:p>
        </p:txBody>
      </p:sp>
      <p:sp>
        <p:nvSpPr>
          <p:cNvPr id="12" name="Text 10"/>
          <p:cNvSpPr txBox="1"/>
          <p:nvPr/>
        </p:nvSpPr>
        <p:spPr>
          <a:xfrm>
            <a:off x="5120640" y="4434840"/>
            <a:ext cx="6245352" cy="96012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playlength 18+ seconds elapsed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shot-clock pressure table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Real Field Goal Percentage by Shot-Clock Bucket</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011680"/>
        </p:xfrm>
        <a:graphic>
          <a:graphicData uri="http://schemas.openxmlformats.org/drawingml/2006/table">
            <a:tbl>
              <a:tblPr/>
              <a:tblGrid>
                <a:gridCol w="5605272"/>
                <a:gridCol w="1828800"/>
                <a:gridCol w="1828800"/>
                <a:gridCol w="1828800"/>
              </a:tblGrid>
              <a:tr h="5029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Shot-clock bucket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Attempts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Makes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Early clock (&lt;12s elapsed)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7,346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3,643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49.6%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Mid clock (12-17s elapsed)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4,157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1,952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47.0%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Late clock, high pressure (18s+)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2,852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1,210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42.4%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34340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Every real field goal attempt in PbP.BDB, split by seconds elapsed in the possession when the shot was taken.</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14,355 real field goal attempts, BasketballAnalyzeR.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NUMBER OF THIS SEGMENT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Real 7.2 Point Drop</a:t>
            </a:r>
            <a:endParaRPr lang="en-US" sz="28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-7.2</a:t>
            </a:r>
            <a:endParaRPr lang="en-US" sz="58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percentage points, real FG%,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early clock (49.6%) to</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late clock (42.4%)</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What this does NOT prove: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that the clock itself causes worse shooting. Late-clock shots are also more likely to come from a broken play, not a designed one.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What it does show: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real, measurable evidence that pressure situations and shot quality move together, worth investigating further.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isolate three-point shooting the same way.</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Three-Point Shooting by Shot-Clock Bucket</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011680"/>
        </p:xfrm>
        <a:graphic>
          <a:graphicData uri="http://schemas.openxmlformats.org/drawingml/2006/table">
            <a:tbl>
              <a:tblPr/>
              <a:tblGrid>
                <a:gridCol w="5605272"/>
                <a:gridCol w="1828800"/>
                <a:gridCol w="1828800"/>
                <a:gridCol w="1828800"/>
              </a:tblGrid>
              <a:tr h="5029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Shot-clock bucket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Attempts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Makes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Early clock (&lt;12s elapsed)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2,542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943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Mid clock (12-17s elapsed)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1,300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Late clock, high pressure (18s+)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33.4%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34340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Notice this pattern is not a straight line down. Mid clock is the best three-point bucket, not the worst.</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real 3-point attempts only, BasketballAnalyzeR.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Worst at Both Ends, Not Just Late</a:t>
            </a:r>
            <a:endParaRPr lang="en-US" sz="2600" dirty="0"/>
          </a:p>
        </p:txBody>
      </p:sp>
      <p:sp>
        <p:nvSpPr>
          <p:cNvPr id="4" name="Shape 2"/>
          <p:cNvSpPr/>
          <p:nvPr/>
        </p:nvSpPr>
        <p:spPr>
          <a:xfrm>
            <a:off x="548640" y="2103120"/>
            <a:ext cx="5362956" cy="3108960"/>
          </a:xfrm>
          <a:prstGeom prst="roundRect">
            <a:avLst>
              <a:gd name="adj" fmla="val 1765"/>
            </a:avLst>
          </a:prstGeom>
          <a:solidFill>
            <a:srgbClr val="27496D"/>
          </a:solidFill>
          <a:ln/>
        </p:spPr>
      </p:sp>
      <p:sp>
        <p:nvSpPr>
          <p:cNvPr id="5" name="Text 3"/>
          <p:cNvSpPr txBox="1"/>
          <p:nvPr/>
        </p:nvSpPr>
        <p:spPr>
          <a:xfrm>
            <a:off x="868680" y="2377440"/>
            <a:ext cx="4722876"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Early Clock, 37.1%</a:t>
            </a:r>
            <a:endParaRPr lang="en-US" sz="1800" dirty="0"/>
          </a:p>
        </p:txBody>
      </p:sp>
      <p:sp>
        <p:nvSpPr>
          <p:cNvPr id="6" name="Text 4"/>
          <p:cNvSpPr txBox="1"/>
          <p:nvPr/>
        </p:nvSpPr>
        <p:spPr>
          <a:xfrm>
            <a:off x="868680" y="315468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Quick transition or semi-set three-point looks taken before the defense is organized can still be lower-percentage shots, even with time on the clock.</a:t>
            </a:r>
            <a:endParaRPr lang="en-US" sz="1400" dirty="0"/>
          </a:p>
        </p:txBody>
      </p:sp>
      <p:sp>
        <p:nvSpPr>
          <p:cNvPr id="7" name="Shape 5"/>
          <p:cNvSpPr/>
          <p:nvPr/>
        </p:nvSpPr>
        <p:spPr>
          <a:xfrm>
            <a:off x="6277356" y="2103120"/>
            <a:ext cx="5362956" cy="3108960"/>
          </a:xfrm>
          <a:prstGeom prst="roundRect">
            <a:avLst>
              <a:gd name="adj" fmla="val 1765"/>
            </a:avLst>
          </a:prstGeom>
          <a:solidFill>
            <a:srgbClr val="E4572E"/>
          </a:solidFill>
          <a:ln/>
        </p:spPr>
      </p:sp>
      <p:sp>
        <p:nvSpPr>
          <p:cNvPr id="8" name="Text 6"/>
          <p:cNvSpPr txBox="1"/>
          <p:nvPr/>
        </p:nvSpPr>
        <p:spPr>
          <a:xfrm>
            <a:off x="6597396" y="2377440"/>
            <a:ext cx="4722876"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Late Clock, 33.4%</a:t>
            </a:r>
            <a:endParaRPr lang="en-US" sz="1800" dirty="0"/>
          </a:p>
        </p:txBody>
      </p:sp>
      <p:sp>
        <p:nvSpPr>
          <p:cNvPr id="9" name="Text 7"/>
          <p:cNvSpPr txBox="1"/>
          <p:nvPr/>
        </p:nvSpPr>
        <p:spPr>
          <a:xfrm>
            <a:off x="6597396" y="315468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lowest of the three, exactly where the pressure story predicts: a rushed, often contested look as the clock runs out.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Propose a Real Explanation</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Small groups (3-4 students).</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Mid-clock three-point shooting (40.7%) beats both early clock (37.1%) and late clock (33.4%). Propose one real, specific basketball reason mid-clock threes might be the best-quality shots.</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Be ready to defend your explanation using what you know about how NBA offenses are designed to run.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Shot-Clock Pressure,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real 7.2 point drop in overall FG% from early to late clock, and a non-monotonic pattern in three-point shooting that resists a simple story.</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moves from shot-clock pressure inside one possession to clutch-time pressure across the whole game.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clutch time.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A Second Kind of Pressure</a:t>
            </a:r>
            <a:endParaRPr lang="en-US" sz="30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9728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Shot-clock pressure is about one possession running out of time. Clutch-time pressure is about the entire game running out of time, with the outcome still in doubt. Analysts and the NBA itself have a specific, real definition for when a game enters "clutch time."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NBA's Own Real Clutch-Time Definition</a:t>
            </a:r>
            <a:endParaRPr lang="en-US" sz="2600" dirty="0"/>
          </a:p>
        </p:txBody>
      </p:sp>
      <p:sp>
        <p:nvSpPr>
          <p:cNvPr id="4" name="Shape 2"/>
          <p:cNvSpPr/>
          <p:nvPr/>
        </p:nvSpPr>
        <p:spPr>
          <a:xfrm>
            <a:off x="548640" y="2103120"/>
            <a:ext cx="11091672" cy="2651760"/>
          </a:xfrm>
          <a:prstGeom prst="roundRect">
            <a:avLst>
              <a:gd name="adj" fmla="val 2069"/>
            </a:avLst>
          </a:prstGeom>
          <a:solidFill>
            <a:srgbClr val="27496D"/>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Last 5 minutes of the 4th period or overtime,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score within 5 points.</a:t>
            </a:r>
            <a:endParaRPr lang="en-US" sz="2200" dirty="0"/>
          </a:p>
        </p:txBody>
      </p:sp>
      <p:sp>
        <p:nvSpPr>
          <p:cNvPr id="6" name="Text 4"/>
          <p:cNvSpPr txBox="1"/>
          <p:nvPr/>
        </p:nvSpPr>
        <p:spPr>
          <a:xfrm>
            <a:off x="914400" y="3520440"/>
            <a:ext cx="10360152" cy="548640"/>
          </a:xfrm>
          <a:prstGeom prst="rect">
            <a:avLst/>
          </a:prstGeom>
          <a:noFill/>
          <a:ln/>
        </p:spPr>
        <p:txBody>
          <a:bodyPr wrap="square" lIns="0" tIns="0" rIns="0" bIns="0" rtlCol="0" anchor="ctr"/>
          <a:lstStyle/>
          <a:p>
            <a:pPr algn="ctr" indent="0" marL="0">
              <a:buNone/>
            </a:pPr>
            <a:r>
              <a:rPr lang="en-US" sz="1600" dirty="0">
                <a:solidFill>
                  <a:srgbClr val="D9E2F3"/>
                </a:solidFill>
                <a:latin typeface="Courier New" pitchFamily="34" charset="0"/>
                <a:ea typeface="Courier New" pitchFamily="34" charset="-122"/>
                <a:cs typeface="Courier New" pitchFamily="34" charset="-120"/>
              </a:rPr>
              <a:t>period &gt;= 4  &amp;  periodTime &gt;= 420  &amp;  abs(home_score - away_score) &lt;= 5</a:t>
            </a:r>
            <a:endParaRPr lang="en-US" sz="1600" dirty="0"/>
          </a:p>
        </p:txBody>
      </p:sp>
      <p:sp>
        <p:nvSpPr>
          <p:cNvPr id="7" name="Text 5"/>
          <p:cNvSpPr txBox="1"/>
          <p:nvPr/>
        </p:nvSpPr>
        <p:spPr>
          <a:xfrm>
            <a:off x="914400" y="4160520"/>
            <a:ext cx="10360152" cy="457200"/>
          </a:xfrm>
          <a:prstGeom prst="rect">
            <a:avLst/>
          </a:prstGeom>
          <a:noFill/>
          <a:ln/>
        </p:spPr>
        <p:txBody>
          <a:bodyPr wrap="square" lIns="0" tIns="0" rIns="0" bIns="0" rtlCol="0" anchor="ctr"/>
          <a:lstStyle/>
          <a:p>
            <a:pPr algn="ctr" indent="0" marL="0">
              <a:buNone/>
            </a:pPr>
            <a:r>
              <a:rPr lang="en-US" sz="1300" i="1" dirty="0">
                <a:solidFill>
                  <a:srgbClr val="AEBBD1"/>
                </a:solidFill>
                <a:latin typeface="Calibri" pitchFamily="34" charset="0"/>
                <a:ea typeface="Calibri" pitchFamily="34" charset="-122"/>
                <a:cs typeface="Calibri" pitchFamily="34" charset="-120"/>
              </a:rPr>
              <a:t>This is the exact definition NBA.com's own advanced stats use for clutch-time leaderboards.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How the League Itself Defines Clutch</a:t>
            </a:r>
            <a:endParaRPr lang="en-US" sz="28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FIRST</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How Is 'Clutch Time' Officially Defined In The NBA?</a:t>
            </a:r>
            <a:endParaRPr lang="en-US" sz="20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Basketball Stats Central (YouTube)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concept-explainer walking through the league's own clutch-time definition, the same one we just wrote as a real filter on play-by-play data.</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https://www.youtube.com/watch?v=2XNk6dd1zYg</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 Real Clutch Shot Looks Like</a:t>
            </a:r>
            <a:endParaRPr lang="en-US" sz="28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SECOND</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Forgotten Clutch Shots &amp; Game Winners</a:t>
            </a:r>
            <a:endParaRPr lang="en-US" sz="20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CLASSIC NBA (YouTube)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game footage of real clutch shots. Watch how tightly defended these possessions are compared to an early-clock, early-game look.</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https://www.youtube.com/watch?v=0Ld7iV6NQak</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clutch-time split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Real Clutch vs. Non-Clutch Field Goal Percentage</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1645920"/>
        </p:xfrm>
        <a:graphic>
          <a:graphicData uri="http://schemas.openxmlformats.org/drawingml/2006/table">
            <a:tbl>
              <a:tblPr/>
              <a:tblGrid>
                <a:gridCol w="5605272"/>
                <a:gridCol w="1828800"/>
                <a:gridCol w="1828800"/>
                <a:gridCol w="1828800"/>
              </a:tblGrid>
              <a:tr h="54864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Situation</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Attempts</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Makes</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FG%</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4864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Non-clutch</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14,007</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6,660</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47.5%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Clutch (last 5 min, margin &lt;= 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348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145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41.7%</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16052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Same method as every other table today: result == "made" on real, filtered play-by-play rows.</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14,355 real field goal attempts, BasketballAnalyzeR.</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NUMBER OF THIS SEGMENT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A Real 5.8 Point Drop, Under the Brightest Lights</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-5.8</a:t>
            </a:r>
            <a:endParaRPr lang="en-US" sz="58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percentage points, real FG%,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non-clutch (47.5%) to</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clutch (41.7%)</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Why the gap is smaller than shot-clock pressure: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clutch shots are still deliberate, designed plays, just against a defense that knows exactly who is getting the ball.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Sample size caution: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only 348 real clutch attempts in this dataset. Small samples make percentages noisier.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find out who actually takes these real clutch shots.</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Who Takes the Real Clutch Shots?</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5605272"/>
                <a:gridCol w="1828800"/>
                <a:gridCol w="1828800"/>
                <a:gridCol w="182880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Attempts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Makes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Durant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47.6%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Klay Thompson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Stephen Curry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Draymond Green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27496D"/>
                </a:solidFill>
                <a:latin typeface="Calibri" pitchFamily="34" charset="0"/>
                <a:ea typeface="Calibri" pitchFamily="34" charset="-122"/>
                <a:cs typeface="Calibri" pitchFamily="34" charset="-120"/>
              </a:rPr>
              <a:t>Players with at least 5 real clutch attempts. Because PbP.BDB centers on Golden State's schedule, this list skews Warriors.</a:t>
            </a:r>
            <a:endParaRPr lang="en-US" sz="13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real clutch-time field goal attempts (period&gt;=4, periodTime&gt;=420, margin&lt;=5), BasketballAnalyzeR.</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CASE STUDY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Volume Is Its Own Signal: Kevin Durant</a:t>
            </a:r>
            <a:endParaRPr lang="en-US" sz="2600" dirty="0"/>
          </a:p>
        </p:txBody>
      </p:sp>
      <p:sp>
        <p:nvSpPr>
          <p:cNvPr id="4" name="Text 2"/>
          <p:cNvSpPr txBox="1"/>
          <p:nvPr/>
        </p:nvSpPr>
        <p:spPr>
          <a:xfrm>
            <a:off x="548640" y="2194560"/>
            <a:ext cx="3840480" cy="731520"/>
          </a:xfrm>
          <a:prstGeom prst="rect">
            <a:avLst/>
          </a:prstGeom>
          <a:noFill/>
          <a:ln/>
        </p:spPr>
        <p:txBody>
          <a:bodyPr wrap="square" lIns="0" tIns="0" rIns="0" bIns="0" rtlCol="0" anchor="ctr"/>
          <a:lstStyle/>
          <a:p>
            <a:pPr indent="0" marL="0">
              <a:buNone/>
            </a:pPr>
            <a:r>
              <a:rPr lang="en-US" sz="1500" b="1" dirty="0">
                <a:solidFill>
                  <a:srgbClr val="AEBBD1"/>
                </a:solidFill>
                <a:latin typeface="Calibri" pitchFamily="34" charset="0"/>
                <a:ea typeface="Calibri" pitchFamily="34" charset="-122"/>
                <a:cs typeface="Calibri" pitchFamily="34" charset="-120"/>
              </a:rPr>
              <a:t>Real clutch attempts</a:t>
            </a:r>
            <a:endParaRPr lang="en-US" sz="1500" dirty="0"/>
          </a:p>
        </p:txBody>
      </p:sp>
      <p:sp>
        <p:nvSpPr>
          <p:cNvPr id="5" name="Text 3"/>
          <p:cNvSpPr txBox="1"/>
          <p:nvPr/>
        </p:nvSpPr>
        <p:spPr>
          <a:xfrm>
            <a:off x="4389120" y="2194560"/>
            <a:ext cx="7251192" cy="7315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42 (most of any player in this sample)</a:t>
            </a:r>
            <a:endParaRPr lang="en-US" sz="1500" dirty="0"/>
          </a:p>
        </p:txBody>
      </p:sp>
      <p:sp>
        <p:nvSpPr>
          <p:cNvPr id="6" name="Text 4"/>
          <p:cNvSpPr txBox="1"/>
          <p:nvPr/>
        </p:nvSpPr>
        <p:spPr>
          <a:xfrm>
            <a:off x="548640" y="3063240"/>
            <a:ext cx="3840480" cy="731520"/>
          </a:xfrm>
          <a:prstGeom prst="rect">
            <a:avLst/>
          </a:prstGeom>
          <a:noFill/>
          <a:ln/>
        </p:spPr>
        <p:txBody>
          <a:bodyPr wrap="square" lIns="0" tIns="0" rIns="0" bIns="0" rtlCol="0" anchor="ctr"/>
          <a:lstStyle/>
          <a:p>
            <a:pPr indent="0" marL="0">
              <a:buNone/>
            </a:pPr>
            <a:r>
              <a:rPr lang="en-US" sz="1500" b="1" dirty="0">
                <a:solidFill>
                  <a:srgbClr val="AEBBD1"/>
                </a:solidFill>
                <a:latin typeface="Calibri" pitchFamily="34" charset="0"/>
                <a:ea typeface="Calibri" pitchFamily="34" charset="-122"/>
                <a:cs typeface="Calibri" pitchFamily="34" charset="-120"/>
              </a:rPr>
              <a:t>Real clutch makes</a:t>
            </a:r>
            <a:endParaRPr lang="en-US" sz="1500" dirty="0"/>
          </a:p>
        </p:txBody>
      </p:sp>
      <p:sp>
        <p:nvSpPr>
          <p:cNvPr id="7" name="Text 5"/>
          <p:cNvSpPr txBox="1"/>
          <p:nvPr/>
        </p:nvSpPr>
        <p:spPr>
          <a:xfrm>
            <a:off x="4389120" y="3063240"/>
            <a:ext cx="7251192" cy="7315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20</a:t>
            </a:r>
            <a:endParaRPr lang="en-US" sz="1500" dirty="0"/>
          </a:p>
        </p:txBody>
      </p:sp>
      <p:sp>
        <p:nvSpPr>
          <p:cNvPr id="8" name="Text 6"/>
          <p:cNvSpPr txBox="1"/>
          <p:nvPr/>
        </p:nvSpPr>
        <p:spPr>
          <a:xfrm>
            <a:off x="548640" y="3931920"/>
            <a:ext cx="3840480" cy="731520"/>
          </a:xfrm>
          <a:prstGeom prst="rect">
            <a:avLst/>
          </a:prstGeom>
          <a:noFill/>
          <a:ln/>
        </p:spPr>
        <p:txBody>
          <a:bodyPr wrap="square" lIns="0" tIns="0" rIns="0" bIns="0" rtlCol="0" anchor="ctr"/>
          <a:lstStyle/>
          <a:p>
            <a:pPr indent="0" marL="0">
              <a:buNone/>
            </a:pPr>
            <a:r>
              <a:rPr lang="en-US" sz="1500" b="1" dirty="0">
                <a:solidFill>
                  <a:srgbClr val="AEBBD1"/>
                </a:solidFill>
                <a:latin typeface="Calibri" pitchFamily="34" charset="0"/>
                <a:ea typeface="Calibri" pitchFamily="34" charset="-122"/>
                <a:cs typeface="Calibri" pitchFamily="34" charset="-120"/>
              </a:rPr>
              <a:t>Real clutch FG%</a:t>
            </a:r>
            <a:endParaRPr lang="en-US" sz="1500" dirty="0"/>
          </a:p>
        </p:txBody>
      </p:sp>
      <p:sp>
        <p:nvSpPr>
          <p:cNvPr id="9" name="Text 7"/>
          <p:cNvSpPr txBox="1"/>
          <p:nvPr/>
        </p:nvSpPr>
        <p:spPr>
          <a:xfrm>
            <a:off x="4389120" y="3931920"/>
            <a:ext cx="7251192" cy="7315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47.6%</a:t>
            </a:r>
            <a:endParaRPr lang="en-US" sz="1500" dirty="0"/>
          </a:p>
        </p:txBody>
      </p:sp>
      <p:sp>
        <p:nvSpPr>
          <p:cNvPr id="10" name="Text 8"/>
          <p:cNvSpPr txBox="1"/>
          <p:nvPr/>
        </p:nvSpPr>
        <p:spPr>
          <a:xfrm>
            <a:off x="548640" y="4800600"/>
            <a:ext cx="3840480" cy="731520"/>
          </a:xfrm>
          <a:prstGeom prst="rect">
            <a:avLst/>
          </a:prstGeom>
          <a:noFill/>
          <a:ln/>
        </p:spPr>
        <p:txBody>
          <a:bodyPr wrap="square" lIns="0" tIns="0" rIns="0" bIns="0" rtlCol="0" anchor="ctr"/>
          <a:lstStyle/>
          <a:p>
            <a:pPr indent="0" marL="0">
              <a:buNone/>
            </a:pPr>
            <a:r>
              <a:rPr lang="en-US" sz="1500" b="1" dirty="0">
                <a:solidFill>
                  <a:srgbClr val="AEBBD1"/>
                </a:solidFill>
                <a:latin typeface="Calibri" pitchFamily="34" charset="0"/>
                <a:ea typeface="Calibri" pitchFamily="34" charset="-122"/>
                <a:cs typeface="Calibri" pitchFamily="34" charset="-120"/>
              </a:rPr>
              <a:t>What this tells us</a:t>
            </a:r>
            <a:endParaRPr lang="en-US" sz="1500" dirty="0"/>
          </a:p>
        </p:txBody>
      </p:sp>
      <p:sp>
        <p:nvSpPr>
          <p:cNvPr id="11" name="Text 9"/>
          <p:cNvSpPr txBox="1"/>
          <p:nvPr/>
        </p:nvSpPr>
        <p:spPr>
          <a:xfrm>
            <a:off x="4389120" y="4800600"/>
            <a:ext cx="7251192" cy="7315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Coaching staff trust, independent of any single shot's outcome</a:t>
            </a:r>
            <a:endParaRPr lang="en-US" sz="1500" dirty="0"/>
          </a:p>
        </p:txBody>
      </p:sp>
      <p:sp>
        <p:nvSpPr>
          <p:cNvPr id="12" name="Text 10"/>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real 2017-18 regular-season clutch-time attempts, BasketballAnalyzeR. Being trusted with the ball and making the shot are two separate real questions.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PLAYER PERFORMANCE &amp; GAME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a Shooting Percentage Honestly</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Whether a raw shooting percentage hides when and under what pressure the shots actually happened.</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player's season shooting percentage is a single number built from thousands of shots taken under wildly different real conditions. Two players with the same season percentage can have completely different real distributions of easy versus pressured attempts. Module 7 goes further, into grouping players and teams by their statistical profiles as a whole.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Real Density Plot Again</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today's density plot.</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Estimate, just from the shape of the curve, roughly what share of shots happen in the first half of the shot clock versus the second half.</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Now check your estimate against the real bucket table. How close were you?</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Is a Lower Clutch Percentage a Worse Player?</a:t>
            </a:r>
            <a:endParaRPr lang="en-US" sz="26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Case for: yes</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If a player's job is to make winning plays, a real, consistently lower percentage in exactly those moments is a real performance gap, whatever the explanation.</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Case for: no</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Clutch shots are drawn from a harder, more contested population of shots to begin with, so comparing that percentage to an easier population isn't a fair test of the player.</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Clutch Time,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Applied the NBA's own real clutch-time definition to play-by-play data, found a real 5.8 point FG% drop, and saw who actually takes the shots.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7 moves from timing-based pressure splits to grouping entire players and teams by their statistical profiles.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Event density plots reveal the full shape of when shots happen, including clusters a single average would hide.</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Real field goal percentage drops 7.2 points from early to late shot clock, and three-point shooting is worst at both extremes, not just late.</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NBA's own real clutch-time definition (last 5 min, margin within 5) shows a real 5.8 point FG% drop under real game pressure.</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Every number in this module came from BasketballAnalyzeR::PbP.BDB, reproducible by anyone who runs the script.</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4 (finding groups: clustering players and teams).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6 (event density and shooting under pressure), the practice questions, and the Module 6 quiz.</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 3 (part B).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BasketballAnalyzeR (R package), densityplot() function and the PbP.BDB dataset. Zuccolotto, Manisera &amp; Sandri. CRAN.</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NBA Advanced Stats (NBA.com/stats). Official clutch-time definition: last 5 minutes of the 4th period or overtime, score within 5 points.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07</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Finding Groups: Clustering Players and Teams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2026-09-25T15:50:16Z</dcterms:created>
  <dcterms:modified xsi:type="dcterms:W3CDTF">2026-09-25T15:50:16Z</dcterms:modified>
</cp:coreProperties>
</file>