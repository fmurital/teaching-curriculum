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Basketball Data Science</a:t>
            </a:r>
            <a:endParaRPr lang="en-US" sz="44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01 · Introduction to Basketball Analytics</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1
</a:t>
            </a:r>
            <a:pPr indent="0" marL="0">
              <a:buNone/>
            </a:pPr>
            <a:r>
              <a:rPr lang="en-US" sz="1300" dirty="0">
                <a:solidFill>
                  <a:srgbClr val="FFFFFF"/>
                </a:solidFill>
                <a:latin typeface="Calibri" pitchFamily="34" charset="0"/>
                <a:ea typeface="Calibri" pitchFamily="34" charset="-122"/>
                <a:cs typeface="Calibri" pitchFamily="34" charset="-120"/>
              </a:rPr>
              <a:t>Undergraduate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Built on one text:</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P., &amp; Manisera, M. (2020). Basketball Data Science: With Applications in R. Chapman &amp; Hall/CRC.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WELCOME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Let's Get Into It</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700" dirty="0">
                <a:solidFill>
                  <a:srgbClr val="16213E"/>
                </a:solidFill>
                <a:latin typeface="Calibri" pitchFamily="34" charset="0"/>
                <a:ea typeface="Calibri" pitchFamily="34" charset="-122"/>
                <a:cs typeface="Calibri" pitchFamily="34" charset="-120"/>
              </a:rPr>
              <a:t>This course looks at basketball the way a real analytics department would: describing team and player performance honestly, discovering patterns in real NBA data, grouping players by statistical profile, and modeling relationships between the numbers. We work from one real textbook and real data all semester, not just methods in the abstract.</a:t>
            </a:r>
            <a:endParaRPr lang="en-US" sz="17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30000"/>
              </a:lnSpc>
              <a:buNone/>
            </a:pPr>
            <a:r>
              <a:rPr lang="en-US" sz="1600" i="1" dirty="0">
                <a:solidFill>
                  <a:srgbClr val="27496D"/>
                </a:solidFill>
                <a:latin typeface="Calibri" pitchFamily="34" charset="0"/>
                <a:ea typeface="Calibri" pitchFamily="34" charset="-122"/>
                <a:cs typeface="Calibri" pitchFamily="34" charset="-120"/>
              </a:rPr>
              <a:t>Glad to have you here. Let's get started.</a:t>
            </a:r>
            <a:endParaRPr lang="en-US" sz="1600" dirty="0"/>
          </a:p>
          <a:p>
            <a:pPr indent="0" marL="0">
              <a:lnSpc>
                <a:spcPct val="130000"/>
              </a:lnSpc>
              <a:buNone/>
            </a:pPr>
            <a:r>
              <a:rPr lang="en-US" sz="1600" i="1" dirty="0">
                <a:solidFill>
                  <a:srgbClr val="27496D"/>
                </a:solidFill>
                <a:latin typeface="Calibri" pitchFamily="34" charset="0"/>
                <a:ea typeface="Calibri" pitchFamily="34" charset="-122"/>
                <a:cs typeface="Calibri" pitchFamily="34" charset="-120"/>
              </a:rPr>
              <a:t>— FM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Admin</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Office hours: by appointment, email to schedule</a:t>
            </a:r>
            <a:endParaRPr lang="en-US" sz="1200" dirty="0"/>
          </a:p>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Preferred contact: D2L or email, as used this semester</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Today's Plan</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Three segments, about three hours total:</a:t>
            </a:r>
            <a:endParaRPr lang="en-US" sz="1200" dirty="0"/>
          </a:p>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Orientation (~45 min) → Worked Example (~60 min) → Five Throughlines (~45 min)</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Read the assigned textbook section, complete Lab 1, and take the Module 1 quiz</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Notes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Bring a laptop if you can. R and RStudio installation is part of today's class.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By the End of Today, You Will Be Able To</a:t>
            </a:r>
            <a:endParaRPr lang="en-US" sz="3000" dirty="0"/>
          </a:p>
        </p:txBody>
      </p:sp>
      <p:sp>
        <p:nvSpPr>
          <p:cNvPr id="4" name="Shape 2"/>
          <p:cNvSpPr/>
          <p:nvPr/>
        </p:nvSpPr>
        <p:spPr>
          <a:xfrm>
            <a:off x="548640" y="1965960"/>
            <a:ext cx="411480" cy="411480"/>
          </a:xfrm>
          <a:prstGeom prst="ellipse">
            <a:avLst/>
          </a:prstGeom>
          <a:solidFill>
            <a:srgbClr val="27496D"/>
          </a:solidFill>
          <a:ln/>
        </p:spPr>
      </p:sp>
      <p:sp>
        <p:nvSpPr>
          <p:cNvPr id="5" name="Text 3"/>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9202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what sports analytics is and why teams and researchers use it, citing at least one real historical example.</a:t>
            </a:r>
            <a:endParaRPr lang="en-US" sz="1600" dirty="0"/>
          </a:p>
        </p:txBody>
      </p:sp>
      <p:sp>
        <p:nvSpPr>
          <p:cNvPr id="7" name="Shape 5"/>
          <p:cNvSpPr/>
          <p:nvPr/>
        </p:nvSpPr>
        <p:spPr>
          <a:xfrm>
            <a:off x="548640" y="2761488"/>
            <a:ext cx="411480" cy="411480"/>
          </a:xfrm>
          <a:prstGeom prst="ellipse">
            <a:avLst/>
          </a:prstGeom>
          <a:solidFill>
            <a:srgbClr val="E4572E"/>
          </a:solidFill>
          <a:ln/>
        </p:spPr>
      </p:sp>
      <p:sp>
        <p:nvSpPr>
          <p:cNvPr id="8" name="Text 6"/>
          <p:cNvSpPr txBox="1"/>
          <p:nvPr/>
        </p:nvSpPr>
        <p:spPr>
          <a:xfrm>
            <a:off x="548640" y="276148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715768"/>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Name this course's five throughlines and the single textbook this course is built around.</a:t>
            </a:r>
            <a:endParaRPr lang="en-US" sz="1600" dirty="0"/>
          </a:p>
        </p:txBody>
      </p:sp>
      <p:sp>
        <p:nvSpPr>
          <p:cNvPr id="10" name="Shape 8"/>
          <p:cNvSpPr/>
          <p:nvPr/>
        </p:nvSpPr>
        <p:spPr>
          <a:xfrm>
            <a:off x="548640" y="3557016"/>
            <a:ext cx="411480" cy="411480"/>
          </a:xfrm>
          <a:prstGeom prst="ellipse">
            <a:avLst/>
          </a:prstGeom>
          <a:solidFill>
            <a:srgbClr val="27496D"/>
          </a:solidFill>
          <a:ln/>
        </p:spPr>
      </p:sp>
      <p:sp>
        <p:nvSpPr>
          <p:cNvPr id="11" name="Text 9"/>
          <p:cNvSpPr txBox="1"/>
          <p:nvPr/>
        </p:nvSpPr>
        <p:spPr>
          <a:xfrm>
            <a:off x="548640" y="355701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511296"/>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Install and load the BasketballAnalyzeR package and describe the structure of its real 2017-18 NBA datasets.</a:t>
            </a:r>
            <a:endParaRPr lang="en-US" sz="1600" dirty="0"/>
          </a:p>
        </p:txBody>
      </p:sp>
      <p:sp>
        <p:nvSpPr>
          <p:cNvPr id="13" name="Shape 11"/>
          <p:cNvSpPr/>
          <p:nvPr/>
        </p:nvSpPr>
        <p:spPr>
          <a:xfrm>
            <a:off x="548640" y="4352544"/>
            <a:ext cx="411480" cy="411480"/>
          </a:xfrm>
          <a:prstGeom prst="ellipse">
            <a:avLst/>
          </a:prstGeom>
          <a:solidFill>
            <a:srgbClr val="E4572E"/>
          </a:solidFill>
          <a:ln/>
        </p:spPr>
      </p:sp>
      <p:sp>
        <p:nvSpPr>
          <p:cNvPr id="14" name="Text 12"/>
          <p:cNvSpPr txBox="1"/>
          <p:nvPr/>
        </p:nvSpPr>
        <p:spPr>
          <a:xfrm>
            <a:off x="548640" y="435254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306824"/>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Compute a simple, honest descriptive statistic from real team data and explain what it does and does not tell you.</a:t>
            </a:r>
            <a:endParaRPr lang="en-US" sz="1600" dirty="0"/>
          </a:p>
        </p:txBody>
      </p:sp>
      <p:sp>
        <p:nvSpPr>
          <p:cNvPr id="16" name="Shape 14"/>
          <p:cNvSpPr/>
          <p:nvPr/>
        </p:nvSpPr>
        <p:spPr>
          <a:xfrm>
            <a:off x="548640" y="5148072"/>
            <a:ext cx="411480" cy="411480"/>
          </a:xfrm>
          <a:prstGeom prst="ellipse">
            <a:avLst/>
          </a:prstGeom>
          <a:solidFill>
            <a:srgbClr val="27496D"/>
          </a:solidFill>
          <a:ln/>
        </p:spPr>
      </p:sp>
      <p:sp>
        <p:nvSpPr>
          <p:cNvPr id="17" name="Text 15"/>
          <p:cNvSpPr txBox="1"/>
          <p:nvPr/>
        </p:nvSpPr>
        <p:spPr>
          <a:xfrm>
            <a:off x="548640" y="514807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102352"/>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Describe the four-step analytics workflow (get data, describe, model, communicate) this course follows all semester.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Five Throughlines, Not Ten Topics</a:t>
            </a:r>
            <a:endParaRPr lang="en-US" sz="3000" dirty="0"/>
          </a:p>
        </p:txBody>
      </p:sp>
      <p:sp>
        <p:nvSpPr>
          <p:cNvPr id="4" name="Text 2"/>
          <p:cNvSpPr txBox="1"/>
          <p:nvPr/>
        </p:nvSpPr>
        <p:spPr>
          <a:xfrm>
            <a:off x="548640" y="160020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This course is organized around five recurring analytical questions. Every module returns to at least one of them.</a:t>
            </a:r>
            <a:endParaRPr lang="en-US" sz="1400" dirty="0"/>
          </a:p>
        </p:txBody>
      </p:sp>
      <p:sp>
        <p:nvSpPr>
          <p:cNvPr id="5" name="Shape 3"/>
          <p:cNvSpPr/>
          <p:nvPr/>
        </p:nvSpPr>
        <p:spPr>
          <a:xfrm>
            <a:off x="548640" y="2148840"/>
            <a:ext cx="2035454" cy="3200400"/>
          </a:xfrm>
          <a:prstGeom prst="roundRect">
            <a:avLst>
              <a:gd name="adj" fmla="val 2695"/>
            </a:avLst>
          </a:prstGeom>
          <a:solidFill>
            <a:srgbClr val="EDF1F7"/>
          </a:solidFill>
          <a:ln/>
        </p:spPr>
      </p:sp>
      <p:sp>
        <p:nvSpPr>
          <p:cNvPr id="6" name="Text 4"/>
          <p:cNvSpPr txBox="1"/>
          <p:nvPr/>
        </p:nvSpPr>
        <p:spPr>
          <a:xfrm>
            <a:off x="685800" y="2286000"/>
            <a:ext cx="457200" cy="36576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685800" y="2743200"/>
            <a:ext cx="1761134" cy="822960"/>
          </a:xfrm>
          <a:prstGeom prst="rect">
            <a:avLst/>
          </a:prstGeom>
          <a:noFill/>
          <a:ln/>
        </p:spPr>
        <p:txBody>
          <a:bodyPr wrap="square" lIns="0" tIns="0" rIns="0" bIns="0"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Injury Detection</a:t>
            </a:r>
            <a:endParaRPr lang="en-US" sz="1400" dirty="0"/>
          </a:p>
          <a:p>
            <a:pPr indent="0" marL="0">
              <a:buNone/>
            </a:pPr>
            <a:r>
              <a:rPr lang="en-US" sz="1400" b="1" dirty="0">
                <a:solidFill>
                  <a:srgbClr val="16213E"/>
                </a:solidFill>
                <a:latin typeface="Cambria" pitchFamily="34" charset="0"/>
                <a:ea typeface="Cambria" pitchFamily="34" charset="-122"/>
                <a:cs typeface="Cambria" pitchFamily="34" charset="-120"/>
              </a:rPr>
              <a:t>&amp; Prediction</a:t>
            </a:r>
            <a:endParaRPr lang="en-US" sz="1400" dirty="0"/>
          </a:p>
        </p:txBody>
      </p:sp>
      <p:sp>
        <p:nvSpPr>
          <p:cNvPr id="8" name="Text 6"/>
          <p:cNvSpPr txBox="1"/>
          <p:nvPr/>
        </p:nvSpPr>
        <p:spPr>
          <a:xfrm>
            <a:off x="685800" y="3611880"/>
            <a:ext cx="1761134" cy="1554480"/>
          </a:xfrm>
          <a:prstGeom prst="rect">
            <a:avLst/>
          </a:prstGeom>
          <a:noFill/>
          <a:ln/>
        </p:spPr>
        <p:txBody>
          <a:bodyPr wrap="square" lIns="0" tIns="0" rIns="0" bIns="0" rtlCol="0" anchor="ctr"/>
          <a:lstStyle/>
          <a:p>
            <a:pPr indent="0" marL="0">
              <a:lnSpc>
                <a:spcPct val="120000"/>
              </a:lnSpc>
              <a:buNone/>
            </a:pPr>
            <a:r>
              <a:rPr lang="en-US" sz="1100" dirty="0">
                <a:solidFill>
                  <a:srgbClr val="16213E"/>
                </a:solidFill>
                <a:latin typeface="Calibri" pitchFamily="34" charset="0"/>
                <a:ea typeface="Calibri" pitchFamily="34" charset="-122"/>
                <a:cs typeface="Calibri" pitchFamily="34" charset="-120"/>
              </a:rPr>
              <a:t>Which signals actually warn of injury risk, and which just correlate with it?</a:t>
            </a:r>
            <a:endParaRPr lang="en-US" sz="1100" dirty="0"/>
          </a:p>
        </p:txBody>
      </p:sp>
      <p:sp>
        <p:nvSpPr>
          <p:cNvPr id="9" name="Shape 7"/>
          <p:cNvSpPr/>
          <p:nvPr/>
        </p:nvSpPr>
        <p:spPr>
          <a:xfrm>
            <a:off x="2812694" y="2148840"/>
            <a:ext cx="2035454" cy="3200400"/>
          </a:xfrm>
          <a:prstGeom prst="roundRect">
            <a:avLst>
              <a:gd name="adj" fmla="val 2695"/>
            </a:avLst>
          </a:prstGeom>
          <a:solidFill>
            <a:srgbClr val="EDF1F7"/>
          </a:solidFill>
          <a:ln/>
        </p:spPr>
      </p:sp>
      <p:sp>
        <p:nvSpPr>
          <p:cNvPr id="10" name="Text 8"/>
          <p:cNvSpPr txBox="1"/>
          <p:nvPr/>
        </p:nvSpPr>
        <p:spPr>
          <a:xfrm>
            <a:off x="2949854" y="2286000"/>
            <a:ext cx="457200" cy="36576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2949854" y="2743200"/>
            <a:ext cx="1761134" cy="822960"/>
          </a:xfrm>
          <a:prstGeom prst="rect">
            <a:avLst/>
          </a:prstGeom>
          <a:noFill/>
          <a:ln/>
        </p:spPr>
        <p:txBody>
          <a:bodyPr wrap="square" lIns="0" tIns="0" rIns="0" bIns="0"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Player Performance</a:t>
            </a:r>
            <a:endParaRPr lang="en-US" sz="1400" dirty="0"/>
          </a:p>
          <a:p>
            <a:pPr indent="0" marL="0">
              <a:buNone/>
            </a:pPr>
            <a:r>
              <a:rPr lang="en-US" sz="1400" b="1" dirty="0">
                <a:solidFill>
                  <a:srgbClr val="16213E"/>
                </a:solidFill>
                <a:latin typeface="Cambria" pitchFamily="34" charset="0"/>
                <a:ea typeface="Cambria" pitchFamily="34" charset="-122"/>
                <a:cs typeface="Cambria" pitchFamily="34" charset="-120"/>
              </a:rPr>
              <a:t>Analysis</a:t>
            </a:r>
            <a:endParaRPr lang="en-US" sz="1400" dirty="0"/>
          </a:p>
        </p:txBody>
      </p:sp>
      <p:sp>
        <p:nvSpPr>
          <p:cNvPr id="12" name="Text 10"/>
          <p:cNvSpPr txBox="1"/>
          <p:nvPr/>
        </p:nvSpPr>
        <p:spPr>
          <a:xfrm>
            <a:off x="2949854" y="3611880"/>
            <a:ext cx="1761134" cy="1554480"/>
          </a:xfrm>
          <a:prstGeom prst="rect">
            <a:avLst/>
          </a:prstGeom>
          <a:noFill/>
          <a:ln/>
        </p:spPr>
        <p:txBody>
          <a:bodyPr wrap="square" lIns="0" tIns="0" rIns="0" bIns="0" rtlCol="0" anchor="ctr"/>
          <a:lstStyle/>
          <a:p>
            <a:pPr indent="0" marL="0">
              <a:lnSpc>
                <a:spcPct val="120000"/>
              </a:lnSpc>
              <a:buNone/>
            </a:pPr>
            <a:r>
              <a:rPr lang="en-US" sz="1100" dirty="0">
                <a:solidFill>
                  <a:srgbClr val="16213E"/>
                </a:solidFill>
                <a:latin typeface="Calibri" pitchFamily="34" charset="0"/>
                <a:ea typeface="Calibri" pitchFamily="34" charset="-122"/>
                <a:cs typeface="Calibri" pitchFamily="34" charset="-120"/>
              </a:rPr>
              <a:t>How good is a player, once you account for role, opponent, and context?</a:t>
            </a:r>
            <a:endParaRPr lang="en-US" sz="1100" dirty="0"/>
          </a:p>
        </p:txBody>
      </p:sp>
      <p:sp>
        <p:nvSpPr>
          <p:cNvPr id="13" name="Shape 11"/>
          <p:cNvSpPr/>
          <p:nvPr/>
        </p:nvSpPr>
        <p:spPr>
          <a:xfrm>
            <a:off x="5076749" y="2148840"/>
            <a:ext cx="2035454" cy="3200400"/>
          </a:xfrm>
          <a:prstGeom prst="roundRect">
            <a:avLst>
              <a:gd name="adj" fmla="val 2695"/>
            </a:avLst>
          </a:prstGeom>
          <a:solidFill>
            <a:srgbClr val="EDF1F7"/>
          </a:solidFill>
          <a:ln/>
        </p:spPr>
      </p:sp>
      <p:sp>
        <p:nvSpPr>
          <p:cNvPr id="14" name="Text 12"/>
          <p:cNvSpPr txBox="1"/>
          <p:nvPr/>
        </p:nvSpPr>
        <p:spPr>
          <a:xfrm>
            <a:off x="5213909" y="2286000"/>
            <a:ext cx="457200" cy="36576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5213909" y="2743200"/>
            <a:ext cx="1761134" cy="822960"/>
          </a:xfrm>
          <a:prstGeom prst="rect">
            <a:avLst/>
          </a:prstGeom>
          <a:noFill/>
          <a:ln/>
        </p:spPr>
        <p:txBody>
          <a:bodyPr wrap="square" lIns="0" tIns="0" rIns="0" bIns="0"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Positioning &amp;</a:t>
            </a:r>
            <a:endParaRPr lang="en-US" sz="1400" dirty="0"/>
          </a:p>
          <a:p>
            <a:pPr indent="0" marL="0">
              <a:buNone/>
            </a:pPr>
            <a:r>
              <a:rPr lang="en-US" sz="1400" b="1" dirty="0">
                <a:solidFill>
                  <a:srgbClr val="16213E"/>
                </a:solidFill>
                <a:latin typeface="Cambria" pitchFamily="34" charset="0"/>
                <a:ea typeface="Cambria" pitchFamily="34" charset="-122"/>
                <a:cs typeface="Cambria" pitchFamily="34" charset="-120"/>
              </a:rPr>
              <a:t>Shifting</a:t>
            </a:r>
            <a:endParaRPr lang="en-US" sz="1400" dirty="0"/>
          </a:p>
        </p:txBody>
      </p:sp>
      <p:sp>
        <p:nvSpPr>
          <p:cNvPr id="16" name="Text 14"/>
          <p:cNvSpPr txBox="1"/>
          <p:nvPr/>
        </p:nvSpPr>
        <p:spPr>
          <a:xfrm>
            <a:off x="5213909" y="3611880"/>
            <a:ext cx="1761134" cy="1554480"/>
          </a:xfrm>
          <a:prstGeom prst="rect">
            <a:avLst/>
          </a:prstGeom>
          <a:noFill/>
          <a:ln/>
        </p:spPr>
        <p:txBody>
          <a:bodyPr wrap="square" lIns="0" tIns="0" rIns="0" bIns="0" rtlCol="0" anchor="ctr"/>
          <a:lstStyle/>
          <a:p>
            <a:pPr indent="0" marL="0">
              <a:lnSpc>
                <a:spcPct val="120000"/>
              </a:lnSpc>
              <a:buNone/>
            </a:pPr>
            <a:r>
              <a:rPr lang="en-US" sz="1100" dirty="0">
                <a:solidFill>
                  <a:srgbClr val="16213E"/>
                </a:solidFill>
                <a:latin typeface="Calibri" pitchFamily="34" charset="0"/>
                <a:ea typeface="Calibri" pitchFamily="34" charset="-122"/>
                <a:cs typeface="Calibri" pitchFamily="34" charset="-120"/>
              </a:rPr>
              <a:t>Where players stand, and how that changes what a play can become.</a:t>
            </a:r>
            <a:endParaRPr lang="en-US" sz="1100" dirty="0"/>
          </a:p>
        </p:txBody>
      </p:sp>
      <p:sp>
        <p:nvSpPr>
          <p:cNvPr id="17" name="Shape 15"/>
          <p:cNvSpPr/>
          <p:nvPr/>
        </p:nvSpPr>
        <p:spPr>
          <a:xfrm>
            <a:off x="7340803" y="2148840"/>
            <a:ext cx="2035454" cy="3200400"/>
          </a:xfrm>
          <a:prstGeom prst="roundRect">
            <a:avLst>
              <a:gd name="adj" fmla="val 2695"/>
            </a:avLst>
          </a:prstGeom>
          <a:solidFill>
            <a:srgbClr val="EDF1F7"/>
          </a:solidFill>
          <a:ln/>
        </p:spPr>
      </p:sp>
      <p:sp>
        <p:nvSpPr>
          <p:cNvPr id="18" name="Text 16"/>
          <p:cNvSpPr txBox="1"/>
          <p:nvPr/>
        </p:nvSpPr>
        <p:spPr>
          <a:xfrm>
            <a:off x="7477963" y="2286000"/>
            <a:ext cx="457200" cy="36576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7477963" y="2743200"/>
            <a:ext cx="1761134" cy="822960"/>
          </a:xfrm>
          <a:prstGeom prst="rect">
            <a:avLst/>
          </a:prstGeom>
          <a:noFill/>
          <a:ln/>
        </p:spPr>
        <p:txBody>
          <a:bodyPr wrap="square" lIns="0" tIns="0" rIns="0" bIns="0"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Salary Structure</a:t>
            </a:r>
            <a:endParaRPr lang="en-US" sz="1400" dirty="0"/>
          </a:p>
          <a:p>
            <a:pPr indent="0" marL="0">
              <a:buNone/>
            </a:pPr>
            <a:r>
              <a:rPr lang="en-US" sz="1400" b="1" dirty="0">
                <a:solidFill>
                  <a:srgbClr val="16213E"/>
                </a:solidFill>
                <a:latin typeface="Cambria" pitchFamily="34" charset="0"/>
                <a:ea typeface="Cambria" pitchFamily="34" charset="-122"/>
                <a:cs typeface="Cambria" pitchFamily="34" charset="-120"/>
              </a:rPr>
              <a:t>Analysis</a:t>
            </a:r>
            <a:endParaRPr lang="en-US" sz="1400" dirty="0"/>
          </a:p>
        </p:txBody>
      </p:sp>
      <p:sp>
        <p:nvSpPr>
          <p:cNvPr id="20" name="Text 18"/>
          <p:cNvSpPr txBox="1"/>
          <p:nvPr/>
        </p:nvSpPr>
        <p:spPr>
          <a:xfrm>
            <a:off x="7477963" y="3611880"/>
            <a:ext cx="1761134" cy="1554480"/>
          </a:xfrm>
          <a:prstGeom prst="rect">
            <a:avLst/>
          </a:prstGeom>
          <a:noFill/>
          <a:ln/>
        </p:spPr>
        <p:txBody>
          <a:bodyPr wrap="square" lIns="0" tIns="0" rIns="0" bIns="0" rtlCol="0" anchor="ctr"/>
          <a:lstStyle/>
          <a:p>
            <a:pPr indent="0" marL="0">
              <a:lnSpc>
                <a:spcPct val="120000"/>
              </a:lnSpc>
              <a:buNone/>
            </a:pPr>
            <a:r>
              <a:rPr lang="en-US" sz="1100" dirty="0">
                <a:solidFill>
                  <a:srgbClr val="16213E"/>
                </a:solidFill>
                <a:latin typeface="Calibri" pitchFamily="34" charset="0"/>
                <a:ea typeface="Calibri" pitchFamily="34" charset="-122"/>
                <a:cs typeface="Calibri" pitchFamily="34" charset="-120"/>
              </a:rPr>
              <a:t>How pay relates, or does not, to measurable production.</a:t>
            </a:r>
            <a:endParaRPr lang="en-US" sz="1100" dirty="0"/>
          </a:p>
        </p:txBody>
      </p:sp>
      <p:sp>
        <p:nvSpPr>
          <p:cNvPr id="21" name="Shape 19"/>
          <p:cNvSpPr/>
          <p:nvPr/>
        </p:nvSpPr>
        <p:spPr>
          <a:xfrm>
            <a:off x="9604858" y="2148840"/>
            <a:ext cx="2035454" cy="3200400"/>
          </a:xfrm>
          <a:prstGeom prst="roundRect">
            <a:avLst>
              <a:gd name="adj" fmla="val 2695"/>
            </a:avLst>
          </a:prstGeom>
          <a:solidFill>
            <a:srgbClr val="E4572E"/>
          </a:solidFill>
          <a:ln/>
        </p:spPr>
      </p:sp>
      <p:sp>
        <p:nvSpPr>
          <p:cNvPr id="22" name="Text 20"/>
          <p:cNvSpPr txBox="1"/>
          <p:nvPr/>
        </p:nvSpPr>
        <p:spPr>
          <a:xfrm>
            <a:off x="9742018" y="2286000"/>
            <a:ext cx="457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9742018" y="2743200"/>
            <a:ext cx="1761134" cy="8229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Game Analysis</a:t>
            </a:r>
            <a:endParaRPr lang="en-US" sz="1400" dirty="0"/>
          </a:p>
        </p:txBody>
      </p:sp>
      <p:sp>
        <p:nvSpPr>
          <p:cNvPr id="24" name="Text 22"/>
          <p:cNvSpPr txBox="1"/>
          <p:nvPr/>
        </p:nvSpPr>
        <p:spPr>
          <a:xfrm>
            <a:off x="9742018" y="3611880"/>
            <a:ext cx="1761134" cy="1554480"/>
          </a:xfrm>
          <a:prstGeom prst="rect">
            <a:avLst/>
          </a:prstGeom>
          <a:noFill/>
          <a:ln/>
        </p:spPr>
        <p:txBody>
          <a:bodyPr wrap="square" lIns="0" tIns="0" rIns="0" bIns="0" rtlCol="0" anchor="ctr"/>
          <a:lstStyle/>
          <a:p>
            <a:pPr indent="0" marL="0">
              <a:lnSpc>
                <a:spcPct val="120000"/>
              </a:lnSpc>
              <a:buNone/>
            </a:pPr>
            <a:r>
              <a:rPr lang="en-US" sz="1100" dirty="0">
                <a:solidFill>
                  <a:srgbClr val="FFFFFF"/>
                </a:solidFill>
                <a:latin typeface="Calibri" pitchFamily="34" charset="0"/>
                <a:ea typeface="Calibri" pitchFamily="34" charset="-122"/>
                <a:cs typeface="Calibri" pitchFamily="34" charset="-120"/>
              </a:rPr>
              <a:t>Reading a single game's real data to explain what actually happened.</a:t>
            </a:r>
            <a:endParaRPr lang="en-US" sz="1100" dirty="0"/>
          </a:p>
        </p:txBody>
      </p:sp>
      <p:sp>
        <p:nvSpPr>
          <p:cNvPr id="25" name="Text 2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Each throughline is grounded in real, cited data or a published methodology.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One Textbook, Three Parts</a:t>
            </a:r>
            <a:endParaRPr lang="en-US" sz="3000" dirty="0"/>
          </a:p>
        </p:txBody>
      </p:sp>
      <p:sp>
        <p:nvSpPr>
          <p:cNvPr id="4" name="Shape 2"/>
          <p:cNvSpPr/>
          <p:nvPr/>
        </p:nvSpPr>
        <p:spPr>
          <a:xfrm>
            <a:off x="548640" y="2011680"/>
            <a:ext cx="3514344" cy="2377440"/>
          </a:xfrm>
          <a:prstGeom prst="roundRect">
            <a:avLst>
              <a:gd name="adj" fmla="val 2308"/>
            </a:avLst>
          </a:prstGeom>
          <a:solidFill>
            <a:srgbClr val="EDF1F7"/>
          </a:solidFill>
          <a:ln/>
        </p:spPr>
      </p:sp>
      <p:sp>
        <p:nvSpPr>
          <p:cNvPr id="5" name="Shape 3"/>
          <p:cNvSpPr/>
          <p:nvPr/>
        </p:nvSpPr>
        <p:spPr>
          <a:xfrm>
            <a:off x="822960" y="2286000"/>
            <a:ext cx="54864" cy="1737360"/>
          </a:xfrm>
          <a:prstGeom prst="rect">
            <a:avLst/>
          </a:prstGeom>
          <a:solidFill>
            <a:srgbClr val="27496D"/>
          </a:solidFill>
          <a:ln/>
        </p:spPr>
      </p:sp>
      <p:sp>
        <p:nvSpPr>
          <p:cNvPr id="6" name="Text 4"/>
          <p:cNvSpPr txBox="1"/>
          <p:nvPr/>
        </p:nvSpPr>
        <p:spPr>
          <a:xfrm>
            <a:off x="1051560" y="2286000"/>
            <a:ext cx="2782824" cy="73152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Part I: Basic Analyses</a:t>
            </a:r>
            <a:endParaRPr lang="en-US" sz="1500" dirty="0"/>
          </a:p>
        </p:txBody>
      </p:sp>
      <p:sp>
        <p:nvSpPr>
          <p:cNvPr id="7" name="Text 5"/>
          <p:cNvSpPr txBox="1"/>
          <p:nvPr/>
        </p:nvSpPr>
        <p:spPr>
          <a:xfrm>
            <a:off x="1051560" y="3063240"/>
            <a:ext cx="2782824" cy="91440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Pace, ratings, the Four Factors, and comparison plots (Modules 2-4).</a:t>
            </a:r>
            <a:endParaRPr lang="en-US" sz="1200" dirty="0"/>
          </a:p>
        </p:txBody>
      </p:sp>
      <p:sp>
        <p:nvSpPr>
          <p:cNvPr id="8" name="Shape 6"/>
          <p:cNvSpPr/>
          <p:nvPr/>
        </p:nvSpPr>
        <p:spPr>
          <a:xfrm>
            <a:off x="4337304" y="2011680"/>
            <a:ext cx="3514344" cy="2377440"/>
          </a:xfrm>
          <a:prstGeom prst="roundRect">
            <a:avLst>
              <a:gd name="adj" fmla="val 2308"/>
            </a:avLst>
          </a:prstGeom>
          <a:solidFill>
            <a:srgbClr val="EDF1F7"/>
          </a:solidFill>
          <a:ln/>
        </p:spPr>
      </p:sp>
      <p:sp>
        <p:nvSpPr>
          <p:cNvPr id="9" name="Shape 7"/>
          <p:cNvSpPr/>
          <p:nvPr/>
        </p:nvSpPr>
        <p:spPr>
          <a:xfrm>
            <a:off x="4611624" y="2286000"/>
            <a:ext cx="54864" cy="1737360"/>
          </a:xfrm>
          <a:prstGeom prst="rect">
            <a:avLst/>
          </a:prstGeom>
          <a:solidFill>
            <a:srgbClr val="E4572E"/>
          </a:solidFill>
          <a:ln/>
        </p:spPr>
      </p:sp>
      <p:sp>
        <p:nvSpPr>
          <p:cNvPr id="10" name="Text 8"/>
          <p:cNvSpPr txBox="1"/>
          <p:nvPr/>
        </p:nvSpPr>
        <p:spPr>
          <a:xfrm>
            <a:off x="4840224" y="2286000"/>
            <a:ext cx="2782824" cy="73152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Part II: Discovering Patterns</a:t>
            </a:r>
            <a:endParaRPr lang="en-US" sz="1500" dirty="0"/>
          </a:p>
        </p:txBody>
      </p:sp>
      <p:sp>
        <p:nvSpPr>
          <p:cNvPr id="11" name="Text 9"/>
          <p:cNvSpPr txBox="1"/>
          <p:nvPr/>
        </p:nvSpPr>
        <p:spPr>
          <a:xfrm>
            <a:off x="4840224" y="3063240"/>
            <a:ext cx="2782824" cy="91440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Correlation, networks, clustering, and regression (Modules 5-8).</a:t>
            </a:r>
            <a:endParaRPr lang="en-US" sz="1200" dirty="0"/>
          </a:p>
        </p:txBody>
      </p:sp>
      <p:sp>
        <p:nvSpPr>
          <p:cNvPr id="12" name="Shape 10"/>
          <p:cNvSpPr/>
          <p:nvPr/>
        </p:nvSpPr>
        <p:spPr>
          <a:xfrm>
            <a:off x="8125968" y="2011680"/>
            <a:ext cx="3514344" cy="2377440"/>
          </a:xfrm>
          <a:prstGeom prst="roundRect">
            <a:avLst>
              <a:gd name="adj" fmla="val 2308"/>
            </a:avLst>
          </a:prstGeom>
          <a:solidFill>
            <a:srgbClr val="EDF1F7"/>
          </a:solidFill>
          <a:ln/>
        </p:spPr>
      </p:sp>
      <p:sp>
        <p:nvSpPr>
          <p:cNvPr id="13" name="Shape 11"/>
          <p:cNvSpPr/>
          <p:nvPr/>
        </p:nvSpPr>
        <p:spPr>
          <a:xfrm>
            <a:off x="8400288" y="2286000"/>
            <a:ext cx="54864" cy="1737360"/>
          </a:xfrm>
          <a:prstGeom prst="rect">
            <a:avLst/>
          </a:prstGeom>
          <a:solidFill>
            <a:srgbClr val="27496D"/>
          </a:solidFill>
          <a:ln/>
        </p:spPr>
      </p:sp>
      <p:sp>
        <p:nvSpPr>
          <p:cNvPr id="14" name="Text 12"/>
          <p:cNvSpPr txBox="1"/>
          <p:nvPr/>
        </p:nvSpPr>
        <p:spPr>
          <a:xfrm>
            <a:off x="8628888" y="2286000"/>
            <a:ext cx="2782824" cy="73152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Part III: The R Package</a:t>
            </a:r>
            <a:endParaRPr lang="en-US" sz="1500" dirty="0"/>
          </a:p>
        </p:txBody>
      </p:sp>
      <p:sp>
        <p:nvSpPr>
          <p:cNvPr id="15" name="Text 13"/>
          <p:cNvSpPr txBox="1"/>
          <p:nvPr/>
        </p:nvSpPr>
        <p:spPr>
          <a:xfrm>
            <a:off x="8628888" y="3063240"/>
            <a:ext cx="2782824" cy="91440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BasketballAnalyzeR pulled together as one applied toolkit (Module 9).</a:t>
            </a:r>
            <a:endParaRPr lang="en-US" sz="1200" dirty="0"/>
          </a:p>
        </p:txBody>
      </p:sp>
      <p:sp>
        <p:nvSpPr>
          <p:cNvPr id="16" name="Text 14"/>
          <p:cNvSpPr txBox="1"/>
          <p:nvPr/>
        </p:nvSpPr>
        <p:spPr>
          <a:xfrm>
            <a:off x="548640" y="4754880"/>
            <a:ext cx="11091672" cy="914400"/>
          </a:xfrm>
          <a:prstGeom prst="rect">
            <a:avLst/>
          </a:prstGeom>
          <a:noFill/>
          <a:ln/>
        </p:spPr>
        <p:txBody>
          <a:bodyPr wrap="square" lIns="0" tIns="0" rIns="0" bIns="0" rtlCol="0" anchor="t"/>
          <a:lstStyle/>
          <a:p>
            <a:pPr indent="0" marL="0">
              <a:lnSpc>
                <a:spcPct val="125000"/>
              </a:lnSpc>
              <a:buNone/>
            </a:pPr>
            <a:r>
              <a:rPr lang="en-US" sz="1200" dirty="0">
                <a:solidFill>
                  <a:srgbClr val="27496D"/>
                </a:solidFill>
                <a:latin typeface="Calibri" pitchFamily="34" charset="0"/>
                <a:ea typeface="Calibri" pitchFamily="34" charset="-122"/>
                <a:cs typeface="Calibri" pitchFamily="34" charset="-120"/>
              </a:rPr>
              <a:t>Zuccolotto, P., &amp; Manisera, M. (2020). Basketball Data Science: With Applications in R. Chapman &amp; Hall/CRC Data Science Series, CRC Press. A signature module (10) built from the instructor's own published research on quality monitoring and injury risk closes the course.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THE QUESTION THIS COURSE KEEPS ASKING</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Description vs. Prediction</a:t>
            </a:r>
            <a:endParaRPr lang="en-US" sz="3200" dirty="0"/>
          </a:p>
        </p:txBody>
      </p:sp>
      <p:sp>
        <p:nvSpPr>
          <p:cNvPr id="4" name="Shape 2"/>
          <p:cNvSpPr/>
          <p:nvPr/>
        </p:nvSpPr>
        <p:spPr>
          <a:xfrm>
            <a:off x="548640" y="2103120"/>
            <a:ext cx="5362956" cy="3108960"/>
          </a:xfrm>
          <a:prstGeom prst="roundRect">
            <a:avLst>
              <a:gd name="adj" fmla="val 1765"/>
            </a:avLst>
          </a:prstGeom>
          <a:solidFill>
            <a:srgbClr val="27496D"/>
          </a:solidFill>
          <a:ln/>
        </p:spPr>
      </p:sp>
      <p:sp>
        <p:nvSpPr>
          <p:cNvPr id="5" name="Text 3"/>
          <p:cNvSpPr txBox="1"/>
          <p:nvPr/>
        </p:nvSpPr>
        <p:spPr>
          <a:xfrm>
            <a:off x="868680" y="2377440"/>
            <a:ext cx="4722876"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Description</a:t>
            </a:r>
            <a:endParaRPr lang="en-US" sz="2000" dirty="0"/>
          </a:p>
        </p:txBody>
      </p:sp>
      <p:sp>
        <p:nvSpPr>
          <p:cNvPr id="6" name="Text 4"/>
          <p:cNvSpPr txBox="1"/>
          <p:nvPr/>
        </p:nvSpPr>
        <p:spPr>
          <a:xfrm>
            <a:off x="868680" y="3017520"/>
            <a:ext cx="4722876" cy="201168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What actually happened, summarized honestly. A team's points per game, a player's shooting percentage.</a:t>
            </a:r>
            <a:endParaRPr lang="en-US" sz="1500" dirty="0"/>
          </a:p>
        </p:txBody>
      </p:sp>
      <p:sp>
        <p:nvSpPr>
          <p:cNvPr id="7" name="Shape 5"/>
          <p:cNvSpPr/>
          <p:nvPr/>
        </p:nvSpPr>
        <p:spPr>
          <a:xfrm>
            <a:off x="6277356" y="2103120"/>
            <a:ext cx="5362956" cy="3108960"/>
          </a:xfrm>
          <a:prstGeom prst="roundRect">
            <a:avLst>
              <a:gd name="adj" fmla="val 1765"/>
            </a:avLst>
          </a:prstGeom>
          <a:solidFill>
            <a:srgbClr val="E4572E"/>
          </a:solidFill>
          <a:ln/>
        </p:spPr>
      </p:sp>
      <p:sp>
        <p:nvSpPr>
          <p:cNvPr id="8" name="Text 6"/>
          <p:cNvSpPr txBox="1"/>
          <p:nvPr/>
        </p:nvSpPr>
        <p:spPr>
          <a:xfrm>
            <a:off x="6597396" y="2377440"/>
            <a:ext cx="4722876"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Prediction</a:t>
            </a:r>
            <a:endParaRPr lang="en-US" sz="2000" dirty="0"/>
          </a:p>
        </p:txBody>
      </p:sp>
      <p:sp>
        <p:nvSpPr>
          <p:cNvPr id="9" name="Text 7"/>
          <p:cNvSpPr txBox="1"/>
          <p:nvPr/>
        </p:nvSpPr>
        <p:spPr>
          <a:xfrm>
            <a:off x="6597396" y="3017520"/>
            <a:ext cx="4722876" cy="201168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What is likely to happen next, or what a number implies beyond the game it came from. Description done well is what makes prediction possible.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EXAMPLE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A Team Scored the Most Points Per Game</a:t>
            </a:r>
            <a:endParaRPr lang="en-US" sz="2800" dirty="0"/>
          </a:p>
        </p:txBody>
      </p:sp>
      <p:sp>
        <p:nvSpPr>
          <p:cNvPr id="4" name="Shape 2"/>
          <p:cNvSpPr/>
          <p:nvPr/>
        </p:nvSpPr>
        <p:spPr>
          <a:xfrm>
            <a:off x="548640" y="2103120"/>
            <a:ext cx="11091672" cy="1463040"/>
          </a:xfrm>
          <a:prstGeom prst="roundRect">
            <a:avLst>
              <a:gd name="adj" fmla="val 3750"/>
            </a:avLst>
          </a:prstGeom>
          <a:solidFill>
            <a:srgbClr val="EDF1F7"/>
          </a:solidFill>
          <a:ln/>
        </p:spPr>
      </p:sp>
      <p:sp>
        <p:nvSpPr>
          <p:cNvPr id="5" name="Text 3"/>
          <p:cNvSpPr txBox="1"/>
          <p:nvPr/>
        </p:nvSpPr>
        <p:spPr>
          <a:xfrm>
            <a:off x="914400" y="2377440"/>
            <a:ext cx="10360152" cy="914400"/>
          </a:xfrm>
          <a:prstGeom prst="rect">
            <a:avLst/>
          </a:prstGeom>
          <a:noFill/>
          <a:ln/>
        </p:spPr>
        <p:txBody>
          <a:bodyPr wrap="square" lIns="0" tIns="0" rIns="0" bIns="0" rtlCol="0" anchor="ctr"/>
          <a:lstStyle/>
          <a:p>
            <a:pPr indent="0" marL="0">
              <a:lnSpc>
                <a:spcPct val="125000"/>
              </a:lnSpc>
              <a:buNone/>
            </a:pPr>
            <a:r>
              <a:rPr lang="en-US" sz="1700" dirty="0">
                <a:solidFill>
                  <a:srgbClr val="16213E"/>
                </a:solidFill>
                <a:latin typeface="Calibri" pitchFamily="34" charset="0"/>
                <a:ea typeface="Calibri" pitchFamily="34" charset="-122"/>
                <a:cs typeface="Calibri" pitchFamily="34" charset="-120"/>
              </a:rPr>
              <a:t>Suppose a team leads the league in points scored per game this season.</a:t>
            </a:r>
            <a:endParaRPr lang="en-US" sz="17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2000" b="1" dirty="0">
                <a:solidFill>
                  <a:srgbClr val="E4572E"/>
                </a:solidFill>
                <a:latin typeface="Calibri" pitchFamily="34" charset="0"/>
                <a:ea typeface="Calibri" pitchFamily="34" charset="-122"/>
                <a:cs typeface="Calibri" pitchFamily="34" charset="-120"/>
              </a:rPr>
              <a:t>Does that number by itself tell us this is the best team in the league?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EXAMPLE 1, CONTINUED</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No. A Descriptive Number Is Not the Whole Story</a:t>
            </a:r>
            <a:endParaRPr lang="en-US" sz="2600" dirty="0"/>
          </a:p>
        </p:txBody>
      </p:sp>
      <p:sp>
        <p:nvSpPr>
          <p:cNvPr id="4" name="Shape 2"/>
          <p:cNvSpPr/>
          <p:nvPr/>
        </p:nvSpPr>
        <p:spPr>
          <a:xfrm>
            <a:off x="548640" y="2103120"/>
            <a:ext cx="11091672" cy="1554480"/>
          </a:xfrm>
          <a:prstGeom prst="roundRect">
            <a:avLst>
              <a:gd name="adj" fmla="val 3529"/>
            </a:avLst>
          </a:prstGeom>
          <a:solidFill>
            <a:srgbClr val="27496D"/>
          </a:solidFill>
          <a:ln/>
        </p:spPr>
      </p:sp>
      <p:sp>
        <p:nvSpPr>
          <p:cNvPr id="5" name="Text 3"/>
          <p:cNvSpPr txBox="1"/>
          <p:nvPr/>
        </p:nvSpPr>
        <p:spPr>
          <a:xfrm>
            <a:off x="914400" y="2331720"/>
            <a:ext cx="10360152" cy="109728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A high points-per-game average can come from a fast pace that also gives up more points, from a weak schedule, or from genuine offensive quality. The number alone cannot tell those apart.</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This is exactly the distinction Module 2's Four Factors framework exists to sharpen, and it is a running theme all semester, not a one-time warning.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PRACTICE · THINK-PAIR-SHARE (5 MIN)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Write One Descriptive Question, One Predictive Question</a:t>
            </a:r>
            <a:endParaRPr lang="en-US" sz="26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Pick a player or team you follow.</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Write one descriptive question about their season so far.</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Write one predictive question about their next game or season.</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3. With a partner: could either question actually be answered with data you know exists?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A</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Where We've Been, Where We're Going</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Five throughlines instead of a broad survey. One textbook as the course's spine. A descriptive number is not a full evaluation, and that gap is a running theme.</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B moves from framing to a real dataset: 2017-18 NBA season data, pulled and analyzed live in 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real data, real R code, real output.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B</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in BasketballAnalyzeR?</a:t>
            </a:r>
            <a:endParaRPr lang="en-US" sz="3000" dirty="0"/>
          </a:p>
        </p:txBody>
      </p:sp>
      <p:sp>
        <p:nvSpPr>
          <p:cNvPr id="4" name="Text 2"/>
          <p:cNvSpPr txBox="1"/>
          <p:nvPr/>
        </p:nvSpPr>
        <p:spPr>
          <a:xfrm>
            <a:off x="548640" y="160020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The course textbook's companion R package bundles real, complete 2017-18 NBA season data.</a:t>
            </a:r>
            <a:endParaRPr lang="en-US" sz="1400" dirty="0"/>
          </a:p>
        </p:txBody>
      </p:sp>
      <p:sp>
        <p:nvSpPr>
          <p:cNvPr id="5" name="Shape 3"/>
          <p:cNvSpPr/>
          <p:nvPr/>
        </p:nvSpPr>
        <p:spPr>
          <a:xfrm>
            <a:off x="548640" y="2148840"/>
            <a:ext cx="11091672" cy="914400"/>
          </a:xfrm>
          <a:prstGeom prst="roundRect">
            <a:avLst>
              <a:gd name="adj" fmla="val 6000"/>
            </a:avLst>
          </a:prstGeom>
          <a:solidFill>
            <a:srgbClr val="EDF1F7"/>
          </a:solidFill>
          <a:ln/>
        </p:spPr>
      </p:sp>
      <p:sp>
        <p:nvSpPr>
          <p:cNvPr id="6" name="Text 4"/>
          <p:cNvSpPr txBox="1"/>
          <p:nvPr/>
        </p:nvSpPr>
        <p:spPr>
          <a:xfrm>
            <a:off x="822960" y="2148840"/>
            <a:ext cx="2377440" cy="91440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Pbox</a:t>
            </a:r>
            <a:endParaRPr lang="en-US" sz="1500" dirty="0"/>
          </a:p>
        </p:txBody>
      </p:sp>
      <p:sp>
        <p:nvSpPr>
          <p:cNvPr id="7" name="Text 5"/>
          <p:cNvSpPr txBox="1"/>
          <p:nvPr/>
        </p:nvSpPr>
        <p:spPr>
          <a:xfrm>
            <a:off x="3383280" y="214884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605 players. One row per player, season box score totals.</a:t>
            </a:r>
            <a:endParaRPr lang="en-US" sz="1400" dirty="0"/>
          </a:p>
        </p:txBody>
      </p:sp>
      <p:sp>
        <p:nvSpPr>
          <p:cNvPr id="8" name="Shape 6"/>
          <p:cNvSpPr/>
          <p:nvPr/>
        </p:nvSpPr>
        <p:spPr>
          <a:xfrm>
            <a:off x="548640" y="3200400"/>
            <a:ext cx="11091672" cy="914400"/>
          </a:xfrm>
          <a:prstGeom prst="roundRect">
            <a:avLst>
              <a:gd name="adj" fmla="val 6000"/>
            </a:avLst>
          </a:prstGeom>
          <a:solidFill>
            <a:srgbClr val="EDF1F7"/>
          </a:solidFill>
          <a:ln/>
        </p:spPr>
      </p:sp>
      <p:sp>
        <p:nvSpPr>
          <p:cNvPr id="9" name="Text 7"/>
          <p:cNvSpPr txBox="1"/>
          <p:nvPr/>
        </p:nvSpPr>
        <p:spPr>
          <a:xfrm>
            <a:off x="822960" y="3200400"/>
            <a:ext cx="2377440" cy="91440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Tbox</a:t>
            </a:r>
            <a:endParaRPr lang="en-US" sz="1500" dirty="0"/>
          </a:p>
        </p:txBody>
      </p:sp>
      <p:sp>
        <p:nvSpPr>
          <p:cNvPr id="10" name="Text 8"/>
          <p:cNvSpPr txBox="1"/>
          <p:nvPr/>
        </p:nvSpPr>
        <p:spPr>
          <a:xfrm>
            <a:off x="3383280" y="320040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30 teams. One row per team, season box score totals.</a:t>
            </a:r>
            <a:endParaRPr lang="en-US" sz="1400" dirty="0"/>
          </a:p>
        </p:txBody>
      </p:sp>
      <p:sp>
        <p:nvSpPr>
          <p:cNvPr id="11" name="Shape 9"/>
          <p:cNvSpPr/>
          <p:nvPr/>
        </p:nvSpPr>
        <p:spPr>
          <a:xfrm>
            <a:off x="548640" y="4251960"/>
            <a:ext cx="11091672" cy="914400"/>
          </a:xfrm>
          <a:prstGeom prst="roundRect">
            <a:avLst>
              <a:gd name="adj" fmla="val 6000"/>
            </a:avLst>
          </a:prstGeom>
          <a:solidFill>
            <a:srgbClr val="EDF1F7"/>
          </a:solidFill>
          <a:ln/>
        </p:spPr>
      </p:sp>
      <p:sp>
        <p:nvSpPr>
          <p:cNvPr id="12" name="Text 10"/>
          <p:cNvSpPr txBox="1"/>
          <p:nvPr/>
        </p:nvSpPr>
        <p:spPr>
          <a:xfrm>
            <a:off x="822960" y="4251960"/>
            <a:ext cx="2377440" cy="91440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Obox / Tadd / PbP.BDB</a:t>
            </a:r>
            <a:endParaRPr lang="en-US" sz="1500" dirty="0"/>
          </a:p>
        </p:txBody>
      </p:sp>
      <p:sp>
        <p:nvSpPr>
          <p:cNvPr id="13" name="Text 11"/>
          <p:cNvSpPr txBox="1"/>
          <p:nvPr/>
        </p:nvSpPr>
        <p:spPr>
          <a:xfrm>
            <a:off x="3383280" y="425196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Opponent box scores, advanced team addenda, and play-by-play data used in later modules.</a:t>
            </a:r>
            <a:endParaRPr lang="en-US" sz="1400" dirty="0"/>
          </a:p>
        </p:txBody>
      </p:sp>
      <p:sp>
        <p:nvSpPr>
          <p:cNvPr id="14" name="Text 1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BasketballAnalyzeR (Zuccolotto, Manisera &amp; Sandri, CRAN). No data is copied into this course repository; it loads directly from the package.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B</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Points Per Game: A Simple, Real Metric</a:t>
            </a:r>
            <a:endParaRPr lang="en-US" sz="2800" dirty="0"/>
          </a:p>
        </p:txBody>
      </p:sp>
      <p:sp>
        <p:nvSpPr>
          <p:cNvPr id="4" name="Shape 2"/>
          <p:cNvSpPr/>
          <p:nvPr/>
        </p:nvSpPr>
        <p:spPr>
          <a:xfrm>
            <a:off x="548640" y="2103120"/>
            <a:ext cx="11091672" cy="1280160"/>
          </a:xfrm>
          <a:prstGeom prst="roundRect">
            <a:avLst>
              <a:gd name="adj" fmla="val 4286"/>
            </a:avLst>
          </a:prstGeom>
          <a:solidFill>
            <a:srgbClr val="27496D"/>
          </a:solidFill>
          <a:ln/>
        </p:spPr>
      </p:sp>
      <p:sp>
        <p:nvSpPr>
          <p:cNvPr id="5" name="Text 3"/>
          <p:cNvSpPr txBox="1"/>
          <p:nvPr/>
        </p:nvSpPr>
        <p:spPr>
          <a:xfrm>
            <a:off x="914400" y="2331720"/>
            <a:ext cx="10360152" cy="86868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Points per game is total points scored divided by games played. It is purely descriptive: it summarizes what happened, without claiming to explain why.</a:t>
            </a:r>
            <a:endParaRPr lang="en-US" sz="1600" dirty="0"/>
          </a:p>
        </p:txBody>
      </p:sp>
      <p:sp>
        <p:nvSpPr>
          <p:cNvPr id="6" name="Text 4"/>
          <p:cNvSpPr txBox="1"/>
          <p:nvPr/>
        </p:nvSpPr>
        <p:spPr>
          <a:xfrm>
            <a:off x="548640" y="3657600"/>
            <a:ext cx="11091672" cy="914400"/>
          </a:xfrm>
          <a:prstGeom prst="rect">
            <a:avLst/>
          </a:prstGeom>
          <a:noFill/>
          <a:ln/>
        </p:spPr>
        <p:txBody>
          <a:bodyPr wrap="square" lIns="0" tIns="0" rIns="0" bIns="0" rtlCol="0" anchor="t"/>
          <a:lstStyle/>
          <a:p>
            <a:pPr indent="0" marL="0">
              <a:lnSpc>
                <a:spcPct val="125000"/>
              </a:lnSpc>
              <a:buNone/>
            </a:pPr>
            <a:r>
              <a:rPr lang="en-US" sz="1300" dirty="0">
                <a:solidFill>
                  <a:srgbClr val="27496D"/>
                </a:solidFill>
                <a:latin typeface="Calibri" pitchFamily="34" charset="0"/>
                <a:ea typeface="Calibri" pitchFamily="34" charset="-122"/>
                <a:cs typeface="Calibri" pitchFamily="34" charset="-120"/>
              </a:rPr>
              <a:t>Module 2 builds on this same idea with Dean Oliver's Four Factors framework, published in Basketball on Paper (2004): effective field goal percentage, turnover rate, offensive rebound rate, and free throw rate.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EXAMPLE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2017-18 NBA Regular Season</a:t>
            </a:r>
            <a:endParaRPr lang="en-US" sz="3200" dirty="0"/>
          </a:p>
        </p:txBody>
      </p:sp>
      <p:sp>
        <p:nvSpPr>
          <p:cNvPr id="4" name="Shape 2"/>
          <p:cNvSpPr/>
          <p:nvPr/>
        </p:nvSpPr>
        <p:spPr>
          <a:xfrm>
            <a:off x="548640" y="2103120"/>
            <a:ext cx="11091672" cy="1371600"/>
          </a:xfrm>
          <a:prstGeom prst="roundRect">
            <a:avLst>
              <a:gd name="adj" fmla="val 4000"/>
            </a:avLst>
          </a:prstGeom>
          <a:solidFill>
            <a:srgbClr val="16213E"/>
          </a:solidFill>
          <a:ln/>
        </p:spPr>
      </p:sp>
      <p:sp>
        <p:nvSpPr>
          <p:cNvPr id="5" name="Text 3"/>
          <p:cNvSpPr txBox="1"/>
          <p:nvPr/>
        </p:nvSpPr>
        <p:spPr>
          <a:xfrm>
            <a:off x="914400" y="2331720"/>
            <a:ext cx="10360152" cy="9144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30 teams · 82 games each · real box score totals</a:t>
            </a:r>
            <a:endParaRPr lang="en-US" sz="1800" dirty="0"/>
          </a:p>
        </p:txBody>
      </p:sp>
      <p:sp>
        <p:nvSpPr>
          <p:cNvPr id="6" name="Text 4"/>
          <p:cNvSpPr txBox="1"/>
          <p:nvPr/>
        </p:nvSpPr>
        <p:spPr>
          <a:xfrm>
            <a:off x="548640" y="384048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AEBBD1"/>
                </a:solidFill>
                <a:latin typeface="Calibri" pitchFamily="34" charset="0"/>
                <a:ea typeface="Calibri" pitchFamily="34" charset="-122"/>
                <a:cs typeface="Calibri" pitchFamily="34" charset="-120"/>
              </a:rPr>
              <a:t>Every team's full-season box score totals are in BasketballAnalyzeR's Tbox dataset. We're about to pull this table ourselves and look at it directly.</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EXAMPLE 2,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Pulling the Team Data</a:t>
            </a:r>
            <a:endParaRPr lang="en-US" sz="30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library(BasketballAnalyzeR)</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data(Tbox)</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Tbox$PPG &lt;- round(Tbox$PTS / Tbox$GP, 1)</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top5 &lt;- Tbox[order(-Tbox$PPG),</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c("Team","GP","W","L","PPG")][1:5, ]</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print(top5)</a:t>
            </a:r>
            <a:endParaRPr lang="en-US" sz="15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yourself. You should get the same table on the next slide.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EXAMPLE 2,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the Numbers Show</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377440"/>
        </p:xfrm>
        <a:graphic>
          <a:graphicData uri="http://schemas.openxmlformats.org/drawingml/2006/table">
            <a:tbl>
              <a:tblPr/>
              <a:tblGrid>
                <a:gridCol w="4114800"/>
                <a:gridCol w="1737360"/>
                <a:gridCol w="1737360"/>
                <a:gridCol w="1737360"/>
                <a:gridCol w="1773936"/>
              </a:tblGrid>
              <a:tr h="39624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Team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GP</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PPG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9624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Golden State Warriors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113.5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9624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Houston Rockets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112.4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9624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New Orleans Pelicans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111.7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9624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Toronto Raptors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111.7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9624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Cleveland Cavaliers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110.9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75488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The top five scoring teams by points per game, real 2017-18 season data. Being top-5 in scoring did not guarantee the most wins: a real fact about this season, not a general rule.</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Tbox, BasketballAnalyzeR (Zuccolotto &amp; Manisera, 2020).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EXAMPLE 2,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Every Team's Win Total, Plotted</a:t>
            </a:r>
            <a:endParaRPr lang="en-US" sz="2800" dirty="0"/>
          </a:p>
        </p:txBody>
      </p:sp>
      <p:pic>
        <p:nvPicPr>
          <p:cNvPr id="4" name="Image 0" descr="module1_wins_chart.png">    </p:cNvPr>
          <p:cNvPicPr>
            <a:picLocks noChangeAspect="1"/>
          </p:cNvPicPr>
          <p:nvPr/>
        </p:nvPicPr>
        <p:blipFill>
          <a:blip r:embed="rId1"/>
          <a:stretch>
            <a:fillRect/>
          </a:stretch>
        </p:blipFill>
        <p:spPr>
          <a:xfrm>
            <a:off x="3108960" y="1737360"/>
            <a:ext cx="5943600"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Tbox, BasketballAnalyzeR (Zuccolotto &amp; Manisera, 2020). Built with ggplot2 from the table on the previous slide.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NUMBER</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PPG and Wins Are Correlated. That's Not the Whole Story.</a:t>
            </a:r>
            <a:endParaRPr lang="en-US" sz="24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0.70</a:t>
            </a:r>
            <a:endParaRPr lang="en-US" sz="60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correlation between a team's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points per game and its wins,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across all 30 teams</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What this tells us: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teams that scored more per game also tended to win more, across this real season.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What this does NOT tell us: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that scoring more itself causes wins. Defense, pace, and opponent strength are missing from this one number entirely.</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Computed with cor() in R on the real Tbox table. Module 2 builds a more complete picture with the Four Factors.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 (8 MIN)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Else Would You Need to Know?</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In groups of 3, discuss:</a:t>
            </a:r>
            <a:endParaRPr lang="en-US" sz="1500" dirty="0"/>
          </a:p>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1. Besides points per game, what else would you want to know before calling a team good?</a:t>
            </a:r>
            <a:endParaRPr lang="en-US" sz="1500" dirty="0"/>
          </a:p>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2. Could you design a better single number using only what's already in Tbox?</a:t>
            </a:r>
            <a:endParaRPr lang="en-US" sz="1500" dirty="0"/>
          </a:p>
          <a:p>
            <a:pPr indent="0" marL="0">
              <a:lnSpc>
                <a:spcPct val="140000"/>
              </a:lnSpc>
              <a:buNone/>
            </a:pPr>
            <a:r>
              <a:rPr lang="en-US" sz="1500" dirty="0">
                <a:solidFill>
                  <a:srgbClr val="16213E"/>
                </a:solidFill>
                <a:latin typeface="Calibri" pitchFamily="34" charset="0"/>
                <a:ea typeface="Calibri" pitchFamily="34" charset="-122"/>
                <a:cs typeface="Calibri" pitchFamily="34" charset="-120"/>
              </a:rPr>
              <a:t>3. What does points per game still usefully tell you, even though it is incomplete?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PRACTICE (5 MIN)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Read the Chart Yourself</a:t>
            </a:r>
            <a:endParaRPr lang="en-US" sz="3000" dirty="0"/>
          </a:p>
        </p:txBody>
      </p:sp>
      <p:pic>
        <p:nvPicPr>
          <p:cNvPr id="4" name="Image 0" descr="module1_wins_chart.png">    </p:cNvPr>
          <p:cNvPicPr>
            <a:picLocks noChangeAspect="1"/>
          </p:cNvPicPr>
          <p:nvPr/>
        </p:nvPicPr>
        <p:blipFill>
          <a:blip r:embed="rId1"/>
          <a:stretch>
            <a:fillRect/>
          </a:stretch>
        </p:blipFill>
        <p:spPr>
          <a:xfrm>
            <a:off x="4023360" y="1691640"/>
            <a:ext cx="4114800" cy="3200400"/>
          </a:xfrm>
          <a:prstGeom prst="rect">
            <a:avLst/>
          </a:prstGeom>
        </p:spPr>
      </p:pic>
      <p:sp>
        <p:nvSpPr>
          <p:cNvPr id="5" name="Shape 2"/>
          <p:cNvSpPr/>
          <p:nvPr/>
        </p:nvSpPr>
        <p:spPr>
          <a:xfrm>
            <a:off x="548640" y="5074920"/>
            <a:ext cx="11091672" cy="1005840"/>
          </a:xfrm>
          <a:prstGeom prst="roundRect">
            <a:avLst>
              <a:gd name="adj" fmla="val 5455"/>
            </a:avLst>
          </a:prstGeom>
          <a:solidFill>
            <a:srgbClr val="27496D"/>
          </a:solidFill>
          <a:ln/>
        </p:spPr>
      </p:sp>
      <p:sp>
        <p:nvSpPr>
          <p:cNvPr id="6" name="Text 3"/>
          <p:cNvSpPr txBox="1"/>
          <p:nvPr/>
        </p:nvSpPr>
        <p:spPr>
          <a:xfrm>
            <a:off x="868680" y="5212080"/>
            <a:ext cx="10451592" cy="7315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Pick one team on the chart. Was their season better or worse than you expected, based on what you already knew about them? Justify your answer using the chart alone.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B</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From Framing to Real Data</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Installed and loaded BasketballAnalyzeR. Pulled real 2017-18 season data. Computed a real correlation and were careful about what it does and does not claim.</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C walks through each of the five throughlines individually, then previews the signature module this course builds toward.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the five throughlines, one at a time.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THROUGHLINE 1 OF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Injury Detection &amp; Prediction</a:t>
            </a:r>
            <a:endParaRPr lang="en-US" sz="3000" dirty="0"/>
          </a:p>
        </p:txBody>
      </p:sp>
      <p:sp>
        <p:nvSpPr>
          <p:cNvPr id="4" name="Shape 2"/>
          <p:cNvSpPr/>
          <p:nvPr/>
        </p:nvSpPr>
        <p:spPr>
          <a:xfrm>
            <a:off x="548640" y="1920240"/>
            <a:ext cx="54864" cy="292608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Which signals actually warn of injury risk, and which just correlate with it?</a:t>
            </a:r>
            <a:endParaRPr lang="en-US" sz="1700" dirty="0"/>
          </a:p>
        </p:txBody>
      </p:sp>
      <p:sp>
        <p:nvSpPr>
          <p:cNvPr id="7" name="Text 5"/>
          <p:cNvSpPr txBox="1"/>
          <p:nvPr/>
        </p:nvSpPr>
        <p:spPr>
          <a:xfrm>
            <a:off x="914400" y="3383280"/>
            <a:ext cx="10725912" cy="13716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This course builds toward a real, published monitoring method (control charts) built on game-by-game pitching data, developed in explicit contrast with a widely used but statistically criticized industry ratio. Full detail in Module 10.</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Muritala, F., Brown, A. R., &amp; Haller, A. (2026). Research in Sports Medicine.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THROUGHLINE 2 OF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Player Performance Analysis</a:t>
            </a:r>
            <a:endParaRPr lang="en-US" sz="3000" dirty="0"/>
          </a:p>
        </p:txBody>
      </p:sp>
      <p:sp>
        <p:nvSpPr>
          <p:cNvPr id="4" name="Shape 2"/>
          <p:cNvSpPr/>
          <p:nvPr/>
        </p:nvSpPr>
        <p:spPr>
          <a:xfrm>
            <a:off x="548640" y="1920240"/>
            <a:ext cx="54864" cy="2926080"/>
          </a:xfrm>
          <a:prstGeom prst="rect">
            <a:avLst/>
          </a:prstGeom>
          <a:solidFill>
            <a:srgbClr val="E4572E"/>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How good is a player, once you account for role, opponent, and how playing time was earned?</a:t>
            </a:r>
            <a:endParaRPr lang="en-US" sz="1700" dirty="0"/>
          </a:p>
        </p:txBody>
      </p:sp>
      <p:sp>
        <p:nvSpPr>
          <p:cNvPr id="7" name="Text 5"/>
          <p:cNvSpPr txBox="1"/>
          <p:nvPr/>
        </p:nvSpPr>
        <p:spPr>
          <a:xfrm>
            <a:off x="914400" y="3383280"/>
            <a:ext cx="10725912" cy="13716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Modules 3, 5, 6, and 7 build the applied methods this course uses to answer that question, including comparison plots, correlation, and clustering.</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Zuccolotto &amp; Manisera (2020), Basketball Data Science, Chapman &amp; Hall/CRC.</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THROUGHLINE 3 OF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Positioning &amp; Shifting</a:t>
            </a:r>
            <a:endParaRPr lang="en-US" sz="3000" dirty="0"/>
          </a:p>
        </p:txBody>
      </p:sp>
      <p:sp>
        <p:nvSpPr>
          <p:cNvPr id="4" name="Shape 2"/>
          <p:cNvSpPr/>
          <p:nvPr/>
        </p:nvSpPr>
        <p:spPr>
          <a:xfrm>
            <a:off x="548640" y="1920240"/>
            <a:ext cx="54864" cy="292608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Where players stand, and how that changes what a play can become.</a:t>
            </a:r>
            <a:endParaRPr lang="en-US" sz="1700" dirty="0"/>
          </a:p>
        </p:txBody>
      </p:sp>
      <p:sp>
        <p:nvSpPr>
          <p:cNvPr id="7" name="Text 5"/>
          <p:cNvSpPr txBox="1"/>
          <p:nvPr/>
        </p:nvSpPr>
        <p:spPr>
          <a:xfrm>
            <a:off x="914400" y="3383280"/>
            <a:ext cx="10725912" cy="13716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Module 4's shot charts are a first, accessible pass at this. The same spatial thinking returns when the course looks at surface area dynamics in Module 8.</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Zuccolotto &amp; Manisera (2020), Basketball Data Science, Chapman &amp; Hall/CRC.</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THROUGHLINE 4 OF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Salary Structure Analysis</a:t>
            </a:r>
            <a:endParaRPr lang="en-US" sz="3000" dirty="0"/>
          </a:p>
        </p:txBody>
      </p:sp>
      <p:sp>
        <p:nvSpPr>
          <p:cNvPr id="4" name="Shape 2"/>
          <p:cNvSpPr/>
          <p:nvPr/>
        </p:nvSpPr>
        <p:spPr>
          <a:xfrm>
            <a:off x="548640" y="1920240"/>
            <a:ext cx="54864" cy="2926080"/>
          </a:xfrm>
          <a:prstGeom prst="rect">
            <a:avLst/>
          </a:prstGeom>
          <a:solidFill>
            <a:srgbClr val="E4572E"/>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How pay relates, or does not, to measurable production.</a:t>
            </a:r>
            <a:endParaRPr lang="en-US" sz="1700" dirty="0"/>
          </a:p>
        </p:txBody>
      </p:sp>
      <p:sp>
        <p:nvSpPr>
          <p:cNvPr id="7" name="Text 5"/>
          <p:cNvSpPr txBox="1"/>
          <p:nvPr/>
        </p:nvSpPr>
        <p:spPr>
          <a:xfrm>
            <a:off x="914400" y="3383280"/>
            <a:ext cx="10725912" cy="13716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 recurring case study for the same correlation and visualization skills used elsewhere in this course, revisited whenever the data supports it honestly.</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Zuccolotto &amp; Manisera (2020), Basketball Data Science, Chapman &amp; Hall/CRC.</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THROUGHLINE 5 OF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Game Analysis</a:t>
            </a:r>
            <a:endParaRPr lang="en-US" sz="3000" dirty="0"/>
          </a:p>
        </p:txBody>
      </p:sp>
      <p:sp>
        <p:nvSpPr>
          <p:cNvPr id="4" name="Shape 2"/>
          <p:cNvSpPr/>
          <p:nvPr/>
        </p:nvSpPr>
        <p:spPr>
          <a:xfrm>
            <a:off x="548640" y="1920240"/>
            <a:ext cx="54864" cy="292608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Reading a single game's real numbers to explain what actually happened.</a:t>
            </a:r>
            <a:endParaRPr lang="en-US" sz="1700" dirty="0"/>
          </a:p>
        </p:txBody>
      </p:sp>
      <p:sp>
        <p:nvSpPr>
          <p:cNvPr id="7" name="Text 5"/>
          <p:cNvSpPr txBox="1"/>
          <p:nvPr/>
        </p:nvSpPr>
        <p:spPr>
          <a:xfrm>
            <a:off x="914400" y="3383280"/>
            <a:ext cx="10725912" cy="13716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Today's worked example was a first pass at this, at the season level. Later modules go deeper into event-level and lineup-level game analysis.</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BasketballAnalyzeR, Zuccolotto, Manisera &amp; Sandri (CRAN).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A FIRST LOOK AHEAD</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This Course Ends Up</a:t>
            </a:r>
            <a:endParaRPr lang="en-US" sz="3000" dirty="0"/>
          </a:p>
        </p:txBody>
      </p:sp>
      <p:sp>
        <p:nvSpPr>
          <p:cNvPr id="4" name="Shape 2"/>
          <p:cNvSpPr/>
          <p:nvPr/>
        </p:nvSpPr>
        <p:spPr>
          <a:xfrm>
            <a:off x="548640" y="2103120"/>
            <a:ext cx="11091672" cy="2011680"/>
          </a:xfrm>
          <a:prstGeom prst="roundRect">
            <a:avLst>
              <a:gd name="adj" fmla="val 2727"/>
            </a:avLst>
          </a:prstGeom>
          <a:solidFill>
            <a:srgbClr val="E4572E"/>
          </a:solidFill>
          <a:ln/>
        </p:spPr>
      </p:sp>
      <p:sp>
        <p:nvSpPr>
          <p:cNvPr id="5" name="Text 3"/>
          <p:cNvSpPr txBox="1"/>
          <p:nvPr/>
        </p:nvSpPr>
        <p:spPr>
          <a:xfrm>
            <a:off x="914400" y="2331720"/>
            <a:ext cx="10360152" cy="155448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Module 10 is built from the instructor's own published methodology: process-monitoring control charts applied to real MLB pitcher workload and injury data, taught in direct contrast with a widely used but statistically criticized industry ratio. It is this course's most advanced module, and the direct bridge to graduate-level research.</a:t>
            </a:r>
            <a:endParaRPr lang="en-US" sz="1500" dirty="0"/>
          </a:p>
        </p:txBody>
      </p:sp>
      <p:sp>
        <p:nvSpPr>
          <p:cNvPr id="6" name="Text 4"/>
          <p:cNvSpPr txBox="1"/>
          <p:nvPr/>
        </p:nvSpPr>
        <p:spPr>
          <a:xfrm>
            <a:off x="548640" y="4480560"/>
            <a:ext cx="11091672" cy="914400"/>
          </a:xfrm>
          <a:prstGeom prst="rect">
            <a:avLst/>
          </a:prstGeom>
          <a:noFill/>
          <a:ln/>
        </p:spPr>
        <p:txBody>
          <a:bodyPr wrap="square" lIns="0" tIns="0" rIns="0" bIns="0" rtlCol="0" anchor="t"/>
          <a:lstStyle/>
          <a:p>
            <a:pPr indent="0" marL="0">
              <a:lnSpc>
                <a:spcPct val="125000"/>
              </a:lnSpc>
              <a:buNone/>
            </a:pPr>
            <a:r>
              <a:rPr lang="en-US" sz="1200" dirty="0">
                <a:solidFill>
                  <a:srgbClr val="AEBBD1"/>
                </a:solidFill>
                <a:latin typeface="Calibri" pitchFamily="34" charset="0"/>
                <a:ea typeface="Calibri" pitchFamily="34" charset="-122"/>
                <a:cs typeface="Calibri" pitchFamily="34" charset="-120"/>
              </a:rPr>
              <a:t>Muritala, F., Brown, A. R., &amp; Haller, A. (2026). A Quality Monitoring Approach to Evaluating Reinjury Likelihood to Major League Baseball Pitchers. Research in Sports Medicine.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C</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Five Throughlines, One Shared Course</a:t>
            </a:r>
            <a:endParaRPr lang="en-US" sz="28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Walked through each of the five throughlines and which module develops it. Previewed the signature quality-monitoring module this course builds toward.</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Module 02 puts the data-collection half of this course into practice, pulling real data reproducibly. It's code you'll take a distinct look at for one throughline of your choice.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2011680"/>
            <a:ext cx="164592" cy="164592"/>
          </a:xfrm>
          <a:prstGeom prst="rect">
            <a:avLst/>
          </a:prstGeom>
          <a:solidFill>
            <a:srgbClr val="27496D"/>
          </a:solidFill>
          <a:ln/>
        </p:spPr>
      </p:sp>
      <p:sp>
        <p:nvSpPr>
          <p:cNvPr id="5" name="Text 3"/>
          <p:cNvSpPr txBox="1"/>
          <p:nvPr/>
        </p:nvSpPr>
        <p:spPr>
          <a:xfrm>
            <a:off x="914400" y="18745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Sports analytics, in this course, means five specific questions, not a broad survey.</a:t>
            </a:r>
            <a:endParaRPr lang="en-US" sz="150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 descriptive number and an evaluative claim are different things. Confusing them is the single most common mistake this course will keep correcting.</a:t>
            </a:r>
            <a:endParaRPr lang="en-US" sz="1500" dirty="0"/>
          </a:p>
        </p:txBody>
      </p:sp>
      <p:sp>
        <p:nvSpPr>
          <p:cNvPr id="8" name="Shape 6"/>
          <p:cNvSpPr/>
          <p:nvPr/>
        </p:nvSpPr>
        <p:spPr>
          <a:xfrm>
            <a:off x="548640" y="3840480"/>
            <a:ext cx="164592" cy="164592"/>
          </a:xfrm>
          <a:prstGeom prst="rect">
            <a:avLst/>
          </a:prstGeom>
          <a:solidFill>
            <a:srgbClr val="27496D"/>
          </a:solidFill>
          <a:ln/>
        </p:spPr>
      </p:sp>
      <p:sp>
        <p:nvSpPr>
          <p:cNvPr id="9" name="Text 7"/>
          <p:cNvSpPr txBox="1"/>
          <p:nvPr/>
        </p:nvSpPr>
        <p:spPr>
          <a:xfrm>
            <a:off x="914400" y="37033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The 2017-18 season numbers, the correlation, the win chart: all of it came from data you can pull and check yourself.</a:t>
            </a:r>
            <a:endParaRPr lang="en-US" sz="1500" dirty="0"/>
          </a:p>
        </p:txBody>
      </p:sp>
      <p:sp>
        <p:nvSpPr>
          <p:cNvPr id="10" name="Shape 8"/>
          <p:cNvSpPr/>
          <p:nvPr/>
        </p:nvSpPr>
        <p:spPr>
          <a:xfrm>
            <a:off x="548640" y="4754880"/>
            <a:ext cx="164592" cy="164592"/>
          </a:xfrm>
          <a:prstGeom prst="rect">
            <a:avLst/>
          </a:prstGeom>
          <a:solidFill>
            <a:srgbClr val="E4572E"/>
          </a:solidFill>
          <a:ln/>
        </p:spPr>
      </p:sp>
      <p:sp>
        <p:nvSpPr>
          <p:cNvPr id="11" name="Text 9"/>
          <p:cNvSpPr txBox="1"/>
          <p:nvPr/>
        </p:nvSpPr>
        <p:spPr>
          <a:xfrm>
            <a:off x="914400" y="46177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One textbook carries the applied spine of this course, chapter by chapter, all semester.</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02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Things 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Read</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Basketball Data Science, Ch. 1 (getting your environment ready to pull real data).</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1 (environment setup and first look at real data) and take the Module 1 quiz on D2L.</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50000"/>
              </a:lnSpc>
              <a:buNone/>
            </a:pPr>
            <a:r>
              <a:rPr lang="en-US" sz="1300" dirty="0">
                <a:solidFill>
                  <a:srgbClr val="16213E"/>
                </a:solidFill>
                <a:latin typeface="Calibri" pitchFamily="34" charset="0"/>
                <a:ea typeface="Calibri" pitchFamily="34" charset="-122"/>
                <a:cs typeface="Calibri" pitchFamily="34" charset="-120"/>
              </a:rPr>
              <a:t>Zuccolotto, P., &amp; Manisera, M. (2020). Basketball Data Science: With Applications in R. Chapman &amp; Hall/CRC.</a:t>
            </a:r>
            <a:endParaRPr lang="en-US" sz="1300" dirty="0"/>
          </a:p>
          <a:p>
            <a:pPr indent="0" marL="0">
              <a:lnSpc>
                <a:spcPct val="150000"/>
              </a:lnSpc>
              <a:buNone/>
            </a:pPr>
            <a:r>
              <a:rPr lang="en-US" sz="1300" dirty="0">
                <a:solidFill>
                  <a:srgbClr val="16213E"/>
                </a:solidFill>
                <a:latin typeface="Calibri" pitchFamily="34" charset="0"/>
                <a:ea typeface="Calibri" pitchFamily="34" charset="-122"/>
                <a:cs typeface="Calibri" pitchFamily="34" charset="-120"/>
              </a:rPr>
              <a:t>Smithsonian Lemelson Center. Sports Analytics Before Moneyball. invention.si.edu</a:t>
            </a:r>
            <a:endParaRPr lang="en-US" sz="1300" dirty="0"/>
          </a:p>
          <a:p>
            <a:pPr indent="0" marL="0">
              <a:lnSpc>
                <a:spcPct val="150000"/>
              </a:lnSpc>
              <a:buNone/>
            </a:pPr>
            <a:r>
              <a:rPr lang="en-US" sz="1300" dirty="0">
                <a:solidFill>
                  <a:srgbClr val="16213E"/>
                </a:solidFill>
                <a:latin typeface="Calibri" pitchFamily="34" charset="0"/>
                <a:ea typeface="Calibri" pitchFamily="34" charset="-122"/>
                <a:cs typeface="Calibri" pitchFamily="34" charset="-120"/>
              </a:rPr>
              <a:t>Opta Analyst. How Advanced Analytics Have Changed Basketball. theanalyst.com</a:t>
            </a:r>
            <a:endParaRPr lang="en-US" sz="1300" dirty="0"/>
          </a:p>
          <a:p>
            <a:pPr indent="0" marL="0">
              <a:lnSpc>
                <a:spcPct val="150000"/>
              </a:lnSpc>
              <a:buNone/>
            </a:pPr>
            <a:r>
              <a:rPr lang="en-US" sz="1300" dirty="0">
                <a:solidFill>
                  <a:srgbClr val="16213E"/>
                </a:solidFill>
                <a:latin typeface="Calibri" pitchFamily="34" charset="0"/>
                <a:ea typeface="Calibri" pitchFamily="34" charset="-122"/>
                <a:cs typeface="Calibri" pitchFamily="34" charset="-120"/>
              </a:rPr>
              <a:t>Oliver, D. (2004). Basketball on Paper: Rules and Tools for Performance Analysis. Potomac Books.</a:t>
            </a:r>
            <a:endParaRPr lang="en-US" sz="1300" dirty="0"/>
          </a:p>
          <a:p>
            <a:pPr indent="0" marL="0">
              <a:lnSpc>
                <a:spcPct val="150000"/>
              </a:lnSpc>
              <a:buNone/>
            </a:pPr>
            <a:r>
              <a:rPr lang="en-US" sz="1300" dirty="0">
                <a:solidFill>
                  <a:srgbClr val="16213E"/>
                </a:solidFill>
                <a:latin typeface="Calibri" pitchFamily="34" charset="0"/>
                <a:ea typeface="Calibri" pitchFamily="34" charset="-122"/>
                <a:cs typeface="Calibri" pitchFamily="34" charset="-120"/>
              </a:rPr>
              <a:t>Lewis, M. (2003). Moneyball: The Art of Winning an Unfair Game. W. W. Norton.</a:t>
            </a:r>
            <a:endParaRPr lang="en-US" sz="1300" dirty="0"/>
          </a:p>
          <a:p>
            <a:pPr indent="0" marL="0">
              <a:lnSpc>
                <a:spcPct val="150000"/>
              </a:lnSpc>
              <a:buNone/>
            </a:pPr>
            <a:r>
              <a:rPr lang="en-US" sz="1300" dirty="0">
                <a:solidFill>
                  <a:srgbClr val="16213E"/>
                </a:solidFill>
                <a:latin typeface="Calibri" pitchFamily="34" charset="0"/>
                <a:ea typeface="Calibri" pitchFamily="34" charset="-122"/>
                <a:cs typeface="Calibri" pitchFamily="34" charset="-120"/>
              </a:rPr>
              <a:t>Research.com. Sports Analytics Careers: Skills, Education, Salary and Job Outlook.</a:t>
            </a:r>
            <a:endParaRPr lang="en-US" sz="1300" dirty="0"/>
          </a:p>
          <a:p>
            <a:pPr indent="0" marL="0">
              <a:lnSpc>
                <a:spcPct val="150000"/>
              </a:lnSpc>
              <a:buNone/>
            </a:pPr>
            <a:r>
              <a:rPr lang="en-US" sz="1300" dirty="0">
                <a:solidFill>
                  <a:srgbClr val="16213E"/>
                </a:solidFill>
                <a:latin typeface="Calibri" pitchFamily="34" charset="0"/>
                <a:ea typeface="Calibri" pitchFamily="34" charset="-122"/>
                <a:cs typeface="Calibri" pitchFamily="34" charset="-120"/>
              </a:rPr>
              <a:t>Muritala, F., Brown, A. R., &amp; Haller, A. (2026). Research in Sports Medicine.</a:t>
            </a:r>
            <a:endParaRPr lang="en-US" sz="1300" dirty="0"/>
          </a:p>
          <a:p>
            <a:pPr indent="0" marL="0">
              <a:lnSpc>
                <a:spcPct val="150000"/>
              </a:lnSpc>
              <a:buNone/>
            </a:pPr>
            <a:r>
              <a:rPr lang="en-US" sz="1300" dirty="0">
                <a:solidFill>
                  <a:srgbClr val="16213E"/>
                </a:solidFill>
                <a:latin typeface="Calibri" pitchFamily="34" charset="0"/>
                <a:ea typeface="Calibri" pitchFamily="34" charset="-122"/>
                <a:cs typeface="Calibri" pitchFamily="34" charset="-120"/>
              </a:rPr>
              <a:t>BasketballAnalyzeR (R package). Zuccolotto, Manisera &amp; Sandri. CRAN.</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02</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Pace, Ratings, and the Four Factors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2026-09-17T21:32:55Z</dcterms:created>
  <dcterms:modified xsi:type="dcterms:W3CDTF">2026-09-17T21:32:55Z</dcterms:modified>
</cp:coreProperties>
</file>