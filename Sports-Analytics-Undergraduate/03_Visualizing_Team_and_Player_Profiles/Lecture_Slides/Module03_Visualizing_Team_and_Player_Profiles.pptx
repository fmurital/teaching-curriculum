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reference is to Ch. 2, second half (comparison plots and team/player profile visualization). This build did not have a page-indexed source for the textbook, so slide notes in this deck cite the chapter only, not a specific page -- see the private Instructor Notes for a note to Faruk about closing that gap once the textbook access link is available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Basketball Data Science with R, Ch. 2 (second half) covers this standardization step as part of building comparison plots; page reference not yet available for this build -- see private Instructor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one column by hand on the board before running scale() in R, so the class sees the formula is not a black box. Pick a variable with an intuitive spread, like three-point makes.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through Giannis's chart first (most visually extreme, easiest to read) before Westbrook's more balanced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honest-reading moment, matching Module 2's turnover-rate surprise. Read Morey's objection aloud before revealing the class's own radar chart on the previous slide was already shown -- the point is to inoculate against overreading shape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Basketball Data Science with R, Ch. 2 (second half) introduces this comparison-plot approach; page reference not yet available for this build -- see private Instructor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James Harden and Chris Paul (highest minutes, on the left) versus Tarik Black (lowest minutes shown, far right) -- the volume-versus-efficiency pattern described in the Student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equation slide -- keep it brief and move to the R code quickly, since the class already worked through the z-score derivation in Segment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this module's version of Module 2's turnover-rate surprise -- let the room guess the ranking before revealing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Golden State Warriors led the league in assists per game (29.3) and also won 58 games, but point out this is one data point, not proof of a strong relationship -- the next slide gives the real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187452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SPORTS ANALYTICS</a:t>
            </a:r>
            <a:endParaRPr lang="en-US" sz="1300" dirty="0"/>
          </a:p>
        </p:txBody>
      </p:sp>
      <p:sp>
        <p:nvSpPr>
          <p:cNvPr id="3" name="Text 1"/>
          <p:cNvSpPr txBox="1"/>
          <p:nvPr/>
        </p:nvSpPr>
        <p:spPr>
          <a:xfrm>
            <a:off x="548640" y="2286000"/>
            <a:ext cx="11091672" cy="12801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Basketball Data Science</a:t>
            </a:r>
            <a:endParaRPr lang="en-US" sz="4400" dirty="0"/>
          </a:p>
        </p:txBody>
      </p:sp>
      <p:sp>
        <p:nvSpPr>
          <p:cNvPr id="4" name="Text 2"/>
          <p:cNvSpPr txBox="1"/>
          <p:nvPr/>
        </p:nvSpPr>
        <p:spPr>
          <a:xfrm>
            <a:off x="548640" y="3520440"/>
            <a:ext cx="11091672" cy="457200"/>
          </a:xfrm>
          <a:prstGeom prst="rect">
            <a:avLst/>
          </a:prstGeom>
          <a:noFill/>
          <a:ln/>
        </p:spPr>
        <p:txBody>
          <a:bodyPr wrap="square" lIns="0" tIns="0" rIns="0" bIns="0" rtlCol="0" anchor="ctr"/>
          <a:lstStyle/>
          <a:p>
            <a:pPr indent="0" marL="0">
              <a:buNone/>
            </a:pPr>
            <a:r>
              <a:rPr lang="en-US" sz="2000" dirty="0">
                <a:solidFill>
                  <a:srgbClr val="AEBBD1"/>
                </a:solidFill>
                <a:latin typeface="Calibri" pitchFamily="34" charset="0"/>
                <a:ea typeface="Calibri" pitchFamily="34" charset="-122"/>
                <a:cs typeface="Calibri" pitchFamily="34" charset="-120"/>
              </a:rPr>
              <a:t>Module 03 · Visualizing Team and Player Profiles</a:t>
            </a:r>
            <a:endParaRPr lang="en-US" sz="2000" dirty="0"/>
          </a:p>
        </p:txBody>
      </p:sp>
      <p:sp>
        <p:nvSpPr>
          <p:cNvPr id="5" name="Shape 3"/>
          <p:cNvSpPr/>
          <p:nvPr/>
        </p:nvSpPr>
        <p:spPr>
          <a:xfrm>
            <a:off x="548640" y="4251960"/>
            <a:ext cx="3291840" cy="777240"/>
          </a:xfrm>
          <a:prstGeom prst="roundRect">
            <a:avLst>
              <a:gd name="adj" fmla="val 7059"/>
            </a:avLst>
          </a:prstGeom>
          <a:solidFill>
            <a:srgbClr val="16213E"/>
          </a:solidFill>
          <a:ln/>
        </p:spPr>
      </p:sp>
      <p:sp>
        <p:nvSpPr>
          <p:cNvPr id="6" name="Text 4"/>
          <p:cNvSpPr txBox="1"/>
          <p:nvPr/>
        </p:nvSpPr>
        <p:spPr>
          <a:xfrm>
            <a:off x="731520" y="4251960"/>
            <a:ext cx="292608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Week 3
</a:t>
            </a:r>
            <a:pPr indent="0" marL="0">
              <a:buNone/>
            </a:pPr>
            <a:r>
              <a:rPr lang="en-US" sz="1300" dirty="0">
                <a:solidFill>
                  <a:srgbClr val="FFFFFF"/>
                </a:solidFill>
                <a:latin typeface="Calibri" pitchFamily="34" charset="0"/>
                <a:ea typeface="Calibri" pitchFamily="34" charset="-122"/>
                <a:cs typeface="Calibri" pitchFamily="34" charset="-120"/>
              </a:rPr>
              <a:t>Undergraduate · 3-hour session</a:t>
            </a:r>
            <a:endParaRPr lang="en-US" sz="1300" dirty="0"/>
          </a:p>
        </p:txBody>
      </p:sp>
      <p:sp>
        <p:nvSpPr>
          <p:cNvPr id="7" name="Text 5"/>
          <p:cNvSpPr txBox="1"/>
          <p:nvPr/>
        </p:nvSpPr>
        <p:spPr>
          <a:xfrm>
            <a:off x="4114800" y="4251960"/>
            <a:ext cx="6949440" cy="77724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Maps to Chapter 2B:</a:t>
            </a:r>
            <a:endParaRPr lang="en-US" sz="1200" dirty="0"/>
          </a:p>
          <a:p>
            <a:pPr indent="0" marL="0">
              <a:buNone/>
            </a:pPr>
            <a:r>
              <a:rPr lang="en-US" sz="1200" dirty="0">
                <a:solidFill>
                  <a:srgbClr val="AEBBD1"/>
                </a:solidFill>
                <a:latin typeface="Calibri" pitchFamily="34" charset="0"/>
                <a:ea typeface="Calibri" pitchFamily="34" charset="-122"/>
                <a:cs typeface="Calibri" pitchFamily="34" charset="-120"/>
              </a:rPr>
              <a:t>Zuccolotto, P., &amp; Manisera, M. (2020). Basketball Data Science: With Applications in R. Chapman &amp; Hall/CRC.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 Left Off</a:t>
            </a:r>
            <a:endParaRPr lang="en-US" sz="3200" dirty="0"/>
          </a:p>
        </p:txBody>
      </p:sp>
      <p:sp>
        <p:nvSpPr>
          <p:cNvPr id="4" name="Shape 2"/>
          <p:cNvSpPr/>
          <p:nvPr/>
        </p:nvSpPr>
        <p:spPr>
          <a:xfrm>
            <a:off x="548640" y="1920240"/>
            <a:ext cx="11091672" cy="2377440"/>
          </a:xfrm>
          <a:prstGeom prst="roundRect">
            <a:avLst>
              <a:gd name="adj" fmla="val 2308"/>
            </a:avLst>
          </a:prstGeom>
          <a:solidFill>
            <a:srgbClr val="EDF1F7"/>
          </a:solidFill>
          <a:ln/>
        </p:spPr>
      </p:sp>
      <p:sp>
        <p:nvSpPr>
          <p:cNvPr id="5" name="Text 3"/>
          <p:cNvSpPr txBox="1"/>
          <p:nvPr/>
        </p:nvSpPr>
        <p:spPr>
          <a:xfrm>
            <a:off x="914400" y="2194560"/>
            <a:ext cx="10360152" cy="18288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Module 2 showed that net rating (ORtg minus DRtg) predicts wins far better than any single shooting stat -- 0.96 versus 0.77 for effective field goal percentage alone. That was still one number at a time, compared to one other number. Today we look at several numbers about a player or team at once, and learn how to compare their shapes.</a:t>
            </a:r>
            <a:endParaRPr lang="en-US" sz="1600" dirty="0"/>
          </a:p>
        </p:txBody>
      </p:sp>
      <p:sp>
        <p:nvSpPr>
          <p:cNvPr id="6" name="Text 4"/>
          <p:cNvSpPr txBox="1"/>
          <p:nvPr/>
        </p:nvSpPr>
        <p:spPr>
          <a:xfrm>
            <a:off x="548640" y="4572000"/>
            <a:ext cx="11091672" cy="914400"/>
          </a:xfrm>
          <a:prstGeom prst="rect">
            <a:avLst/>
          </a:prstGeom>
          <a:noFill/>
          <a:ln/>
        </p:spPr>
        <p:txBody>
          <a:bodyPr wrap="square" lIns="0" tIns="0" rIns="0" bIns="0" rtlCol="0" anchor="t"/>
          <a:lstStyle/>
          <a:p>
            <a:pPr indent="0" marL="0">
              <a:lnSpc>
                <a:spcPct val="125000"/>
              </a:lnSpc>
              <a:buNone/>
            </a:pPr>
            <a:r>
              <a:rPr lang="en-US" sz="1500" i="1" dirty="0">
                <a:solidFill>
                  <a:srgbClr val="27496D"/>
                </a:solidFill>
                <a:latin typeface="Calibri" pitchFamily="34" charset="0"/>
                <a:ea typeface="Calibri" pitchFamily="34" charset="-122"/>
                <a:cs typeface="Calibri" pitchFamily="34" charset="-120"/>
              </a:rPr>
              <a:t>Same textbook, same real 2017-18 data, same BasketballAnalyzeR package.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OUTLINE FOR THE DAY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We're Headed</a:t>
            </a:r>
            <a:endParaRPr lang="en-US" sz="3200" dirty="0"/>
          </a:p>
        </p:txBody>
      </p:sp>
      <p:sp>
        <p:nvSpPr>
          <p:cNvPr id="4" name="Shape 2"/>
          <p:cNvSpPr/>
          <p:nvPr/>
        </p:nvSpPr>
        <p:spPr>
          <a:xfrm>
            <a:off x="548640" y="1965960"/>
            <a:ext cx="5362956" cy="1691640"/>
          </a:xfrm>
          <a:prstGeom prst="roundRect">
            <a:avLst>
              <a:gd name="adj" fmla="val 3243"/>
            </a:avLst>
          </a:prstGeom>
          <a:solidFill>
            <a:srgbClr val="EDF1F7"/>
          </a:solidFill>
          <a:ln/>
        </p:spPr>
      </p:sp>
      <p:sp>
        <p:nvSpPr>
          <p:cNvPr id="5" name="Text 3"/>
          <p:cNvSpPr txBox="1"/>
          <p:nvPr/>
        </p:nvSpPr>
        <p:spPr>
          <a:xfrm>
            <a:off x="777240"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a:t>
            </a:r>
            <a:endParaRPr lang="en-US" sz="1600" dirty="0"/>
          </a:p>
        </p:txBody>
      </p:sp>
      <p:sp>
        <p:nvSpPr>
          <p:cNvPr id="6" name="Text 4"/>
          <p:cNvSpPr txBox="1"/>
          <p:nvPr/>
        </p:nvSpPr>
        <p:spPr>
          <a:xfrm>
            <a:off x="1188720"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1</a:t>
            </a:r>
            <a:endParaRPr lang="en-US" sz="1600" dirty="0"/>
          </a:p>
        </p:txBody>
      </p:sp>
      <p:sp>
        <p:nvSpPr>
          <p:cNvPr id="7" name="Text 5"/>
          <p:cNvSpPr txBox="1"/>
          <p:nvPr/>
        </p:nvSpPr>
        <p:spPr>
          <a:xfrm>
            <a:off x="777240"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Standardizing stats and building radial player profiles (~50 min)</a:t>
            </a:r>
            <a:endParaRPr lang="en-US" sz="1200" dirty="0"/>
          </a:p>
        </p:txBody>
      </p:sp>
      <p:sp>
        <p:nvSpPr>
          <p:cNvPr id="8" name="Shape 6"/>
          <p:cNvSpPr/>
          <p:nvPr/>
        </p:nvSpPr>
        <p:spPr>
          <a:xfrm>
            <a:off x="6277356" y="1965960"/>
            <a:ext cx="5362956" cy="1691640"/>
          </a:xfrm>
          <a:prstGeom prst="roundRect">
            <a:avLst>
              <a:gd name="adj" fmla="val 3243"/>
            </a:avLst>
          </a:prstGeom>
          <a:solidFill>
            <a:srgbClr val="EDF1F7"/>
          </a:solidFill>
          <a:ln/>
        </p:spPr>
      </p:sp>
      <p:sp>
        <p:nvSpPr>
          <p:cNvPr id="9" name="Text 7"/>
          <p:cNvSpPr txBox="1"/>
          <p:nvPr/>
        </p:nvSpPr>
        <p:spPr>
          <a:xfrm>
            <a:off x="6505956"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a:t>
            </a:r>
            <a:endParaRPr lang="en-US" sz="1600" dirty="0"/>
          </a:p>
        </p:txBody>
      </p:sp>
      <p:sp>
        <p:nvSpPr>
          <p:cNvPr id="10" name="Text 8"/>
          <p:cNvSpPr txBox="1"/>
          <p:nvPr/>
        </p:nvSpPr>
        <p:spPr>
          <a:xfrm>
            <a:off x="6917436"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2</a:t>
            </a:r>
            <a:endParaRPr lang="en-US" sz="1600" dirty="0"/>
          </a:p>
        </p:txBody>
      </p:sp>
      <p:sp>
        <p:nvSpPr>
          <p:cNvPr id="11" name="Text 9"/>
          <p:cNvSpPr txBox="1"/>
          <p:nvPr/>
        </p:nvSpPr>
        <p:spPr>
          <a:xfrm>
            <a:off x="6505956"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Bar-line plots: shooting splits and playing time together (~50 min)</a:t>
            </a:r>
            <a:endParaRPr lang="en-US" sz="1200" dirty="0"/>
          </a:p>
        </p:txBody>
      </p:sp>
      <p:sp>
        <p:nvSpPr>
          <p:cNvPr id="12" name="Shape 10"/>
          <p:cNvSpPr/>
          <p:nvPr/>
        </p:nvSpPr>
        <p:spPr>
          <a:xfrm>
            <a:off x="548640" y="3886200"/>
            <a:ext cx="5362956" cy="1691640"/>
          </a:xfrm>
          <a:prstGeom prst="roundRect">
            <a:avLst>
              <a:gd name="adj" fmla="val 3243"/>
            </a:avLst>
          </a:prstGeom>
          <a:solidFill>
            <a:srgbClr val="EDF1F7"/>
          </a:solidFill>
          <a:ln/>
        </p:spPr>
      </p:sp>
      <p:sp>
        <p:nvSpPr>
          <p:cNvPr id="13" name="Text 11"/>
          <p:cNvSpPr txBox="1"/>
          <p:nvPr/>
        </p:nvSpPr>
        <p:spPr>
          <a:xfrm>
            <a:off x="777240"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III</a:t>
            </a:r>
            <a:endParaRPr lang="en-US" sz="1600" dirty="0"/>
          </a:p>
        </p:txBody>
      </p:sp>
      <p:sp>
        <p:nvSpPr>
          <p:cNvPr id="14" name="Text 12"/>
          <p:cNvSpPr txBox="1"/>
          <p:nvPr/>
        </p:nvSpPr>
        <p:spPr>
          <a:xfrm>
            <a:off x="1188720"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3</a:t>
            </a:r>
            <a:endParaRPr lang="en-US" sz="1600" dirty="0"/>
          </a:p>
        </p:txBody>
      </p:sp>
      <p:sp>
        <p:nvSpPr>
          <p:cNvPr id="15" name="Text 13"/>
          <p:cNvSpPr txBox="1"/>
          <p:nvPr/>
        </p:nvSpPr>
        <p:spPr>
          <a:xfrm>
            <a:off x="777240"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Variability, weighted consistency, and team-level profiles (~50 min)</a:t>
            </a:r>
            <a:endParaRPr lang="en-US" sz="1200" dirty="0"/>
          </a:p>
        </p:txBody>
      </p:sp>
      <p:sp>
        <p:nvSpPr>
          <p:cNvPr id="16" name="Shape 14"/>
          <p:cNvSpPr/>
          <p:nvPr/>
        </p:nvSpPr>
        <p:spPr>
          <a:xfrm>
            <a:off x="6277356" y="3886200"/>
            <a:ext cx="5362956" cy="1691640"/>
          </a:xfrm>
          <a:prstGeom prst="roundRect">
            <a:avLst>
              <a:gd name="adj" fmla="val 3243"/>
            </a:avLst>
          </a:prstGeom>
          <a:solidFill>
            <a:srgbClr val="EDF1F7"/>
          </a:solidFill>
          <a:ln/>
        </p:spPr>
      </p:sp>
      <p:sp>
        <p:nvSpPr>
          <p:cNvPr id="17" name="Text 15"/>
          <p:cNvSpPr txBox="1"/>
          <p:nvPr/>
        </p:nvSpPr>
        <p:spPr>
          <a:xfrm>
            <a:off x="6505956"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IV</a:t>
            </a:r>
            <a:endParaRPr lang="en-US" sz="1600" dirty="0"/>
          </a:p>
        </p:txBody>
      </p:sp>
      <p:sp>
        <p:nvSpPr>
          <p:cNvPr id="18" name="Text 16"/>
          <p:cNvSpPr txBox="1"/>
          <p:nvPr/>
        </p:nvSpPr>
        <p:spPr>
          <a:xfrm>
            <a:off x="6917436"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Before Next Class</a:t>
            </a:r>
            <a:endParaRPr lang="en-US" sz="1600" dirty="0"/>
          </a:p>
        </p:txBody>
      </p:sp>
      <p:sp>
        <p:nvSpPr>
          <p:cNvPr id="19" name="Text 17"/>
          <p:cNvSpPr txBox="1"/>
          <p:nvPr/>
        </p:nvSpPr>
        <p:spPr>
          <a:xfrm>
            <a:off x="6505956"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Lab 3, the Module 3 quiz, and the practice questions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By the End of Today, You Will Be Able To</a:t>
            </a:r>
            <a:endParaRPr lang="en-US" sz="3000" dirty="0"/>
          </a:p>
        </p:txBody>
      </p:sp>
      <p:sp>
        <p:nvSpPr>
          <p:cNvPr id="4" name="Shape 2"/>
          <p:cNvSpPr/>
          <p:nvPr/>
        </p:nvSpPr>
        <p:spPr>
          <a:xfrm>
            <a:off x="548640" y="1965960"/>
            <a:ext cx="411480" cy="411480"/>
          </a:xfrm>
          <a:prstGeom prst="ellipse">
            <a:avLst/>
          </a:prstGeom>
          <a:solidFill>
            <a:srgbClr val="27496D"/>
          </a:solidFill>
          <a:ln/>
        </p:spPr>
      </p:sp>
      <p:sp>
        <p:nvSpPr>
          <p:cNvPr id="5" name="Text 3"/>
          <p:cNvSpPr txBox="1"/>
          <p:nvPr/>
        </p:nvSpPr>
        <p:spPr>
          <a:xfrm>
            <a:off x="548640" y="19659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92024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Write the z-score formula from memory and explain what standardizing a variable actually does to it.</a:t>
            </a:r>
            <a:endParaRPr lang="en-US" sz="1600" dirty="0"/>
          </a:p>
        </p:txBody>
      </p:sp>
      <p:sp>
        <p:nvSpPr>
          <p:cNvPr id="7" name="Shape 5"/>
          <p:cNvSpPr/>
          <p:nvPr/>
        </p:nvSpPr>
        <p:spPr>
          <a:xfrm>
            <a:off x="548640" y="2761488"/>
            <a:ext cx="411480" cy="411480"/>
          </a:xfrm>
          <a:prstGeom prst="ellipse">
            <a:avLst/>
          </a:prstGeom>
          <a:solidFill>
            <a:srgbClr val="E4572E"/>
          </a:solidFill>
          <a:ln/>
        </p:spPr>
      </p:sp>
      <p:sp>
        <p:nvSpPr>
          <p:cNvPr id="8" name="Text 6"/>
          <p:cNvSpPr txBox="1"/>
          <p:nvPr/>
        </p:nvSpPr>
        <p:spPr>
          <a:xfrm>
            <a:off x="548640" y="276148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715768"/>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Build a standardized, multi-variable player profile from real per-minute data and read a radialprofile() chart correctly.</a:t>
            </a:r>
            <a:endParaRPr lang="en-US" sz="1600" dirty="0"/>
          </a:p>
        </p:txBody>
      </p:sp>
      <p:sp>
        <p:nvSpPr>
          <p:cNvPr id="10" name="Shape 8"/>
          <p:cNvSpPr/>
          <p:nvPr/>
        </p:nvSpPr>
        <p:spPr>
          <a:xfrm>
            <a:off x="548640" y="3557016"/>
            <a:ext cx="411480" cy="411480"/>
          </a:xfrm>
          <a:prstGeom prst="ellipse">
            <a:avLst/>
          </a:prstGeom>
          <a:solidFill>
            <a:srgbClr val="27496D"/>
          </a:solidFill>
          <a:ln/>
        </p:spPr>
      </p:sp>
      <p:sp>
        <p:nvSpPr>
          <p:cNvPr id="11" name="Text 9"/>
          <p:cNvSpPr txBox="1"/>
          <p:nvPr/>
        </p:nvSpPr>
        <p:spPr>
          <a:xfrm>
            <a:off x="548640" y="3557016"/>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511296"/>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at least one documented criticism of radar charts, and how checking raw z-scores protects against it.</a:t>
            </a:r>
            <a:endParaRPr lang="en-US" sz="1600" dirty="0"/>
          </a:p>
        </p:txBody>
      </p:sp>
      <p:sp>
        <p:nvSpPr>
          <p:cNvPr id="13" name="Shape 11"/>
          <p:cNvSpPr/>
          <p:nvPr/>
        </p:nvSpPr>
        <p:spPr>
          <a:xfrm>
            <a:off x="548640" y="4352544"/>
            <a:ext cx="411480" cy="411480"/>
          </a:xfrm>
          <a:prstGeom prst="ellipse">
            <a:avLst/>
          </a:prstGeom>
          <a:solidFill>
            <a:srgbClr val="E4572E"/>
          </a:solidFill>
          <a:ln/>
        </p:spPr>
      </p:sp>
      <p:sp>
        <p:nvSpPr>
          <p:cNvPr id="14" name="Text 12"/>
          <p:cNvSpPr txBox="1"/>
          <p:nvPr/>
        </p:nvSpPr>
        <p:spPr>
          <a:xfrm>
            <a:off x="548640" y="4352544"/>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306824"/>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Build a bar-line chart comparing a categorical breakdown against a continuous variable using real team data.</a:t>
            </a:r>
            <a:endParaRPr lang="en-US" sz="1600" dirty="0"/>
          </a:p>
        </p:txBody>
      </p:sp>
      <p:sp>
        <p:nvSpPr>
          <p:cNvPr id="16" name="Shape 14"/>
          <p:cNvSpPr/>
          <p:nvPr/>
        </p:nvSpPr>
        <p:spPr>
          <a:xfrm>
            <a:off x="548640" y="5148072"/>
            <a:ext cx="411480" cy="411480"/>
          </a:xfrm>
          <a:prstGeom prst="ellipse">
            <a:avLst/>
          </a:prstGeom>
          <a:solidFill>
            <a:srgbClr val="27496D"/>
          </a:solidFill>
          <a:ln/>
        </p:spPr>
      </p:sp>
      <p:sp>
        <p:nvSpPr>
          <p:cNvPr id="17" name="Text 15"/>
          <p:cNvSpPr txBox="1"/>
          <p:nvPr/>
        </p:nvSpPr>
        <p:spPr>
          <a:xfrm>
            <a:off x="548640" y="5148072"/>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43000" y="5102352"/>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Compute and interpret a weighted coefficient of variation, and explain why weighting by volume matters.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One Number at a Time Stops Working</a:t>
            </a:r>
            <a:endParaRPr lang="en-US" sz="2800" dirty="0"/>
          </a:p>
        </p:txBody>
      </p:sp>
      <p:sp>
        <p:nvSpPr>
          <p:cNvPr id="4" name="Shape 2"/>
          <p:cNvSpPr/>
          <p:nvPr/>
        </p:nvSpPr>
        <p:spPr>
          <a:xfrm>
            <a:off x="548640" y="2103120"/>
            <a:ext cx="11091672" cy="1463040"/>
          </a:xfrm>
          <a:prstGeom prst="roundRect">
            <a:avLst>
              <a:gd name="adj" fmla="val 3750"/>
            </a:avLst>
          </a:prstGeom>
          <a:solidFill>
            <a:srgbClr val="EDF1F7"/>
          </a:solidFill>
          <a:ln/>
        </p:spPr>
      </p:sp>
      <p:sp>
        <p:nvSpPr>
          <p:cNvPr id="5" name="Text 3"/>
          <p:cNvSpPr txBox="1"/>
          <p:nvPr/>
        </p:nvSpPr>
        <p:spPr>
          <a:xfrm>
            <a:off x="914400" y="2377440"/>
            <a:ext cx="10360152" cy="914400"/>
          </a:xfrm>
          <a:prstGeom prst="rect">
            <a:avLst/>
          </a:prstGeom>
          <a:noFill/>
          <a:ln/>
        </p:spPr>
        <p:txBody>
          <a:bodyPr wrap="square" lIns="0" tIns="0" rIns="0" bIns="0" rtlCol="0" anchor="ctr"/>
          <a:lstStyle/>
          <a:p>
            <a:pPr indent="0" marL="0">
              <a:lnSpc>
                <a:spcPct val="125000"/>
              </a:lnSpc>
              <a:buNone/>
            </a:pPr>
            <a:r>
              <a:rPr lang="en-US" sz="1700" dirty="0">
                <a:solidFill>
                  <a:srgbClr val="16213E"/>
                </a:solidFill>
                <a:latin typeface="Calibri" pitchFamily="34" charset="0"/>
                <a:ea typeface="Calibri" pitchFamily="34" charset="-122"/>
                <a:cs typeface="Calibri" pitchFamily="34" charset="-120"/>
              </a:rPr>
              <a:t>A player's assist rate on its own tells you almost nothing about whether they are a distributor, a scorer, or a rebounder. The moment you want several stats side by side, on scales that have nothing to do with each other, a table of raw numbers stops being readable.</a:t>
            </a:r>
            <a:endParaRPr lang="en-US" sz="1700" dirty="0"/>
          </a:p>
        </p:txBody>
      </p:sp>
      <p:sp>
        <p:nvSpPr>
          <p:cNvPr id="6" name="Text 4"/>
          <p:cNvSpPr txBox="1"/>
          <p:nvPr/>
        </p:nvSpPr>
        <p:spPr>
          <a:xfrm>
            <a:off x="548640" y="3931920"/>
            <a:ext cx="11091672" cy="914400"/>
          </a:xfrm>
          <a:prstGeom prst="rect">
            <a:avLst/>
          </a:prstGeom>
          <a:noFill/>
          <a:ln/>
        </p:spPr>
        <p:txBody>
          <a:bodyPr wrap="square" lIns="0" tIns="0" rIns="0" bIns="0" rtlCol="0" anchor="t"/>
          <a:lstStyle/>
          <a:p>
            <a:pPr indent="0" marL="0">
              <a:lnSpc>
                <a:spcPct val="125000"/>
              </a:lnSpc>
              <a:buNone/>
            </a:pPr>
            <a:r>
              <a:rPr lang="en-US" sz="2000" b="1" dirty="0">
                <a:solidFill>
                  <a:srgbClr val="E4572E"/>
                </a:solidFill>
                <a:latin typeface="Calibri" pitchFamily="34" charset="0"/>
                <a:ea typeface="Calibri" pitchFamily="34" charset="-122"/>
                <a:cs typeface="Calibri" pitchFamily="34" charset="-120"/>
              </a:rPr>
              <a:t>Visualizing a profile means putting several variables on one shared, comparable scale.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Putting Every Variable on the Same Scale</a:t>
            </a:r>
            <a:endParaRPr lang="en-US" sz="2800" dirty="0"/>
          </a:p>
        </p:txBody>
      </p:sp>
      <p:sp>
        <p:nvSpPr>
          <p:cNvPr id="4" name="Shape 2"/>
          <p:cNvSpPr/>
          <p:nvPr/>
        </p:nvSpPr>
        <p:spPr>
          <a:xfrm>
            <a:off x="548640" y="2103120"/>
            <a:ext cx="11091672" cy="1554480"/>
          </a:xfrm>
          <a:prstGeom prst="roundRect">
            <a:avLst>
              <a:gd name="adj" fmla="val 3529"/>
            </a:avLst>
          </a:prstGeom>
          <a:solidFill>
            <a:srgbClr val="27496D"/>
          </a:solidFill>
          <a:ln/>
        </p:spPr>
      </p:sp>
      <p:sp>
        <p:nvSpPr>
          <p:cNvPr id="5" name="Text 3"/>
          <p:cNvSpPr txBox="1"/>
          <p:nvPr/>
        </p:nvSpPr>
        <p:spPr>
          <a:xfrm>
            <a:off x="914400" y="2331720"/>
            <a:ext cx="10360152" cy="1097280"/>
          </a:xfrm>
          <a:prstGeom prst="rect">
            <a:avLst/>
          </a:prstGeom>
          <a:noFill/>
          <a:ln/>
        </p:spPr>
        <p:txBody>
          <a:bodyPr wrap="square" lIns="0" tIns="0" rIns="0" bIns="0" rtlCol="0" anchor="ctr"/>
          <a:lstStyle/>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Two-point makes per 36 minutes and turnovers per 36 minutes are not measured the same way, so you cannot just compare the raw numbers side by side. Standardization rescales every variable into the same units: how many standard deviations above or below its own average a value is.</a:t>
            </a:r>
            <a:endParaRPr lang="en-US" sz="1600" dirty="0"/>
          </a:p>
        </p:txBody>
      </p:sp>
      <p:sp>
        <p:nvSpPr>
          <p:cNvPr id="6" name="Text 4"/>
          <p:cNvSpPr txBox="1"/>
          <p:nvPr/>
        </p:nvSpPr>
        <p:spPr>
          <a:xfrm>
            <a:off x="548640" y="3931920"/>
            <a:ext cx="11091672" cy="914400"/>
          </a:xfrm>
          <a:prstGeom prst="rect">
            <a:avLst/>
          </a:prstGeom>
          <a:noFill/>
          <a:ln/>
        </p:spPr>
        <p:txBody>
          <a:bodyPr wrap="square" lIns="0" tIns="0" rIns="0" bIns="0" rtlCol="0" anchor="t"/>
          <a:lstStyle/>
          <a:p>
            <a:pPr indent="0" marL="0">
              <a:lnSpc>
                <a:spcPct val="125000"/>
              </a:lnSpc>
              <a:buNone/>
            </a:pPr>
            <a:r>
              <a:rPr lang="en-US" sz="1400" i="1" dirty="0">
                <a:solidFill>
                  <a:srgbClr val="27496D"/>
                </a:solidFill>
                <a:latin typeface="Calibri" pitchFamily="34" charset="0"/>
                <a:ea typeface="Calibri" pitchFamily="34" charset="-122"/>
                <a:cs typeface="Calibri" pitchFamily="34" charset="-120"/>
              </a:rPr>
              <a:t>This is exactly what BasketballAnalyzeR's radialprofile() function does internally, by default (std = TRUE).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THE FORMULA</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Z-Score</a:t>
            </a:r>
            <a:endParaRPr lang="en-US" sz="2800" dirty="0"/>
          </a:p>
        </p:txBody>
      </p:sp>
      <p:sp>
        <p:nvSpPr>
          <p:cNvPr id="4" name="Shape 2"/>
          <p:cNvSpPr/>
          <p:nvPr/>
        </p:nvSpPr>
        <p:spPr>
          <a:xfrm>
            <a:off x="548640" y="2011680"/>
            <a:ext cx="11091672" cy="1920240"/>
          </a:xfrm>
          <a:prstGeom prst="roundRect">
            <a:avLst>
              <a:gd name="adj" fmla="val 2857"/>
            </a:avLst>
          </a:prstGeom>
          <a:solidFill>
            <a:srgbClr val="0B1D33"/>
          </a:solidFill>
          <a:ln/>
        </p:spPr>
      </p:sp>
      <p:sp>
        <p:nvSpPr>
          <p:cNvPr id="5" name="Text 3"/>
          <p:cNvSpPr txBox="1"/>
          <p:nvPr/>
        </p:nvSpPr>
        <p:spPr>
          <a:xfrm>
            <a:off x="548640" y="2011680"/>
            <a:ext cx="11091672" cy="19202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Math" pitchFamily="34" charset="0"/>
                <a:ea typeface="Cambria Math" pitchFamily="34" charset="-122"/>
                <a:cs typeface="Cambria Math" pitchFamily="34" charset="-120"/>
              </a:rPr>
              <a:t>z = (x − x̄) / s</a:t>
            </a:r>
            <a:endParaRPr lang="en-US" sz="4000" dirty="0"/>
          </a:p>
        </p:txBody>
      </p:sp>
      <p:sp>
        <p:nvSpPr>
          <p:cNvPr id="6" name="Text 4"/>
          <p:cNvSpPr txBox="1"/>
          <p:nvPr/>
        </p:nvSpPr>
        <p:spPr>
          <a:xfrm>
            <a:off x="548640" y="4160520"/>
            <a:ext cx="11091672" cy="1737360"/>
          </a:xfrm>
          <a:prstGeom prst="rect">
            <a:avLst/>
          </a:prstGeom>
          <a:noFill/>
          <a:ln/>
        </p:spPr>
        <p:txBody>
          <a:bodyPr wrap="square" lIns="0" tIns="0" rIns="0" bIns="0" rtlCol="0" anchor="t"/>
          <a:lstStyle/>
          <a:p>
            <a:pPr indent="0" marL="0">
              <a:lnSpc>
                <a:spcPct val="135000"/>
              </a:lnSpc>
              <a:buNone/>
            </a:pPr>
            <a:r>
              <a:rPr lang="en-US" sz="1600" dirty="0">
                <a:solidFill>
                  <a:srgbClr val="16213E"/>
                </a:solidFill>
                <a:latin typeface="Calibri" pitchFamily="34" charset="0"/>
                <a:ea typeface="Calibri" pitchFamily="34" charset="-122"/>
                <a:cs typeface="Calibri" pitchFamily="34" charset="-120"/>
              </a:rPr>
              <a:t>x is one player's raw value (for example, three-point makes per 36 minutes). x̄ is the average of that variable across the comparison group. s is the standard deviation of that variable across the group. The result, z, says how many standard deviations above or below average that one player is on that one variable -- and because every variable is now measured in the same units (standard deviations), you can plot several of them on one chart.</a:t>
            </a:r>
            <a:endParaRPr lang="en-US" sz="1600" dirty="0"/>
          </a:p>
        </p:txBody>
      </p:sp>
      <p:sp>
        <p:nvSpPr>
          <p:cNvPr id="7" name="Text 5"/>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This is what R's scale() function computes for every column of a data frame, and what radialprofile() applies before it draws a radar chart.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Five Real Players, Five Per-Minute Rates</a:t>
            </a:r>
            <a:endParaRPr lang="en-US" sz="27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194560"/>
            <a:ext cx="10360152" cy="2468880"/>
          </a:xfrm>
          <a:prstGeom prst="rect">
            <a:avLst/>
          </a:prstGeom>
          <a:noFill/>
          <a:ln/>
        </p:spPr>
        <p:txBody>
          <a:bodyPr wrap="square" lIns="0" tIns="0" rIns="0" bIns="0" rtlCol="0" anchor="ctr"/>
          <a:lstStyle/>
          <a:p>
            <a:pPr indent="0" marL="0">
              <a:buNone/>
            </a:pPr>
            <a:r>
              <a:rPr lang="en-US" sz="1400" dirty="0">
                <a:solidFill>
                  <a:srgbClr val="D9E2F3"/>
                </a:solidFill>
                <a:latin typeface="Courier New" pitchFamily="34" charset="0"/>
                <a:ea typeface="Courier New" pitchFamily="34" charset="-122"/>
                <a:cs typeface="Courier New" pitchFamily="34" charset="-120"/>
              </a:rPr>
              <a:t>library(BasketballAnalyzeR)</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data(Pbox)</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stars &lt;- c("Russell Westbrook","James Harden","LeBron James",</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"Giannis Antetokounmpo","Stephen Curry")</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P5 &lt;- Pbox[Pbox$Player %in% stars, ]</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X &lt;- data.frame(P5$P2M, P5$P3M, P5$OREB+P5$DREB, P5$AST, P5$TOV) / P5$MIN</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names(X) &lt;- c("P2M","P3M","REB","AST","TO")</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round(X * 36, 2)</a:t>
            </a:r>
            <a:endParaRPr lang="en-US" sz="14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Five real, high-usage 2017-18 players, chosen for very different offensive roles. Multiplying by 36 puts every rate on the familiar "per 36 minutes" scale.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Per-36-Minute Rates, 2017-18</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2377440"/>
        </p:xfrm>
        <a:graphic>
          <a:graphicData uri="http://schemas.openxmlformats.org/drawingml/2006/table">
            <a:tbl>
              <a:tblPr/>
              <a:tblGrid>
                <a:gridCol w="3776472"/>
                <a:gridCol w="1463040"/>
                <a:gridCol w="1463040"/>
                <a:gridCol w="1463040"/>
                <a:gridCol w="1463040"/>
                <a:gridCol w="1463040"/>
              </a:tblGrid>
              <a:tr h="39624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Player</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P2M</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P3M</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REB</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AST</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TO</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396240">
                <a:tc>
                  <a:txBody>
                    <a:bodyPr/>
                    <a:lstStyle/>
                    <a:p>
                      <a:pPr algn="l" indent="0" marL="0">
                        <a:buNone/>
                      </a:pPr>
                      <a:r>
                        <a:rPr lang="en-US" sz="1300" dirty="0">
                          <a:solidFill>
                            <a:srgbClr val="16213E"/>
                          </a:solidFill>
                          <a:latin typeface="Calibri" pitchFamily="34" charset="0"/>
                          <a:ea typeface="Calibri" pitchFamily="34" charset="-122"/>
                          <a:cs typeface="Calibri" pitchFamily="34" charset="-120"/>
                        </a:rPr>
                        <a:t>LeBron James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8.42</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1.77</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8.43</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8.89</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4.13</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96240">
                <a:tc>
                  <a:txBody>
                    <a:bodyPr/>
                    <a:lstStyle/>
                    <a:p>
                      <a:pPr algn="l" indent="0" marL="0">
                        <a:buNone/>
                      </a:pPr>
                      <a:r>
                        <a:rPr lang="en-US" sz="1300" dirty="0">
                          <a:solidFill>
                            <a:srgbClr val="16213E"/>
                          </a:solidFill>
                          <a:latin typeface="Calibri" pitchFamily="34" charset="0"/>
                          <a:ea typeface="Calibri" pitchFamily="34" charset="-122"/>
                          <a:cs typeface="Calibri" pitchFamily="34" charset="-120"/>
                        </a:rPr>
                        <a:t>Stephen Curry</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4.77</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4.68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5.76</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6.84</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3.38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96240">
                <a:tc>
                  <a:txBody>
                    <a:bodyPr/>
                    <a:lstStyle/>
                    <a:p>
                      <a:pPr algn="l" indent="0" marL="0">
                        <a:buNone/>
                      </a:pPr>
                      <a:r>
                        <a:rPr lang="en-US" sz="1300" dirty="0">
                          <a:solidFill>
                            <a:srgbClr val="16213E"/>
                          </a:solidFill>
                          <a:latin typeface="Calibri" pitchFamily="34" charset="0"/>
                          <a:ea typeface="Calibri" pitchFamily="34" charset="-122"/>
                          <a:cs typeface="Calibri" pitchFamily="34" charset="-120"/>
                        </a:rPr>
                        <a:t>James Harden</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5.45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3.74</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5.49</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8.89</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4.45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96240">
                <a:tc>
                  <a:txBody>
                    <a:bodyPr/>
                    <a:lstStyle/>
                    <a:p>
                      <a:pPr algn="l" indent="0" marL="0">
                        <a:buNone/>
                      </a:pPr>
                      <a:r>
                        <a:rPr lang="en-US" sz="1300" dirty="0">
                          <a:solidFill>
                            <a:srgbClr val="16213E"/>
                          </a:solidFill>
                          <a:latin typeface="Calibri" pitchFamily="34" charset="0"/>
                          <a:ea typeface="Calibri" pitchFamily="34" charset="-122"/>
                          <a:cs typeface="Calibri" pitchFamily="34" charset="-120"/>
                        </a:rPr>
                        <a:t>Giannis Antetokounmpo</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9.13</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0.56</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9.84</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4.72</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2.91</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96240">
                <a:tc>
                  <a:txBody>
                    <a:bodyPr/>
                    <a:lstStyle/>
                    <a:p>
                      <a:pPr algn="l" indent="0" marL="0">
                        <a:buNone/>
                      </a:pPr>
                      <a:r>
                        <a:rPr lang="en-US" sz="1300" dirty="0">
                          <a:solidFill>
                            <a:srgbClr val="16213E"/>
                          </a:solidFill>
                          <a:latin typeface="Calibri" pitchFamily="34" charset="0"/>
                          <a:ea typeface="Calibri" pitchFamily="34" charset="-122"/>
                          <a:cs typeface="Calibri" pitchFamily="34" charset="-120"/>
                        </a:rPr>
                        <a:t>Russell Westbrook</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8.15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1.20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9.93</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10.13</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4.71</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4709160"/>
            <a:ext cx="11091672" cy="914400"/>
          </a:xfrm>
          <a:prstGeom prst="rect">
            <a:avLst/>
          </a:prstGeom>
          <a:noFill/>
          <a:ln/>
        </p:spPr>
        <p:txBody>
          <a:bodyPr wrap="square" lIns="0" tIns="0" rIns="0" bIns="0" rtlCol="0" anchor="t"/>
          <a:lstStyle/>
          <a:p>
            <a:pPr indent="0" marL="0">
              <a:lnSpc>
                <a:spcPct val="125000"/>
              </a:lnSpc>
              <a:buNone/>
            </a:pPr>
            <a:r>
              <a:rPr lang="en-US" sz="1400" dirty="0">
                <a:solidFill>
                  <a:srgbClr val="27496D"/>
                </a:solidFill>
                <a:latin typeface="Calibri" pitchFamily="34" charset="0"/>
                <a:ea typeface="Calibri" pitchFamily="34" charset="-122"/>
                <a:cs typeface="Calibri" pitchFamily="34" charset="-120"/>
              </a:rPr>
              <a:t>Giannis leads in two-point makes and rebounds; Curry leads by far in three-point makes; Westbrook leads in assists and turnovers together.</a:t>
            </a:r>
            <a:endParaRPr lang="en-US" sz="1400" dirty="0"/>
          </a:p>
        </p:txBody>
      </p:sp>
      <p:sp>
        <p:nvSpPr>
          <p:cNvPr id="6"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Pbox, BasketballAnalyzeR (Zuccolotto &amp; Manisera, 2020).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Standardizing the Table</a:t>
            </a:r>
            <a:endParaRPr lang="en-US" sz="2800" dirty="0"/>
          </a:p>
        </p:txBody>
      </p:sp>
      <p:sp>
        <p:nvSpPr>
          <p:cNvPr id="4" name="Shape 2"/>
          <p:cNvSpPr/>
          <p:nvPr/>
        </p:nvSpPr>
        <p:spPr>
          <a:xfrm>
            <a:off x="548640" y="2011680"/>
            <a:ext cx="11091672" cy="2194560"/>
          </a:xfrm>
          <a:prstGeom prst="roundRect">
            <a:avLst>
              <a:gd name="adj" fmla="val 2500"/>
            </a:avLst>
          </a:prstGeom>
          <a:solidFill>
            <a:srgbClr val="0B1D33"/>
          </a:solidFill>
          <a:ln/>
        </p:spPr>
      </p:sp>
      <p:sp>
        <p:nvSpPr>
          <p:cNvPr id="5" name="Text 3"/>
          <p:cNvSpPr txBox="1"/>
          <p:nvPr/>
        </p:nvSpPr>
        <p:spPr>
          <a:xfrm>
            <a:off x="914400" y="2194560"/>
            <a:ext cx="10360152" cy="1828800"/>
          </a:xfrm>
          <a:prstGeom prst="rect">
            <a:avLst/>
          </a:prstGeom>
          <a:noFill/>
          <a:ln/>
        </p:spPr>
        <p:txBody>
          <a:bodyPr wrap="square" lIns="0" tIns="0" rIns="0" bIns="0" rtlCol="0" anchor="ctr"/>
          <a:lstStyle/>
          <a:p>
            <a:pPr indent="0" marL="0">
              <a:buNone/>
            </a:pPr>
            <a:r>
              <a:rPr lang="en-US" sz="1800" dirty="0">
                <a:solidFill>
                  <a:srgbClr val="D9E2F3"/>
                </a:solidFill>
                <a:latin typeface="Courier New" pitchFamily="34" charset="0"/>
                <a:ea typeface="Courier New" pitchFamily="34" charset="-122"/>
                <a:cs typeface="Courier New" pitchFamily="34" charset="-120"/>
              </a:rPr>
              <a:t>Z &lt;- as.data.frame(scale(X))</a:t>
            </a:r>
            <a:endParaRPr lang="en-US" sz="1800" dirty="0"/>
          </a:p>
          <a:p>
            <a:pPr indent="0" marL="0">
              <a:buNone/>
            </a:pPr>
            <a:r>
              <a:rPr lang="en-US" sz="1800" dirty="0">
                <a:solidFill>
                  <a:srgbClr val="D9E2F3"/>
                </a:solidFill>
                <a:latin typeface="Courier New" pitchFamily="34" charset="0"/>
                <a:ea typeface="Courier New" pitchFamily="34" charset="-122"/>
                <a:cs typeface="Courier New" pitchFamily="34" charset="-120"/>
              </a:rPr>
              <a:t>round(Z, 3)</a:t>
            </a:r>
            <a:endParaRPr lang="en-US" sz="1800" dirty="0"/>
          </a:p>
        </p:txBody>
      </p:sp>
      <p:sp>
        <p:nvSpPr>
          <p:cNvPr id="6" name="Text 4"/>
          <p:cNvSpPr txBox="1"/>
          <p:nvPr/>
        </p:nvSpPr>
        <p:spPr>
          <a:xfrm>
            <a:off x="548640" y="4480560"/>
            <a:ext cx="11091672" cy="914400"/>
          </a:xfrm>
          <a:prstGeom prst="rect">
            <a:avLst/>
          </a:prstGeom>
          <a:noFill/>
          <a:ln/>
        </p:spPr>
        <p:txBody>
          <a:bodyPr wrap="square" lIns="0" tIns="0" rIns="0" bIns="0" rtlCol="0" anchor="t"/>
          <a:lstStyle/>
          <a:p>
            <a:pPr indent="0" marL="0">
              <a:lnSpc>
                <a:spcPct val="125000"/>
              </a:lnSpc>
              <a:buNone/>
            </a:pPr>
            <a:r>
              <a:rPr lang="en-US" sz="1400" i="1" dirty="0">
                <a:solidFill>
                  <a:srgbClr val="27496D"/>
                </a:solidFill>
                <a:latin typeface="Calibri" pitchFamily="34" charset="0"/>
                <a:ea typeface="Calibri" pitchFamily="34" charset="-122"/>
                <a:cs typeface="Calibri" pitchFamily="34" charset="-120"/>
              </a:rPr>
              <a:t>scale() applies z = (x - mean(x)) / sd(x) to every column at once. Run this yourself and compare your table to the next slide.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4</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Standardized Profiles (Z-Scores)</a:t>
            </a:r>
            <a:endParaRPr lang="en-US" sz="2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2377440"/>
        </p:xfrm>
        <a:graphic>
          <a:graphicData uri="http://schemas.openxmlformats.org/drawingml/2006/table">
            <a:tbl>
              <a:tblPr/>
              <a:tblGrid>
                <a:gridCol w="3776472"/>
                <a:gridCol w="1463040"/>
                <a:gridCol w="1463040"/>
                <a:gridCol w="1463040"/>
                <a:gridCol w="1463040"/>
                <a:gridCol w="1463040"/>
              </a:tblGrid>
              <a:tr h="39624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Player</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P2M</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P3M</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REB</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AST</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TO</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396240">
                <a:tc>
                  <a:txBody>
                    <a:bodyPr/>
                    <a:lstStyle/>
                    <a:p>
                      <a:pPr algn="l" indent="0" marL="0">
                        <a:buNone/>
                      </a:pPr>
                      <a:r>
                        <a:rPr lang="en-US" sz="1300" dirty="0">
                          <a:solidFill>
                            <a:srgbClr val="16213E"/>
                          </a:solidFill>
                          <a:latin typeface="Calibri" pitchFamily="34" charset="0"/>
                          <a:ea typeface="Calibri" pitchFamily="34" charset="-122"/>
                          <a:cs typeface="Calibri" pitchFamily="34" charset="-120"/>
                        </a:rPr>
                        <a:t>LeBron James</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0.64</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-0.35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0.25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0.47</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0.29</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96240">
                <a:tc>
                  <a:txBody>
                    <a:bodyPr/>
                    <a:lstStyle/>
                    <a:p>
                      <a:pPr algn="l" indent="0" marL="0">
                        <a:buNone/>
                      </a:pPr>
                      <a:r>
                        <a:rPr lang="en-US" sz="1300" dirty="0">
                          <a:solidFill>
                            <a:srgbClr val="16213E"/>
                          </a:solidFill>
                          <a:latin typeface="Calibri" pitchFamily="34" charset="0"/>
                          <a:ea typeface="Calibri" pitchFamily="34" charset="-122"/>
                          <a:cs typeface="Calibri" pitchFamily="34" charset="-120"/>
                        </a:rPr>
                        <a:t>Stephen Curry</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-1.24</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1.31</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-0.99</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-0.49</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-0.72</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96240">
                <a:tc>
                  <a:txBody>
                    <a:bodyPr/>
                    <a:lstStyle/>
                    <a:p>
                      <a:pPr algn="l" indent="0" marL="0">
                        <a:buNone/>
                      </a:pPr>
                      <a:r>
                        <a:rPr lang="en-US" sz="1300" dirty="0">
                          <a:solidFill>
                            <a:srgbClr val="16213E"/>
                          </a:solidFill>
                          <a:latin typeface="Calibri" pitchFamily="34" charset="0"/>
                          <a:ea typeface="Calibri" pitchFamily="34" charset="-122"/>
                          <a:cs typeface="Calibri" pitchFamily="34" charset="-120"/>
                        </a:rPr>
                        <a:t>James Harden</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-0.89</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0.77</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-1.11</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0.47</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0.71</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96240">
                <a:tc>
                  <a:txBody>
                    <a:bodyPr/>
                    <a:lstStyle/>
                    <a:p>
                      <a:pPr algn="l" indent="0" marL="0">
                        <a:buNone/>
                      </a:pPr>
                      <a:r>
                        <a:rPr lang="en-US" sz="1300" dirty="0">
                          <a:solidFill>
                            <a:srgbClr val="16213E"/>
                          </a:solidFill>
                          <a:latin typeface="Calibri" pitchFamily="34" charset="0"/>
                          <a:ea typeface="Calibri" pitchFamily="34" charset="-122"/>
                          <a:cs typeface="Calibri" pitchFamily="34" charset="-120"/>
                        </a:rPr>
                        <a:t>Giannis Antetokounmpo</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-1.05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-1.49</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-1.34</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96240">
                <a:tc>
                  <a:txBody>
                    <a:bodyPr/>
                    <a:lstStyle/>
                    <a:p>
                      <a:pPr algn="l" indent="0" marL="0">
                        <a:buNone/>
                      </a:pPr>
                      <a:r>
                        <a:rPr lang="en-US" sz="1300" dirty="0">
                          <a:solidFill>
                            <a:srgbClr val="16213E"/>
                          </a:solidFill>
                          <a:latin typeface="Calibri" pitchFamily="34" charset="0"/>
                          <a:ea typeface="Calibri" pitchFamily="34" charset="-122"/>
                          <a:cs typeface="Calibri" pitchFamily="34" charset="-120"/>
                        </a:rPr>
                        <a:t>Russell Westbrook</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-0.68</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0.95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1.05</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300" dirty="0">
                          <a:solidFill>
                            <a:srgbClr val="16213E"/>
                          </a:solidFill>
                          <a:latin typeface="Calibri" pitchFamily="34" charset="0"/>
                          <a:ea typeface="Calibri" pitchFamily="34" charset="-122"/>
                          <a:cs typeface="Calibri" pitchFamily="34" charset="-120"/>
                        </a:rPr>
                        <a:t>1.06</a:t>
                      </a:r>
                      <a:endParaRPr lang="en-US" sz="13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4709160"/>
            <a:ext cx="11091672" cy="914400"/>
          </a:xfrm>
          <a:prstGeom prst="rect">
            <a:avLst/>
          </a:prstGeom>
          <a:noFill/>
          <a:ln/>
        </p:spPr>
        <p:txBody>
          <a:bodyPr wrap="square" lIns="0" tIns="0" rIns="0" bIns="0" rtlCol="0" anchor="t"/>
          <a:lstStyle/>
          <a:p>
            <a:pPr indent="0" marL="0">
              <a:lnSpc>
                <a:spcPct val="125000"/>
              </a:lnSpc>
              <a:buNone/>
            </a:pPr>
            <a:r>
              <a:rPr lang="en-US" sz="1400" dirty="0">
                <a:solidFill>
                  <a:srgbClr val="27496D"/>
                </a:solidFill>
                <a:latin typeface="Calibri" pitchFamily="34" charset="0"/>
                <a:ea typeface="Calibri" pitchFamily="34" charset="-122"/>
                <a:cs typeface="Calibri" pitchFamily="34" charset="-120"/>
              </a:rPr>
              <a:t>Curry's three-point rate is +1.31 standard deviations above this group's average; Giannis's is -1.05 below it. Every column now sits on the same scale.</a:t>
            </a:r>
            <a:endParaRPr lang="en-US" sz="1400" dirty="0"/>
          </a:p>
        </p:txBody>
      </p:sp>
      <p:sp>
        <p:nvSpPr>
          <p:cNvPr id="6"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Computed with scale() in R on the real Pbox data.</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5</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Five Player Profiles, One Chart Type</a:t>
            </a:r>
            <a:endParaRPr lang="en-US" sz="2800" dirty="0"/>
          </a:p>
        </p:txBody>
      </p:sp>
      <p:pic>
        <p:nvPicPr>
          <p:cNvPr id="4" name="Image 0" descr="module3_radial_profiles.png">    </p:cNvPr>
          <p:cNvPicPr>
            <a:picLocks noChangeAspect="1"/>
          </p:cNvPicPr>
          <p:nvPr/>
        </p:nvPicPr>
        <p:blipFill>
          <a:blip r:embed="rId1"/>
          <a:stretch>
            <a:fillRect/>
          </a:stretch>
        </p:blipFill>
        <p:spPr>
          <a:xfrm>
            <a:off x="822960" y="1691640"/>
            <a:ext cx="10424160" cy="443484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radialprofile(data = X, ncol.arrange = 3), BasketballAnalyzeR. Data: Pbox, 2017-18 NBA season.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READING THE CHART HONESTLY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Radar Charts Have Real Critics</a:t>
            </a:r>
            <a:endParaRPr lang="en-US" sz="2800" dirty="0"/>
          </a:p>
        </p:txBody>
      </p:sp>
      <p:sp>
        <p:nvSpPr>
          <p:cNvPr id="4" name="Shape 2"/>
          <p:cNvSpPr/>
          <p:nvPr/>
        </p:nvSpPr>
        <p:spPr>
          <a:xfrm>
            <a:off x="548640" y="2011680"/>
            <a:ext cx="54864" cy="2834640"/>
          </a:xfrm>
          <a:prstGeom prst="rect">
            <a:avLst/>
          </a:prstGeom>
          <a:solidFill>
            <a:srgbClr val="E4572E"/>
          </a:solidFill>
          <a:ln/>
        </p:spPr>
      </p:sp>
      <p:sp>
        <p:nvSpPr>
          <p:cNvPr id="5" name="Text 3"/>
          <p:cNvSpPr txBox="1"/>
          <p:nvPr/>
        </p:nvSpPr>
        <p:spPr>
          <a:xfrm>
            <a:off x="914400" y="2103120"/>
            <a:ext cx="10725912" cy="2743200"/>
          </a:xfrm>
          <a:prstGeom prst="rect">
            <a:avLst/>
          </a:prstGeom>
          <a:noFill/>
          <a:ln/>
        </p:spPr>
        <p:txBody>
          <a:bodyPr wrap="square" lIns="0" tIns="0" rIns="0" bIns="0" rtlCol="0" anchor="t"/>
          <a:lstStyle/>
          <a:p>
            <a:pPr indent="0" marL="0">
              <a:lnSpc>
                <a:spcPct val="135000"/>
              </a:lnSpc>
              <a:buNone/>
            </a:pPr>
            <a:r>
              <a:rPr lang="en-US" sz="1700" b="1" dirty="0">
                <a:solidFill>
                  <a:srgbClr val="E4572E"/>
                </a:solidFill>
                <a:latin typeface="Calibri" pitchFamily="34" charset="0"/>
                <a:ea typeface="Calibri" pitchFamily="34" charset="-122"/>
                <a:cs typeface="Calibri" pitchFamily="34" charset="-120"/>
              </a:rPr>
              <a:t>The criticism: </a:t>
            </a:r>
            <a:pPr indent="0" marL="0">
              <a:lnSpc>
                <a:spcPct val="135000"/>
              </a:lnSpc>
              <a:buNone/>
            </a:pPr>
            <a:r>
              <a:rPr lang="en-US" sz="1700" dirty="0">
                <a:solidFill>
                  <a:srgbClr val="FFFFFF"/>
                </a:solidFill>
                <a:latin typeface="Calibri" pitchFamily="34" charset="0"/>
                <a:ea typeface="Calibri" pitchFamily="34" charset="-122"/>
                <a:cs typeface="Calibri" pitchFamily="34" charset="-120"/>
              </a:rPr>
              <a:t>NBA analytics leaders including Daryl Morey and Luke Bornn have argued radar charts are misleading, because the area enclosed by the shape draws the eye even though area is not a meaningful quantity when the axes are unrelated variables on different scales.
</a:t>
            </a:r>
            <a:pPr indent="0" marL="0">
              <a:lnSpc>
                <a:spcPct val="135000"/>
              </a:lnSpc>
              <a:buNone/>
            </a:pPr>
            <a:r>
              <a:rPr lang="en-US" sz="1700" b="1" dirty="0">
                <a:solidFill>
                  <a:srgbClr val="E4572E"/>
                </a:solidFill>
                <a:latin typeface="Calibri" pitchFamily="34" charset="0"/>
                <a:ea typeface="Calibri" pitchFamily="34" charset="-122"/>
                <a:cs typeface="Calibri" pitchFamily="34" charset="-120"/>
              </a:rPr>
              <a:t>The habit to build: </a:t>
            </a:r>
            <a:pPr indent="0" marL="0">
              <a:lnSpc>
                <a:spcPct val="135000"/>
              </a:lnSpc>
              <a:buNone/>
            </a:pPr>
            <a:r>
              <a:rPr lang="en-US" sz="1700" dirty="0">
                <a:solidFill>
                  <a:srgbClr val="FFFFFF"/>
                </a:solidFill>
                <a:latin typeface="Calibri" pitchFamily="34" charset="0"/>
                <a:ea typeface="Calibri" pitchFamily="34" charset="-122"/>
                <a:cs typeface="Calibri" pitchFamily="34" charset="-120"/>
              </a:rPr>
              <a:t>before drawing a conclusion from a profile chart's shape, check the actual z-score behind whichever "spike" caught your eye.</a:t>
            </a:r>
            <a:endParaRPr lang="en-US" sz="17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Whitehead, T. (2017). Nylon Calculus: Bravely staring down the radar chart backlash. FanSided.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 (10 MIN)</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Describe a Player From the Shape Alone</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Look back at the five radial profiles.</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Pick one player's chart, without looking at the z-score table, and describe their role in one sentence.</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Now check your description against the real z-score table. Did the shape mislead you on anything?</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Standardizing and Profiles,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The z-score formula, standardized player profiles, and one documented criticism of radar charts -- plus the habit of checking real numbers behind a chart's shape.</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2 compares a categorical breakdown against a continuous variable in one bar-line chart, using the real Houston Rockets roster.</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bar-line plots.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Two Kinds of Information, One Chart</a:t>
            </a:r>
            <a:endParaRPr lang="en-US" sz="2800" dirty="0"/>
          </a:p>
        </p:txBody>
      </p:sp>
      <p:sp>
        <p:nvSpPr>
          <p:cNvPr id="4" name="Shape 2"/>
          <p:cNvSpPr/>
          <p:nvPr/>
        </p:nvSpPr>
        <p:spPr>
          <a:xfrm>
            <a:off x="548640" y="2103120"/>
            <a:ext cx="11091672" cy="1463040"/>
          </a:xfrm>
          <a:prstGeom prst="roundRect">
            <a:avLst>
              <a:gd name="adj" fmla="val 3750"/>
            </a:avLst>
          </a:prstGeom>
          <a:solidFill>
            <a:srgbClr val="EDF1F7"/>
          </a:solidFill>
          <a:ln/>
        </p:spPr>
      </p:sp>
      <p:sp>
        <p:nvSpPr>
          <p:cNvPr id="5" name="Text 3"/>
          <p:cNvSpPr txBox="1"/>
          <p:nvPr/>
        </p:nvSpPr>
        <p:spPr>
          <a:xfrm>
            <a:off x="914400" y="2377440"/>
            <a:ext cx="10360152" cy="9144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A shooting percentage on its own does not tell you whether a player earned it on heavy minutes or a handful of garbage-time shots. A bar-line chart stacks a categorical breakdown as bars and overlays a separate continuous variable as a line, so both are visible at once.</a:t>
            </a:r>
            <a:endParaRPr lang="en-US" sz="1600" dirty="0"/>
          </a:p>
        </p:txBody>
      </p:sp>
      <p:sp>
        <p:nvSpPr>
          <p:cNvPr id="6" name="Text 4"/>
          <p:cNvSpPr txBox="1"/>
          <p:nvPr/>
        </p:nvSpPr>
        <p:spPr>
          <a:xfrm>
            <a:off x="548640" y="3931920"/>
            <a:ext cx="11091672" cy="914400"/>
          </a:xfrm>
          <a:prstGeom prst="rect">
            <a:avLst/>
          </a:prstGeom>
          <a:noFill/>
          <a:ln/>
        </p:spPr>
        <p:txBody>
          <a:bodyPr wrap="square" lIns="0" tIns="0" rIns="0" bIns="0" rtlCol="0" anchor="t"/>
          <a:lstStyle/>
          <a:p>
            <a:pPr indent="0" marL="0">
              <a:lnSpc>
                <a:spcPct val="125000"/>
              </a:lnSpc>
              <a:buNone/>
            </a:pPr>
            <a:r>
              <a:rPr lang="en-US" sz="1400" i="1" dirty="0">
                <a:solidFill>
                  <a:srgbClr val="27496D"/>
                </a:solidFill>
                <a:latin typeface="Calibri" pitchFamily="34" charset="0"/>
                <a:ea typeface="Calibri" pitchFamily="34" charset="-122"/>
                <a:cs typeface="Calibri" pitchFamily="34" charset="-120"/>
              </a:rPr>
              <a:t>BasketballAnalyzeR's barline() function builds exactly this chart.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6</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Houston Rockets: Shooting and Minutes Together</a:t>
            </a:r>
            <a:endParaRPr lang="en-US" sz="26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40280"/>
            <a:ext cx="10360152" cy="2377440"/>
          </a:xfrm>
          <a:prstGeom prst="rect">
            <a:avLst/>
          </a:prstGeom>
          <a:noFill/>
          <a:ln/>
        </p:spPr>
        <p:txBody>
          <a:bodyPr wrap="square" lIns="0" tIns="0" rIns="0" bIns="0" rtlCol="0" anchor="ctr"/>
          <a:lstStyle/>
          <a:p>
            <a:pPr indent="0" marL="0">
              <a:buNone/>
            </a:pPr>
            <a:r>
              <a:rPr lang="en-US" sz="1500" dirty="0">
                <a:solidFill>
                  <a:srgbClr val="D9E2F3"/>
                </a:solidFill>
                <a:latin typeface="Courier New" pitchFamily="34" charset="0"/>
                <a:ea typeface="Courier New" pitchFamily="34" charset="-122"/>
                <a:cs typeface="Courier New" pitchFamily="34" charset="-120"/>
              </a:rPr>
              <a:t>dts &lt;- subset(Pbox, Team=="Houston Rockets" &amp; MIN&gt;=500)</a:t>
            </a:r>
            <a:endParaRPr lang="en-US" sz="1500" dirty="0"/>
          </a:p>
          <a:p>
            <a:pPr indent="0" marL="0">
              <a:buNone/>
            </a:pP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barline(data=dts, id="Player",</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bars=c("P2p","P3p","FTp"), line="MIN",</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order.by="MIN",</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labels.bars=c("2P%","3P%","FT%"),</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title="Houston Rockets, 2017-18")</a:t>
            </a:r>
            <a:endParaRPr lang="en-US" sz="15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The same 12 real Rockets players from Module 2's case study (500+ minutes played), this time compared by shooting mix instead of Four Factors.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7</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Reading the Bar-Line Chart</a:t>
            </a:r>
            <a:endParaRPr lang="en-US" sz="2800" dirty="0"/>
          </a:p>
        </p:txBody>
      </p:sp>
      <p:pic>
        <p:nvPicPr>
          <p:cNvPr id="4" name="Image 0" descr="module3_barline_rockets.png">    </p:cNvPr>
          <p:cNvPicPr>
            <a:picLocks noChangeAspect="1"/>
          </p:cNvPicPr>
          <p:nvPr/>
        </p:nvPicPr>
        <p:blipFill>
          <a:blip r:embed="rId1"/>
          <a:stretch>
            <a:fillRect/>
          </a:stretch>
        </p:blipFill>
        <p:spPr>
          <a:xfrm>
            <a:off x="685800" y="1691640"/>
            <a:ext cx="10789920" cy="448056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barline(), BasketballAnalyzeR. Data: Pbox, 2017-18 NBA season, Houston Rockets (MIN &gt;= 500).</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 (15 MIN · SMALL GROUPS)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Volume or Efficiency?</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In groups of 3-4, your instructor will assign your group two Rockets players from the chart.</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Does each player's shooting efficiency match what their minutes would predict?</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Name one player whose numbers surprised you, and propose one basketball reason why.</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Bar-Line Plots,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Built a bar-line chart comparing three real shooting percentages against playing time for the Houston Rockets, and read volume against efficiency together.</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3 asks a different question: not what a stat averages, but how consistent it is -- and scales the same profile thinking up to whole teams.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variability and team profiles.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An Average Hides How Spread Out It Is</a:t>
            </a:r>
            <a:endParaRPr lang="en-US" sz="2700" dirty="0"/>
          </a:p>
        </p:txBody>
      </p:sp>
      <p:sp>
        <p:nvSpPr>
          <p:cNvPr id="4" name="Shape 2"/>
          <p:cNvSpPr/>
          <p:nvPr/>
        </p:nvSpPr>
        <p:spPr>
          <a:xfrm>
            <a:off x="548640" y="2103120"/>
            <a:ext cx="11091672" cy="1463040"/>
          </a:xfrm>
          <a:prstGeom prst="roundRect">
            <a:avLst>
              <a:gd name="adj" fmla="val 3750"/>
            </a:avLst>
          </a:prstGeom>
          <a:solidFill>
            <a:srgbClr val="EDF1F7"/>
          </a:solidFill>
          <a:ln/>
        </p:spPr>
      </p:sp>
      <p:sp>
        <p:nvSpPr>
          <p:cNvPr id="5" name="Text 3"/>
          <p:cNvSpPr txBox="1"/>
          <p:nvPr/>
        </p:nvSpPr>
        <p:spPr>
          <a:xfrm>
            <a:off x="914400" y="2377440"/>
            <a:ext cx="10360152" cy="9144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A shooting percentage is itself an average across a season. Two players can have the same average percentage while one is far more erratic from game to game than the other. Measuring that spread is a different question than measuring the average.</a:t>
            </a:r>
            <a:endParaRPr lang="en-US" sz="1600" dirty="0"/>
          </a:p>
        </p:txBody>
      </p:sp>
      <p:sp>
        <p:nvSpPr>
          <p:cNvPr id="6" name="Text 4"/>
          <p:cNvSpPr txBox="1"/>
          <p:nvPr/>
        </p:nvSpPr>
        <p:spPr>
          <a:xfrm>
            <a:off x="548640" y="3931920"/>
            <a:ext cx="11091672" cy="914400"/>
          </a:xfrm>
          <a:prstGeom prst="rect">
            <a:avLst/>
          </a:prstGeom>
          <a:noFill/>
          <a:ln/>
        </p:spPr>
        <p:txBody>
          <a:bodyPr wrap="square" lIns="0" tIns="0" rIns="0" bIns="0" rtlCol="0" anchor="t"/>
          <a:lstStyle/>
          <a:p>
            <a:pPr indent="0" marL="0">
              <a:lnSpc>
                <a:spcPct val="125000"/>
              </a:lnSpc>
              <a:buNone/>
            </a:pPr>
            <a:r>
              <a:rPr lang="en-US" sz="1400" i="1" dirty="0">
                <a:solidFill>
                  <a:srgbClr val="27496D"/>
                </a:solidFill>
                <a:latin typeface="Calibri" pitchFamily="34" charset="0"/>
                <a:ea typeface="Calibri" pitchFamily="34" charset="-122"/>
                <a:cs typeface="Calibri" pitchFamily="34" charset="-120"/>
              </a:rPr>
              <a:t>The coefficient of variation (CV) measures relative spread: how large the standard deviation is compared to the mean.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THE FORMULA</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Coefficient of Variation</a:t>
            </a:r>
            <a:endParaRPr lang="en-US" sz="2800" dirty="0"/>
          </a:p>
        </p:txBody>
      </p:sp>
      <p:sp>
        <p:nvSpPr>
          <p:cNvPr id="4" name="Shape 2"/>
          <p:cNvSpPr/>
          <p:nvPr/>
        </p:nvSpPr>
        <p:spPr>
          <a:xfrm>
            <a:off x="548640" y="2011680"/>
            <a:ext cx="11091672" cy="1920240"/>
          </a:xfrm>
          <a:prstGeom prst="roundRect">
            <a:avLst>
              <a:gd name="adj" fmla="val 2857"/>
            </a:avLst>
          </a:prstGeom>
          <a:solidFill>
            <a:srgbClr val="0B1D33"/>
          </a:solidFill>
          <a:ln/>
        </p:spPr>
      </p:sp>
      <p:sp>
        <p:nvSpPr>
          <p:cNvPr id="5" name="Text 3"/>
          <p:cNvSpPr txBox="1"/>
          <p:nvPr/>
        </p:nvSpPr>
        <p:spPr>
          <a:xfrm>
            <a:off x="548640" y="2011680"/>
            <a:ext cx="11091672" cy="19202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Math" pitchFamily="34" charset="0"/>
                <a:ea typeface="Cambria Math" pitchFamily="34" charset="-122"/>
                <a:cs typeface="Cambria Math" pitchFamily="34" charset="-120"/>
              </a:rPr>
              <a:t>CV = s / x̄</a:t>
            </a:r>
            <a:endParaRPr lang="en-US" sz="4000" dirty="0"/>
          </a:p>
        </p:txBody>
      </p:sp>
      <p:sp>
        <p:nvSpPr>
          <p:cNvPr id="6" name="Text 4"/>
          <p:cNvSpPr txBox="1"/>
          <p:nvPr/>
        </p:nvSpPr>
        <p:spPr>
          <a:xfrm>
            <a:off x="548640" y="4160520"/>
            <a:ext cx="11091672" cy="1737360"/>
          </a:xfrm>
          <a:prstGeom prst="rect">
            <a:avLst/>
          </a:prstGeom>
          <a:noFill/>
          <a:ln/>
        </p:spPr>
        <p:txBody>
          <a:bodyPr wrap="square" lIns="0" tIns="0" rIns="0" bIns="0" rtlCol="0" anchor="t"/>
          <a:lstStyle/>
          <a:p>
            <a:pPr indent="0" marL="0">
              <a:lnSpc>
                <a:spcPct val="135000"/>
              </a:lnSpc>
              <a:buNone/>
            </a:pPr>
            <a:r>
              <a:rPr lang="en-US" sz="1600" dirty="0">
                <a:solidFill>
                  <a:srgbClr val="16213E"/>
                </a:solidFill>
                <a:latin typeface="Calibri" pitchFamily="34" charset="0"/>
                <a:ea typeface="Calibri" pitchFamily="34" charset="-122"/>
                <a:cs typeface="Calibri" pitchFamily="34" charset="-120"/>
              </a:rPr>
              <a:t>s is the standard deviation of a variable across a group of players; x̄ is that same variable's mean. Dividing the two produces a ratio, not a raw number, so it can be compared fairly across variables with very different averages -- a two-point percentage around 55% and a free-throw percentage around 75% are not directly comparable by standard deviation alone, but their CVs are. BasketballAnalyzeR's variability() function can also weight this by shot volume, so a low-attempt bench player's percentage does not distort the result as much as it would unweighted.</a:t>
            </a:r>
            <a:endParaRPr lang="en-US" sz="1600" dirty="0"/>
          </a:p>
        </p:txBody>
      </p:sp>
      <p:sp>
        <p:nvSpPr>
          <p:cNvPr id="7" name="Text 5"/>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Multiply by 100 to read CV as a percentage of the mean.</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8</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Weighted Variability in R</a:t>
            </a:r>
            <a:endParaRPr lang="en-US" sz="28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194560"/>
            <a:ext cx="10360152" cy="2468880"/>
          </a:xfrm>
          <a:prstGeom prst="rect">
            <a:avLst/>
          </a:prstGeom>
          <a:noFill/>
          <a:ln/>
        </p:spPr>
        <p:txBody>
          <a:bodyPr wrap="square" lIns="0" tIns="0" rIns="0" bIns="0" rtlCol="0" anchor="ctr"/>
          <a:lstStyle/>
          <a:p>
            <a:pPr indent="0" marL="0">
              <a:buNone/>
            </a:pPr>
            <a:r>
              <a:rPr lang="en-US" sz="1500" dirty="0">
                <a:solidFill>
                  <a:srgbClr val="D9E2F3"/>
                </a:solidFill>
                <a:latin typeface="Courier New" pitchFamily="34" charset="0"/>
                <a:ea typeface="Courier New" pitchFamily="34" charset="-122"/>
                <a:cs typeface="Courier New" pitchFamily="34" charset="-120"/>
              </a:rPr>
              <a:t>Pbox.HR &lt;- subset(Pbox, Team=="Houston Rockets" &amp; MIN&gt;=500,</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select=c("Player","P2p","P3p","FTp","P2A","P3A","FTA"))</a:t>
            </a:r>
            <a:endParaRPr lang="en-US" sz="1500" dirty="0"/>
          </a:p>
          <a:p>
            <a:pPr indent="0" marL="0">
              <a:buNone/>
            </a:pP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vc &lt;- variability(data=Pbox.HR,</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data.var=c("P2p","P3p","FTp"),</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size.var=c("P2A","P3A","FTA"), weight=TRUE)</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print(vc)</a:t>
            </a:r>
            <a:endParaRPr lang="en-US" sz="15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size.var weights the calculation by real shot attempts (P2A, P3A, FTA), so James Harden's 727 two-point attempts count for more than Tarik Black's 116.</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THE CORE IDEA OF THIS SEGMENT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500" b="1" dirty="0">
                <a:solidFill>
                  <a:srgbClr val="16213E"/>
                </a:solidFill>
                <a:latin typeface="Cambria" pitchFamily="34" charset="0"/>
                <a:ea typeface="Cambria" pitchFamily="34" charset="-122"/>
                <a:cs typeface="Cambria" pitchFamily="34" charset="-120"/>
              </a:rPr>
              <a:t>Free Throws Are the Least Consistent Shot Here</a:t>
            </a:r>
            <a:endParaRPr lang="en-US" sz="25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5000" b="1" dirty="0">
                <a:solidFill>
                  <a:srgbClr val="FFFFFF"/>
                </a:solidFill>
                <a:latin typeface="Cambria" pitchFamily="34" charset="0"/>
                <a:ea typeface="Cambria" pitchFamily="34" charset="-122"/>
                <a:cs typeface="Cambria" pitchFamily="34" charset="-120"/>
              </a:rPr>
              <a:t>16.2%</a:t>
            </a:r>
            <a:endParaRPr lang="en-US" sz="50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weighted CV of free-throw</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percentage, Houston Rockets,</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2017-18 (MIN &gt;= 500)</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Compare that to: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three-point percentage's weighted CV of only 6.6%, and two-point percentage's 10.4%.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Why this surprises people: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free throws are usually treated as the "easy," low-variance shot in casual conversation. The real, attempt-weighted 2017-18 Rockets data says the opposite -- free-throw shooting varied more across this roster than three-point shooting did.</a:t>
            </a:r>
            <a:endParaRPr lang="en-US" sz="1500" dirty="0"/>
          </a:p>
        </p:txBody>
      </p:sp>
      <p:sp>
        <p:nvSpPr>
          <p:cNvPr id="8" name="Text 6"/>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Computed with variability() in R on the real Pbox data, weighted by P2A/P3A/FTA.</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9</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Variability Diagram</a:t>
            </a:r>
            <a:endParaRPr lang="en-US" sz="2800" dirty="0"/>
          </a:p>
        </p:txBody>
      </p:sp>
      <p:pic>
        <p:nvPicPr>
          <p:cNvPr id="4" name="Image 0" descr="module3_variability_rockets.png">    </p:cNvPr>
          <p:cNvPicPr>
            <a:picLocks noChangeAspect="1"/>
          </p:cNvPicPr>
          <p:nvPr/>
        </p:nvPicPr>
        <p:blipFill>
          <a:blip r:embed="rId1"/>
          <a:stretch>
            <a:fillRect/>
          </a:stretch>
        </p:blipFill>
        <p:spPr>
          <a:xfrm>
            <a:off x="1463040" y="1600200"/>
            <a:ext cx="9235440" cy="457200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plot(vc), BasketballAnalyzeR. Circle size reflects shot volume (P2A, P3A, FTA); data: Pbox, 2017-18 NBA season.</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SCALING UP TO TEAMS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The Same Profile Thinking, at the Team Level</a:t>
            </a:r>
            <a:endParaRPr lang="en-US" sz="2700" dirty="0"/>
          </a:p>
        </p:txBody>
      </p:sp>
      <p:sp>
        <p:nvSpPr>
          <p:cNvPr id="4" name="Shape 2"/>
          <p:cNvSpPr/>
          <p:nvPr/>
        </p:nvSpPr>
        <p:spPr>
          <a:xfrm>
            <a:off x="548640" y="2103120"/>
            <a:ext cx="11091672" cy="1463040"/>
          </a:xfrm>
          <a:prstGeom prst="roundRect">
            <a:avLst>
              <a:gd name="adj" fmla="val 3750"/>
            </a:avLst>
          </a:prstGeom>
          <a:solidFill>
            <a:srgbClr val="EDF1F7"/>
          </a:solidFill>
          <a:ln/>
        </p:spPr>
      </p:sp>
      <p:sp>
        <p:nvSpPr>
          <p:cNvPr id="5" name="Text 3"/>
          <p:cNvSpPr txBox="1"/>
          <p:nvPr/>
        </p:nvSpPr>
        <p:spPr>
          <a:xfrm>
            <a:off x="914400" y="2377440"/>
            <a:ext cx="10360152" cy="9144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Profiles do not have to be about players. Comparing every team's assists per game against its turnovers per game is the same idea: two related variables, plotted together instead of read one table at a time.</a:t>
            </a:r>
            <a:endParaRPr lang="en-US" sz="1600" dirty="0"/>
          </a:p>
        </p:txBody>
      </p:sp>
      <p:sp>
        <p:nvSpPr>
          <p:cNvPr id="6" name="Text 4"/>
          <p:cNvSpPr txBox="1"/>
          <p:nvPr/>
        </p:nvSpPr>
        <p:spPr>
          <a:xfrm>
            <a:off x="548640" y="3931920"/>
            <a:ext cx="11091672" cy="914400"/>
          </a:xfrm>
          <a:prstGeom prst="rect">
            <a:avLst/>
          </a:prstGeom>
          <a:noFill/>
          <a:ln/>
        </p:spPr>
        <p:txBody>
          <a:bodyPr wrap="square" lIns="0" tIns="0" rIns="0" bIns="0" rtlCol="0" anchor="t"/>
          <a:lstStyle/>
          <a:p>
            <a:pPr indent="0" marL="0">
              <a:lnSpc>
                <a:spcPct val="125000"/>
              </a:lnSpc>
              <a:buNone/>
            </a:pPr>
            <a:r>
              <a:rPr lang="en-US" sz="1400" i="1" dirty="0">
                <a:solidFill>
                  <a:srgbClr val="27496D"/>
                </a:solidFill>
                <a:latin typeface="Calibri" pitchFamily="34" charset="0"/>
                <a:ea typeface="Calibri" pitchFamily="34" charset="-122"/>
                <a:cs typeface="Calibri" pitchFamily="34" charset="-120"/>
              </a:rPr>
              <a:t>scatterplot(TT, data.var=c("AST_pg","TOV_pg"), z.var="W")</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10</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Assists vs. Turnovers, All 30 Teams</a:t>
            </a:r>
            <a:endParaRPr lang="en-US" sz="2700" dirty="0"/>
          </a:p>
        </p:txBody>
      </p:sp>
      <p:pic>
        <p:nvPicPr>
          <p:cNvPr id="4" name="Image 0" descr="module3_scatter_ast_tov.png">    </p:cNvPr>
          <p:cNvPicPr>
            <a:picLocks noChangeAspect="1"/>
          </p:cNvPicPr>
          <p:nvPr/>
        </p:nvPicPr>
        <p:blipFill>
          <a:blip r:embed="rId1"/>
          <a:stretch>
            <a:fillRect/>
          </a:stretch>
        </p:blipFill>
        <p:spPr>
          <a:xfrm>
            <a:off x="1188720" y="1645920"/>
            <a:ext cx="9692640" cy="448056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scatterplot(), BasketballAnalyzeR, colored by wins (W). Data: Tbox, 2017-18 NBA season.</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READING THE NUMBER HONESTLY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Ball Movement Alone Is a Weak Predictor</a:t>
            </a:r>
            <a:endParaRPr lang="en-US" sz="2600" dirty="0"/>
          </a:p>
        </p:txBody>
      </p:sp>
      <p:sp>
        <p:nvSpPr>
          <p:cNvPr id="4" name="Shape 2"/>
          <p:cNvSpPr/>
          <p:nvPr/>
        </p:nvSpPr>
        <p:spPr>
          <a:xfrm>
            <a:off x="548640" y="2103120"/>
            <a:ext cx="5362956" cy="3108960"/>
          </a:xfrm>
          <a:prstGeom prst="roundRect">
            <a:avLst>
              <a:gd name="adj" fmla="val 1765"/>
            </a:avLst>
          </a:prstGeom>
          <a:solidFill>
            <a:srgbClr val="27496D"/>
          </a:solidFill>
          <a:ln/>
        </p:spPr>
      </p:sp>
      <p:sp>
        <p:nvSpPr>
          <p:cNvPr id="5" name="Text 3"/>
          <p:cNvSpPr txBox="1"/>
          <p:nvPr/>
        </p:nvSpPr>
        <p:spPr>
          <a:xfrm>
            <a:off x="548640" y="2423160"/>
            <a:ext cx="5362956" cy="1097280"/>
          </a:xfrm>
          <a:prstGeom prst="rect">
            <a:avLst/>
          </a:prstGeom>
          <a:noFill/>
          <a:ln/>
        </p:spPr>
        <p:txBody>
          <a:bodyPr wrap="square" lIns="0" tIns="0" rIns="0" bIns="0" rtlCol="0" anchor="ctr"/>
          <a:lstStyle/>
          <a:p>
            <a:pPr algn="ctr" indent="0" marL="0">
              <a:buNone/>
            </a:pPr>
            <a:r>
              <a:rPr lang="en-US" sz="5000" b="1" dirty="0">
                <a:solidFill>
                  <a:srgbClr val="FFFFFF"/>
                </a:solidFill>
                <a:latin typeface="Cambria" pitchFamily="34" charset="0"/>
                <a:ea typeface="Cambria" pitchFamily="34" charset="-122"/>
                <a:cs typeface="Cambria" pitchFamily="34" charset="-120"/>
              </a:rPr>
              <a:t>0.25</a:t>
            </a:r>
            <a:endParaRPr lang="en-US" sz="5000" dirty="0"/>
          </a:p>
        </p:txBody>
      </p:sp>
      <p:sp>
        <p:nvSpPr>
          <p:cNvPr id="6" name="Text 4"/>
          <p:cNvSpPr txBox="1"/>
          <p:nvPr/>
        </p:nvSpPr>
        <p:spPr>
          <a:xfrm>
            <a:off x="822960" y="3611880"/>
            <a:ext cx="4814316"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correlation between assists</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per game and wins</a:t>
            </a:r>
            <a:endParaRPr lang="en-US" sz="1300" dirty="0"/>
          </a:p>
        </p:txBody>
      </p:sp>
      <p:sp>
        <p:nvSpPr>
          <p:cNvPr id="7" name="Shape 5"/>
          <p:cNvSpPr/>
          <p:nvPr/>
        </p:nvSpPr>
        <p:spPr>
          <a:xfrm>
            <a:off x="6277356" y="2103120"/>
            <a:ext cx="5362956" cy="3108960"/>
          </a:xfrm>
          <a:prstGeom prst="roundRect">
            <a:avLst>
              <a:gd name="adj" fmla="val 1765"/>
            </a:avLst>
          </a:prstGeom>
          <a:solidFill>
            <a:srgbClr val="E4572E"/>
          </a:solidFill>
          <a:ln/>
        </p:spPr>
      </p:sp>
      <p:sp>
        <p:nvSpPr>
          <p:cNvPr id="8" name="Text 6"/>
          <p:cNvSpPr txBox="1"/>
          <p:nvPr/>
        </p:nvSpPr>
        <p:spPr>
          <a:xfrm>
            <a:off x="6277356" y="2423160"/>
            <a:ext cx="5362956" cy="1097280"/>
          </a:xfrm>
          <a:prstGeom prst="rect">
            <a:avLst/>
          </a:prstGeom>
          <a:noFill/>
          <a:ln/>
        </p:spPr>
        <p:txBody>
          <a:bodyPr wrap="square" lIns="0" tIns="0" rIns="0" bIns="0" rtlCol="0" anchor="ctr"/>
          <a:lstStyle/>
          <a:p>
            <a:pPr algn="ctr" indent="0" marL="0">
              <a:buNone/>
            </a:pPr>
            <a:r>
              <a:rPr lang="en-US" sz="5000" b="1" dirty="0">
                <a:solidFill>
                  <a:srgbClr val="FFFFFF"/>
                </a:solidFill>
                <a:latin typeface="Cambria" pitchFamily="34" charset="0"/>
                <a:ea typeface="Cambria" pitchFamily="34" charset="-122"/>
                <a:cs typeface="Cambria" pitchFamily="34" charset="-120"/>
              </a:rPr>
              <a:t>-0.15</a:t>
            </a:r>
            <a:endParaRPr lang="en-US" sz="5000" dirty="0"/>
          </a:p>
        </p:txBody>
      </p:sp>
      <p:sp>
        <p:nvSpPr>
          <p:cNvPr id="9" name="Text 7"/>
          <p:cNvSpPr txBox="1"/>
          <p:nvPr/>
        </p:nvSpPr>
        <p:spPr>
          <a:xfrm>
            <a:off x="6551676" y="3611880"/>
            <a:ext cx="4814316"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correlation between turnovers</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per game and wins</a:t>
            </a:r>
            <a:endParaRPr lang="en-US" sz="1300" dirty="0"/>
          </a:p>
        </p:txBody>
      </p:sp>
      <p:sp>
        <p:nvSpPr>
          <p:cNvPr id="10" name="Text 8"/>
          <p:cNvSpPr txBox="1"/>
          <p:nvPr/>
        </p:nvSpPr>
        <p:spPr>
          <a:xfrm>
            <a:off x="548640" y="5440680"/>
            <a:ext cx="11091672" cy="822960"/>
          </a:xfrm>
          <a:prstGeom prst="rect">
            <a:avLst/>
          </a:prstGeom>
          <a:noFill/>
          <a:ln/>
        </p:spPr>
        <p:txBody>
          <a:bodyPr wrap="square" lIns="0" tIns="0" rIns="0" bIns="0" rtlCol="0" anchor="ctr"/>
          <a:lstStyle/>
          <a:p>
            <a:pPr algn="ctr" indent="0" marL="0">
              <a:buNone/>
            </a:pPr>
            <a:r>
              <a:rPr lang="en-US" sz="1400" i="1" dirty="0">
                <a:solidFill>
                  <a:srgbClr val="AEBBD1"/>
                </a:solidFill>
                <a:latin typeface="Calibri" pitchFamily="34" charset="0"/>
                <a:ea typeface="Calibri" pitchFamily="34" charset="-122"/>
                <a:cs typeface="Calibri" pitchFamily="34" charset="-120"/>
              </a:rPr>
              <a:t>Both are far weaker than net rating's 0.96 correlation with wins from Module 2. Reading a team's passing profile tells you how they play, not nearly as much about whether that style wins games.</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27496D"/>
                </a:solidFill>
                <a:latin typeface="Calibri" pitchFamily="34" charset="0"/>
                <a:ea typeface="Calibri" pitchFamily="34" charset="-122"/>
                <a:cs typeface="Calibri" pitchFamily="34" charset="-120"/>
              </a:rPr>
              <a:t>THROUGHLINE · PLAYER PERFORMANCE ANALYSIS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Describing a Player, Beyond One Box-Score Number</a:t>
            </a:r>
            <a:endParaRPr lang="en-US" sz="2600" dirty="0"/>
          </a:p>
        </p:txBody>
      </p:sp>
      <p:sp>
        <p:nvSpPr>
          <p:cNvPr id="4" name="Shape 2"/>
          <p:cNvSpPr/>
          <p:nvPr/>
        </p:nvSpPr>
        <p:spPr>
          <a:xfrm>
            <a:off x="548640" y="1920240"/>
            <a:ext cx="54864" cy="2926080"/>
          </a:xfrm>
          <a:prstGeom prst="rect">
            <a:avLst/>
          </a:prstGeom>
          <a:solidFill>
            <a:srgbClr val="27496D"/>
          </a:solidFill>
          <a:ln/>
        </p:spPr>
      </p:sp>
      <p:sp>
        <p:nvSpPr>
          <p:cNvPr id="5" name="Text 3"/>
          <p:cNvSpPr txBox="1"/>
          <p:nvPr/>
        </p:nvSpPr>
        <p:spPr>
          <a:xfrm>
            <a:off x="914400" y="2011680"/>
            <a:ext cx="10725912" cy="365760"/>
          </a:xfrm>
          <a:prstGeom prst="rect">
            <a:avLst/>
          </a:prstGeom>
          <a:noFill/>
          <a:ln/>
        </p:spPr>
        <p:txBody>
          <a:bodyPr wrap="square" lIns="0" tIns="0" rIns="0" bIns="0" rtlCol="0" anchor="ctr"/>
          <a:lstStyle/>
          <a:p>
            <a:pPr indent="0" marL="0">
              <a:buNone/>
            </a:pPr>
            <a:r>
              <a:rPr lang="en-US" sz="1300" b="1" dirty="0">
                <a:solidFill>
                  <a:srgbClr val="27496D"/>
                </a:solidFill>
                <a:latin typeface="Calibri" pitchFamily="34" charset="0"/>
                <a:ea typeface="Calibri" pitchFamily="34" charset="-122"/>
                <a:cs typeface="Calibri" pitchFamily="34" charset="-120"/>
              </a:rPr>
              <a:t>The question:</a:t>
            </a:r>
            <a:endParaRPr lang="en-US" sz="1300" dirty="0"/>
          </a:p>
        </p:txBody>
      </p:sp>
      <p:sp>
        <p:nvSpPr>
          <p:cNvPr id="6" name="Text 4"/>
          <p:cNvSpPr txBox="1"/>
          <p:nvPr/>
        </p:nvSpPr>
        <p:spPr>
          <a:xfrm>
            <a:off x="914400" y="2377440"/>
            <a:ext cx="10725912" cy="822960"/>
          </a:xfrm>
          <a:prstGeom prst="rect">
            <a:avLst/>
          </a:prstGeom>
          <a:noFill/>
          <a:ln/>
        </p:spPr>
        <p:txBody>
          <a:bodyPr wrap="square" lIns="0" tIns="0" rIns="0" bIns="0" rtlCol="0" anchor="t"/>
          <a:lstStyle/>
          <a:p>
            <a:pPr indent="0" marL="0">
              <a:lnSpc>
                <a:spcPct val="125000"/>
              </a:lnSpc>
              <a:buNone/>
            </a:pPr>
            <a:r>
              <a:rPr lang="en-US" sz="1700" i="1" dirty="0">
                <a:solidFill>
                  <a:srgbClr val="16213E"/>
                </a:solidFill>
                <a:latin typeface="Calibri" pitchFamily="34" charset="0"/>
                <a:ea typeface="Calibri" pitchFamily="34" charset="-122"/>
                <a:cs typeface="Calibri" pitchFamily="34" charset="-120"/>
              </a:rPr>
              <a:t>How do you describe what a specific player or team actually does, not just how much they scored?</a:t>
            </a:r>
            <a:endParaRPr lang="en-US" sz="1700" dirty="0"/>
          </a:p>
        </p:txBody>
      </p:sp>
      <p:sp>
        <p:nvSpPr>
          <p:cNvPr id="7" name="Text 5"/>
          <p:cNvSpPr txBox="1"/>
          <p:nvPr/>
        </p:nvSpPr>
        <p:spPr>
          <a:xfrm>
            <a:off x="914400" y="3383280"/>
            <a:ext cx="10725912" cy="13716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Standardized radar profiles, bar-line comparisons, and weighted variability are real tools scouts and analytics departments use to build exactly this kind of description. Module 4 adds one more variable to the profile: where on the court a shot happened.</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 to Carry Forward</a:t>
            </a:r>
            <a:endParaRPr lang="en-US" sz="3000" dirty="0"/>
          </a:p>
        </p:txBody>
      </p:sp>
      <p:sp>
        <p:nvSpPr>
          <p:cNvPr id="4" name="Shape 2"/>
          <p:cNvSpPr/>
          <p:nvPr/>
        </p:nvSpPr>
        <p:spPr>
          <a:xfrm>
            <a:off x="548640" y="2011680"/>
            <a:ext cx="164592" cy="164592"/>
          </a:xfrm>
          <a:prstGeom prst="rect">
            <a:avLst/>
          </a:prstGeom>
          <a:solidFill>
            <a:srgbClr val="27496D"/>
          </a:solidFill>
          <a:ln/>
        </p:spPr>
      </p:sp>
      <p:sp>
        <p:nvSpPr>
          <p:cNvPr id="5" name="Text 3"/>
          <p:cNvSpPr txBox="1"/>
          <p:nvPr/>
        </p:nvSpPr>
        <p:spPr>
          <a:xfrm>
            <a:off x="914400" y="18745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Standardizing a variable (z = (x - mean) / sd) puts different-scale stats on one comparable axis, which is what makes a multi-variable profile chart readable.</a:t>
            </a:r>
            <a:endParaRPr lang="en-US" sz="1500" dirty="0"/>
          </a:p>
        </p:txBody>
      </p:sp>
      <p:sp>
        <p:nvSpPr>
          <p:cNvPr id="6" name="Shape 4"/>
          <p:cNvSpPr/>
          <p:nvPr/>
        </p:nvSpPr>
        <p:spPr>
          <a:xfrm>
            <a:off x="548640" y="2926080"/>
            <a:ext cx="164592" cy="164592"/>
          </a:xfrm>
          <a:prstGeom prst="rect">
            <a:avLst/>
          </a:prstGeom>
          <a:solidFill>
            <a:srgbClr val="E4572E"/>
          </a:solidFill>
          <a:ln/>
        </p:spPr>
      </p:sp>
      <p:sp>
        <p:nvSpPr>
          <p:cNvPr id="7" name="Text 5"/>
          <p:cNvSpPr txBox="1"/>
          <p:nvPr/>
        </p:nvSpPr>
        <p:spPr>
          <a:xfrm>
            <a:off x="914400" y="27889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Radar charts have real, documented critics -- check the z-scores behind a shape before trusting it.</a:t>
            </a:r>
            <a:endParaRPr lang="en-US" sz="1500" dirty="0"/>
          </a:p>
        </p:txBody>
      </p:sp>
      <p:sp>
        <p:nvSpPr>
          <p:cNvPr id="8" name="Shape 6"/>
          <p:cNvSpPr/>
          <p:nvPr/>
        </p:nvSpPr>
        <p:spPr>
          <a:xfrm>
            <a:off x="548640" y="3840480"/>
            <a:ext cx="164592" cy="164592"/>
          </a:xfrm>
          <a:prstGeom prst="rect">
            <a:avLst/>
          </a:prstGeom>
          <a:solidFill>
            <a:srgbClr val="27496D"/>
          </a:solidFill>
          <a:ln/>
        </p:spPr>
      </p:sp>
      <p:sp>
        <p:nvSpPr>
          <p:cNvPr id="9" name="Text 7"/>
          <p:cNvSpPr txBox="1"/>
          <p:nvPr/>
        </p:nvSpPr>
        <p:spPr>
          <a:xfrm>
            <a:off x="914400" y="37033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A bar-line chart shows a categorical breakdown and a continuous variable together, without building two separate tables.</a:t>
            </a:r>
            <a:endParaRPr lang="en-US" sz="1500" dirty="0"/>
          </a:p>
        </p:txBody>
      </p:sp>
      <p:sp>
        <p:nvSpPr>
          <p:cNvPr id="10" name="Shape 8"/>
          <p:cNvSpPr/>
          <p:nvPr/>
        </p:nvSpPr>
        <p:spPr>
          <a:xfrm>
            <a:off x="548640" y="4754880"/>
            <a:ext cx="164592" cy="164592"/>
          </a:xfrm>
          <a:prstGeom prst="rect">
            <a:avLst/>
          </a:prstGeom>
          <a:solidFill>
            <a:srgbClr val="E4572E"/>
          </a:solidFill>
          <a:ln/>
        </p:spPr>
      </p:sp>
      <p:sp>
        <p:nvSpPr>
          <p:cNvPr id="11" name="Text 9"/>
          <p:cNvSpPr txBox="1"/>
          <p:nvPr/>
        </p:nvSpPr>
        <p:spPr>
          <a:xfrm>
            <a:off x="914400" y="46177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Coefficient of variation (CV = sd / mean) measures consistency, not just average -- and weighting by volume changes the answer, sometimes surprisingly.</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MODULE 04</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Two Things Before Next Class</a:t>
            </a:r>
            <a:endParaRPr lang="en-US" sz="3000" dirty="0"/>
          </a:p>
        </p:txBody>
      </p:sp>
      <p:sp>
        <p:nvSpPr>
          <p:cNvPr id="4" name="Shape 2"/>
          <p:cNvSpPr/>
          <p:nvPr/>
        </p:nvSpPr>
        <p:spPr>
          <a:xfrm>
            <a:off x="548640" y="2103120"/>
            <a:ext cx="5362956" cy="2377440"/>
          </a:xfrm>
          <a:prstGeom prst="roundRect">
            <a:avLst>
              <a:gd name="adj" fmla="val 2308"/>
            </a:avLst>
          </a:prstGeom>
          <a:solidFill>
            <a:srgbClr val="EDF1F7"/>
          </a:solidFill>
          <a:ln/>
        </p:spPr>
      </p:sp>
      <p:sp>
        <p:nvSpPr>
          <p:cNvPr id="5" name="Text 3"/>
          <p:cNvSpPr txBox="1"/>
          <p:nvPr/>
        </p:nvSpPr>
        <p:spPr>
          <a:xfrm>
            <a:off x="822960"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Read</a:t>
            </a:r>
            <a:endParaRPr lang="en-US" sz="1300" dirty="0"/>
          </a:p>
        </p:txBody>
      </p:sp>
      <p:sp>
        <p:nvSpPr>
          <p:cNvPr id="6" name="Text 4"/>
          <p:cNvSpPr txBox="1"/>
          <p:nvPr/>
        </p:nvSpPr>
        <p:spPr>
          <a:xfrm>
            <a:off x="822960"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Basketball Data Science, Ch. 2C (shot charts and spatial data).</a:t>
            </a:r>
            <a:endParaRPr lang="en-US" sz="1400" dirty="0"/>
          </a:p>
        </p:txBody>
      </p:sp>
      <p:sp>
        <p:nvSpPr>
          <p:cNvPr id="7" name="Shape 5"/>
          <p:cNvSpPr/>
          <p:nvPr/>
        </p:nvSpPr>
        <p:spPr>
          <a:xfrm>
            <a:off x="6277356" y="2103120"/>
            <a:ext cx="5362956" cy="2377440"/>
          </a:xfrm>
          <a:prstGeom prst="roundRect">
            <a:avLst>
              <a:gd name="adj" fmla="val 2308"/>
            </a:avLst>
          </a:prstGeom>
          <a:solidFill>
            <a:srgbClr val="EDF1F7"/>
          </a:solidFill>
          <a:ln/>
        </p:spPr>
      </p:sp>
      <p:sp>
        <p:nvSpPr>
          <p:cNvPr id="8" name="Text 6"/>
          <p:cNvSpPr txBox="1"/>
          <p:nvPr/>
        </p:nvSpPr>
        <p:spPr>
          <a:xfrm>
            <a:off x="6551676"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Do</a:t>
            </a:r>
            <a:endParaRPr lang="en-US" sz="1300" dirty="0"/>
          </a:p>
        </p:txBody>
      </p:sp>
      <p:sp>
        <p:nvSpPr>
          <p:cNvPr id="9" name="Text 7"/>
          <p:cNvSpPr txBox="1"/>
          <p:nvPr/>
        </p:nvSpPr>
        <p:spPr>
          <a:xfrm>
            <a:off x="6551676"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Complete Lab 3 (player and team profiles), the practice questions, and the Module 3 quiz on D2L.</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FULL READING LIST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References Cited Today</a:t>
            </a:r>
            <a:endParaRPr lang="en-US" sz="3000" dirty="0"/>
          </a:p>
        </p:txBody>
      </p:sp>
      <p:sp>
        <p:nvSpPr>
          <p:cNvPr id="4" name="Text 2"/>
          <p:cNvSpPr txBox="1"/>
          <p:nvPr/>
        </p:nvSpPr>
        <p:spPr>
          <a:xfrm>
            <a:off x="548640" y="1920240"/>
            <a:ext cx="11091672" cy="914400"/>
          </a:xfrm>
          <a:prstGeom prst="rect">
            <a:avLst/>
          </a:prstGeom>
          <a:noFill/>
          <a:ln/>
        </p:spPr>
        <p:txBody>
          <a:bodyPr wrap="square" lIns="0" tIns="0" rIns="0" bIns="0" rtlCol="0" anchor="t"/>
          <a:lstStyle/>
          <a:p>
            <a:pPr indent="0" marL="0">
              <a:lnSpc>
                <a:spcPct val="160000"/>
              </a:lnSpc>
              <a:buNone/>
            </a:pPr>
            <a:r>
              <a:rPr lang="en-US" sz="1400" dirty="0">
                <a:solidFill>
                  <a:srgbClr val="16213E"/>
                </a:solidFill>
                <a:latin typeface="Calibri" pitchFamily="34" charset="0"/>
                <a:ea typeface="Calibri" pitchFamily="34" charset="-122"/>
                <a:cs typeface="Calibri" pitchFamily="34" charset="-120"/>
              </a:rPr>
              <a:t>Zuccolotto, P., &amp; Manisera, M. (2020). Basketball Data Science: With Applications in R, Ch. 2. Chapman &amp; Hall/CRC.</a:t>
            </a:r>
            <a:endParaRPr lang="en-US" sz="1400" dirty="0"/>
          </a:p>
          <a:p>
            <a:pPr indent="0" marL="0">
              <a:lnSpc>
                <a:spcPct val="160000"/>
              </a:lnSpc>
              <a:buNone/>
            </a:pPr>
            <a:endParaRPr lang="en-US" sz="1400" dirty="0"/>
          </a:p>
          <a:p>
            <a:pPr indent="0" marL="0">
              <a:lnSpc>
                <a:spcPct val="160000"/>
              </a:lnSpc>
              <a:buNone/>
            </a:pPr>
            <a:r>
              <a:rPr lang="en-US" sz="1400" dirty="0">
                <a:solidFill>
                  <a:srgbClr val="16213E"/>
                </a:solidFill>
                <a:latin typeface="Calibri" pitchFamily="34" charset="0"/>
                <a:ea typeface="Calibri" pitchFamily="34" charset="-122"/>
                <a:cs typeface="Calibri" pitchFamily="34" charset="-120"/>
              </a:rPr>
              <a:t>Whitehead, T. (2017). Nylon Calculus: Bravely staring down the radar chart backlash. FanSided.</a:t>
            </a:r>
            <a:endParaRPr lang="en-US" sz="1400" dirty="0"/>
          </a:p>
          <a:p>
            <a:pPr indent="0" marL="0">
              <a:lnSpc>
                <a:spcPct val="160000"/>
              </a:lnSpc>
              <a:buNone/>
            </a:pPr>
            <a:endParaRPr lang="en-US" sz="1400" dirty="0"/>
          </a:p>
          <a:p>
            <a:pPr indent="0" marL="0">
              <a:lnSpc>
                <a:spcPct val="160000"/>
              </a:lnSpc>
              <a:buNone/>
            </a:pPr>
            <a:r>
              <a:rPr lang="en-US" sz="1400" dirty="0">
                <a:solidFill>
                  <a:srgbClr val="16213E"/>
                </a:solidFill>
                <a:latin typeface="Calibri" pitchFamily="34" charset="0"/>
                <a:ea typeface="Calibri" pitchFamily="34" charset="-122"/>
                <a:cs typeface="Calibri" pitchFamily="34" charset="-120"/>
              </a:rPr>
              <a:t>BasketballAnalyzeR (R package), radialprofile(), barline(), variability(), scatterplot() functions. Zuccolotto, Manisera &amp; Sandri. CRAN.</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83464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See You in Module 04</a:t>
            </a:r>
            <a:endParaRPr lang="en-US" sz="4000" dirty="0"/>
          </a:p>
        </p:txBody>
      </p:sp>
      <p:sp>
        <p:nvSpPr>
          <p:cNvPr id="3" name="Text 1"/>
          <p:cNvSpPr txBox="1"/>
          <p:nvPr/>
        </p:nvSpPr>
        <p:spPr>
          <a:xfrm>
            <a:off x="548640" y="3749040"/>
            <a:ext cx="11091672" cy="548640"/>
          </a:xfrm>
          <a:prstGeom prst="rect">
            <a:avLst/>
          </a:prstGeom>
          <a:noFill/>
          <a:ln/>
        </p:spPr>
        <p:txBody>
          <a:bodyPr wrap="square" lIns="0" tIns="0" rIns="0" bIns="0" rtlCol="0" anchor="ctr"/>
          <a:lstStyle/>
          <a:p>
            <a:pPr indent="0" marL="0">
              <a:buNone/>
            </a:pPr>
            <a:r>
              <a:rPr lang="en-US" sz="1800" dirty="0">
                <a:solidFill>
                  <a:srgbClr val="AEBBD1"/>
                </a:solidFill>
                <a:latin typeface="Calibri" pitchFamily="34" charset="0"/>
                <a:ea typeface="Calibri" pitchFamily="34" charset="-122"/>
                <a:cs typeface="Calibri" pitchFamily="34" charset="-120"/>
              </a:rPr>
              <a:t>Shot Charts and Spatial Data</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2026-09-19T12:44:37Z</dcterms:created>
  <dcterms:modified xsi:type="dcterms:W3CDTF">2026-09-19T12:44:37Z</dcterms:modified>
</cp:coreProperties>
</file>