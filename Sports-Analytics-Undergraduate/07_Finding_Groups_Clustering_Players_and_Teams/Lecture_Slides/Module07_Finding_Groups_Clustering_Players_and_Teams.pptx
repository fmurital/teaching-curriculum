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where the curve's slope flattens the most. Point out the huge jump from k=2 to k=3 (+17.8 points) versus the much smaller jump from k=6 to k=7 (+2.4 points). Ask: does anyone see a case for a different k? Let a few students argue for k=5 or k=6 before I explain my own choice on the next slide. Timing: about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out the seven colored blocks. Ask students to find one star player they recognize and guess which cluster color they landed in before I reveal the star-player table on the next slides.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why a distinctive group like rim protectors would be easier for two different algorithms to agree on than a group like perimeter shooters. Push toward: distinctive players sit far from everyone else in the real numeric space, so almost any reasonable method finds them, while players near the middle of the distribution are close to several groups at once and can tip either way. Timing: about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find Russell Westbrook, LeBron James, and James Harden together at one edge, and the tallest rim-protecting centers (Gobert, DeAndre Jordan, Andre Drummond, Dwight Howard) together at another. Ask the class: does this match the same structure from the dendrogram, just drawn differently?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07 · Finding Groups: Clustering Players and Teams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7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4:</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6 asked whether a shot's timing changes how likely it is to go in, and found real field goal percentage fell from 49.6% early in the shot clock to 42.4% late, and real clutch shooting fell to 41.7% from 47.5%. That module was about one shot in one moment. Today I zoom all the way out: what kinds of players, and what kinds of teams, actually exist in this league once I let the real data group them for itself.</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real 2017-18 season, same BasketballAnalyzeR package, new question: finding groups.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Why clustering, how it works, and how we pick the number of groups honestly</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Building real player clusters, reading a dendrogram, and comparing two methods</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 2D map of player similarity, then clustering real NBA teams</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7, the Module 7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By the End of Today, You Will Be Able To</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clustering does and why standardizing every variable first matters.</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Use a real variance-explained curve to choose a defensible number of clusters, and explain your reasoning out loud.</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and read a real dendrogram from BasketballAnalyzeR's hclustering() function, and describe a cluster's identity from its real profile.</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Compare hierarchical clustering to k-means clustering on the same real data and explain where and why two methods agree or disagree.</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Cluster real NBA teams by their Four Factors identity and connect a team's statistical cluster to its real win total.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Grouping Things That Look Alike</a:t>
            </a:r>
            <a:endParaRPr lang="en-US" sz="3000" dirty="0"/>
          </a:p>
        </p:txBody>
      </p:sp>
      <p:sp>
        <p:nvSpPr>
          <p:cNvPr id="4" name="Shape 2"/>
          <p:cNvSpPr/>
          <p:nvPr/>
        </p:nvSpPr>
        <p:spPr>
          <a:xfrm>
            <a:off x="548640" y="2103120"/>
            <a:ext cx="11091672" cy="2926080"/>
          </a:xfrm>
          <a:prstGeom prst="roundRect">
            <a:avLst>
              <a:gd name="adj" fmla="val 1875"/>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Think about every restaurant in a city. You could group them by price and by distance from campus without anyone telling you their category names in advance. Cheap and close restaurants naturally end up in one group. Expensive and far ones end up in another. Nobody labeled them first; the natural groups showed up once you looked at the numbers.</a:t>
            </a:r>
            <a:endParaRPr lang="en-US" sz="1700" dirty="0"/>
          </a:p>
        </p:txBody>
      </p:sp>
      <p:sp>
        <p:nvSpPr>
          <p:cNvPr id="6" name="Text 4"/>
          <p:cNvSpPr txBox="1"/>
          <p:nvPr/>
        </p:nvSpPr>
        <p:spPr>
          <a:xfrm>
            <a:off x="548640" y="4389120"/>
            <a:ext cx="11091672" cy="914400"/>
          </a:xfrm>
          <a:prstGeom prst="rect">
            <a:avLst/>
          </a:prstGeom>
          <a:noFill/>
          <a:ln/>
        </p:spPr>
        <p:txBody>
          <a:bodyPr wrap="square" lIns="0" tIns="0" rIns="0" bIns="0" rtlCol="0" anchor="t"/>
          <a:lstStyle/>
          <a:p>
            <a:pPr indent="0" marL="0">
              <a:lnSpc>
                <a:spcPct val="125000"/>
              </a:lnSpc>
              <a:buNone/>
            </a:pPr>
            <a:r>
              <a:rPr lang="en-US" sz="1600" b="1" dirty="0">
                <a:solidFill>
                  <a:srgbClr val="E4572E"/>
                </a:solidFill>
                <a:latin typeface="Calibri" pitchFamily="34" charset="0"/>
                <a:ea typeface="Calibri" pitchFamily="34" charset="-122"/>
                <a:cs typeface="Calibri" pitchFamily="34" charset="-120"/>
              </a:rPr>
              <a:t>Clustering does exactly that, with real player and team statistics instead of price and distance.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Clustering Only Knows Numeric Distance</a:t>
            </a:r>
            <a:endParaRPr lang="en-US" sz="2800" dirty="0"/>
          </a:p>
        </p:txBody>
      </p:sp>
      <p:sp>
        <p:nvSpPr>
          <p:cNvPr id="4" name="Shape 2"/>
          <p:cNvSpPr/>
          <p:nvPr/>
        </p:nvSpPr>
        <p:spPr>
          <a:xfrm>
            <a:off x="548640" y="2011680"/>
            <a:ext cx="11091672" cy="1371600"/>
          </a:xfrm>
          <a:prstGeom prst="roundRect">
            <a:avLst>
              <a:gd name="adj" fmla="val 4000"/>
            </a:avLst>
          </a:prstGeom>
          <a:solidFill>
            <a:srgbClr val="27496D"/>
          </a:solidFill>
          <a:ln/>
        </p:spPr>
      </p:sp>
      <p:sp>
        <p:nvSpPr>
          <p:cNvPr id="5" name="Text 3"/>
          <p:cNvSpPr txBox="1"/>
          <p:nvPr/>
        </p:nvSpPr>
        <p:spPr>
          <a:xfrm>
            <a:off x="914400" y="2240280"/>
            <a:ext cx="10360152" cy="91440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Clustering measures how far apart every pair of players sits across several real variables at once, then groups together whoever sits closest. It does not know what a “point guard” is. It only knows numbers.</a:t>
            </a:r>
            <a:endParaRPr lang="en-US" sz="1600" dirty="0"/>
          </a:p>
        </p:txBody>
      </p:sp>
      <p:sp>
        <p:nvSpPr>
          <p:cNvPr id="6" name="Shape 4"/>
          <p:cNvSpPr/>
          <p:nvPr/>
        </p:nvSpPr>
        <p:spPr>
          <a:xfrm>
            <a:off x="548640" y="3657600"/>
            <a:ext cx="11091672" cy="1554480"/>
          </a:xfrm>
          <a:prstGeom prst="roundRect">
            <a:avLst>
              <a:gd name="adj" fmla="val 3529"/>
            </a:avLst>
          </a:prstGeom>
          <a:solidFill>
            <a:srgbClr val="EDF1F7"/>
          </a:solidFill>
          <a:ln/>
        </p:spPr>
      </p:sp>
      <p:sp>
        <p:nvSpPr>
          <p:cNvPr id="7" name="Text 5"/>
          <p:cNvSpPr txBox="1"/>
          <p:nvPr/>
        </p:nvSpPr>
        <p:spPr>
          <a:xfrm>
            <a:off x="914400" y="3886200"/>
            <a:ext cx="10360152" cy="109728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Problem: points, assists, and blocks are measured on completely different real scales. Without adjusting for that, points (bigger raw numbers) would swamp blocks (smaller raw numbers) in every distance calculation, for no basketball reason at all.</a:t>
            </a:r>
            <a:endParaRPr lang="en-US" sz="1500" dirty="0"/>
          </a:p>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Fix: standardize first. z = (x - mean) / standard deviation, for every real variable, before measuring any distance.</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Both hclustering() and kclustering() perform this standardization automatically before clustering.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VIDEO</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Watch the Mechanism Before We Build It</a:t>
            </a:r>
            <a:endParaRPr lang="en-US" sz="2800" dirty="0"/>
          </a:p>
        </p:txBody>
      </p:sp>
      <p:sp>
        <p:nvSpPr>
          <p:cNvPr id="4" name="Shape 2"/>
          <p:cNvSpPr/>
          <p:nvPr/>
        </p:nvSpPr>
        <p:spPr>
          <a:xfrm>
            <a:off x="548640" y="2011680"/>
            <a:ext cx="11091672" cy="3291840"/>
          </a:xfrm>
          <a:prstGeom prst="roundRect">
            <a:avLst>
              <a:gd name="adj" fmla="val 1667"/>
            </a:avLst>
          </a:prstGeom>
          <a:solidFill>
            <a:srgbClr val="0B1D33"/>
          </a:solidFill>
          <a:ln/>
        </p:spPr>
      </p:sp>
      <p:sp>
        <p:nvSpPr>
          <p:cNvPr id="5" name="Shape 3"/>
          <p:cNvSpPr/>
          <p:nvPr/>
        </p:nvSpPr>
        <p:spPr>
          <a:xfrm>
            <a:off x="1097280" y="2514600"/>
            <a:ext cx="2377440" cy="1737360"/>
          </a:xfrm>
          <a:prstGeom prst="roundRect">
            <a:avLst>
              <a:gd name="adj" fmla="val 4211"/>
            </a:avLst>
          </a:prstGeom>
          <a:solidFill>
            <a:srgbClr val="E4572E"/>
          </a:solidFill>
          <a:ln/>
        </p:spPr>
      </p:sp>
      <p:sp>
        <p:nvSpPr>
          <p:cNvPr id="6" name="Text 4"/>
          <p:cNvSpPr txBox="1"/>
          <p:nvPr/>
        </p:nvSpPr>
        <p:spPr>
          <a:xfrm>
            <a:off x="1097280" y="2514600"/>
            <a:ext cx="2377440" cy="1737360"/>
          </a:xfrm>
          <a:prstGeom prst="rect">
            <a:avLst/>
          </a:prstGeom>
          <a:noFill/>
          <a:ln/>
        </p:spPr>
        <p:txBody>
          <a:bodyPr wrap="square" lIns="0" tIns="0" rIns="0" bIns="0" rtlCol="0" anchor="ctr"/>
          <a:lstStyle/>
          <a:p>
            <a:pPr algn="ctr" indent="0" marL="0">
              <a:buNone/>
            </a:pPr>
            <a:r>
              <a:rPr lang="en-US" sz="4400" dirty="0">
                <a:solidFill>
                  <a:srgbClr val="FFFFFF"/>
                </a:solidFill>
              </a:rPr>
              <a:t>▶</a:t>
            </a:r>
            <a:endParaRPr lang="en-US" sz="4400" dirty="0"/>
          </a:p>
        </p:txBody>
      </p:sp>
      <p:sp>
        <p:nvSpPr>
          <p:cNvPr id="7" name="Text 5"/>
          <p:cNvSpPr txBox="1"/>
          <p:nvPr/>
        </p:nvSpPr>
        <p:spPr>
          <a:xfrm>
            <a:off x="3840480" y="2514600"/>
            <a:ext cx="7434072" cy="1737360"/>
          </a:xfrm>
          <a:prstGeom prst="rect">
            <a:avLst/>
          </a:prstGeom>
          <a:noFill/>
          <a:ln/>
        </p:spPr>
        <p:txBody>
          <a:bodyPr wrap="square" lIns="0" tIns="0" rIns="0" bIns="0" rtlCol="0" anchor="t"/>
          <a:lstStyle/>
          <a:p>
            <a:pPr indent="0" marL="0">
              <a:lnSpc>
                <a:spcPct val="140000"/>
              </a:lnSpc>
              <a:buNone/>
            </a:pPr>
            <a:r>
              <a:rPr lang="en-US" sz="2000" b="1" dirty="0">
                <a:solidFill>
                  <a:srgbClr val="FFFFFF"/>
                </a:solidFill>
                <a:latin typeface="Calibri" pitchFamily="34" charset="0"/>
                <a:ea typeface="Calibri" pitchFamily="34" charset="-122"/>
                <a:cs typeface="Calibri" pitchFamily="34" charset="-120"/>
              </a:rPr>
              <a:t>What Is Hierarchical Clustering and How Does It Work?
</a:t>
            </a:r>
            <a:pPr indent="0" marL="0">
              <a:lnSpc>
                <a:spcPct val="140000"/>
              </a:lnSpc>
              <a:buNone/>
            </a:pPr>
            <a:r>
              <a:rPr lang="en-US" sz="1400" dirty="0">
                <a:solidFill>
                  <a:srgbClr val="AEBBD1"/>
                </a:solidFill>
                <a:latin typeface="Calibri" pitchFamily="34" charset="0"/>
                <a:ea typeface="Calibri" pitchFamily="34" charset="-122"/>
                <a:cs typeface="Calibri" pitchFamily="34" charset="-120"/>
              </a:rPr>
              <a:t>Channel: StatQuest with Josh Starmer
</a:t>
            </a:r>
            <a:pPr indent="0" marL="0">
              <a:lnSpc>
                <a:spcPct val="140000"/>
              </a:lnSpc>
              <a:buNone/>
            </a:pPr>
            <a:r>
              <a:rPr lang="en-US" sz="1200" i="1" dirty="0">
                <a:solidFill>
                  <a:srgbClr val="AEBBD1"/>
                </a:solidFill>
                <a:latin typeface="Calibri" pitchFamily="34" charset="0"/>
                <a:ea typeface="Calibri" pitchFamily="34" charset="-122"/>
                <a:cs typeface="Calibri" pitchFamily="34" charset="-120"/>
              </a:rPr>
              <a:t>https://www.youtube.com/watch?v=7xHsRkOdVwo</a:t>
            </a:r>
            <a:endParaRPr lang="en-US" sz="2000" dirty="0"/>
          </a:p>
        </p:txBody>
      </p:sp>
      <p:sp>
        <p:nvSpPr>
          <p:cNvPr id="8" name="Text 6"/>
          <p:cNvSpPr txBox="1"/>
          <p:nvPr/>
        </p:nvSpPr>
        <p:spPr>
          <a:xfrm>
            <a:off x="1097280" y="4434840"/>
            <a:ext cx="9994392" cy="731520"/>
          </a:xfrm>
          <a:prstGeom prst="rect">
            <a:avLst/>
          </a:prstGeom>
          <a:noFill/>
          <a:ln/>
        </p:spPr>
        <p:txBody>
          <a:bodyPr wrap="square" lIns="0" tIns="0" rIns="0" bIns="0" rtlCol="0" anchor="ctr"/>
          <a:lstStyle/>
          <a:p>
            <a:pPr indent="0" marL="0">
              <a:lnSpc>
                <a:spcPct val="130000"/>
              </a:lnSpc>
              <a:buNone/>
            </a:pPr>
            <a:r>
              <a:rPr lang="en-US" sz="1300" i="1" dirty="0">
                <a:solidFill>
                  <a:srgbClr val="AEBBD1"/>
                </a:solidFill>
                <a:latin typeface="Calibri" pitchFamily="34" charset="0"/>
                <a:ea typeface="Calibri" pitchFamily="34" charset="-122"/>
                <a:cs typeface="Calibri" pitchFamily="34" charset="-120"/>
              </a:rPr>
              <a:t>A real, verified concept-explainer showing exactly how a dendrogram builds itself by repeatedly merging the two closest points. Channel confirmed; exact runtime not independently confirmed, so verify before assigning.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Two Ways to Build the Same Kind of Groups</a:t>
            </a:r>
            <a:endParaRPr lang="en-US" sz="2800" dirty="0"/>
          </a:p>
        </p:txBody>
      </p:sp>
      <p:sp>
        <p:nvSpPr>
          <p:cNvPr id="4" name="Shape 2"/>
          <p:cNvSpPr/>
          <p:nvPr/>
        </p:nvSpPr>
        <p:spPr>
          <a:xfrm>
            <a:off x="548640" y="2103120"/>
            <a:ext cx="5362956" cy="3291840"/>
          </a:xfrm>
          <a:prstGeom prst="roundRect">
            <a:avLst>
              <a:gd name="adj" fmla="val 1667"/>
            </a:avLst>
          </a:prstGeom>
          <a:solidFill>
            <a:srgbClr val="27496D"/>
          </a:solidFill>
          <a:ln/>
        </p:spPr>
      </p:sp>
      <p:sp>
        <p:nvSpPr>
          <p:cNvPr id="5" name="Text 3"/>
          <p:cNvSpPr txBox="1"/>
          <p:nvPr/>
        </p:nvSpPr>
        <p:spPr>
          <a:xfrm>
            <a:off x="868680" y="2377440"/>
            <a:ext cx="4722876"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Hierarchical (hclustering)</a:t>
            </a:r>
            <a:endParaRPr lang="en-US" sz="1700" dirty="0"/>
          </a:p>
        </p:txBody>
      </p:sp>
      <p:sp>
        <p:nvSpPr>
          <p:cNvPr id="6" name="Text 4"/>
          <p:cNvSpPr txBox="1"/>
          <p:nvPr/>
        </p:nvSpPr>
        <p:spPr>
          <a:xfrm>
            <a:off x="868680" y="3200400"/>
            <a:ext cx="4722876" cy="21031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Starts with every player as their own group, then repeatedly merges the two closest groups until everyone belongs to one final group. You can stop the merging at any number of clusters and see the whole merge history in a dendrogram.</a:t>
            </a:r>
            <a:endParaRPr lang="en-US" sz="1400" dirty="0"/>
          </a:p>
        </p:txBody>
      </p:sp>
      <p:sp>
        <p:nvSpPr>
          <p:cNvPr id="7" name="Shape 5"/>
          <p:cNvSpPr/>
          <p:nvPr/>
        </p:nvSpPr>
        <p:spPr>
          <a:xfrm>
            <a:off x="6277356" y="2103120"/>
            <a:ext cx="5362956" cy="3291840"/>
          </a:xfrm>
          <a:prstGeom prst="roundRect">
            <a:avLst>
              <a:gd name="adj" fmla="val 1667"/>
            </a:avLst>
          </a:prstGeom>
          <a:solidFill>
            <a:srgbClr val="E4572E"/>
          </a:solidFill>
          <a:ln/>
        </p:spPr>
      </p:sp>
      <p:sp>
        <p:nvSpPr>
          <p:cNvPr id="8" name="Text 6"/>
          <p:cNvSpPr txBox="1"/>
          <p:nvPr/>
        </p:nvSpPr>
        <p:spPr>
          <a:xfrm>
            <a:off x="6597396" y="2377440"/>
            <a:ext cx="4722876" cy="8229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K-means (kclustering)</a:t>
            </a:r>
            <a:endParaRPr lang="en-US" sz="1700" dirty="0"/>
          </a:p>
        </p:txBody>
      </p:sp>
      <p:sp>
        <p:nvSpPr>
          <p:cNvPr id="9" name="Text 7"/>
          <p:cNvSpPr txBox="1"/>
          <p:nvPr/>
        </p:nvSpPr>
        <p:spPr>
          <a:xfrm>
            <a:off x="6597396" y="3200400"/>
            <a:ext cx="4722876" cy="21031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Starts by guessing k center points, assigns every player to the nearest center, then moves each center to the average of its assigned players and repeats until the groups stop changing.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player dataset and scan for k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Dataset: 183 Rotation Players</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194560"/>
            <a:ext cx="10360152" cy="246888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library(BasketballAnalyzeR)</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data(Pbox)</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sel &lt;- Pbox$MIN &gt;= 1500</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Xp &lt;- with(Pbox, data.frame(PTS, P3M, REB = OREB + DREB,</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AST, TOV, STL, BLK, PF))</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Xp &lt;- subset(Xp, sel)</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IDp &lt;- Pbox$Player[sel]</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hclu_scan &lt;- hclustering(Xp, labels = IDp, nclumax = 10)</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plot(hclu_scan)</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605 real players played in 2017-18. Filtering to MIN &gt;= 1500 keeps 183 real rotation players with enough of a real season to compare fairly.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Variance-Explained Curve</a:t>
            </a:r>
            <a:endParaRPr lang="en-US" sz="2800" dirty="0"/>
          </a:p>
        </p:txBody>
      </p:sp>
      <p:pic>
        <p:nvPicPr>
          <p:cNvPr id="4" name="Image 0" descr="module7_hclust_scree.png">    </p:cNvPr>
          <p:cNvPicPr>
            <a:picLocks noChangeAspect="1"/>
          </p:cNvPicPr>
          <p:nvPr/>
        </p:nvPicPr>
        <p:blipFill>
          <a:blip r:embed="rId1"/>
          <a:stretch>
            <a:fillRect/>
          </a:stretch>
        </p:blipFill>
        <p:spPr>
          <a:xfrm>
            <a:off x="3024705" y="1600200"/>
            <a:ext cx="6139543"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plot(hclustering(Xp, labels=IDp, nclumax=10)), real 183-player 2017-18 data, BasketballAnalyzeR.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Choosing k = 7, Honestly</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1828800"/>
        </p:xfrm>
        <a:graphic>
          <a:graphicData uri="http://schemas.openxmlformats.org/drawingml/2006/table">
            <a:tbl>
              <a:tblPr/>
              <a:tblGrid>
                <a:gridCol w="2862072"/>
                <a:gridCol w="5029200"/>
                <a:gridCol w="320040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Real variance explained</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Real gain</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6576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49.1%</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53.2%</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+4.1</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55.6%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+2.4</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58.2%</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11480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I picked k=7 because the real gain from adding a seventh cluster (+2.4 points) is the smallest gain up to that point in the curve, a real sign of diminishing returns. It also matches the exact k used in BasketballAnalyzeR's own documented player-clustering example. Picking k is a judgment call informed by real evidence, not a fixed rule, and I want you to see me make that call out loud.</a:t>
            </a:r>
            <a:endParaRPr lang="en-US" sz="15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hclustering(Xp, labels=IDp, nclumax=10)$VarianceBetween, real 2017-18 data.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Would You Have Picked a Different k?</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real curve.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If you had to defend a different number of clusters using only that real curve, what k would you pick and why?</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Is there a wrong answer here, or only a better-defended and worse-defended one?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Clustering and Choosing k,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What clustering does, why we standardize first, the two main methods, and how to use a real variance-explained curve to defend a choice of k.</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builds the actual real k=7 player clustering, reads a dendrogram, and compares hierarchical clustering to k-means.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building the real player clusters.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How to Read a Dendrogram</a:t>
            </a:r>
            <a:endParaRPr lang="en-US" sz="28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dendrogram is a tree of every real merge the algorithm made. Two players whose branches join low, near the bottom, were among the very first pairs merged, meaning they looked extremely similar in the real data. Two players (or two clusters) whose branches only join up near the top were similar enough to eventually group together, but only after nearly everyone else had already merged first. Cutting the tree at a chosen height is exactly how a value of k turns into real cluster assignments.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k=7 clustering and look at the dendrogram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Real Dendrogram, 183 Players, k = 7</a:t>
            </a:r>
            <a:endParaRPr lang="en-US" sz="2600" dirty="0"/>
          </a:p>
        </p:txBody>
      </p:sp>
      <p:pic>
        <p:nvPicPr>
          <p:cNvPr id="4" name="Image 0" descr="module7_hclust_dendrogram.png">    </p:cNvPr>
          <p:cNvPicPr>
            <a:picLocks noChangeAspect="1"/>
          </p:cNvPicPr>
          <p:nvPr/>
        </p:nvPicPr>
        <p:blipFill>
          <a:blip r:embed="rId1"/>
          <a:stretch>
            <a:fillRect/>
          </a:stretch>
        </p:blipFill>
        <p:spPr>
          <a:xfrm>
            <a:off x="4277106" y="1600200"/>
            <a:ext cx="3634740" cy="48463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plot(hclustering(Xp, labels=IDp, k=7)), colored by real cluster. Run it yourself to zoom into any player's name.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Did the Real Stars Land?</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377440" y="1920240"/>
          <a:ext cx="7434072" cy="4023360"/>
        </p:xfrm>
        <a:graphic>
          <a:graphicData uri="http://schemas.openxmlformats.org/drawingml/2006/table">
            <a:tbl>
              <a:tblPr/>
              <a:tblGrid>
                <a:gridCol w="4690872"/>
                <a:gridCol w="274320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Real cluster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LeBron James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James Harden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Russell Westbrook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Damian Lillard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Stephen Curry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Durant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Draymond Green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Giannis Antetokounmpo</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Anthony Davis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Rudy Gobert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hclu$Subjects, real hclustering(Xp, labels=IDp, k=7) output.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a Real Cluster's Identity: CHI</a:t>
            </a:r>
            <a:endParaRPr lang="en-US" sz="2800" dirty="0"/>
          </a:p>
        </p:txBody>
      </p:sp>
      <p:sp>
        <p:nvSpPr>
          <p:cNvPr id="4" name="Shape 2"/>
          <p:cNvSpPr/>
          <p:nvPr/>
        </p:nvSpPr>
        <p:spPr>
          <a:xfrm>
            <a:off x="548640" y="2011680"/>
            <a:ext cx="11091672" cy="1371600"/>
          </a:xfrm>
          <a:prstGeom prst="roundRect">
            <a:avLst>
              <a:gd name="adj" fmla="val 4000"/>
            </a:avLst>
          </a:prstGeom>
          <a:solidFill>
            <a:srgbClr val="27496D"/>
          </a:solidFill>
          <a:ln/>
        </p:spPr>
      </p:sp>
      <p:sp>
        <p:nvSpPr>
          <p:cNvPr id="5" name="Text 3"/>
          <p:cNvSpPr txBox="1"/>
          <p:nvPr/>
        </p:nvSpPr>
        <p:spPr>
          <a:xfrm>
            <a:off x="914400" y="2240280"/>
            <a:ext cx="10360152" cy="91440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CHI (cluster heterogeneity index) measures how spread out the real players inside one cluster still are. A CHI near 1.0 groups together players who share a real, distinctive shape but are not identical to each other. A CHI near 0.2 groups together players who genuinely look alike.</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1672" cy="2377440"/>
        </p:xfrm>
        <a:graphic>
          <a:graphicData uri="http://schemas.openxmlformats.org/drawingml/2006/table">
            <a:tbl>
              <a:tblPr/>
              <a:tblGrid>
                <a:gridCol w="1947672"/>
                <a:gridCol w="1828800"/>
                <a:gridCol w="7315200"/>
              </a:tblGrid>
              <a:tr h="396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Real cluster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Real CHI</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Real identity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Versatile do-everything forwards (Durant, Draymond, Giannis, A. Davis)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0.77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Primary ball-handling engines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Perimeter shooting wings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Balanced, moderate role players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Limited-role bench players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GAME FOOTAGE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 Real Rim Protector Looks Like</a:t>
            </a:r>
            <a:endParaRPr lang="en-US" sz="2800" dirty="0"/>
          </a:p>
        </p:txBody>
      </p:sp>
      <p:sp>
        <p:nvSpPr>
          <p:cNvPr id="4" name="Shape 2"/>
          <p:cNvSpPr/>
          <p:nvPr/>
        </p:nvSpPr>
        <p:spPr>
          <a:xfrm>
            <a:off x="548640" y="2011680"/>
            <a:ext cx="11091672" cy="3291840"/>
          </a:xfrm>
          <a:prstGeom prst="roundRect">
            <a:avLst>
              <a:gd name="adj" fmla="val 1667"/>
            </a:avLst>
          </a:prstGeom>
          <a:solidFill>
            <a:srgbClr val="0B1D33"/>
          </a:solidFill>
          <a:ln/>
        </p:spPr>
      </p:sp>
      <p:sp>
        <p:nvSpPr>
          <p:cNvPr id="5" name="Shape 3"/>
          <p:cNvSpPr/>
          <p:nvPr/>
        </p:nvSpPr>
        <p:spPr>
          <a:xfrm>
            <a:off x="1097280" y="2514600"/>
            <a:ext cx="2377440" cy="1737360"/>
          </a:xfrm>
          <a:prstGeom prst="roundRect">
            <a:avLst>
              <a:gd name="adj" fmla="val 4211"/>
            </a:avLst>
          </a:prstGeom>
          <a:solidFill>
            <a:srgbClr val="E4572E"/>
          </a:solidFill>
          <a:ln/>
        </p:spPr>
      </p:sp>
      <p:sp>
        <p:nvSpPr>
          <p:cNvPr id="6" name="Text 4"/>
          <p:cNvSpPr txBox="1"/>
          <p:nvPr/>
        </p:nvSpPr>
        <p:spPr>
          <a:xfrm>
            <a:off x="1097280" y="2514600"/>
            <a:ext cx="2377440" cy="1737360"/>
          </a:xfrm>
          <a:prstGeom prst="rect">
            <a:avLst/>
          </a:prstGeom>
          <a:noFill/>
          <a:ln/>
        </p:spPr>
        <p:txBody>
          <a:bodyPr wrap="square" lIns="0" tIns="0" rIns="0" bIns="0" rtlCol="0" anchor="ctr"/>
          <a:lstStyle/>
          <a:p>
            <a:pPr algn="ctr" indent="0" marL="0">
              <a:buNone/>
            </a:pPr>
            <a:r>
              <a:rPr lang="en-US" sz="4400" dirty="0">
                <a:solidFill>
                  <a:srgbClr val="FFFFFF"/>
                </a:solidFill>
              </a:rPr>
              <a:t>▶</a:t>
            </a:r>
            <a:endParaRPr lang="en-US" sz="4400" dirty="0"/>
          </a:p>
        </p:txBody>
      </p:sp>
      <p:sp>
        <p:nvSpPr>
          <p:cNvPr id="7" name="Text 5"/>
          <p:cNvSpPr txBox="1"/>
          <p:nvPr/>
        </p:nvSpPr>
        <p:spPr>
          <a:xfrm>
            <a:off x="3840480" y="2514600"/>
            <a:ext cx="7434072" cy="1737360"/>
          </a:xfrm>
          <a:prstGeom prst="rect">
            <a:avLst/>
          </a:prstGeom>
          <a:noFill/>
          <a:ln/>
        </p:spPr>
        <p:txBody>
          <a:bodyPr wrap="square" lIns="0" tIns="0" rIns="0" bIns="0" rtlCol="0" anchor="t"/>
          <a:lstStyle/>
          <a:p>
            <a:pPr indent="0" marL="0">
              <a:lnSpc>
                <a:spcPct val="140000"/>
              </a:lnSpc>
              <a:buNone/>
            </a:pPr>
            <a:r>
              <a:rPr lang="en-US" sz="2000" b="1" dirty="0">
                <a:solidFill>
                  <a:srgbClr val="FFFFFF"/>
                </a:solidFill>
                <a:latin typeface="Calibri" pitchFamily="34" charset="0"/>
                <a:ea typeface="Calibri" pitchFamily="34" charset="-122"/>
                <a:cs typeface="Calibri" pitchFamily="34" charset="-120"/>
              </a:rPr>
              <a:t>Rudy Gobert - Rugged Rim Protector 16/17 (Block Party)
</a:t>
            </a:r>
            <a:pPr indent="0" marL="0">
              <a:lnSpc>
                <a:spcPct val="140000"/>
              </a:lnSpc>
              <a:buNone/>
            </a:pPr>
            <a:r>
              <a:rPr lang="en-US" sz="1400" dirty="0">
                <a:solidFill>
                  <a:srgbClr val="AEBBD1"/>
                </a:solidFill>
                <a:latin typeface="Calibri" pitchFamily="34" charset="0"/>
                <a:ea typeface="Calibri" pitchFamily="34" charset="-122"/>
                <a:cs typeface="Calibri" pitchFamily="34" charset="-120"/>
              </a:rPr>
              <a:t>Channel: as listed on YouTube search result
</a:t>
            </a:r>
            <a:pPr indent="0" marL="0">
              <a:lnSpc>
                <a:spcPct val="140000"/>
              </a:lnSpc>
              <a:buNone/>
            </a:pPr>
            <a:r>
              <a:rPr lang="en-US" sz="1200" i="1" dirty="0">
                <a:solidFill>
                  <a:srgbClr val="AEBBD1"/>
                </a:solidFill>
                <a:latin typeface="Calibri" pitchFamily="34" charset="0"/>
                <a:ea typeface="Calibri" pitchFamily="34" charset="-122"/>
                <a:cs typeface="Calibri" pitchFamily="34" charset="-120"/>
              </a:rPr>
              <a:t>https://www.youtube.com/watch?v=3hc5uitfYjk</a:t>
            </a:r>
            <a:endParaRPr lang="en-US" sz="2000" dirty="0"/>
          </a:p>
        </p:txBody>
      </p:sp>
      <p:sp>
        <p:nvSpPr>
          <p:cNvPr id="8" name="Text 6"/>
          <p:cNvSpPr txBox="1"/>
          <p:nvPr/>
        </p:nvSpPr>
        <p:spPr>
          <a:xfrm>
            <a:off x="1097280" y="4434840"/>
            <a:ext cx="9994392" cy="731520"/>
          </a:xfrm>
          <a:prstGeom prst="rect">
            <a:avLst/>
          </a:prstGeom>
          <a:noFill/>
          <a:ln/>
        </p:spPr>
        <p:txBody>
          <a:bodyPr wrap="square" lIns="0" tIns="0" rIns="0" bIns="0" rtlCol="0" anchor="ctr"/>
          <a:lstStyle/>
          <a:p>
            <a:pPr indent="0" marL="0">
              <a:lnSpc>
                <a:spcPct val="130000"/>
              </a:lnSpc>
              <a:buNone/>
            </a:pPr>
            <a:r>
              <a:rPr lang="en-US" sz="1300" i="1" dirty="0">
                <a:solidFill>
                  <a:srgbClr val="AEBBD1"/>
                </a:solidFill>
                <a:latin typeface="Calibri" pitchFamily="34" charset="0"/>
                <a:ea typeface="Calibri" pitchFamily="34" charset="-122"/>
                <a:cs typeface="Calibri" pitchFamily="34" charset="-120"/>
              </a:rPr>
              <a:t>Real game footage grounding Cluster 3 (“rim-protecting bigs,” far below-average P3M, far above-average blocks). Confirmed to exist via web search; channel name and runtime not independently confirmed, so verify before assigning.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GAME FOOTAGE / CONCEPT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 Real “Versatile Forward” Looks Like</a:t>
            </a:r>
            <a:endParaRPr lang="en-US" sz="2800" dirty="0"/>
          </a:p>
        </p:txBody>
      </p:sp>
      <p:sp>
        <p:nvSpPr>
          <p:cNvPr id="4" name="Shape 2"/>
          <p:cNvSpPr/>
          <p:nvPr/>
        </p:nvSpPr>
        <p:spPr>
          <a:xfrm>
            <a:off x="548640" y="2011680"/>
            <a:ext cx="11091672" cy="3291840"/>
          </a:xfrm>
          <a:prstGeom prst="roundRect">
            <a:avLst>
              <a:gd name="adj" fmla="val 1667"/>
            </a:avLst>
          </a:prstGeom>
          <a:solidFill>
            <a:srgbClr val="0B1D33"/>
          </a:solidFill>
          <a:ln/>
        </p:spPr>
      </p:sp>
      <p:sp>
        <p:nvSpPr>
          <p:cNvPr id="5" name="Shape 3"/>
          <p:cNvSpPr/>
          <p:nvPr/>
        </p:nvSpPr>
        <p:spPr>
          <a:xfrm>
            <a:off x="1097280" y="2514600"/>
            <a:ext cx="2377440" cy="1737360"/>
          </a:xfrm>
          <a:prstGeom prst="roundRect">
            <a:avLst>
              <a:gd name="adj" fmla="val 4211"/>
            </a:avLst>
          </a:prstGeom>
          <a:solidFill>
            <a:srgbClr val="E4572E"/>
          </a:solidFill>
          <a:ln/>
        </p:spPr>
      </p:sp>
      <p:sp>
        <p:nvSpPr>
          <p:cNvPr id="6" name="Text 4"/>
          <p:cNvSpPr txBox="1"/>
          <p:nvPr/>
        </p:nvSpPr>
        <p:spPr>
          <a:xfrm>
            <a:off x="1097280" y="2514600"/>
            <a:ext cx="2377440" cy="1737360"/>
          </a:xfrm>
          <a:prstGeom prst="rect">
            <a:avLst/>
          </a:prstGeom>
          <a:noFill/>
          <a:ln/>
        </p:spPr>
        <p:txBody>
          <a:bodyPr wrap="square" lIns="0" tIns="0" rIns="0" bIns="0" rtlCol="0" anchor="ctr"/>
          <a:lstStyle/>
          <a:p>
            <a:pPr algn="ctr" indent="0" marL="0">
              <a:buNone/>
            </a:pPr>
            <a:r>
              <a:rPr lang="en-US" sz="4400" dirty="0">
                <a:solidFill>
                  <a:srgbClr val="FFFFFF"/>
                </a:solidFill>
              </a:rPr>
              <a:t>▶</a:t>
            </a:r>
            <a:endParaRPr lang="en-US" sz="4400" dirty="0"/>
          </a:p>
        </p:txBody>
      </p:sp>
      <p:sp>
        <p:nvSpPr>
          <p:cNvPr id="7" name="Text 5"/>
          <p:cNvSpPr txBox="1"/>
          <p:nvPr/>
        </p:nvSpPr>
        <p:spPr>
          <a:xfrm>
            <a:off x="3840480" y="2514600"/>
            <a:ext cx="7434072" cy="1737360"/>
          </a:xfrm>
          <a:prstGeom prst="rect">
            <a:avLst/>
          </a:prstGeom>
          <a:noFill/>
          <a:ln/>
        </p:spPr>
        <p:txBody>
          <a:bodyPr wrap="square" lIns="0" tIns="0" rIns="0" bIns="0" rtlCol="0" anchor="t"/>
          <a:lstStyle/>
          <a:p>
            <a:pPr indent="0" marL="0">
              <a:lnSpc>
                <a:spcPct val="140000"/>
              </a:lnSpc>
              <a:buNone/>
            </a:pPr>
            <a:r>
              <a:rPr lang="en-US" sz="2000" b="1" dirty="0">
                <a:solidFill>
                  <a:srgbClr val="FFFFFF"/>
                </a:solidFill>
                <a:latin typeface="Calibri" pitchFamily="34" charset="0"/>
                <a:ea typeface="Calibri" pitchFamily="34" charset="-122"/>
                <a:cs typeface="Calibri" pitchFamily="34" charset="-120"/>
              </a:rPr>
              <a:t>The Evolution of Positionless Basketball
</a:t>
            </a:r>
            <a:pPr indent="0" marL="0">
              <a:lnSpc>
                <a:spcPct val="140000"/>
              </a:lnSpc>
              <a:buNone/>
            </a:pPr>
            <a:r>
              <a:rPr lang="en-US" sz="1400" dirty="0">
                <a:solidFill>
                  <a:srgbClr val="AEBBD1"/>
                </a:solidFill>
                <a:latin typeface="Calibri" pitchFamily="34" charset="0"/>
                <a:ea typeface="Calibri" pitchFamily="34" charset="-122"/>
                <a:cs typeface="Calibri" pitchFamily="34" charset="-120"/>
              </a:rPr>
              <a:t>Channel: as listed on YouTube search result
</a:t>
            </a:r>
            <a:pPr indent="0" marL="0">
              <a:lnSpc>
                <a:spcPct val="140000"/>
              </a:lnSpc>
              <a:buNone/>
            </a:pPr>
            <a:r>
              <a:rPr lang="en-US" sz="1200" i="1" dirty="0">
                <a:solidFill>
                  <a:srgbClr val="AEBBD1"/>
                </a:solidFill>
                <a:latin typeface="Calibri" pitchFamily="34" charset="0"/>
                <a:ea typeface="Calibri" pitchFamily="34" charset="-122"/>
                <a:cs typeface="Calibri" pitchFamily="34" charset="-120"/>
              </a:rPr>
              <a:t>https://www.youtube.com/watch?v=TdKHVK9EQ9Q</a:t>
            </a:r>
            <a:endParaRPr lang="en-US" sz="2000" dirty="0"/>
          </a:p>
        </p:txBody>
      </p:sp>
      <p:sp>
        <p:nvSpPr>
          <p:cNvPr id="8" name="Text 6"/>
          <p:cNvSpPr txBox="1"/>
          <p:nvPr/>
        </p:nvSpPr>
        <p:spPr>
          <a:xfrm>
            <a:off x="1097280" y="4434840"/>
            <a:ext cx="9994392" cy="731520"/>
          </a:xfrm>
          <a:prstGeom prst="rect">
            <a:avLst/>
          </a:prstGeom>
          <a:noFill/>
          <a:ln/>
        </p:spPr>
        <p:txBody>
          <a:bodyPr wrap="square" lIns="0" tIns="0" rIns="0" bIns="0" rtlCol="0" anchor="ctr"/>
          <a:lstStyle/>
          <a:p>
            <a:pPr indent="0" marL="0">
              <a:lnSpc>
                <a:spcPct val="130000"/>
              </a:lnSpc>
              <a:buNone/>
            </a:pPr>
            <a:r>
              <a:rPr lang="en-US" sz="1300" i="1" dirty="0">
                <a:solidFill>
                  <a:srgbClr val="AEBBD1"/>
                </a:solidFill>
                <a:latin typeface="Calibri" pitchFamily="34" charset="0"/>
                <a:ea typeface="Calibri" pitchFamily="34" charset="-122"/>
                <a:cs typeface="Calibri" pitchFamily="34" charset="-120"/>
              </a:rPr>
              <a:t>Grounds Cluster 6 (Durant, Draymond, Giannis, A. Davis; real CHI = 0.95) in real game context before we look at that cluster's varied statistical profile. Confirmed to exist via web search; channel name and runtime not independently confirmed, so verify before assigning.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All Seven Real Cluster Profiles at Once</a:t>
            </a:r>
            <a:endParaRPr lang="en-US" sz="2600" dirty="0"/>
          </a:p>
        </p:txBody>
      </p:sp>
      <p:pic>
        <p:nvPicPr>
          <p:cNvPr id="4" name="Image 0" descr="module7_hclust_player_radial_profiles.png">    </p:cNvPr>
          <p:cNvPicPr>
            <a:picLocks noChangeAspect="1"/>
          </p:cNvPicPr>
          <p:nvPr/>
        </p:nvPicPr>
        <p:blipFill>
          <a:blip r:embed="rId1"/>
          <a:stretch>
            <a:fillRect/>
          </a:stretch>
        </p:blipFill>
        <p:spPr>
          <a:xfrm>
            <a:off x="2502190" y="1691640"/>
            <a:ext cx="7184571"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plot(hclu, profiles=TRUE), real 2017-18 data. Each spoke is one real, standardized box score variable.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The Most Varied Group Also Has the Biggest Stars</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0.95</a:t>
            </a:r>
            <a:endParaRPr lang="en-US" sz="6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Cluster 6's real CHI,</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the highest of all seven</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player clusters</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Compare that to: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Cluster 7's real CHI of 0.19, the most uniform group of all seven.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this makes sense: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Cluster 6's real members (Durant, Draymond, Giannis, Anthony Davis) all share a versatile, do-everything shape, but they are still four very different players. Cluster 7's real members are simply similar to each other in a much narrower, more limited way.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CODING-SYNTAX TUTORIAL</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Second Walkthrough of K-Means on Real NBA Data</a:t>
            </a:r>
            <a:endParaRPr lang="en-US" sz="2800" dirty="0"/>
          </a:p>
        </p:txBody>
      </p:sp>
      <p:sp>
        <p:nvSpPr>
          <p:cNvPr id="4" name="Shape 2"/>
          <p:cNvSpPr/>
          <p:nvPr/>
        </p:nvSpPr>
        <p:spPr>
          <a:xfrm>
            <a:off x="548640" y="2011680"/>
            <a:ext cx="11091672" cy="3291840"/>
          </a:xfrm>
          <a:prstGeom prst="roundRect">
            <a:avLst>
              <a:gd name="adj" fmla="val 1667"/>
            </a:avLst>
          </a:prstGeom>
          <a:solidFill>
            <a:srgbClr val="0B1D33"/>
          </a:solidFill>
          <a:ln/>
        </p:spPr>
      </p:sp>
      <p:sp>
        <p:nvSpPr>
          <p:cNvPr id="5" name="Shape 3"/>
          <p:cNvSpPr/>
          <p:nvPr/>
        </p:nvSpPr>
        <p:spPr>
          <a:xfrm>
            <a:off x="1097280" y="2514600"/>
            <a:ext cx="2377440" cy="1737360"/>
          </a:xfrm>
          <a:prstGeom prst="roundRect">
            <a:avLst>
              <a:gd name="adj" fmla="val 4211"/>
            </a:avLst>
          </a:prstGeom>
          <a:solidFill>
            <a:srgbClr val="E4572E"/>
          </a:solidFill>
          <a:ln/>
        </p:spPr>
      </p:sp>
      <p:sp>
        <p:nvSpPr>
          <p:cNvPr id="6" name="Text 4"/>
          <p:cNvSpPr txBox="1"/>
          <p:nvPr/>
        </p:nvSpPr>
        <p:spPr>
          <a:xfrm>
            <a:off x="1097280" y="2514600"/>
            <a:ext cx="2377440" cy="1737360"/>
          </a:xfrm>
          <a:prstGeom prst="rect">
            <a:avLst/>
          </a:prstGeom>
          <a:noFill/>
          <a:ln/>
        </p:spPr>
        <p:txBody>
          <a:bodyPr wrap="square" lIns="0" tIns="0" rIns="0" bIns="0" rtlCol="0" anchor="ctr"/>
          <a:lstStyle/>
          <a:p>
            <a:pPr algn="ctr" indent="0" marL="0">
              <a:buNone/>
            </a:pPr>
            <a:r>
              <a:rPr lang="en-US" sz="4400" dirty="0">
                <a:solidFill>
                  <a:srgbClr val="FFFFFF"/>
                </a:solidFill>
              </a:rPr>
              <a:t>▶</a:t>
            </a:r>
            <a:endParaRPr lang="en-US" sz="4400" dirty="0"/>
          </a:p>
        </p:txBody>
      </p:sp>
      <p:sp>
        <p:nvSpPr>
          <p:cNvPr id="7" name="Text 5"/>
          <p:cNvSpPr txBox="1"/>
          <p:nvPr/>
        </p:nvSpPr>
        <p:spPr>
          <a:xfrm>
            <a:off x="3840480" y="2514600"/>
            <a:ext cx="7434072" cy="1737360"/>
          </a:xfrm>
          <a:prstGeom prst="rect">
            <a:avLst/>
          </a:prstGeom>
          <a:noFill/>
          <a:ln/>
        </p:spPr>
        <p:txBody>
          <a:bodyPr wrap="square" lIns="0" tIns="0" rIns="0" bIns="0" rtlCol="0" anchor="t"/>
          <a:lstStyle/>
          <a:p>
            <a:pPr indent="0" marL="0">
              <a:lnSpc>
                <a:spcPct val="140000"/>
              </a:lnSpc>
              <a:buNone/>
            </a:pPr>
            <a:r>
              <a:rPr lang="en-US" sz="2000" b="1" dirty="0">
                <a:solidFill>
                  <a:srgbClr val="FFFFFF"/>
                </a:solidFill>
                <a:latin typeface="Calibri" pitchFamily="34" charset="0"/>
                <a:ea typeface="Calibri" pitchFamily="34" charset="-122"/>
                <a:cs typeface="Calibri" pitchFamily="34" charset="-120"/>
              </a:rPr>
              <a:t>Identifying NBA Player Archetypes Using KMeans Clustering - Part One
</a:t>
            </a:r>
            <a:pPr indent="0" marL="0">
              <a:lnSpc>
                <a:spcPct val="140000"/>
              </a:lnSpc>
              <a:buNone/>
            </a:pPr>
            <a:r>
              <a:rPr lang="en-US" sz="1400" dirty="0">
                <a:solidFill>
                  <a:srgbClr val="AEBBD1"/>
                </a:solidFill>
                <a:latin typeface="Calibri" pitchFamily="34" charset="0"/>
                <a:ea typeface="Calibri" pitchFamily="34" charset="-122"/>
                <a:cs typeface="Calibri" pitchFamily="34" charset="-120"/>
              </a:rPr>
              <a:t>Channel: Nick's Niche
</a:t>
            </a:r>
            <a:pPr indent="0" marL="0">
              <a:lnSpc>
                <a:spcPct val="140000"/>
              </a:lnSpc>
              <a:buNone/>
            </a:pPr>
            <a:r>
              <a:rPr lang="en-US" sz="1200" i="1" dirty="0">
                <a:solidFill>
                  <a:srgbClr val="AEBBD1"/>
                </a:solidFill>
                <a:latin typeface="Calibri" pitchFamily="34" charset="0"/>
                <a:ea typeface="Calibri" pitchFamily="34" charset="-122"/>
                <a:cs typeface="Calibri" pitchFamily="34" charset="-120"/>
              </a:rPr>
              <a:t>https://www.youtube.com/watch?v=-FjW5E0U8gY</a:t>
            </a:r>
            <a:endParaRPr lang="en-US" sz="2000" dirty="0"/>
          </a:p>
        </p:txBody>
      </p:sp>
      <p:sp>
        <p:nvSpPr>
          <p:cNvPr id="8" name="Text 6"/>
          <p:cNvSpPr txBox="1"/>
          <p:nvPr/>
        </p:nvSpPr>
        <p:spPr>
          <a:xfrm>
            <a:off x="1097280" y="4434840"/>
            <a:ext cx="9994392" cy="731520"/>
          </a:xfrm>
          <a:prstGeom prst="rect">
            <a:avLst/>
          </a:prstGeom>
          <a:noFill/>
          <a:ln/>
        </p:spPr>
        <p:txBody>
          <a:bodyPr wrap="square" lIns="0" tIns="0" rIns="0" bIns="0" rtlCol="0" anchor="ctr"/>
          <a:lstStyle/>
          <a:p>
            <a:pPr indent="0" marL="0">
              <a:lnSpc>
                <a:spcPct val="130000"/>
              </a:lnSpc>
              <a:buNone/>
            </a:pPr>
            <a:r>
              <a:rPr lang="en-US" sz="1300" i="1" dirty="0">
                <a:solidFill>
                  <a:srgbClr val="AEBBD1"/>
                </a:solidFill>
                <a:latin typeface="Calibri" pitchFamily="34" charset="0"/>
                <a:ea typeface="Calibri" pitchFamily="34" charset="-122"/>
                <a:cs typeface="Calibri" pitchFamily="34" charset="-120"/>
              </a:rPr>
              <a:t>A real coding-syntax tutorial applying k-means clustering to real NBA player data, useful alongside today's own live coding. Channel confirmed by fetching the tutorial's own companion article, which embeds this exact video; exact runtime not independently confirmed, so verify before assigning.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k-means clustering on the same data.</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Same Real Players, a Different Method</a:t>
            </a:r>
            <a:endParaRPr lang="en-US" sz="2700" dirty="0"/>
          </a:p>
        </p:txBody>
      </p:sp>
      <p:sp>
        <p:nvSpPr>
          <p:cNvPr id="4" name="Shape 2"/>
          <p:cNvSpPr/>
          <p:nvPr/>
        </p:nvSpPr>
        <p:spPr>
          <a:xfrm>
            <a:off x="548640" y="2011680"/>
            <a:ext cx="11091672" cy="1828800"/>
          </a:xfrm>
          <a:prstGeom prst="roundRect">
            <a:avLst>
              <a:gd name="adj" fmla="val 3000"/>
            </a:avLst>
          </a:prstGeom>
          <a:solidFill>
            <a:srgbClr val="0B1D33"/>
          </a:solidFill>
          <a:ln/>
        </p:spPr>
      </p:sp>
      <p:sp>
        <p:nvSpPr>
          <p:cNvPr id="5" name="Text 3"/>
          <p:cNvSpPr txBox="1"/>
          <p:nvPr/>
        </p:nvSpPr>
        <p:spPr>
          <a:xfrm>
            <a:off x="914400" y="2194560"/>
            <a:ext cx="10360152" cy="146304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kclu &lt;- kclustering(Xp, labels = IDp, k = 7, nruns = 25)</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sapply(kclu$ClusterList, length)</a:t>
            </a:r>
            <a:endParaRPr lang="en-US" sz="1600" dirty="0"/>
          </a:p>
        </p:txBody>
      </p:sp>
      <p:sp>
        <p:nvSpPr>
          <p:cNvPr id="6" name="Text 4"/>
          <p:cNvSpPr txBox="1"/>
          <p:nvPr/>
        </p:nvSpPr>
        <p:spPr>
          <a:xfrm>
            <a:off x="548640" y="411480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Real k-means cluster sizes: 36, 47, 14, 13, 27, 23, 23 (compare to hierarchical clustering's real 28, 29, 19, 33, 43, 16, 15). Same k, same real data, a genuinely different set of group sizes, because the two methods build groups in different ways.</a:t>
            </a:r>
            <a:endParaRPr lang="en-US" sz="15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kclustering(Xp, labels=IDp, k=7, nruns=25), real 2017-18 data, BasketballAnalyzeR.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Do the Two Real Methods Agree?</a:t>
            </a:r>
            <a:endParaRPr lang="en-US" sz="2800" dirty="0"/>
          </a:p>
        </p:txBody>
      </p:sp>
      <p:sp>
        <p:nvSpPr>
          <p:cNvPr id="4" name="Shape 2"/>
          <p:cNvSpPr/>
          <p:nvPr/>
        </p:nvSpPr>
        <p:spPr>
          <a:xfrm>
            <a:off x="548640" y="2011680"/>
            <a:ext cx="11091672" cy="1280160"/>
          </a:xfrm>
          <a:prstGeom prst="roundRect">
            <a:avLst>
              <a:gd name="adj" fmla="val 4286"/>
            </a:avLst>
          </a:prstGeom>
          <a:solidFill>
            <a:srgbClr val="EDF1F7"/>
          </a:solidFill>
          <a:ln/>
        </p:spPr>
      </p:sp>
      <p:sp>
        <p:nvSpPr>
          <p:cNvPr id="5" name="Text 3"/>
          <p:cNvSpPr txBox="1"/>
          <p:nvPr/>
        </p:nvSpPr>
        <p:spPr>
          <a:xfrm>
            <a:off x="914400" y="2240280"/>
            <a:ext cx="10360152" cy="82296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I cross-tabulated the real hierarchical cluster against the real k-means cluster for all 183 players, then took, for each hierarchical cluster, whichever k-means cluster captured the largest share of its members.</a:t>
            </a:r>
            <a:endParaRPr lang="en-US" sz="1500" dirty="0"/>
          </a:p>
        </p:txBody>
      </p:sp>
      <p:sp>
        <p:nvSpPr>
          <p:cNvPr id="6" name="Shape 4"/>
          <p:cNvSpPr/>
          <p:nvPr/>
        </p:nvSpPr>
        <p:spPr>
          <a:xfrm>
            <a:off x="548640" y="3474720"/>
            <a:ext cx="3840480" cy="2651760"/>
          </a:xfrm>
          <a:prstGeom prst="roundRect">
            <a:avLst>
              <a:gd name="adj" fmla="val 2069"/>
            </a:avLst>
          </a:prstGeom>
          <a:solidFill>
            <a:srgbClr val="E4572E"/>
          </a:solidFill>
          <a:ln/>
        </p:spPr>
      </p:sp>
      <p:sp>
        <p:nvSpPr>
          <p:cNvPr id="7" name="Text 5"/>
          <p:cNvSpPr txBox="1"/>
          <p:nvPr/>
        </p:nvSpPr>
        <p:spPr>
          <a:xfrm>
            <a:off x="548640" y="3794760"/>
            <a:ext cx="384048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67.8%</a:t>
            </a:r>
            <a:endParaRPr lang="en-US" sz="4800" dirty="0"/>
          </a:p>
        </p:txBody>
      </p:sp>
      <p:sp>
        <p:nvSpPr>
          <p:cNvPr id="8" name="Text 6"/>
          <p:cNvSpPr txBox="1"/>
          <p:nvPr/>
        </p:nvSpPr>
        <p:spPr>
          <a:xfrm>
            <a:off x="822960" y="4846320"/>
            <a:ext cx="3291840" cy="109728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real players land in the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same modal group under</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both real methods</a:t>
            </a:r>
            <a:endParaRPr lang="en-US" sz="1300" dirty="0"/>
          </a:p>
        </p:txBody>
      </p:sp>
      <p:sp>
        <p:nvSpPr>
          <p:cNvPr id="9" name="Text 7"/>
          <p:cNvSpPr txBox="1"/>
          <p:nvPr/>
        </p:nvSpPr>
        <p:spPr>
          <a:xfrm>
            <a:off x="4754880" y="3566160"/>
            <a:ext cx="6885432" cy="246888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That is real agreement on the big picture, not a perfect match. The two methods build groups differently, so they draw slightly different boundaries even when they broadly agree on the shapes in the data.</a:t>
            </a:r>
            <a:endParaRPr lang="en-US" sz="15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table(Hierarchical=hclu$Subjects$Cluster, Kmeans=kclu$Subjects$Cluster), real 2017-18 data.</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Agreement Is Not Even Across Clusters</a:t>
            </a:r>
            <a:endParaRPr lang="en-US" sz="2600" dirty="0"/>
          </a:p>
        </p:txBody>
      </p:sp>
      <p:sp>
        <p:nvSpPr>
          <p:cNvPr id="4" name="Shape 2"/>
          <p:cNvSpPr/>
          <p:nvPr/>
        </p:nvSpPr>
        <p:spPr>
          <a:xfrm>
            <a:off x="548640" y="2103120"/>
            <a:ext cx="5362956" cy="3108960"/>
          </a:xfrm>
          <a:prstGeom prst="roundRect">
            <a:avLst>
              <a:gd name="adj" fmla="val 1765"/>
            </a:avLst>
          </a:prstGeom>
          <a:solidFill>
            <a:srgbClr val="27496D"/>
          </a:solidFill>
          <a:ln/>
        </p:spPr>
      </p:sp>
      <p:sp>
        <p:nvSpPr>
          <p:cNvPr id="5" name="Text 3"/>
          <p:cNvSpPr txBox="1"/>
          <p:nvPr/>
        </p:nvSpPr>
        <p:spPr>
          <a:xfrm>
            <a:off x="548640" y="2377440"/>
            <a:ext cx="5362956"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89.5%</a:t>
            </a:r>
            <a:endParaRPr lang="en-US" sz="4400" dirty="0"/>
          </a:p>
        </p:txBody>
      </p:sp>
      <p:sp>
        <p:nvSpPr>
          <p:cNvPr id="6" name="Text 4"/>
          <p:cNvSpPr txBox="1"/>
          <p:nvPr/>
        </p:nvSpPr>
        <p:spPr>
          <a:xfrm>
            <a:off x="822960" y="3383280"/>
            <a:ext cx="4814316" cy="146304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agreement for Cluster 3,</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rim-protecting bigs, a</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statistically distinctive group</a:t>
            </a:r>
            <a:endParaRPr lang="en-US" sz="1400" dirty="0"/>
          </a:p>
        </p:txBody>
      </p:sp>
      <p:sp>
        <p:nvSpPr>
          <p:cNvPr id="7" name="Shape 5"/>
          <p:cNvSpPr/>
          <p:nvPr/>
        </p:nvSpPr>
        <p:spPr>
          <a:xfrm>
            <a:off x="6277356" y="2103120"/>
            <a:ext cx="5362956" cy="3108960"/>
          </a:xfrm>
          <a:prstGeom prst="roundRect">
            <a:avLst>
              <a:gd name="adj" fmla="val 1765"/>
            </a:avLst>
          </a:prstGeom>
          <a:solidFill>
            <a:srgbClr val="E4572E"/>
          </a:solidFill>
          <a:ln/>
        </p:spPr>
      </p:sp>
      <p:sp>
        <p:nvSpPr>
          <p:cNvPr id="8" name="Text 6"/>
          <p:cNvSpPr txBox="1"/>
          <p:nvPr/>
        </p:nvSpPr>
        <p:spPr>
          <a:xfrm>
            <a:off x="6277356" y="2377440"/>
            <a:ext cx="5362956"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51.2%</a:t>
            </a:r>
            <a:endParaRPr lang="en-US" sz="4400" dirty="0"/>
          </a:p>
        </p:txBody>
      </p:sp>
      <p:sp>
        <p:nvSpPr>
          <p:cNvPr id="9" name="Text 7"/>
          <p:cNvSpPr txBox="1"/>
          <p:nvPr/>
        </p:nvSpPr>
        <p:spPr>
          <a:xfrm>
            <a:off x="6551676" y="3383280"/>
            <a:ext cx="4814316" cy="146304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agreement for Cluster 5,</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perimeter shooters, a</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fuzzier statistical middle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Find a Real Boundary-Case Player</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Get into groups of 3-4. Using the real cross-tabulation and cluster profiles, pick one real player you think is a genuine “boundary case,” likely to shift clusters depending on the exact method or exact variables used.</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Name the player and their real cluster under each method.</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Explain, using their real box score profile, why they sit close to two different groups at once.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Real Player Clusters,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the real k=7 hierarchical clustering, read a dendrogram, met all seven real cluster identities, and compared results against real k-means (67.8% overall agreement).</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maps real player similarity in 2D, then clusters real NBA teams by their statistical identity.</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mapping similarity, then clustering real teams.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Flattening Many Variables Into a 2D Map</a:t>
            </a:r>
            <a:endParaRPr lang="en-US" sz="28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dendrogram shows merge order. A map shows distance directly: players who look alike sit close together on the page, players who look different sit far apart. `MDSmap()` compresses our real eight-variable player data down into just two dimensions we can actually plot, using multidimensional scaling. Compressing eight real dimensions into two always loses some information; the real stress index tells you how much.</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2D similarity map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Real 2D Map of Player Similarity</a:t>
            </a:r>
            <a:endParaRPr lang="en-US" sz="2700" dirty="0"/>
          </a:p>
        </p:txBody>
      </p:sp>
      <p:pic>
        <p:nvPicPr>
          <p:cNvPr id="4" name="Image 0" descr="module7_mds_player_map.png">    </p:cNvPr>
          <p:cNvPicPr>
            <a:picLocks noChangeAspect="1"/>
          </p:cNvPicPr>
          <p:nvPr/>
        </p:nvPicPr>
        <p:blipFill>
          <a:blip r:embed="rId1"/>
          <a:stretch>
            <a:fillRect/>
          </a:stretch>
        </p:blipFill>
        <p:spPr>
          <a:xfrm>
            <a:off x="3198876" y="1600200"/>
            <a:ext cx="579120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plot(MDSmap(Xp)), real stress = 13.9%. Color reflects real season points.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the Real Stress Index</a:t>
            </a:r>
            <a:endParaRPr lang="en-US" sz="28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13.9%</a:t>
            </a:r>
            <a:endParaRPr lang="en-US" sz="52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MDS stress index for</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this module's 183-player,</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eight-variable real map</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Rule of thumb: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under 10% is usually considered a strong 2D fit; 13.9% is reasonable but imperfect.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What that means here: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some real distance relationships get compressed or stretched to fit on a flat page. Two players who look close on the map are almost certainly similar in the real data; two players who look far apart might be less different than the map suggests.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Same Tools Work on Real Teams</a:t>
            </a:r>
            <a:endParaRPr lang="en-US" sz="28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423160"/>
            <a:ext cx="10360152" cy="265176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Instead of eight real box score totals per player, I'll use each real team's Four Factors identity from fourfactors(Tbox, Obox): offensive and defensive rating, effective field goal percentage, turnover rate, rebound rate, and free throw rate, for and against. That's the exact same function from Module 2, now feeding into a clustering algorithm instead of a bar chart.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30-team clustering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2017-18 Teams, Grouped Into 5 Clusters</a:t>
            </a:r>
            <a:endParaRPr lang="en-US" sz="2600" dirty="0"/>
          </a:p>
        </p:txBody>
      </p:sp>
      <p:pic>
        <p:nvPicPr>
          <p:cNvPr id="4" name="Image 0" descr="module7_team_hclust_dendrogram.png">    </p:cNvPr>
          <p:cNvPicPr>
            <a:picLocks noChangeAspect="1"/>
          </p:cNvPicPr>
          <p:nvPr/>
        </p:nvPicPr>
        <p:blipFill>
          <a:blip r:embed="rId1"/>
          <a:stretch>
            <a:fillRect/>
          </a:stretch>
        </p:blipFill>
        <p:spPr>
          <a:xfrm>
            <a:off x="3186684" y="1600200"/>
            <a:ext cx="5815584" cy="48463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plot(hclustering(Xt, labels=IDt, k=5)), real Four Factors data, fourfactors(Tbox, Obox).</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Statistical Identity vs. Real Win Total</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377440"/>
        </p:xfrm>
        <a:graphic>
          <a:graphicData uri="http://schemas.openxmlformats.org/drawingml/2006/table">
            <a:tbl>
              <a:tblPr/>
              <a:tblGrid>
                <a:gridCol w="1371600"/>
                <a:gridCol w="1188720"/>
                <a:gridCol w="4690872"/>
                <a:gridCol w="1920240"/>
                <a:gridCol w="1920240"/>
              </a:tblGrid>
              <a:tr h="3962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Teams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Real identity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 wins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Range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Weak offense and defense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26.3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21-35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Strong defense, average offense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49.0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39-59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Elite, efficient shooting offense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50.5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36-65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Severely offense-limited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26.0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24-27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High rebounding, ball-hawking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44.8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42-48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module7_team_cluster_wins_summary.csv, real 2017-18 season, fourfactors(Tbox, Obox).</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PAYOFF OF THIS MODULE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Two Conference Finalists, One Real Cluster</a:t>
            </a:r>
            <a:endParaRPr lang="en-US" sz="2600" dirty="0"/>
          </a:p>
        </p:txBody>
      </p:sp>
      <p:sp>
        <p:nvSpPr>
          <p:cNvPr id="4" name="Shape 2"/>
          <p:cNvSpPr/>
          <p:nvPr/>
        </p:nvSpPr>
        <p:spPr>
          <a:xfrm>
            <a:off x="548640" y="2103120"/>
            <a:ext cx="11091672" cy="3108960"/>
          </a:xfrm>
          <a:prstGeom prst="roundRect">
            <a:avLst>
              <a:gd name="adj" fmla="val 1765"/>
            </a:avLst>
          </a:prstGeom>
          <a:solidFill>
            <a:srgbClr val="E4572E"/>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30000"/>
              </a:lnSpc>
              <a:buNone/>
            </a:pPr>
            <a:r>
              <a:rPr lang="en-US" sz="1700" b="1" dirty="0">
                <a:solidFill>
                  <a:srgbClr val="FFFFFF"/>
                </a:solidFill>
                <a:latin typeface="Calibri" pitchFamily="34" charset="0"/>
                <a:ea typeface="Calibri" pitchFamily="34" charset="-122"/>
                <a:cs typeface="Calibri" pitchFamily="34" charset="-120"/>
              </a:rPr>
              <a:t>Cluster 3: Houston Rockets (65 W), Golden State Warriors (58 W), Cleveland Cavaliers (50 W), New Orleans Pelicans (48 W), Denver Nuggets (46 W), Charlotte Hornets (36 W)</a:t>
            </a:r>
            <a:endParaRPr lang="en-US" sz="1700" dirty="0"/>
          </a:p>
        </p:txBody>
      </p:sp>
      <p:sp>
        <p:nvSpPr>
          <p:cNvPr id="6" name="Text 4"/>
          <p:cNvSpPr txBox="1"/>
          <p:nvPr/>
        </p:nvSpPr>
        <p:spPr>
          <a:xfrm>
            <a:off x="914400" y="3749040"/>
            <a:ext cx="10360152" cy="1280160"/>
          </a:xfrm>
          <a:prstGeom prst="rect">
            <a:avLst/>
          </a:prstGeom>
          <a:noFill/>
          <a:ln/>
        </p:spPr>
        <p:txBody>
          <a:bodyPr wrap="square" lIns="0" tIns="0" rIns="0" bIns="0" rtlCol="0" anchor="t"/>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real 2017-18 Western Conference Finals came down to Houston and Golden State, the two highest-win teams in this exact real cluster. Clustering by real Four Factors identity, not by win total, still grouped them together, because it found the same real underlying elite-shooting-offense shape the standings already reflected.</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All Five Real Team Cluster Profiles</a:t>
            </a:r>
            <a:endParaRPr lang="en-US" sz="2700" dirty="0"/>
          </a:p>
        </p:txBody>
      </p:sp>
      <p:pic>
        <p:nvPicPr>
          <p:cNvPr id="4" name="Image 0" descr="module7_team_hclust_radial_profiles.png">    </p:cNvPr>
          <p:cNvPicPr>
            <a:picLocks noChangeAspect="1"/>
          </p:cNvPicPr>
          <p:nvPr/>
        </p:nvPicPr>
        <p:blipFill>
          <a:blip r:embed="rId1"/>
          <a:stretch>
            <a:fillRect/>
          </a:stretch>
        </p:blipFill>
        <p:spPr>
          <a:xfrm>
            <a:off x="2828762" y="1691640"/>
            <a:ext cx="6531429"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plot(hclu_t, profiles=TRUE), real Four Factors data, 2017-18 season.</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Same Real Losses, Different Real Reasons</a:t>
            </a:r>
            <a:endParaRPr lang="en-US" sz="27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Real Cluster 1 (mean 26.3 wins) and real Cluster 4 (mean 26.0 wins) lost about the same number of games, but for different statistical reasons.</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Get into groups of 3-4. Pick one real team from each cluster and use their real Four Factors numbers (module7_team_hclust_profiles.csv) to explain the difference: was it a weak team across the board, or a team with one specific, severe problem?</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PLAYER PERFORMANCE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Groups a Roster Page Never Told You</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What natural groups actually exist in real player and team data, without starting from a position label a roster page already assigned.</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front office deciding whether two players duplicate each other's role, or deciding what kind of player a roster is missing, is implicitly asking a clustering question, whether or not they ever run the actual algorithm. This connects directly to real player performance analysis and real positioning and lineup construction, and it sets up Module 8's shift toward modeling relationships between variables directly.</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a Real Cluster Yourself</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real player cluster profiles.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Pick one real cluster you have not already discussed today.</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Write one sentence describing its real statistical identity, the way this module described Cluster 3 as “rim-protecting bigs.”</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Does its real CHI value match how consistent that identity feels to you?</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 Scout vs. a General Manager</a:t>
            </a:r>
            <a:endParaRPr lang="en-US" sz="27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A Scout</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Is evaluating one draft prospect and wants to know which current real players that prospect resembles statistically. Which tool from today, the dendrogram or the MDS map, answers that faster?</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A General Manager</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Is deciding whether the roster has too many players in the same real cluster and not enough in another. Which of today's tools answers that question best, and why?</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Maps and Real Teams,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a real 2D similarity map (13.9% stress) and clustered all 30 real 2017-18 teams by Four Factors identity into 5 real groups tied to real win totals.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8 moves from grouping players and teams to modeling the relationships between variables directly, through regression.</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Clustering groups players or teams by real numeric distance, not by a roster's position label, and standardizing every variable first is what makes that distance fair.</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Picking a number of clusters is a defensible judgment call, informed by a real variance-explained curve, not a fixed formula with one right answer.</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Hierarchical clustering and k-means largely agree on real, statistically distinctive groups (89.5% for rim protectors) but disagree more in the fuzzy middle (51.2% for perimeter shooters).</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same clustering tools that group real players also group real teams, and real Cluster 3 (Houston, Golden State, and four other teams) captured the same elite-shooting-offense identity the 2017-18 standings already showed.</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txBody>
          <a:bodyPr/>
          <a:p/>
        </p:txBody>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5 (modeling relationships: regression and surface dynamics).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txBody>
          <a:bodyPr/>
          <a:p/>
        </p:txBody>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7 (clustering players and teams), the practice questions, and the Module 7 quiz on Microsoft Forms.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 4.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Sandri, Zuccolotto &amp; Manisera. BasketballAnalyzeR (R package, v0.8.1), hclustering(), kclustering(), and MDSmap() functions, and the Pbox, Tbox, and Obox datasets. CRAN.</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NBA.com official 2017-18 team and player statistics, used to cross-check real win totals and player identities.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08</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Modeling Relationships: Regression and Surface Dynamics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2026-09-28T03:07:38Z</dcterms:created>
  <dcterms:modified xsi:type="dcterms:W3CDTF">2026-09-28T03:07:38Z</dcterms:modified>
</cp:coreProperties>
</file>