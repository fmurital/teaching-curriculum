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ask the class where the makes and misses cluster, before you say anything. Push toward: tight at the rim, and along the three-point arc -- almost nothing in between. Ask why that gap might exist before revealing the zone breakdown in Segment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density map makes volume easier to read than a scatter of individual dots once you have hundreds of shots. Ask: does this change your answer to the previous slide's question about the 'empty' area of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ask why a 41.7% shot could be worse than a 37.5% shot. Push toward points per shot: 0.834 expected points for the long two (0.417 x 2) versus 1.125 for the three (0.375 x 3). Timing: about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this is a real, measurable 16-point gap between two 2018 playoff teams. Ask: does this prove Houston's approach is 'correct'? Push toward: it shows the strategy is real and measurable, not that it guarantees winning -- Cleveland reached the Finals that same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187452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SPORTS ANALYTICS</a:t>
            </a:r>
            <a:endParaRPr lang="en-US" sz="1300" dirty="0"/>
          </a:p>
        </p:txBody>
      </p:sp>
      <p:sp>
        <p:nvSpPr>
          <p:cNvPr id="3" name="Text 1"/>
          <p:cNvSpPr txBox="1"/>
          <p:nvPr/>
        </p:nvSpPr>
        <p:spPr>
          <a:xfrm>
            <a:off x="548640" y="2286000"/>
            <a:ext cx="11091672" cy="12801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Basketball Data Science</a:t>
            </a:r>
            <a:endParaRPr lang="en-US" sz="4400" dirty="0"/>
          </a:p>
        </p:txBody>
      </p:sp>
      <p:sp>
        <p:nvSpPr>
          <p:cNvPr id="4" name="Text 2"/>
          <p:cNvSpPr txBox="1"/>
          <p:nvPr/>
        </p:nvSpPr>
        <p:spPr>
          <a:xfrm>
            <a:off x="548640" y="3520440"/>
            <a:ext cx="11091672" cy="457200"/>
          </a:xfrm>
          <a:prstGeom prst="rect">
            <a:avLst/>
          </a:prstGeom>
          <a:noFill/>
          <a:ln/>
        </p:spPr>
        <p:txBody>
          <a:bodyPr wrap="square" lIns="0" tIns="0" rIns="0" bIns="0" rtlCol="0" anchor="ctr"/>
          <a:lstStyle/>
          <a:p>
            <a:pPr indent="0" marL="0">
              <a:buNone/>
            </a:pPr>
            <a:r>
              <a:rPr lang="en-US" sz="2000" dirty="0">
                <a:solidFill>
                  <a:srgbClr val="AEBBD1"/>
                </a:solidFill>
                <a:latin typeface="Calibri" pitchFamily="34" charset="0"/>
                <a:ea typeface="Calibri" pitchFamily="34" charset="-122"/>
                <a:cs typeface="Calibri" pitchFamily="34" charset="-120"/>
              </a:rPr>
              <a:t>Module 04 · Shot Charts and Spatial Data</a:t>
            </a:r>
            <a:endParaRPr lang="en-US" sz="2000" dirty="0"/>
          </a:p>
        </p:txBody>
      </p:sp>
      <p:sp>
        <p:nvSpPr>
          <p:cNvPr id="5" name="Shape 3"/>
          <p:cNvSpPr/>
          <p:nvPr/>
        </p:nvSpPr>
        <p:spPr>
          <a:xfrm>
            <a:off x="548640" y="4251960"/>
            <a:ext cx="3291840" cy="777240"/>
          </a:xfrm>
          <a:prstGeom prst="roundRect">
            <a:avLst>
              <a:gd name="adj" fmla="val 7059"/>
            </a:avLst>
          </a:prstGeom>
          <a:solidFill>
            <a:srgbClr val="16213E"/>
          </a:solidFill>
          <a:ln/>
        </p:spPr>
      </p:sp>
      <p:sp>
        <p:nvSpPr>
          <p:cNvPr id="6" name="Text 4"/>
          <p:cNvSpPr txBox="1"/>
          <p:nvPr/>
        </p:nvSpPr>
        <p:spPr>
          <a:xfrm>
            <a:off x="731520" y="4251960"/>
            <a:ext cx="2926080" cy="7772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Week 4
</a:t>
            </a:r>
            <a:pPr indent="0" marL="0">
              <a:buNone/>
            </a:pPr>
            <a:r>
              <a:rPr lang="en-US" sz="1300" dirty="0">
                <a:solidFill>
                  <a:srgbClr val="FFFFFF"/>
                </a:solidFill>
                <a:latin typeface="Calibri" pitchFamily="34" charset="0"/>
                <a:ea typeface="Calibri" pitchFamily="34" charset="-122"/>
                <a:cs typeface="Calibri" pitchFamily="34" charset="-120"/>
              </a:rPr>
              <a:t>Undergraduate · 3-hour session</a:t>
            </a:r>
            <a:endParaRPr lang="en-US" sz="1300" dirty="0"/>
          </a:p>
        </p:txBody>
      </p:sp>
      <p:sp>
        <p:nvSpPr>
          <p:cNvPr id="7" name="Text 5"/>
          <p:cNvSpPr txBox="1"/>
          <p:nvPr/>
        </p:nvSpPr>
        <p:spPr>
          <a:xfrm>
            <a:off x="4114800" y="4251960"/>
            <a:ext cx="6949440" cy="777240"/>
          </a:xfrm>
          <a:prstGeom prst="rect">
            <a:avLst/>
          </a:prstGeom>
          <a:noFill/>
          <a:ln/>
        </p:spPr>
        <p:txBody>
          <a:bodyPr wrap="square" lIns="0" tIns="0" rIns="0" bIns="0" rtlCol="0" anchor="ctr"/>
          <a:lstStyle/>
          <a:p>
            <a:pPr indent="0" marL="0">
              <a:buNone/>
            </a:pPr>
            <a:r>
              <a:rPr lang="en-US" sz="1200" dirty="0">
                <a:solidFill>
                  <a:srgbClr val="AEBBD1"/>
                </a:solidFill>
                <a:latin typeface="Calibri" pitchFamily="34" charset="0"/>
                <a:ea typeface="Calibri" pitchFamily="34" charset="-122"/>
                <a:cs typeface="Calibri" pitchFamily="34" charset="-120"/>
              </a:rPr>
              <a:t>Maps to Chapter 2C:</a:t>
            </a:r>
            <a:endParaRPr lang="en-US" sz="1200" dirty="0"/>
          </a:p>
          <a:p>
            <a:pPr indent="0" marL="0">
              <a:buNone/>
            </a:pPr>
            <a:r>
              <a:rPr lang="en-US" sz="1200" dirty="0">
                <a:solidFill>
                  <a:srgbClr val="AEBBD1"/>
                </a:solidFill>
                <a:latin typeface="Calibri" pitchFamily="34" charset="0"/>
                <a:ea typeface="Calibri" pitchFamily="34" charset="-122"/>
                <a:cs typeface="Calibri" pitchFamily="34" charset="-120"/>
              </a:rPr>
              <a:t>Zuccolotto, P., &amp; Manisera, M. (2020). Basketball Data Science: With Applications in R. Chapman &amp; Hall/CRC.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WE START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What's Coming Up</a:t>
            </a:r>
            <a:endParaRPr lang="en-US" sz="3000" dirty="0"/>
          </a:p>
        </p:txBody>
      </p:sp>
      <p:sp>
        <p:nvSpPr>
          <p:cNvPr id="4" name="Shape 2"/>
          <p:cNvSpPr/>
          <p:nvPr/>
        </p:nvSpPr>
        <p:spPr>
          <a:xfrm>
            <a:off x="548640" y="2011680"/>
            <a:ext cx="11091672" cy="1051560"/>
          </a:xfrm>
          <a:prstGeom prst="roundRect">
            <a:avLst>
              <a:gd name="adj" fmla="val 5217"/>
            </a:avLst>
          </a:prstGeom>
          <a:solidFill>
            <a:srgbClr val="EDF1F7"/>
          </a:solidFill>
          <a:ln/>
        </p:spPr>
      </p:sp>
      <p:sp>
        <p:nvSpPr>
          <p:cNvPr id="5" name="Text 3"/>
          <p:cNvSpPr txBox="1"/>
          <p:nvPr/>
        </p:nvSpPr>
        <p:spPr>
          <a:xfrm>
            <a:off x="822960" y="201168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Due This Week</a:t>
            </a:r>
            <a:endParaRPr lang="en-US" sz="1500" dirty="0"/>
          </a:p>
        </p:txBody>
      </p:sp>
      <p:sp>
        <p:nvSpPr>
          <p:cNvPr id="6" name="Text 4"/>
          <p:cNvSpPr txBox="1"/>
          <p:nvPr/>
        </p:nvSpPr>
        <p:spPr>
          <a:xfrm>
            <a:off x="3566160" y="201168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
        <p:nvSpPr>
          <p:cNvPr id="7" name="Shape 5"/>
          <p:cNvSpPr/>
          <p:nvPr/>
        </p:nvSpPr>
        <p:spPr>
          <a:xfrm>
            <a:off x="548640" y="3246120"/>
            <a:ext cx="11091672" cy="1051560"/>
          </a:xfrm>
          <a:prstGeom prst="roundRect">
            <a:avLst>
              <a:gd name="adj" fmla="val 5217"/>
            </a:avLst>
          </a:prstGeom>
          <a:solidFill>
            <a:srgbClr val="EDF1F7"/>
          </a:solidFill>
          <a:ln/>
        </p:spPr>
      </p:sp>
      <p:sp>
        <p:nvSpPr>
          <p:cNvPr id="8" name="Text 6"/>
          <p:cNvSpPr txBox="1"/>
          <p:nvPr/>
        </p:nvSpPr>
        <p:spPr>
          <a:xfrm>
            <a:off x="822960" y="324612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Coming Up</a:t>
            </a:r>
            <a:endParaRPr lang="en-US" sz="1500" dirty="0"/>
          </a:p>
        </p:txBody>
      </p:sp>
      <p:sp>
        <p:nvSpPr>
          <p:cNvPr id="9" name="Text 7"/>
          <p:cNvSpPr txBox="1"/>
          <p:nvPr/>
        </p:nvSpPr>
        <p:spPr>
          <a:xfrm>
            <a:off x="3566160" y="324612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
        <p:nvSpPr>
          <p:cNvPr id="10" name="Shape 8"/>
          <p:cNvSpPr/>
          <p:nvPr/>
        </p:nvSpPr>
        <p:spPr>
          <a:xfrm>
            <a:off x="548640" y="4480560"/>
            <a:ext cx="11091672" cy="1051560"/>
          </a:xfrm>
          <a:prstGeom prst="roundRect">
            <a:avLst>
              <a:gd name="adj" fmla="val 5217"/>
            </a:avLst>
          </a:prstGeom>
          <a:solidFill>
            <a:srgbClr val="EDF1F7"/>
          </a:solidFill>
          <a:ln/>
        </p:spPr>
      </p:sp>
      <p:sp>
        <p:nvSpPr>
          <p:cNvPr id="11" name="Text 9"/>
          <p:cNvSpPr txBox="1"/>
          <p:nvPr/>
        </p:nvSpPr>
        <p:spPr>
          <a:xfrm>
            <a:off x="822960" y="448056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Office Hours</a:t>
            </a:r>
            <a:endParaRPr lang="en-US" sz="1500" dirty="0"/>
          </a:p>
        </p:txBody>
      </p:sp>
      <p:sp>
        <p:nvSpPr>
          <p:cNvPr id="12" name="Text 10"/>
          <p:cNvSpPr txBox="1"/>
          <p:nvPr/>
        </p:nvSpPr>
        <p:spPr>
          <a:xfrm>
            <a:off x="3566160" y="448056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16213E"/>
                </a:solidFill>
                <a:latin typeface="Cambria" pitchFamily="34" charset="0"/>
                <a:ea typeface="Cambria" pitchFamily="34" charset="-122"/>
                <a:cs typeface="Cambria" pitchFamily="34" charset="-120"/>
              </a:rPr>
              <a:t>Where We Left Off</a:t>
            </a:r>
            <a:endParaRPr lang="en-US" sz="3200" dirty="0"/>
          </a:p>
        </p:txBody>
      </p:sp>
      <p:sp>
        <p:nvSpPr>
          <p:cNvPr id="4" name="Shape 2"/>
          <p:cNvSpPr/>
          <p:nvPr/>
        </p:nvSpPr>
        <p:spPr>
          <a:xfrm>
            <a:off x="548640" y="1920240"/>
            <a:ext cx="11091672" cy="2377440"/>
          </a:xfrm>
          <a:prstGeom prst="roundRect">
            <a:avLst>
              <a:gd name="adj" fmla="val 2308"/>
            </a:avLst>
          </a:prstGeom>
          <a:solidFill>
            <a:srgbClr val="EDF1F7"/>
          </a:solidFill>
          <a:ln/>
        </p:spPr>
      </p:sp>
      <p:sp>
        <p:nvSpPr>
          <p:cNvPr id="5" name="Text 3"/>
          <p:cNvSpPr txBox="1"/>
          <p:nvPr/>
        </p:nvSpPr>
        <p:spPr>
          <a:xfrm>
            <a:off x="914400" y="2194560"/>
            <a:ext cx="10360152" cy="182880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Module 3 was about putting several numbers on one shared, standardized scale so you could compare a player's or team's whole profile at once, not just one stat at a time. Today we add a variable we have not touched yet: where on the court something happened. Location turns out to be one of the richest variables in the entire sport.</a:t>
            </a:r>
            <a:endParaRPr lang="en-US" sz="1600" dirty="0"/>
          </a:p>
        </p:txBody>
      </p:sp>
      <p:sp>
        <p:nvSpPr>
          <p:cNvPr id="6" name="Text 4"/>
          <p:cNvSpPr txBox="1"/>
          <p:nvPr/>
        </p:nvSpPr>
        <p:spPr>
          <a:xfrm>
            <a:off x="548640" y="4572000"/>
            <a:ext cx="11091672" cy="914400"/>
          </a:xfrm>
          <a:prstGeom prst="rect">
            <a:avLst/>
          </a:prstGeom>
          <a:noFill/>
          <a:ln/>
        </p:spPr>
        <p:txBody>
          <a:bodyPr wrap="square" lIns="0" tIns="0" rIns="0" bIns="0" rtlCol="0" anchor="t"/>
          <a:lstStyle/>
          <a:p>
            <a:pPr indent="0" marL="0">
              <a:lnSpc>
                <a:spcPct val="125000"/>
              </a:lnSpc>
              <a:buNone/>
            </a:pPr>
            <a:r>
              <a:rPr lang="en-US" sz="1500" i="1" dirty="0">
                <a:solidFill>
                  <a:srgbClr val="27496D"/>
                </a:solidFill>
                <a:latin typeface="Calibri" pitchFamily="34" charset="0"/>
                <a:ea typeface="Calibri" pitchFamily="34" charset="-122"/>
                <a:cs typeface="Calibri" pitchFamily="34" charset="-120"/>
              </a:rPr>
              <a:t>Same real approach as every module so far: real play-by-play data, real coordinates, real teams.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OUTLINE FOR THE DAY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16213E"/>
                </a:solidFill>
                <a:latin typeface="Cambria" pitchFamily="34" charset="0"/>
                <a:ea typeface="Cambria" pitchFamily="34" charset="-122"/>
                <a:cs typeface="Cambria" pitchFamily="34" charset="-120"/>
              </a:rPr>
              <a:t>Where We're Headed</a:t>
            </a:r>
            <a:endParaRPr lang="en-US" sz="3200" dirty="0"/>
          </a:p>
        </p:txBody>
      </p:sp>
      <p:sp>
        <p:nvSpPr>
          <p:cNvPr id="4" name="Shape 2"/>
          <p:cNvSpPr/>
          <p:nvPr/>
        </p:nvSpPr>
        <p:spPr>
          <a:xfrm>
            <a:off x="548640" y="1965960"/>
            <a:ext cx="5362956" cy="1691640"/>
          </a:xfrm>
          <a:prstGeom prst="roundRect">
            <a:avLst>
              <a:gd name="adj" fmla="val 3243"/>
            </a:avLst>
          </a:prstGeom>
          <a:solidFill>
            <a:srgbClr val="EDF1F7"/>
          </a:solidFill>
          <a:ln/>
        </p:spPr>
      </p:sp>
      <p:sp>
        <p:nvSpPr>
          <p:cNvPr id="5" name="Text 3"/>
          <p:cNvSpPr txBox="1"/>
          <p:nvPr/>
        </p:nvSpPr>
        <p:spPr>
          <a:xfrm>
            <a:off x="777240" y="214884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a:t>
            </a:r>
            <a:endParaRPr lang="en-US" sz="1600" dirty="0"/>
          </a:p>
        </p:txBody>
      </p:sp>
      <p:sp>
        <p:nvSpPr>
          <p:cNvPr id="6" name="Text 4"/>
          <p:cNvSpPr txBox="1"/>
          <p:nvPr/>
        </p:nvSpPr>
        <p:spPr>
          <a:xfrm>
            <a:off x="1188720" y="214884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1</a:t>
            </a:r>
            <a:endParaRPr lang="en-US" sz="1600" dirty="0"/>
          </a:p>
        </p:txBody>
      </p:sp>
      <p:sp>
        <p:nvSpPr>
          <p:cNvPr id="7" name="Text 5"/>
          <p:cNvSpPr txBox="1"/>
          <p:nvPr/>
        </p:nvSpPr>
        <p:spPr>
          <a:xfrm>
            <a:off x="777240" y="260604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Turning raw shot coordinates into a real shot chart, live</a:t>
            </a:r>
            <a:endParaRPr lang="en-US" sz="1200" dirty="0"/>
          </a:p>
        </p:txBody>
      </p:sp>
      <p:sp>
        <p:nvSpPr>
          <p:cNvPr id="8" name="Shape 6"/>
          <p:cNvSpPr/>
          <p:nvPr/>
        </p:nvSpPr>
        <p:spPr>
          <a:xfrm>
            <a:off x="6277356" y="1965960"/>
            <a:ext cx="5362956" cy="1691640"/>
          </a:xfrm>
          <a:prstGeom prst="roundRect">
            <a:avLst>
              <a:gd name="adj" fmla="val 3243"/>
            </a:avLst>
          </a:prstGeom>
          <a:solidFill>
            <a:srgbClr val="EDF1F7"/>
          </a:solidFill>
          <a:ln/>
        </p:spPr>
      </p:sp>
      <p:sp>
        <p:nvSpPr>
          <p:cNvPr id="9" name="Text 7"/>
          <p:cNvSpPr txBox="1"/>
          <p:nvPr/>
        </p:nvSpPr>
        <p:spPr>
          <a:xfrm>
            <a:off x="6505956" y="214884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II</a:t>
            </a:r>
            <a:endParaRPr lang="en-US" sz="1600" dirty="0"/>
          </a:p>
        </p:txBody>
      </p:sp>
      <p:sp>
        <p:nvSpPr>
          <p:cNvPr id="10" name="Text 8"/>
          <p:cNvSpPr txBox="1"/>
          <p:nvPr/>
        </p:nvSpPr>
        <p:spPr>
          <a:xfrm>
            <a:off x="6917436" y="214884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2</a:t>
            </a:r>
            <a:endParaRPr lang="en-US" sz="1600" dirty="0"/>
          </a:p>
        </p:txBody>
      </p:sp>
      <p:sp>
        <p:nvSpPr>
          <p:cNvPr id="11" name="Text 9"/>
          <p:cNvSpPr txBox="1"/>
          <p:nvPr/>
        </p:nvSpPr>
        <p:spPr>
          <a:xfrm>
            <a:off x="6505956" y="260604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Distance zones, real 2018 playoff data, and the Moreyball question</a:t>
            </a:r>
            <a:endParaRPr lang="en-US" sz="1200" dirty="0"/>
          </a:p>
        </p:txBody>
      </p:sp>
      <p:sp>
        <p:nvSpPr>
          <p:cNvPr id="12" name="Shape 10"/>
          <p:cNvSpPr/>
          <p:nvPr/>
        </p:nvSpPr>
        <p:spPr>
          <a:xfrm>
            <a:off x="548640" y="3886200"/>
            <a:ext cx="5362956" cy="1691640"/>
          </a:xfrm>
          <a:prstGeom prst="roundRect">
            <a:avLst>
              <a:gd name="adj" fmla="val 3243"/>
            </a:avLst>
          </a:prstGeom>
          <a:solidFill>
            <a:srgbClr val="EDF1F7"/>
          </a:solidFill>
          <a:ln/>
        </p:spPr>
      </p:sp>
      <p:sp>
        <p:nvSpPr>
          <p:cNvPr id="13" name="Text 11"/>
          <p:cNvSpPr txBox="1"/>
          <p:nvPr/>
        </p:nvSpPr>
        <p:spPr>
          <a:xfrm>
            <a:off x="777240" y="406908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III</a:t>
            </a:r>
            <a:endParaRPr lang="en-US" sz="1600" dirty="0"/>
          </a:p>
        </p:txBody>
      </p:sp>
      <p:sp>
        <p:nvSpPr>
          <p:cNvPr id="14" name="Text 12"/>
          <p:cNvSpPr txBox="1"/>
          <p:nvPr/>
        </p:nvSpPr>
        <p:spPr>
          <a:xfrm>
            <a:off x="1188720" y="406908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3</a:t>
            </a:r>
            <a:endParaRPr lang="en-US" sz="1600" dirty="0"/>
          </a:p>
        </p:txBody>
      </p:sp>
      <p:sp>
        <p:nvSpPr>
          <p:cNvPr id="15" name="Text 13"/>
          <p:cNvSpPr txBox="1"/>
          <p:nvPr/>
        </p:nvSpPr>
        <p:spPr>
          <a:xfrm>
            <a:off x="777240" y="452628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Two real players, two real shot profiles, side by side</a:t>
            </a:r>
            <a:endParaRPr lang="en-US" sz="1200" dirty="0"/>
          </a:p>
        </p:txBody>
      </p:sp>
      <p:sp>
        <p:nvSpPr>
          <p:cNvPr id="16" name="Shape 14"/>
          <p:cNvSpPr/>
          <p:nvPr/>
        </p:nvSpPr>
        <p:spPr>
          <a:xfrm>
            <a:off x="6277356" y="3886200"/>
            <a:ext cx="5362956" cy="1691640"/>
          </a:xfrm>
          <a:prstGeom prst="roundRect">
            <a:avLst>
              <a:gd name="adj" fmla="val 3243"/>
            </a:avLst>
          </a:prstGeom>
          <a:solidFill>
            <a:srgbClr val="EDF1F7"/>
          </a:solidFill>
          <a:ln/>
        </p:spPr>
      </p:sp>
      <p:sp>
        <p:nvSpPr>
          <p:cNvPr id="17" name="Text 15"/>
          <p:cNvSpPr txBox="1"/>
          <p:nvPr/>
        </p:nvSpPr>
        <p:spPr>
          <a:xfrm>
            <a:off x="6505956" y="406908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IV</a:t>
            </a:r>
            <a:endParaRPr lang="en-US" sz="1600" dirty="0"/>
          </a:p>
        </p:txBody>
      </p:sp>
      <p:sp>
        <p:nvSpPr>
          <p:cNvPr id="18" name="Text 16"/>
          <p:cNvSpPr txBox="1"/>
          <p:nvPr/>
        </p:nvSpPr>
        <p:spPr>
          <a:xfrm>
            <a:off x="6917436" y="406908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Before Next Class</a:t>
            </a:r>
            <a:endParaRPr lang="en-US" sz="1600" dirty="0"/>
          </a:p>
        </p:txBody>
      </p:sp>
      <p:sp>
        <p:nvSpPr>
          <p:cNvPr id="19" name="Text 17"/>
          <p:cNvSpPr txBox="1"/>
          <p:nvPr/>
        </p:nvSpPr>
        <p:spPr>
          <a:xfrm>
            <a:off x="6505956" y="452628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Lab 4, the Module 4 quiz, and the practice questions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LEARNING OBJECTIVES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By the End of Today, You Will Be Able To</a:t>
            </a:r>
            <a:endParaRPr lang="en-US" sz="2800" dirty="0"/>
          </a:p>
        </p:txBody>
      </p:sp>
      <p:sp>
        <p:nvSpPr>
          <p:cNvPr id="4" name="Shape 2"/>
          <p:cNvSpPr/>
          <p:nvPr/>
        </p:nvSpPr>
        <p:spPr>
          <a:xfrm>
            <a:off x="548640" y="1874520"/>
            <a:ext cx="411480" cy="411480"/>
          </a:xfrm>
          <a:prstGeom prst="ellipse">
            <a:avLst/>
          </a:prstGeom>
          <a:solidFill>
            <a:srgbClr val="27496D"/>
          </a:solidFill>
          <a:ln/>
        </p:spPr>
      </p:sp>
      <p:sp>
        <p:nvSpPr>
          <p:cNvPr id="5" name="Text 3"/>
          <p:cNvSpPr txBox="1"/>
          <p:nvPr/>
        </p:nvSpPr>
        <p:spPr>
          <a:xfrm>
            <a:off x="548640" y="18745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82880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Explain why shot location is a variable in its own right, not just a detail attached to a make or a miss.</a:t>
            </a:r>
            <a:endParaRPr lang="en-US" sz="1600" dirty="0"/>
          </a:p>
        </p:txBody>
      </p:sp>
      <p:sp>
        <p:nvSpPr>
          <p:cNvPr id="7" name="Shape 5"/>
          <p:cNvSpPr/>
          <p:nvPr/>
        </p:nvSpPr>
        <p:spPr>
          <a:xfrm>
            <a:off x="548640" y="2670048"/>
            <a:ext cx="411480" cy="411480"/>
          </a:xfrm>
          <a:prstGeom prst="ellipse">
            <a:avLst/>
          </a:prstGeom>
          <a:solidFill>
            <a:srgbClr val="E4572E"/>
          </a:solidFill>
          <a:ln/>
        </p:spPr>
      </p:sp>
      <p:sp>
        <p:nvSpPr>
          <p:cNvPr id="8" name="Text 6"/>
          <p:cNvSpPr txBox="1"/>
          <p:nvPr/>
        </p:nvSpPr>
        <p:spPr>
          <a:xfrm>
            <a:off x="548640" y="267004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624328"/>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Transform raw play-by-play shot coordinates into the half-court, centered format shotchart() requires, and explain why that transformation is necessary.</a:t>
            </a:r>
            <a:endParaRPr lang="en-US" sz="1600" dirty="0"/>
          </a:p>
        </p:txBody>
      </p:sp>
      <p:sp>
        <p:nvSpPr>
          <p:cNvPr id="10" name="Shape 8"/>
          <p:cNvSpPr/>
          <p:nvPr/>
        </p:nvSpPr>
        <p:spPr>
          <a:xfrm>
            <a:off x="548640" y="3465576"/>
            <a:ext cx="411480" cy="411480"/>
          </a:xfrm>
          <a:prstGeom prst="ellipse">
            <a:avLst/>
          </a:prstGeom>
          <a:solidFill>
            <a:srgbClr val="27496D"/>
          </a:solidFill>
          <a:ln/>
        </p:spPr>
      </p:sp>
      <p:sp>
        <p:nvSpPr>
          <p:cNvPr id="11" name="Text 9"/>
          <p:cNvSpPr txBox="1"/>
          <p:nvPr/>
        </p:nvSpPr>
        <p:spPr>
          <a:xfrm>
            <a:off x="548640" y="3465576"/>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419856"/>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Build a real shot chart from real 2018 playoff data using BasketballAnalyzeR's shotchart() function.</a:t>
            </a:r>
            <a:endParaRPr lang="en-US" sz="1600" dirty="0"/>
          </a:p>
        </p:txBody>
      </p:sp>
      <p:sp>
        <p:nvSpPr>
          <p:cNvPr id="13" name="Shape 11"/>
          <p:cNvSpPr/>
          <p:nvPr/>
        </p:nvSpPr>
        <p:spPr>
          <a:xfrm>
            <a:off x="548640" y="4261104"/>
            <a:ext cx="411480" cy="411480"/>
          </a:xfrm>
          <a:prstGeom prst="ellipse">
            <a:avLst/>
          </a:prstGeom>
          <a:solidFill>
            <a:srgbClr val="E4572E"/>
          </a:solidFill>
          <a:ln/>
        </p:spPr>
      </p:sp>
      <p:sp>
        <p:nvSpPr>
          <p:cNvPr id="14" name="Text 12"/>
          <p:cNvSpPr txBox="1"/>
          <p:nvPr/>
        </p:nvSpPr>
        <p:spPr>
          <a:xfrm>
            <a:off x="548640" y="4261104"/>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215384"/>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Split real shots into four distance zones and compute field goal percentage and points per shot for each one.</a:t>
            </a:r>
            <a:endParaRPr lang="en-US" sz="1600" dirty="0"/>
          </a:p>
        </p:txBody>
      </p:sp>
      <p:sp>
        <p:nvSpPr>
          <p:cNvPr id="16" name="Shape 14"/>
          <p:cNvSpPr/>
          <p:nvPr/>
        </p:nvSpPr>
        <p:spPr>
          <a:xfrm>
            <a:off x="548640" y="5056632"/>
            <a:ext cx="411480" cy="411480"/>
          </a:xfrm>
          <a:prstGeom prst="ellipse">
            <a:avLst/>
          </a:prstGeom>
          <a:solidFill>
            <a:srgbClr val="27496D"/>
          </a:solidFill>
          <a:ln/>
        </p:spPr>
      </p:sp>
      <p:sp>
        <p:nvSpPr>
          <p:cNvPr id="17" name="Text 15"/>
          <p:cNvSpPr txBox="1"/>
          <p:nvPr/>
        </p:nvSpPr>
        <p:spPr>
          <a:xfrm>
            <a:off x="548640" y="5056632"/>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16"/>
          <p:cNvSpPr txBox="1"/>
          <p:nvPr/>
        </p:nvSpPr>
        <p:spPr>
          <a:xfrm>
            <a:off x="1143000" y="5010912"/>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Explain, using real data you compute yourself, what "Moreyball" means as a shot-selection strategy, not just a nickname.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One Shooting Percentage Can Hide Two Different Players</a:t>
            </a:r>
            <a:endParaRPr lang="en-US" sz="2600" dirty="0"/>
          </a:p>
        </p:txBody>
      </p:sp>
      <p:sp>
        <p:nvSpPr>
          <p:cNvPr id="4" name="Shape 2"/>
          <p:cNvSpPr/>
          <p:nvPr/>
        </p:nvSpPr>
        <p:spPr>
          <a:xfrm>
            <a:off x="548640" y="2103120"/>
            <a:ext cx="11091672" cy="1554480"/>
          </a:xfrm>
          <a:prstGeom prst="roundRect">
            <a:avLst>
              <a:gd name="adj" fmla="val 3529"/>
            </a:avLst>
          </a:prstGeom>
          <a:solidFill>
            <a:srgbClr val="EDF1F7"/>
          </a:solidFill>
          <a:ln/>
        </p:spPr>
      </p:sp>
      <p:sp>
        <p:nvSpPr>
          <p:cNvPr id="5" name="Text 3"/>
          <p:cNvSpPr txBox="1"/>
          <p:nvPr/>
        </p:nvSpPr>
        <p:spPr>
          <a:xfrm>
            <a:off x="914400" y="2377440"/>
            <a:ext cx="10360152" cy="1005840"/>
          </a:xfrm>
          <a:prstGeom prst="rect">
            <a:avLst/>
          </a:prstGeom>
          <a:noFill/>
          <a:ln/>
        </p:spPr>
        <p:txBody>
          <a:bodyPr wrap="square" lIns="0" tIns="0" rIns="0" bIns="0" rtlCol="0" anchor="ctr"/>
          <a:lstStyle/>
          <a:p>
            <a:pPr indent="0" marL="0">
              <a:lnSpc>
                <a:spcPct val="125000"/>
              </a:lnSpc>
              <a:buNone/>
            </a:pPr>
            <a:r>
              <a:rPr lang="en-US" sz="1700" dirty="0">
                <a:solidFill>
                  <a:srgbClr val="16213E"/>
                </a:solidFill>
                <a:latin typeface="Calibri" pitchFamily="34" charset="0"/>
                <a:ea typeface="Calibri" pitchFamily="34" charset="-122"/>
                <a:cs typeface="Calibri" pitchFamily="34" charset="-120"/>
              </a:rPr>
              <a:t>A player who shoots 45% overall could be a mediocre three-point shooter carried by a great inside game, or an elite three-point shooter who occasionally forces a bad long two. One number cannot tell these two players apart.</a:t>
            </a:r>
            <a:endParaRPr lang="en-US" sz="1700" dirty="0"/>
          </a:p>
        </p:txBody>
      </p:sp>
      <p:sp>
        <p:nvSpPr>
          <p:cNvPr id="6" name="Text 4"/>
          <p:cNvSpPr txBox="1"/>
          <p:nvPr/>
        </p:nvSpPr>
        <p:spPr>
          <a:xfrm>
            <a:off x="548640" y="3931920"/>
            <a:ext cx="11091672" cy="914400"/>
          </a:xfrm>
          <a:prstGeom prst="rect">
            <a:avLst/>
          </a:prstGeom>
          <a:noFill/>
          <a:ln/>
        </p:spPr>
        <p:txBody>
          <a:bodyPr wrap="square" lIns="0" tIns="0" rIns="0" bIns="0" rtlCol="0" anchor="t"/>
          <a:lstStyle/>
          <a:p>
            <a:pPr indent="0" marL="0">
              <a:lnSpc>
                <a:spcPct val="125000"/>
              </a:lnSpc>
              <a:buNone/>
            </a:pPr>
            <a:r>
              <a:rPr lang="en-US" sz="2000" b="1" dirty="0">
                <a:solidFill>
                  <a:srgbClr val="E4572E"/>
                </a:solidFill>
                <a:latin typeface="Calibri" pitchFamily="34" charset="0"/>
                <a:ea typeface="Calibri" pitchFamily="34" charset="-122"/>
                <a:cs typeface="Calibri" pitchFamily="34" charset="-120"/>
              </a:rPr>
              <a:t>Spatial data -- where a shot came from -- is what lets you tell them apart.</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Real Shots, Real Games: PbP.BDB</a:t>
            </a:r>
            <a:endParaRPr lang="en-US" sz="2800" dirty="0"/>
          </a:p>
        </p:txBody>
      </p:sp>
      <p:sp>
        <p:nvSpPr>
          <p:cNvPr id="4" name="Shape 2"/>
          <p:cNvSpPr/>
          <p:nvPr/>
        </p:nvSpPr>
        <p:spPr>
          <a:xfrm>
            <a:off x="548640" y="2103120"/>
            <a:ext cx="11091672" cy="3108960"/>
          </a:xfrm>
          <a:prstGeom prst="roundRect">
            <a:avLst>
              <a:gd name="adj" fmla="val 1765"/>
            </a:avLst>
          </a:prstGeom>
          <a:solidFill>
            <a:srgbClr val="27496D"/>
          </a:solidFill>
          <a:ln/>
        </p:spPr>
      </p:sp>
      <p:sp>
        <p:nvSpPr>
          <p:cNvPr id="5" name="Text 3"/>
          <p:cNvSpPr txBox="1"/>
          <p:nvPr/>
        </p:nvSpPr>
        <p:spPr>
          <a:xfrm>
            <a:off x="914400" y="2377440"/>
            <a:ext cx="10360152" cy="1371600"/>
          </a:xfrm>
          <a:prstGeom prst="rect">
            <a:avLst/>
          </a:prstGeom>
          <a:noFill/>
          <a:ln/>
        </p:spPr>
        <p:txBody>
          <a:bodyPr wrap="square" lIns="0" tIns="0" rIns="0" bIns="0" rtlCol="0" anchor="ctr"/>
          <a:lstStyle/>
          <a:p>
            <a:pPr indent="0" marL="0">
              <a:lnSpc>
                <a:spcPct val="135000"/>
              </a:lnSpc>
              <a:buNone/>
            </a:pPr>
            <a:r>
              <a:rPr lang="en-US" sz="1700" dirty="0">
                <a:solidFill>
                  <a:srgbClr val="FFFFFF"/>
                </a:solidFill>
                <a:latin typeface="Calibri" pitchFamily="34" charset="0"/>
                <a:ea typeface="Calibri" pitchFamily="34" charset="-122"/>
                <a:cs typeface="Calibri" pitchFamily="34" charset="-120"/>
              </a:rPr>
              <a:t>Every chart in this module comes from BasketballAnalyzeR's PbP.BDB dataset: real, event-level play-by-play data from the entire 2018 NBA playoffs. 82 real games. 14,354 real field goal attempts. Every shot's exact x-y coordinates, recorded as it happened.</a:t>
            </a:r>
            <a:endParaRPr lang="en-US" sz="1700" dirty="0"/>
          </a:p>
        </p:txBody>
      </p:sp>
      <p:sp>
        <p:nvSpPr>
          <p:cNvPr id="6" name="Text 4"/>
          <p:cNvSpPr txBox="1"/>
          <p:nvPr/>
        </p:nvSpPr>
        <p:spPr>
          <a:xfrm>
            <a:off x="914400" y="4114800"/>
            <a:ext cx="10360152" cy="914400"/>
          </a:xfrm>
          <a:prstGeom prst="rect">
            <a:avLst/>
          </a:prstGeom>
          <a:noFill/>
          <a:ln/>
        </p:spPr>
        <p:txBody>
          <a:bodyPr wrap="square" lIns="0" tIns="0" rIns="0" bIns="0" rtlCol="0" anchor="ctr"/>
          <a:lstStyle/>
          <a:p>
            <a:pPr indent="0" marL="0">
              <a:buNone/>
            </a:pPr>
            <a:r>
              <a:rPr lang="en-US" sz="1400" i="1" dirty="0">
                <a:solidFill>
                  <a:srgbClr val="AEBBD1"/>
                </a:solidFill>
                <a:latin typeface="Calibri" pitchFamily="34" charset="0"/>
                <a:ea typeface="Calibri" pitchFamily="34" charset="-122"/>
                <a:cs typeface="Calibri" pitchFamily="34" charset="-120"/>
              </a:rPr>
              <a:t>This is playoff data, not a full regular season -- a real, honest fact about the sample we'll return to later in this module.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LET'S WATCH THIS TOGETHER</a:t>
            </a:r>
            <a:endParaRPr lang="en-US" sz="1300" dirty="0"/>
          </a:p>
        </p:txBody>
      </p:sp>
      <p:sp>
        <p:nvSpPr>
          <p:cNvPr id="3" name="Text 1"/>
          <p:cNvSpPr txBox="1"/>
          <p:nvPr/>
        </p:nvSpPr>
        <p:spPr>
          <a:xfrm>
            <a:off x="548640" y="1554480"/>
            <a:ext cx="11091672" cy="10972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Is a Shot Chart, Really?</a:t>
            </a:r>
            <a:endParaRPr lang="en-US" sz="2800" dirty="0"/>
          </a:p>
        </p:txBody>
      </p:sp>
      <p:sp>
        <p:nvSpPr>
          <p:cNvPr id="4" name="Shape 2"/>
          <p:cNvSpPr/>
          <p:nvPr/>
        </p:nvSpPr>
        <p:spPr>
          <a:xfrm>
            <a:off x="548640" y="2834640"/>
            <a:ext cx="11091672" cy="1737360"/>
          </a:xfrm>
          <a:prstGeom prst="roundRect">
            <a:avLst>
              <a:gd name="adj" fmla="val 3158"/>
            </a:avLst>
          </a:prstGeom>
          <a:solidFill>
            <a:srgbClr val="16213E"/>
          </a:solidFill>
          <a:ln/>
        </p:spPr>
      </p:sp>
      <p:sp>
        <p:nvSpPr>
          <p:cNvPr id="5" name="Shape 3"/>
          <p:cNvSpPr/>
          <p:nvPr/>
        </p:nvSpPr>
        <p:spPr>
          <a:xfrm>
            <a:off x="1005840" y="3246120"/>
            <a:ext cx="914400" cy="914400"/>
          </a:xfrm>
          <a:prstGeom prst="ellipse">
            <a:avLst/>
          </a:prstGeom>
          <a:solidFill>
            <a:srgbClr val="E4572E"/>
          </a:solidFill>
          <a:ln/>
        </p:spPr>
      </p:sp>
      <p:sp>
        <p:nvSpPr>
          <p:cNvPr id="6" name="Text 4"/>
          <p:cNvSpPr txBox="1"/>
          <p:nvPr/>
        </p:nvSpPr>
        <p:spPr>
          <a:xfrm>
            <a:off x="1005840" y="3246120"/>
            <a:ext cx="914400" cy="914400"/>
          </a:xfrm>
          <a:prstGeom prst="rect">
            <a:avLst/>
          </a:prstGeom>
          <a:noFill/>
          <a:ln/>
        </p:spPr>
        <p:txBody>
          <a:bodyPr wrap="square" lIns="0" tIns="0" rIns="0" bIns="0" rtlCol="0" anchor="ctr"/>
          <a:lstStyle/>
          <a:p>
            <a:pPr algn="ctr" indent="0" marL="0">
              <a:buNone/>
            </a:pPr>
            <a:r>
              <a:rPr lang="en-US" sz="3000" dirty="0">
                <a:solidFill>
                  <a:srgbClr val="FFFFFF"/>
                </a:solidFill>
                <a:latin typeface="Calibri" pitchFamily="34" charset="0"/>
                <a:ea typeface="Calibri" pitchFamily="34" charset="-122"/>
                <a:cs typeface="Calibri" pitchFamily="34" charset="-120"/>
              </a:rPr>
              <a:t>▶</a:t>
            </a:r>
            <a:endParaRPr lang="en-US" sz="3000" dirty="0"/>
          </a:p>
        </p:txBody>
      </p:sp>
      <p:sp>
        <p:nvSpPr>
          <p:cNvPr id="7" name="Text 5"/>
          <p:cNvSpPr txBox="1"/>
          <p:nvPr/>
        </p:nvSpPr>
        <p:spPr>
          <a:xfrm>
            <a:off x="2194560" y="3063240"/>
            <a:ext cx="9262872" cy="8229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"NBA Shot Charts: A Basketball Data Visualization" (YouTube)</a:t>
            </a:r>
            <a:endParaRPr lang="en-US" sz="1800" dirty="0"/>
          </a:p>
        </p:txBody>
      </p:sp>
      <p:sp>
        <p:nvSpPr>
          <p:cNvPr id="8" name="Text 6"/>
          <p:cNvSpPr txBox="1"/>
          <p:nvPr/>
        </p:nvSpPr>
        <p:spPr>
          <a:xfrm>
            <a:off x="2194560" y="3794760"/>
            <a:ext cx="9262872" cy="640080"/>
          </a:xfrm>
          <a:prstGeom prst="rect">
            <a:avLst/>
          </a:prstGeom>
          <a:noFill/>
          <a:ln/>
        </p:spPr>
        <p:txBody>
          <a:bodyPr wrap="square" lIns="0" tIns="0" rIns="0" bIns="0" rtlCol="0" anchor="ctr"/>
          <a:lstStyle/>
          <a:p>
            <a:pPr indent="0" marL="0">
              <a:buNone/>
            </a:pPr>
            <a:r>
              <a:rPr lang="en-US" sz="1300" dirty="0">
                <a:solidFill>
                  <a:srgbClr val="AEBBD1"/>
                </a:solidFill>
                <a:latin typeface="Calibri" pitchFamily="34" charset="0"/>
                <a:ea typeface="Calibri" pitchFamily="34" charset="-122"/>
                <a:cs typeface="Calibri" pitchFamily="34" charset="-120"/>
              </a:rPr>
              <a:t>About 3 minutes. A concept walkthrough of how shot chart visualizations are built and read, before we build our own from real data.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Why Raw Coordinates Don't Plot Directly</a:t>
            </a:r>
            <a:endParaRPr lang="en-US" sz="2700" dirty="0"/>
          </a:p>
        </p:txBody>
      </p:sp>
      <p:sp>
        <p:nvSpPr>
          <p:cNvPr id="4" name="Shape 2"/>
          <p:cNvSpPr/>
          <p:nvPr/>
        </p:nvSpPr>
        <p:spPr>
          <a:xfrm>
            <a:off x="548640" y="2057400"/>
            <a:ext cx="11091672" cy="1463040"/>
          </a:xfrm>
          <a:prstGeom prst="roundRect">
            <a:avLst>
              <a:gd name="adj" fmla="val 3750"/>
            </a:avLst>
          </a:prstGeom>
          <a:solidFill>
            <a:srgbClr val="EDF1F7"/>
          </a:solidFill>
          <a:ln/>
        </p:spPr>
      </p:sp>
      <p:sp>
        <p:nvSpPr>
          <p:cNvPr id="5" name="Text 3"/>
          <p:cNvSpPr txBox="1"/>
          <p:nvPr/>
        </p:nvSpPr>
        <p:spPr>
          <a:xfrm>
            <a:off x="914400" y="2331720"/>
            <a:ext cx="10360152" cy="914400"/>
          </a:xfrm>
          <a:prstGeom prst="rect">
            <a:avLst/>
          </a:prstGeom>
          <a:noFill/>
          <a:ln/>
        </p:spPr>
        <p:txBody>
          <a:bodyPr wrap="square" lIns="0" tIns="0" rIns="0" bIns="0" rtlCol="0" anchor="ctr"/>
          <a:lstStyle/>
          <a:p>
            <a:pPr indent="0" marL="0">
              <a:lnSpc>
                <a:spcPct val="125000"/>
              </a:lnSpc>
              <a:buNone/>
            </a:pPr>
            <a:r>
              <a:rPr lang="en-US" sz="1550" dirty="0">
                <a:solidFill>
                  <a:srgbClr val="16213E"/>
                </a:solidFill>
                <a:latin typeface="Calibri" pitchFamily="34" charset="0"/>
                <a:ea typeface="Calibri" pitchFamily="34" charset="-122"/>
                <a:cs typeface="Calibri" pitchFamily="34" charset="-120"/>
              </a:rPr>
              <a:t>shotchart() expects half-court coordinates centered on the basket, with y always zero or negative. Our real data's converted_x/converted_y columns are full-court coordinates, spanning both baskets, because teams switch ends every other quarter.</a:t>
            </a:r>
            <a:endParaRPr lang="en-US" sz="1550" dirty="0"/>
          </a:p>
        </p:txBody>
      </p:sp>
      <p:sp>
        <p:nvSpPr>
          <p:cNvPr id="6" name="Text 4"/>
          <p:cNvSpPr txBox="1"/>
          <p:nvPr/>
        </p:nvSpPr>
        <p:spPr>
          <a:xfrm>
            <a:off x="548640" y="3749040"/>
            <a:ext cx="11091672" cy="914400"/>
          </a:xfrm>
          <a:prstGeom prst="rect">
            <a:avLst/>
          </a:prstGeom>
          <a:noFill/>
          <a:ln/>
        </p:spPr>
        <p:txBody>
          <a:bodyPr wrap="square" lIns="0" tIns="0" rIns="0" bIns="0" rtlCol="0" anchor="t"/>
          <a:lstStyle/>
          <a:p>
            <a:pPr indent="0" marL="0">
              <a:lnSpc>
                <a:spcPct val="125000"/>
              </a:lnSpc>
              <a:buNone/>
            </a:pPr>
            <a:r>
              <a:rPr lang="en-US" sz="1400" i="1" dirty="0">
                <a:solidFill>
                  <a:srgbClr val="27496D"/>
                </a:solidFill>
                <a:latin typeface="Calibri" pitchFamily="34" charset="0"/>
                <a:ea typeface="Calibri" pitchFamily="34" charset="-122"/>
                <a:cs typeface="Calibri" pitchFamily="34" charset="-120"/>
              </a:rPr>
              <a:t>So a shot at the "far" basket has to be folded onto the same half-court view as a shot at the "near" basket.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build real half-court coordinates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Folding Every Shot Onto One Half-Court</a:t>
            </a:r>
            <a:endParaRPr lang="en-US" sz="2600" dirty="0"/>
          </a:p>
        </p:txBody>
      </p:sp>
      <p:sp>
        <p:nvSpPr>
          <p:cNvPr id="4" name="Shape 2"/>
          <p:cNvSpPr/>
          <p:nvPr/>
        </p:nvSpPr>
        <p:spPr>
          <a:xfrm>
            <a:off x="548640" y="2011680"/>
            <a:ext cx="11091672" cy="3017520"/>
          </a:xfrm>
          <a:prstGeom prst="roundRect">
            <a:avLst>
              <a:gd name="adj" fmla="val 1818"/>
            </a:avLst>
          </a:prstGeom>
          <a:solidFill>
            <a:srgbClr val="0B1D33"/>
          </a:solidFill>
          <a:ln/>
        </p:spPr>
      </p:sp>
      <p:sp>
        <p:nvSpPr>
          <p:cNvPr id="5" name="Text 3"/>
          <p:cNvSpPr txBox="1"/>
          <p:nvPr/>
        </p:nvSpPr>
        <p:spPr>
          <a:xfrm>
            <a:off x="914400" y="2240280"/>
            <a:ext cx="10360152" cy="2560320"/>
          </a:xfrm>
          <a:prstGeom prst="rect">
            <a:avLst/>
          </a:prstGeom>
          <a:noFill/>
          <a:ln/>
        </p:spPr>
        <p:txBody>
          <a:bodyPr wrap="square" lIns="0" tIns="0" rIns="0" bIns="0" rtlCol="0" anchor="ctr"/>
          <a:lstStyle/>
          <a:p>
            <a:pPr indent="0" marL="0">
              <a:buNone/>
            </a:pPr>
            <a:r>
              <a:rPr lang="en-US" sz="1500" dirty="0">
                <a:solidFill>
                  <a:srgbClr val="D9E2F3"/>
                </a:solidFill>
                <a:latin typeface="Courier New" pitchFamily="34" charset="0"/>
                <a:ea typeface="Courier New" pitchFamily="34" charset="-122"/>
                <a:cs typeface="Courier New" pitchFamily="34" charset="-120"/>
              </a:rPr>
              <a:t>shots &lt;- PbP %&gt;%</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  filter(event_type %in% c("shot","miss")) %&gt;%</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  mutate(cx = as.numeric(as.character(converted_x)),</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         cy = as.numeric(as.character(converted_y))) %&gt;%</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  mutate(yc = ifelse(cy &lt;= 47, cy - 47, 47 - cy),</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         xc = ifelse(cy &lt;= 47, cx - 25, 25 - cx))</a:t>
            </a:r>
            <a:endParaRPr lang="en-US" sz="1500" dirty="0"/>
          </a:p>
        </p:txBody>
      </p:sp>
      <p:sp>
        <p:nvSpPr>
          <p:cNvPr id="6" name="Text 4"/>
          <p:cNvSpPr txBox="1"/>
          <p:nvPr/>
        </p:nvSpPr>
        <p:spPr>
          <a:xfrm>
            <a:off x="548640" y="5166360"/>
            <a:ext cx="11091672" cy="914400"/>
          </a:xfrm>
          <a:prstGeom prst="rect">
            <a:avLst/>
          </a:prstGeom>
          <a:noFill/>
          <a:ln/>
        </p:spPr>
        <p:txBody>
          <a:bodyPr wrap="square" lIns="0" tIns="0" rIns="0" bIns="0" rtlCol="0" anchor="t"/>
          <a:lstStyle/>
          <a:p>
            <a:pPr indent="0" marL="0">
              <a:lnSpc>
                <a:spcPct val="125000"/>
              </a:lnSpc>
              <a:buNone/>
            </a:pPr>
            <a:r>
              <a:rPr lang="en-US" sz="1300" i="1" dirty="0">
                <a:solidFill>
                  <a:srgbClr val="27496D"/>
                </a:solidFill>
                <a:latin typeface="Calibri" pitchFamily="34" charset="0"/>
                <a:ea typeface="Calibri" pitchFamily="34" charset="-122"/>
                <a:cs typeface="Calibri" pitchFamily="34" charset="-120"/>
              </a:rPr>
              <a:t>Run this yourself. Every shot now has an xc/yc pair that shotchart() can actually plot.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Houston Rockets: 273 Real 2018 Playoff Attempts</a:t>
            </a:r>
            <a:endParaRPr lang="en-US" sz="2600" dirty="0"/>
          </a:p>
        </p:txBody>
      </p:sp>
      <p:pic>
        <p:nvPicPr>
          <p:cNvPr id="4" name="Image 0" descr="module4_hou_scatter.png">    </p:cNvPr>
          <p:cNvPicPr>
            <a:picLocks noChangeAspect="1"/>
          </p:cNvPicPr>
          <p:nvPr/>
        </p:nvPicPr>
        <p:blipFill>
          <a:blip r:embed="rId1"/>
          <a:stretch>
            <a:fillRect/>
          </a:stretch>
        </p:blipFill>
        <p:spPr>
          <a:xfrm>
            <a:off x="3566160" y="1691640"/>
            <a:ext cx="4937760" cy="45720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shotchart(hou, x="xc", y="yc", z="result2", scatter=TRUE). Data: PbP.BDB, 2018 NBA playoffs.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Describe What You See, Before I Tell You</a:t>
            </a:r>
            <a:endParaRPr lang="en-US" sz="2800" dirty="0"/>
          </a:p>
        </p:txBody>
      </p:sp>
      <p:sp>
        <p:nvSpPr>
          <p:cNvPr id="4" name="Shape 2"/>
          <p:cNvSpPr/>
          <p:nvPr/>
        </p:nvSpPr>
        <p:spPr>
          <a:xfrm>
            <a:off x="548640" y="2103120"/>
            <a:ext cx="11091672" cy="2194560"/>
          </a:xfrm>
          <a:prstGeom prst="roundRect">
            <a:avLst>
              <a:gd name="adj" fmla="val 2500"/>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Turn to a partner.</a:t>
            </a:r>
            <a:endParaRPr lang="en-US" sz="1600" dirty="0"/>
          </a:p>
          <a:p>
            <a:pPr indent="0" marL="0">
              <a:lnSpc>
                <a:spcPct val="140000"/>
              </a:lnSpc>
              <a:buNone/>
            </a:pP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1. Where do Houston's makes and misses cluster on the floor?</a:t>
            </a: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2. Is there an area of the half-court that looks nearly empty?</a:t>
            </a: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3. What would you guess is happening in that empty area, before we compute anything?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Now let's see the same shots as a density map.</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The Same Shots, as a Density Map</a:t>
            </a:r>
            <a:endParaRPr lang="en-US" sz="2800" dirty="0"/>
          </a:p>
        </p:txBody>
      </p:sp>
      <p:pic>
        <p:nvPicPr>
          <p:cNvPr id="4" name="Image 0" descr="module4_hou_density.png">    </p:cNvPr>
          <p:cNvPicPr>
            <a:picLocks noChangeAspect="1"/>
          </p:cNvPicPr>
          <p:nvPr/>
        </p:nvPicPr>
        <p:blipFill>
          <a:blip r:embed="rId1"/>
          <a:stretch>
            <a:fillRect/>
          </a:stretch>
        </p:blipFill>
        <p:spPr>
          <a:xfrm>
            <a:off x="3566160" y="1691640"/>
            <a:ext cx="4937760" cy="45720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shotchart(hou, x="xc", y="yc", type="density-hexbin", nbins=24). Data: PbP.BDB, 2018 NBA playoffs.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From Coordinates to a Real Shot Chart</a:t>
            </a:r>
            <a:endParaRPr lang="en-US" sz="30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Why raw coordinates need a half-court transform, and built a real shot chart and density map from Houston's 273 real 2018 playoff attempts.</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Segment 2 turns that visual gap in the middle of the floor into a real, computed set of distance zones -- and asks why teams avoid it.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distance zones and Moreyball.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Turning a Scatter of Dots Into a Comparison</a:t>
            </a:r>
            <a:endParaRPr lang="en-US" sz="2800" dirty="0"/>
          </a:p>
        </p:txBody>
      </p:sp>
      <p:sp>
        <p:nvSpPr>
          <p:cNvPr id="4" name="Text 2"/>
          <p:cNvSpPr txBox="1"/>
          <p:nvPr/>
        </p:nvSpPr>
        <p:spPr>
          <a:xfrm>
            <a:off x="548640" y="2103120"/>
            <a:ext cx="11091672" cy="1463040"/>
          </a:xfrm>
          <a:prstGeom prst="rect">
            <a:avLst/>
          </a:prstGeom>
          <a:noFill/>
          <a:ln/>
        </p:spPr>
        <p:txBody>
          <a:bodyPr wrap="square" lIns="0" tIns="0" rIns="0" bIns="0" rtlCol="0" anchor="ctr"/>
          <a:lstStyle/>
          <a:p>
            <a:pPr indent="0" marL="0">
              <a:lnSpc>
                <a:spcPct val="125000"/>
              </a:lnSpc>
              <a:buNone/>
            </a:pPr>
            <a:r>
              <a:rPr lang="en-US" sz="1700" dirty="0">
                <a:solidFill>
                  <a:srgbClr val="FFFFFF"/>
                </a:solidFill>
                <a:latin typeface="Calibri" pitchFamily="34" charset="0"/>
                <a:ea typeface="Calibri" pitchFamily="34" charset="-122"/>
                <a:cs typeface="Calibri" pitchFamily="34" charset="-120"/>
              </a:rPr>
              <a:t>A shot chart is compelling to look at, but it is hard to compare two players or two teams by eye alone. To make a real comparison, this module splits the court into four distance zones, computed directly from each shot's real shot_distance value.</a:t>
            </a:r>
            <a:endParaRPr lang="en-US" sz="1700" dirty="0"/>
          </a:p>
        </p:txBody>
      </p:sp>
      <p:sp>
        <p:nvSpPr>
          <p:cNvPr id="5" name="Text 3"/>
          <p:cNvSpPr txBox="1"/>
          <p:nvPr/>
        </p:nvSpPr>
        <p:spPr>
          <a:xfrm>
            <a:off x="548640" y="3749040"/>
            <a:ext cx="11091672" cy="914400"/>
          </a:xfrm>
          <a:prstGeom prst="rect">
            <a:avLst/>
          </a:prstGeom>
          <a:noFill/>
          <a:ln/>
        </p:spPr>
        <p:txBody>
          <a:bodyPr wrap="square" lIns="0" tIns="0" rIns="0" bIns="0" rtlCol="0" anchor="t"/>
          <a:lstStyle/>
          <a:p>
            <a:pPr indent="0" marL="0">
              <a:lnSpc>
                <a:spcPct val="125000"/>
              </a:lnSpc>
              <a:buNone/>
            </a:pPr>
            <a:r>
              <a:rPr lang="en-US" sz="1400" i="1" dirty="0">
                <a:solidFill>
                  <a:srgbClr val="AEBBD1"/>
                </a:solidFill>
                <a:latin typeface="Calibri" pitchFamily="34" charset="0"/>
                <a:ea typeface="Calibri" pitchFamily="34" charset="-122"/>
                <a:cs typeface="Calibri" pitchFamily="34" charset="-120"/>
              </a:rPr>
              <a:t>Same habit as every module: turn a picture into a number you can actually compare.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Four Real Distance Zones</a:t>
            </a:r>
            <a:endParaRPr lang="en-US" sz="3000" dirty="0"/>
          </a:p>
        </p:txBody>
      </p:sp>
      <p:sp>
        <p:nvSpPr>
          <p:cNvPr id="4" name="Shape 2"/>
          <p:cNvSpPr/>
          <p:nvPr/>
        </p:nvSpPr>
        <p:spPr>
          <a:xfrm>
            <a:off x="548640" y="1965960"/>
            <a:ext cx="11091672" cy="914400"/>
          </a:xfrm>
          <a:prstGeom prst="roundRect">
            <a:avLst>
              <a:gd name="adj" fmla="val 6000"/>
            </a:avLst>
          </a:prstGeom>
          <a:solidFill>
            <a:srgbClr val="EDF1F7"/>
          </a:solidFill>
          <a:ln/>
        </p:spPr>
      </p:sp>
      <p:sp>
        <p:nvSpPr>
          <p:cNvPr id="5" name="Text 3"/>
          <p:cNvSpPr txBox="1"/>
          <p:nvPr/>
        </p:nvSpPr>
        <p:spPr>
          <a:xfrm>
            <a:off x="822960" y="1965960"/>
            <a:ext cx="2377440" cy="91440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Rim</a:t>
            </a:r>
            <a:endParaRPr lang="en-US" sz="1500" dirty="0"/>
          </a:p>
        </p:txBody>
      </p:sp>
      <p:sp>
        <p:nvSpPr>
          <p:cNvPr id="6" name="Text 4"/>
          <p:cNvSpPr txBox="1"/>
          <p:nvPr/>
        </p:nvSpPr>
        <p:spPr>
          <a:xfrm>
            <a:off x="3383280" y="1965960"/>
            <a:ext cx="798271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0-4 feet from the basket.</a:t>
            </a:r>
            <a:endParaRPr lang="en-US" sz="1400" dirty="0"/>
          </a:p>
        </p:txBody>
      </p:sp>
      <p:sp>
        <p:nvSpPr>
          <p:cNvPr id="7" name="Shape 5"/>
          <p:cNvSpPr/>
          <p:nvPr/>
        </p:nvSpPr>
        <p:spPr>
          <a:xfrm>
            <a:off x="548640" y="3017520"/>
            <a:ext cx="11091672" cy="914400"/>
          </a:xfrm>
          <a:prstGeom prst="roundRect">
            <a:avLst>
              <a:gd name="adj" fmla="val 6000"/>
            </a:avLst>
          </a:prstGeom>
          <a:solidFill>
            <a:srgbClr val="EDF1F7"/>
          </a:solidFill>
          <a:ln/>
        </p:spPr>
      </p:sp>
      <p:sp>
        <p:nvSpPr>
          <p:cNvPr id="8" name="Text 6"/>
          <p:cNvSpPr txBox="1"/>
          <p:nvPr/>
        </p:nvSpPr>
        <p:spPr>
          <a:xfrm>
            <a:off x="822960" y="3017520"/>
            <a:ext cx="2377440" cy="91440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Short/Mid</a:t>
            </a:r>
            <a:endParaRPr lang="en-US" sz="1500" dirty="0"/>
          </a:p>
        </p:txBody>
      </p:sp>
      <p:sp>
        <p:nvSpPr>
          <p:cNvPr id="9" name="Text 7"/>
          <p:cNvSpPr txBox="1"/>
          <p:nvPr/>
        </p:nvSpPr>
        <p:spPr>
          <a:xfrm>
            <a:off x="3383280" y="3017520"/>
            <a:ext cx="798271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5-14 feet -- floaters, short jumpers.</a:t>
            </a:r>
            <a:endParaRPr lang="en-US" sz="1400" dirty="0"/>
          </a:p>
        </p:txBody>
      </p:sp>
      <p:sp>
        <p:nvSpPr>
          <p:cNvPr id="10" name="Shape 8"/>
          <p:cNvSpPr/>
          <p:nvPr/>
        </p:nvSpPr>
        <p:spPr>
          <a:xfrm>
            <a:off x="548640" y="4069080"/>
            <a:ext cx="11091672" cy="914400"/>
          </a:xfrm>
          <a:prstGeom prst="roundRect">
            <a:avLst>
              <a:gd name="adj" fmla="val 6000"/>
            </a:avLst>
          </a:prstGeom>
          <a:solidFill>
            <a:srgbClr val="EDF1F7"/>
          </a:solidFill>
          <a:ln/>
        </p:spPr>
      </p:sp>
      <p:sp>
        <p:nvSpPr>
          <p:cNvPr id="11" name="Text 9"/>
          <p:cNvSpPr txBox="1"/>
          <p:nvPr/>
        </p:nvSpPr>
        <p:spPr>
          <a:xfrm>
            <a:off x="822960" y="4069080"/>
            <a:ext cx="2377440" cy="91440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Long Two</a:t>
            </a:r>
            <a:endParaRPr lang="en-US" sz="1500" dirty="0"/>
          </a:p>
        </p:txBody>
      </p:sp>
      <p:sp>
        <p:nvSpPr>
          <p:cNvPr id="12" name="Text 10"/>
          <p:cNvSpPr txBox="1"/>
          <p:nvPr/>
        </p:nvSpPr>
        <p:spPr>
          <a:xfrm>
            <a:off x="3383280" y="4069080"/>
            <a:ext cx="798271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15-21 feet -- the mid-range jump shot.</a:t>
            </a:r>
            <a:endParaRPr lang="en-US" sz="1400" dirty="0"/>
          </a:p>
        </p:txBody>
      </p:sp>
      <p:sp>
        <p:nvSpPr>
          <p:cNvPr id="13" name="Shape 11"/>
          <p:cNvSpPr/>
          <p:nvPr/>
        </p:nvSpPr>
        <p:spPr>
          <a:xfrm>
            <a:off x="548640" y="5120640"/>
            <a:ext cx="11091672" cy="914400"/>
          </a:xfrm>
          <a:prstGeom prst="roundRect">
            <a:avLst>
              <a:gd name="adj" fmla="val 6000"/>
            </a:avLst>
          </a:prstGeom>
          <a:solidFill>
            <a:srgbClr val="EDF1F7"/>
          </a:solidFill>
          <a:ln/>
        </p:spPr>
      </p:sp>
      <p:sp>
        <p:nvSpPr>
          <p:cNvPr id="14" name="Text 12"/>
          <p:cNvSpPr txBox="1"/>
          <p:nvPr/>
        </p:nvSpPr>
        <p:spPr>
          <a:xfrm>
            <a:off x="822960" y="5120640"/>
            <a:ext cx="2377440" cy="91440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Three</a:t>
            </a:r>
            <a:endParaRPr lang="en-US" sz="1500" dirty="0"/>
          </a:p>
        </p:txBody>
      </p:sp>
      <p:sp>
        <p:nvSpPr>
          <p:cNvPr id="15" name="Text 13"/>
          <p:cNvSpPr txBox="1"/>
          <p:nvPr/>
        </p:nvSpPr>
        <p:spPr>
          <a:xfrm>
            <a:off x="3383280" y="5120640"/>
            <a:ext cx="798271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22 feet or more -- behind the arc, no upper bound.</a:t>
            </a:r>
            <a:endParaRPr lang="en-US" sz="1400" dirty="0"/>
          </a:p>
        </p:txBody>
      </p:sp>
      <p:sp>
        <p:nvSpPr>
          <p:cNvPr id="16" name="Text 14"/>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Computed directly from shot_distance in PbP.BDB using case_when() in R.</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compute the real leaguewide zone table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4</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500" b="1" dirty="0">
                <a:solidFill>
                  <a:srgbClr val="16213E"/>
                </a:solidFill>
                <a:latin typeface="Cambria" pitchFamily="34" charset="0"/>
                <a:ea typeface="Cambria" pitchFamily="34" charset="-122"/>
                <a:cs typeface="Cambria" pitchFamily="34" charset="-120"/>
              </a:rPr>
              <a:t>All 14,354 Real 2018 Playoff Attempts, by Zone</a:t>
            </a:r>
            <a:endParaRPr lang="en-US" sz="2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2377440"/>
        </p:xfrm>
        <a:graphic>
          <a:graphicData uri="http://schemas.openxmlformats.org/drawingml/2006/table">
            <a:tbl>
              <a:tblPr/>
              <a:tblGrid>
                <a:gridCol w="4050792"/>
                <a:gridCol w="2651760"/>
                <a:gridCol w="2194560"/>
                <a:gridCol w="2194560"/>
              </a:tblGrid>
              <a:tr h="47548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Zone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Attempts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Share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Rim (0-4 ft)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4,513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Short/Mid (5-14 ft)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2,770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41.8%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Long Two (15-21 ft)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2,128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14.8%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41.7%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Three (22+ ft)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4,943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34.4%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37.5%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bl>
          </a:graphicData>
        </a:graphic>
      </p:graphicFrame>
      <p:sp>
        <p:nvSpPr>
          <p:cNvPr id="5" name="Text 2"/>
          <p:cNvSpPr txBox="1"/>
          <p:nvPr/>
        </p:nvSpPr>
        <p:spPr>
          <a:xfrm>
            <a:off x="548640" y="466344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27496D"/>
                </a:solidFill>
                <a:latin typeface="Calibri" pitchFamily="34" charset="0"/>
                <a:ea typeface="Calibri" pitchFamily="34" charset="-122"/>
                <a:cs typeface="Calibri" pitchFamily="34" charset="-120"/>
              </a:rPr>
              <a:t>The long two is the smallest share of any zone leaguewide -- only 14.8% of every real attempt.</a:t>
            </a:r>
            <a:endParaRPr lang="en-US" sz="1500" dirty="0"/>
          </a:p>
        </p:txBody>
      </p:sp>
      <p:sp>
        <p:nvSpPr>
          <p:cNvPr id="6" name="Text 3"/>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Data: PbP.BDB, 2018 NBA playoffs, all 30 teams, computed in module4_shot_charts.R.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THE CORE IDEA OF THIS MODULE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The Long Two Is Disappearing From the Real Game</a:t>
            </a:r>
            <a:endParaRPr lang="en-US" sz="2600" dirty="0"/>
          </a:p>
        </p:txBody>
      </p:sp>
      <p:sp>
        <p:nvSpPr>
          <p:cNvPr id="4" name="Shape 2"/>
          <p:cNvSpPr/>
          <p:nvPr/>
        </p:nvSpPr>
        <p:spPr>
          <a:xfrm>
            <a:off x="548640" y="2103120"/>
            <a:ext cx="3840480" cy="3108960"/>
          </a:xfrm>
          <a:prstGeom prst="roundRect">
            <a:avLst>
              <a:gd name="adj" fmla="val 1765"/>
            </a:avLst>
          </a:prstGeom>
          <a:solidFill>
            <a:srgbClr val="E4572E"/>
          </a:solidFill>
          <a:ln/>
        </p:spPr>
      </p:sp>
      <p:sp>
        <p:nvSpPr>
          <p:cNvPr id="5" name="Text 3"/>
          <p:cNvSpPr txBox="1"/>
          <p:nvPr/>
        </p:nvSpPr>
        <p:spPr>
          <a:xfrm>
            <a:off x="548640" y="2514600"/>
            <a:ext cx="384048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14.8%</a:t>
            </a:r>
            <a:endParaRPr lang="en-US" sz="5400" dirty="0"/>
          </a:p>
        </p:txBody>
      </p:sp>
      <p:sp>
        <p:nvSpPr>
          <p:cNvPr id="6" name="Text 4"/>
          <p:cNvSpPr txBox="1"/>
          <p:nvPr/>
        </p:nvSpPr>
        <p:spPr>
          <a:xfrm>
            <a:off x="822960" y="3749040"/>
            <a:ext cx="3291840" cy="1280160"/>
          </a:xfrm>
          <a:prstGeom prst="rect">
            <a:avLst/>
          </a:prstGeom>
          <a:noFill/>
          <a:ln/>
        </p:spPr>
        <p:txBody>
          <a:bodyPr wrap="square" lIns="0" tIns="0" rIns="0" bIns="0" rtlCol="0" anchor="ctr"/>
          <a:lstStyle/>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of all real 2018 playoff</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attempts came from the</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long two -- the smallest</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share of any zone</a:t>
            </a:r>
            <a:endParaRPr lang="en-US" sz="1300" dirty="0"/>
          </a:p>
        </p:txBody>
      </p:sp>
      <p:sp>
        <p:nvSpPr>
          <p:cNvPr id="7" name="Text 5"/>
          <p:cNvSpPr txBox="1"/>
          <p:nvPr/>
        </p:nvSpPr>
        <p:spPr>
          <a:xfrm>
            <a:off x="4663440" y="2103120"/>
            <a:ext cx="6428232" cy="3108960"/>
          </a:xfrm>
          <a:prstGeom prst="rect">
            <a:avLst/>
          </a:prstGeom>
          <a:noFill/>
          <a:ln/>
        </p:spPr>
        <p:txBody>
          <a:bodyPr wrap="square" lIns="0" tIns="0" rIns="0" bIns="0" rtlCol="0" anchor="t"/>
          <a:lstStyle/>
          <a:p>
            <a:pPr indent="0" marL="0">
              <a:lnSpc>
                <a:spcPct val="130000"/>
              </a:lnSpc>
              <a:buNone/>
            </a:pPr>
            <a:r>
              <a:rPr lang="en-US" sz="1500" b="1" dirty="0">
                <a:solidFill>
                  <a:srgbClr val="16213E"/>
                </a:solidFill>
                <a:latin typeface="Calibri" pitchFamily="34" charset="0"/>
                <a:ea typeface="Calibri" pitchFamily="34" charset="-122"/>
                <a:cs typeface="Calibri" pitchFamily="34" charset="-120"/>
              </a:rPr>
              <a:t>Why it matters: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the long two converts at 41.7%, lower than the rim's 64.4%, and is worth the same two points as a much easier rim shot -- no extra point the way a made three earns.
</a:t>
            </a:r>
            <a:pPr indent="0" marL="0">
              <a:lnSpc>
                <a:spcPct val="130000"/>
              </a:lnSpc>
              <a:buNone/>
            </a:pPr>
            <a:r>
              <a:rPr lang="en-US" sz="1500" b="1" dirty="0">
                <a:solidFill>
                  <a:srgbClr val="E4572E"/>
                </a:solidFill>
                <a:latin typeface="Calibri" pitchFamily="34" charset="0"/>
                <a:ea typeface="Calibri" pitchFamily="34" charset="-122"/>
                <a:cs typeface="Calibri" pitchFamily="34" charset="-120"/>
              </a:rPr>
              <a:t>The takeaway: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a shot can have a perfectly respectable field goal percentage and still be a bad shot to take, once you account for what it is worth.</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Field Goal Percentage Is Not the Whole Story</a:t>
            </a:r>
            <a:endParaRPr lang="en-US" sz="2700" dirty="0"/>
          </a:p>
        </p:txBody>
      </p:sp>
      <p:sp>
        <p:nvSpPr>
          <p:cNvPr id="4" name="Shape 2"/>
          <p:cNvSpPr/>
          <p:nvPr/>
        </p:nvSpPr>
        <p:spPr>
          <a:xfrm>
            <a:off x="548640" y="2103120"/>
            <a:ext cx="11091672" cy="1554480"/>
          </a:xfrm>
          <a:prstGeom prst="roundRect">
            <a:avLst>
              <a:gd name="adj" fmla="val 3529"/>
            </a:avLst>
          </a:prstGeom>
          <a:solidFill>
            <a:srgbClr val="EDF1F7"/>
          </a:solidFill>
          <a:ln/>
        </p:spPr>
      </p:sp>
      <p:sp>
        <p:nvSpPr>
          <p:cNvPr id="5" name="Text 3"/>
          <p:cNvSpPr txBox="1"/>
          <p:nvPr/>
        </p:nvSpPr>
        <p:spPr>
          <a:xfrm>
            <a:off x="914400" y="2377440"/>
            <a:ext cx="10360152" cy="100584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Points per shot (PPS) accounts for both whether a shot goes in and how many points it is worth when it does. A zone can have a lower field goal percentage than another zone and still be the better zone to shoot from, once the extra point from three is priced in.</a:t>
            </a:r>
            <a:endParaRPr lang="en-US" sz="1600" dirty="0"/>
          </a:p>
        </p:txBody>
      </p:sp>
      <p:sp>
        <p:nvSpPr>
          <p:cNvPr id="6" name="Text 4"/>
          <p:cNvSpPr txBox="1"/>
          <p:nvPr/>
        </p:nvSpPr>
        <p:spPr>
          <a:xfrm>
            <a:off x="548640" y="3931920"/>
            <a:ext cx="11091672" cy="914400"/>
          </a:xfrm>
          <a:prstGeom prst="rect">
            <a:avLst/>
          </a:prstGeom>
          <a:noFill/>
          <a:ln/>
        </p:spPr>
        <p:txBody>
          <a:bodyPr wrap="square" lIns="0" tIns="0" rIns="0" bIns="0" rtlCol="0" anchor="t"/>
          <a:lstStyle/>
          <a:p>
            <a:pPr indent="0" marL="0">
              <a:lnSpc>
                <a:spcPct val="125000"/>
              </a:lnSpc>
              <a:buNone/>
            </a:pPr>
            <a:r>
              <a:rPr lang="en-US" sz="1500" i="1" dirty="0">
                <a:solidFill>
                  <a:srgbClr val="27496D"/>
                </a:solidFill>
                <a:latin typeface="Calibri" pitchFamily="34" charset="0"/>
                <a:ea typeface="Calibri" pitchFamily="34" charset="-122"/>
                <a:cs typeface="Calibri" pitchFamily="34" charset="-120"/>
              </a:rPr>
              <a:t>PPS = FG% × points per make (2 or 3).</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5</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Points Per Shot, Rim vs. Long Two vs. Three</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2011680"/>
        </p:xfrm>
        <a:graphic>
          <a:graphicData uri="http://schemas.openxmlformats.org/drawingml/2006/table">
            <a:tbl>
              <a:tblPr/>
              <a:tblGrid>
                <a:gridCol w="4050792"/>
                <a:gridCol w="2286000"/>
                <a:gridCol w="2377440"/>
                <a:gridCol w="2377440"/>
              </a:tblGrid>
              <a:tr h="50292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Zone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Points Per Make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Points Per Shot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50292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Rim (0-4 ft)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1.29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50292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Long Two (15-21 ft)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41.7%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50292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Three (22+ ft)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37.5%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4389120"/>
            <a:ext cx="11091672" cy="914400"/>
          </a:xfrm>
          <a:prstGeom prst="rect">
            <a:avLst/>
          </a:prstGeom>
          <a:noFill/>
          <a:ln/>
        </p:spPr>
        <p:txBody>
          <a:bodyPr wrap="square" lIns="0" tIns="0" rIns="0" bIns="0" rtlCol="0" anchor="t"/>
          <a:lstStyle/>
          <a:p>
            <a:pPr indent="0" marL="0">
              <a:lnSpc>
                <a:spcPct val="125000"/>
              </a:lnSpc>
              <a:buNone/>
            </a:pPr>
            <a:r>
              <a:rPr lang="en-US" sz="1400" dirty="0">
                <a:solidFill>
                  <a:srgbClr val="27496D"/>
                </a:solidFill>
                <a:latin typeface="Calibri" pitchFamily="34" charset="0"/>
                <a:ea typeface="Calibri" pitchFamily="34" charset="-122"/>
                <a:cs typeface="Calibri" pitchFamily="34" charset="-120"/>
              </a:rPr>
              <a:t>Even with the lowest field goal percentage of the three, the three-point shot beats the long two on real expected value.</a:t>
            </a:r>
            <a:endParaRPr lang="en-US" sz="1400" dirty="0"/>
          </a:p>
        </p:txBody>
      </p:sp>
      <p:sp>
        <p:nvSpPr>
          <p:cNvPr id="6" name="Text 3"/>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Points per shot computed from the leaguewide zone table, PbP.BDB, 2018 NBA playoffs.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LET'S WATCH THIS TOGETHER</a:t>
            </a:r>
            <a:endParaRPr lang="en-US" sz="1300" dirty="0"/>
          </a:p>
        </p:txBody>
      </p:sp>
      <p:sp>
        <p:nvSpPr>
          <p:cNvPr id="3" name="Text 1"/>
          <p:cNvSpPr txBox="1"/>
          <p:nvPr/>
        </p:nvSpPr>
        <p:spPr>
          <a:xfrm>
            <a:off x="548640" y="1554480"/>
            <a:ext cx="11091672" cy="10972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Seeing a Three-Heavy Attack in Real Game Footage</a:t>
            </a:r>
            <a:endParaRPr lang="en-US" sz="2800" dirty="0"/>
          </a:p>
        </p:txBody>
      </p:sp>
      <p:sp>
        <p:nvSpPr>
          <p:cNvPr id="4" name="Shape 2"/>
          <p:cNvSpPr/>
          <p:nvPr/>
        </p:nvSpPr>
        <p:spPr>
          <a:xfrm>
            <a:off x="548640" y="2834640"/>
            <a:ext cx="11091672" cy="1737360"/>
          </a:xfrm>
          <a:prstGeom prst="roundRect">
            <a:avLst>
              <a:gd name="adj" fmla="val 3158"/>
            </a:avLst>
          </a:prstGeom>
          <a:solidFill>
            <a:srgbClr val="16213E"/>
          </a:solidFill>
          <a:ln/>
        </p:spPr>
      </p:sp>
      <p:sp>
        <p:nvSpPr>
          <p:cNvPr id="5" name="Shape 3"/>
          <p:cNvSpPr/>
          <p:nvPr/>
        </p:nvSpPr>
        <p:spPr>
          <a:xfrm>
            <a:off x="1005840" y="3246120"/>
            <a:ext cx="914400" cy="914400"/>
          </a:xfrm>
          <a:prstGeom prst="ellipse">
            <a:avLst/>
          </a:prstGeom>
          <a:solidFill>
            <a:srgbClr val="E4572E"/>
          </a:solidFill>
          <a:ln/>
        </p:spPr>
      </p:sp>
      <p:sp>
        <p:nvSpPr>
          <p:cNvPr id="6" name="Text 4"/>
          <p:cNvSpPr txBox="1"/>
          <p:nvPr/>
        </p:nvSpPr>
        <p:spPr>
          <a:xfrm>
            <a:off x="1005840" y="3246120"/>
            <a:ext cx="914400" cy="914400"/>
          </a:xfrm>
          <a:prstGeom prst="rect">
            <a:avLst/>
          </a:prstGeom>
          <a:noFill/>
          <a:ln/>
        </p:spPr>
        <p:txBody>
          <a:bodyPr wrap="square" lIns="0" tIns="0" rIns="0" bIns="0" rtlCol="0" anchor="ctr"/>
          <a:lstStyle/>
          <a:p>
            <a:pPr algn="ctr" indent="0" marL="0">
              <a:buNone/>
            </a:pPr>
            <a:r>
              <a:rPr lang="en-US" sz="3000" dirty="0">
                <a:solidFill>
                  <a:srgbClr val="FFFFFF"/>
                </a:solidFill>
                <a:latin typeface="Calibri" pitchFamily="34" charset="0"/>
                <a:ea typeface="Calibri" pitchFamily="34" charset="-122"/>
                <a:cs typeface="Calibri" pitchFamily="34" charset="-120"/>
              </a:rPr>
              <a:t>▶</a:t>
            </a:r>
            <a:endParaRPr lang="en-US" sz="3000" dirty="0"/>
          </a:p>
        </p:txBody>
      </p:sp>
      <p:sp>
        <p:nvSpPr>
          <p:cNvPr id="7" name="Text 5"/>
          <p:cNvSpPr txBox="1"/>
          <p:nvPr/>
        </p:nvSpPr>
        <p:spPr>
          <a:xfrm>
            <a:off x="2194560" y="3063240"/>
            <a:ext cx="9262872" cy="8229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"Stephen Curry Full Game 1 Highlights vs Cavaliers, 2018 NBA Finals -- 29 Pts, 9 Ast, CLUTCH!" (YouTube)</a:t>
            </a:r>
            <a:endParaRPr lang="en-US" sz="1800" dirty="0"/>
          </a:p>
        </p:txBody>
      </p:sp>
      <p:sp>
        <p:nvSpPr>
          <p:cNvPr id="8" name="Text 6"/>
          <p:cNvSpPr txBox="1"/>
          <p:nvPr/>
        </p:nvSpPr>
        <p:spPr>
          <a:xfrm>
            <a:off x="2194560" y="3794760"/>
            <a:ext cx="9262872" cy="640080"/>
          </a:xfrm>
          <a:prstGeom prst="rect">
            <a:avLst/>
          </a:prstGeom>
          <a:noFill/>
          <a:ln/>
        </p:spPr>
        <p:txBody>
          <a:bodyPr wrap="square" lIns="0" tIns="0" rIns="0" bIns="0" rtlCol="0" anchor="ctr"/>
          <a:lstStyle/>
          <a:p>
            <a:pPr indent="0" marL="0">
              <a:buNone/>
            </a:pPr>
            <a:r>
              <a:rPr lang="en-US" sz="1300" dirty="0">
                <a:solidFill>
                  <a:srgbClr val="AEBBD1"/>
                </a:solidFill>
                <a:latin typeface="Calibri" pitchFamily="34" charset="0"/>
                <a:ea typeface="Calibri" pitchFamily="34" charset="-122"/>
                <a:cs typeface="Calibri" pitchFamily="34" charset="-120"/>
              </a:rPr>
              <a:t>Real footage from the same 2018 postseason our data comes from. Watch for how many of Golden State's shots come from the rim or from three.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"Moreyball": A Real Shot-Selection Strategy</a:t>
            </a:r>
            <a:endParaRPr lang="en-US" sz="2800" dirty="0"/>
          </a:p>
        </p:txBody>
      </p:sp>
      <p:sp>
        <p:nvSpPr>
          <p:cNvPr id="4" name="Shape 2"/>
          <p:cNvSpPr/>
          <p:nvPr/>
        </p:nvSpPr>
        <p:spPr>
          <a:xfrm>
            <a:off x="548640" y="2103120"/>
            <a:ext cx="11091672" cy="3108960"/>
          </a:xfrm>
          <a:prstGeom prst="roundRect">
            <a:avLst>
              <a:gd name="adj" fmla="val 1765"/>
            </a:avLst>
          </a:prstGeom>
          <a:solidFill>
            <a:srgbClr val="27496D"/>
          </a:solidFill>
          <a:ln/>
        </p:spPr>
      </p:sp>
      <p:sp>
        <p:nvSpPr>
          <p:cNvPr id="5" name="Text 3"/>
          <p:cNvSpPr txBox="1"/>
          <p:nvPr/>
        </p:nvSpPr>
        <p:spPr>
          <a:xfrm>
            <a:off x="914400" y="2377440"/>
            <a:ext cx="10360152" cy="2743200"/>
          </a:xfrm>
          <a:prstGeom prst="rect">
            <a:avLst/>
          </a:prstGeom>
          <a:noFill/>
          <a:ln/>
        </p:spPr>
        <p:txBody>
          <a:bodyPr wrap="square" lIns="0" tIns="0" rIns="0" bIns="0" rtlCol="0" anchor="ctr"/>
          <a:lstStyle/>
          <a:p>
            <a:pPr indent="0" marL="0">
              <a:lnSpc>
                <a:spcPct val="135000"/>
              </a:lnSpc>
              <a:buNone/>
            </a:pPr>
            <a:r>
              <a:rPr lang="en-US" sz="1600" dirty="0">
                <a:solidFill>
                  <a:srgbClr val="FFFFFF"/>
                </a:solidFill>
                <a:latin typeface="Calibri" pitchFamily="34" charset="0"/>
                <a:ea typeface="Calibri" pitchFamily="34" charset="-122"/>
                <a:cs typeface="Calibri" pitchFamily="34" charset="-120"/>
              </a:rPr>
              <a:t>Houston Rockets general manager Daryl Morey built his roster and offense around one real, data-driven principle: take shots at the rim or from three, and avoid the long two whenever a better option exists. Reporters and fans nicknamed this "Moreyball." It is not just a nickname -- it is a real, testable shot-selection pattern, and this module's zone tables let us test it directly.</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test Moreyball on two real teams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6</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Two Real 2018 Playoff Teams, Zone by Zone</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2560320"/>
        </p:xfrm>
        <a:graphic>
          <a:graphicData uri="http://schemas.openxmlformats.org/drawingml/2006/table">
            <a:tbl>
              <a:tblPr/>
              <a:tblGrid>
                <a:gridCol w="2862072"/>
                <a:gridCol w="2286000"/>
                <a:gridCol w="2103120"/>
                <a:gridCol w="2103120"/>
                <a:gridCol w="1737360"/>
              </a:tblGrid>
              <a:tr h="51206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Zone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HOU Share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HOU FG%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CLE Share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CLE FG%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512064">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Rim</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35.5%</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67.0%</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28.6%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53.8%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Short/Mid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10.6%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37.9%</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22.5%</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34.1%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512064">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Long Two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47.1%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11.5%</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19.0%</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Three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47.6%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35.4%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37.4%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36.8%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bl>
          </a:graphicData>
        </a:graphic>
      </p:graphicFrame>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Data: PbP.BDB, 2018 NBA playoffs. Houston Rockets (273 real attempts) vs. Cleveland Cavaliers.</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READING THE REAL NUMBERS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Moreyball, Confirmed by the Real Data</a:t>
            </a:r>
            <a:endParaRPr lang="en-US" sz="2800" dirty="0"/>
          </a:p>
        </p:txBody>
      </p:sp>
      <p:sp>
        <p:nvSpPr>
          <p:cNvPr id="4" name="Shape 2"/>
          <p:cNvSpPr/>
          <p:nvPr/>
        </p:nvSpPr>
        <p:spPr>
          <a:xfrm>
            <a:off x="548640" y="2103120"/>
            <a:ext cx="5362956" cy="3017520"/>
          </a:xfrm>
          <a:prstGeom prst="roundRect">
            <a:avLst>
              <a:gd name="adj" fmla="val 1818"/>
            </a:avLst>
          </a:prstGeom>
          <a:solidFill>
            <a:srgbClr val="E4572E"/>
          </a:solidFill>
          <a:ln/>
        </p:spPr>
      </p:sp>
      <p:sp>
        <p:nvSpPr>
          <p:cNvPr id="5" name="Text 3"/>
          <p:cNvSpPr txBox="1"/>
          <p:nvPr/>
        </p:nvSpPr>
        <p:spPr>
          <a:xfrm>
            <a:off x="548640" y="2468880"/>
            <a:ext cx="5362956" cy="100584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82.2%</a:t>
            </a:r>
            <a:endParaRPr lang="en-US" sz="4600" dirty="0"/>
          </a:p>
        </p:txBody>
      </p:sp>
      <p:sp>
        <p:nvSpPr>
          <p:cNvPr id="6" name="Text 4"/>
          <p:cNvSpPr txBox="1"/>
          <p:nvPr/>
        </p:nvSpPr>
        <p:spPr>
          <a:xfrm>
            <a:off x="822960" y="3520440"/>
            <a:ext cx="4814316" cy="1188720"/>
          </a:xfrm>
          <a:prstGeom prst="rect">
            <a:avLst/>
          </a:prstGeom>
          <a:noFill/>
          <a:ln/>
        </p:spPr>
        <p:txBody>
          <a:bodyPr wrap="square" lIns="0" tIns="0" rIns="0" bIns="0" rtlCol="0" anchor="ctr"/>
          <a:lstStyle/>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of Houston's real shots came</a:t>
            </a:r>
            <a:endParaRPr lang="en-US" sz="1400" dirty="0"/>
          </a:p>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from the rim or from three</a:t>
            </a:r>
            <a:endParaRPr lang="en-US" sz="1400" dirty="0"/>
          </a:p>
        </p:txBody>
      </p:sp>
      <p:sp>
        <p:nvSpPr>
          <p:cNvPr id="7" name="Shape 5"/>
          <p:cNvSpPr/>
          <p:nvPr/>
        </p:nvSpPr>
        <p:spPr>
          <a:xfrm>
            <a:off x="6277356" y="2103120"/>
            <a:ext cx="5362956" cy="3017520"/>
          </a:xfrm>
          <a:prstGeom prst="roundRect">
            <a:avLst>
              <a:gd name="adj" fmla="val 1818"/>
            </a:avLst>
          </a:prstGeom>
          <a:solidFill>
            <a:srgbClr val="27496D"/>
          </a:solidFill>
          <a:ln/>
        </p:spPr>
      </p:sp>
      <p:sp>
        <p:nvSpPr>
          <p:cNvPr id="8" name="Text 6"/>
          <p:cNvSpPr txBox="1"/>
          <p:nvPr/>
        </p:nvSpPr>
        <p:spPr>
          <a:xfrm>
            <a:off x="6277356" y="2468880"/>
            <a:ext cx="5362956" cy="100584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66.0%</a:t>
            </a:r>
            <a:endParaRPr lang="en-US" sz="4600" dirty="0"/>
          </a:p>
        </p:txBody>
      </p:sp>
      <p:sp>
        <p:nvSpPr>
          <p:cNvPr id="9" name="Text 7"/>
          <p:cNvSpPr txBox="1"/>
          <p:nvPr/>
        </p:nvSpPr>
        <p:spPr>
          <a:xfrm>
            <a:off x="6551676" y="3520440"/>
            <a:ext cx="4814316" cy="1188720"/>
          </a:xfrm>
          <a:prstGeom prst="rect">
            <a:avLst/>
          </a:prstGeom>
          <a:noFill/>
          <a:ln/>
        </p:spPr>
        <p:txBody>
          <a:bodyPr wrap="square" lIns="0" tIns="0" rIns="0" bIns="0" rtlCol="0" anchor="ctr"/>
          <a:lstStyle/>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of Cleveland's real shots came</a:t>
            </a:r>
            <a:endParaRPr lang="en-US" sz="1400" dirty="0"/>
          </a:p>
          <a:p>
            <a:pPr algn="ctr" indent="0" marL="0">
              <a:lnSpc>
                <a:spcPct val="130000"/>
              </a:lnSpc>
              <a:buNone/>
            </a:pPr>
            <a:r>
              <a:rPr lang="en-US" sz="1400" dirty="0">
                <a:solidFill>
                  <a:srgbClr val="FFFFFF"/>
                </a:solidFill>
                <a:latin typeface="Calibri" pitchFamily="34" charset="0"/>
                <a:ea typeface="Calibri" pitchFamily="34" charset="-122"/>
                <a:cs typeface="Calibri" pitchFamily="34" charset="-120"/>
              </a:rPr>
              <a:t>from the rim or from three</a:t>
            </a:r>
            <a:endParaRPr lang="en-US" sz="1400" dirty="0"/>
          </a:p>
        </p:txBody>
      </p:sp>
      <p:sp>
        <p:nvSpPr>
          <p:cNvPr id="10" name="Text 8"/>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Rim share + three share, each team, PbP.BDB 2018 playoffs.</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7</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500" b="1" dirty="0">
                <a:solidFill>
                  <a:srgbClr val="16213E"/>
                </a:solidFill>
                <a:latin typeface="Cambria" pitchFamily="34" charset="0"/>
                <a:ea typeface="Cambria" pitchFamily="34" charset="-122"/>
                <a:cs typeface="Cambria" pitchFamily="34" charset="-120"/>
              </a:rPr>
              <a:t>Cleveland Cavaliers: a More Spread-Out Real Profile</a:t>
            </a:r>
            <a:endParaRPr lang="en-US" sz="2500" dirty="0"/>
          </a:p>
        </p:txBody>
      </p:sp>
      <p:pic>
        <p:nvPicPr>
          <p:cNvPr id="4" name="Image 0" descr="module4_cle_scatter.png">    </p:cNvPr>
          <p:cNvPicPr>
            <a:picLocks noChangeAspect="1"/>
          </p:cNvPicPr>
          <p:nvPr/>
        </p:nvPicPr>
        <p:blipFill>
          <a:blip r:embed="rId1"/>
          <a:stretch>
            <a:fillRect/>
          </a:stretch>
        </p:blipFill>
        <p:spPr>
          <a:xfrm>
            <a:off x="3566160" y="1691640"/>
            <a:ext cx="4937760" cy="45720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shotchart(cle, x="xc", y="yc", z="result2", scatter=TRUE). Data: PbP.BDB, 2018 NBA playoffs.</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Test Moreyball on a Team I Assign You</a:t>
            </a:r>
            <a:endParaRPr lang="en-US" sz="2800" dirty="0"/>
          </a:p>
        </p:txBody>
      </p:sp>
      <p:sp>
        <p:nvSpPr>
          <p:cNvPr id="4" name="Shape 2"/>
          <p:cNvSpPr/>
          <p:nvPr/>
        </p:nvSpPr>
        <p:spPr>
          <a:xfrm>
            <a:off x="548640" y="2103120"/>
            <a:ext cx="11091672" cy="2377440"/>
          </a:xfrm>
          <a:prstGeom prst="roundRect">
            <a:avLst>
              <a:gd name="adj" fmla="val 2308"/>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35000"/>
              </a:lnSpc>
              <a:buNone/>
            </a:pPr>
            <a:r>
              <a:rPr lang="en-US" sz="1500" dirty="0">
                <a:solidFill>
                  <a:srgbClr val="16213E"/>
                </a:solidFill>
                <a:latin typeface="Calibri" pitchFamily="34" charset="0"/>
                <a:ea typeface="Calibri" pitchFamily="34" charset="-122"/>
                <a:cs typeface="Calibri" pitchFamily="34" charset="-120"/>
              </a:rPr>
              <a:t>Get into groups of 3-4. I'll assign your group one more real 2018 playoff team.</a:t>
            </a:r>
            <a:endParaRPr lang="en-US" sz="1500" dirty="0"/>
          </a:p>
          <a:p>
            <a:pPr indent="0" marL="0">
              <a:lnSpc>
                <a:spcPct val="135000"/>
              </a:lnSpc>
              <a:buNone/>
            </a:pPr>
            <a:endParaRPr lang="en-US" sz="1500" dirty="0"/>
          </a:p>
          <a:p>
            <a:pPr indent="0" marL="0">
              <a:lnSpc>
                <a:spcPct val="135000"/>
              </a:lnSpc>
              <a:buNone/>
            </a:pPr>
            <a:r>
              <a:rPr lang="en-US" sz="1500" dirty="0">
                <a:solidFill>
                  <a:srgbClr val="16213E"/>
                </a:solidFill>
                <a:latin typeface="Calibri" pitchFamily="34" charset="0"/>
                <a:ea typeface="Calibri" pitchFamily="34" charset="-122"/>
                <a:cs typeface="Calibri" pitchFamily="34" charset="-120"/>
              </a:rPr>
              <a:t>1. Build that team's real zone table using the same code we just ran.</a:t>
            </a:r>
            <a:endParaRPr lang="en-US" sz="1500" dirty="0"/>
          </a:p>
          <a:p>
            <a:pPr indent="0" marL="0">
              <a:lnSpc>
                <a:spcPct val="135000"/>
              </a:lnSpc>
              <a:buNone/>
            </a:pPr>
            <a:r>
              <a:rPr lang="en-US" sz="1500" dirty="0">
                <a:solidFill>
                  <a:srgbClr val="16213E"/>
                </a:solidFill>
                <a:latin typeface="Calibri" pitchFamily="34" charset="0"/>
                <a:ea typeface="Calibri" pitchFamily="34" charset="-122"/>
                <a:cs typeface="Calibri" pitchFamily="34" charset="-120"/>
              </a:rPr>
              <a:t>2. Compute their combined rim-plus-three share.</a:t>
            </a:r>
            <a:endParaRPr lang="en-US" sz="1500" dirty="0"/>
          </a:p>
          <a:p>
            <a:pPr indent="0" marL="0">
              <a:lnSpc>
                <a:spcPct val="135000"/>
              </a:lnSpc>
              <a:buNone/>
            </a:pPr>
            <a:r>
              <a:rPr lang="en-US" sz="1500" dirty="0">
                <a:solidFill>
                  <a:srgbClr val="16213E"/>
                </a:solidFill>
                <a:latin typeface="Calibri" pitchFamily="34" charset="0"/>
                <a:ea typeface="Calibri" pitchFamily="34" charset="-122"/>
                <a:cs typeface="Calibri" pitchFamily="34" charset="-120"/>
              </a:rPr>
              <a:t>3. Does your team look more like Houston's profile or Cleveland's? Be ready to report your number to the class.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Zones and Moreyball, Covered</a:t>
            </a:r>
            <a:endParaRPr lang="en-US" sz="30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Four real distance zones, points per shot versus field goal percentage, and a real, measurable comparison between Houston's and Cleveland's 2018 shot profiles.</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Segment 3 moves from team-level shot selection down to two real, individual players.</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two real players, side by side.</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Same Zone Thinking, One Player at a Time</a:t>
            </a:r>
            <a:endParaRPr lang="en-US" sz="2800" dirty="0"/>
          </a:p>
        </p:txBody>
      </p:sp>
      <p:sp>
        <p:nvSpPr>
          <p:cNvPr id="4" name="Text 2"/>
          <p:cNvSpPr txBox="1"/>
          <p:nvPr/>
        </p:nvSpPr>
        <p:spPr>
          <a:xfrm>
            <a:off x="548640" y="2103120"/>
            <a:ext cx="11091672" cy="1463040"/>
          </a:xfrm>
          <a:prstGeom prst="rect">
            <a:avLst/>
          </a:prstGeom>
          <a:noFill/>
          <a:ln/>
        </p:spPr>
        <p:txBody>
          <a:bodyPr wrap="square" lIns="0" tIns="0" rIns="0" bIns="0" rtlCol="0" anchor="ctr"/>
          <a:lstStyle/>
          <a:p>
            <a:pPr indent="0" marL="0">
              <a:lnSpc>
                <a:spcPct val="125000"/>
              </a:lnSpc>
              <a:buNone/>
            </a:pPr>
            <a:r>
              <a:rPr lang="en-US" sz="1700" dirty="0">
                <a:solidFill>
                  <a:srgbClr val="FFFFFF"/>
                </a:solidFill>
                <a:latin typeface="Calibri" pitchFamily="34" charset="0"/>
                <a:ea typeface="Calibri" pitchFamily="34" charset="-122"/>
                <a:cs typeface="Calibri" pitchFamily="34" charset="-120"/>
              </a:rPr>
              <a:t>Everything we just did at the team level works identically for one player. Filter the real shot data to one player's real attempts, and you get their own shot chart and their own zone table -- their real shot selection, not their team's.</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pull two real players' shots and chart them.</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8</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James Harden: 39 Real Attempts vs. Cleveland</a:t>
            </a:r>
            <a:endParaRPr lang="en-US" sz="2600" dirty="0"/>
          </a:p>
        </p:txBody>
      </p:sp>
      <p:pic>
        <p:nvPicPr>
          <p:cNvPr id="4" name="Image 0" descr="module4_harden_scatter.png">    </p:cNvPr>
          <p:cNvPicPr>
            <a:picLocks noChangeAspect="1"/>
          </p:cNvPicPr>
          <p:nvPr/>
        </p:nvPicPr>
        <p:blipFill>
          <a:blip r:embed="rId1"/>
          <a:stretch>
            <a:fillRect/>
          </a:stretch>
        </p:blipFill>
        <p:spPr>
          <a:xfrm>
            <a:off x="3566160" y="1691640"/>
            <a:ext cx="4937760" cy="45720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Data: PbP.BDB, 2018 NBA playoffs, Houston vs. Cleveland.</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9</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James Harden's Real Zone Breakdown</a:t>
            </a:r>
            <a:endParaRPr lang="en-US" sz="27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2377440"/>
        </p:xfrm>
        <a:graphic>
          <a:graphicData uri="http://schemas.openxmlformats.org/drawingml/2006/table">
            <a:tbl>
              <a:tblPr/>
              <a:tblGrid>
                <a:gridCol w="4690872"/>
                <a:gridCol w="3200400"/>
                <a:gridCol w="3200400"/>
              </a:tblGrid>
              <a:tr h="47548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Zone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Share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Rim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28.2%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54.5%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Short/Mid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17.9%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14.3%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Long Two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7.7%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66.7%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Three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46.2%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bl>
          </a:graphicData>
        </a:graphic>
      </p:graphicFrame>
      <p:sp>
        <p:nvSpPr>
          <p:cNvPr id="5" name="Text 2"/>
          <p:cNvSpPr txBox="1"/>
          <p:nvPr/>
        </p:nvSpPr>
        <p:spPr>
          <a:xfrm>
            <a:off x="548640" y="4663440"/>
            <a:ext cx="11091672" cy="914400"/>
          </a:xfrm>
          <a:prstGeom prst="rect">
            <a:avLst/>
          </a:prstGeom>
          <a:noFill/>
          <a:ln/>
        </p:spPr>
        <p:txBody>
          <a:bodyPr wrap="square" lIns="0" tIns="0" rIns="0" bIns="0" rtlCol="0" anchor="t"/>
          <a:lstStyle/>
          <a:p>
            <a:pPr indent="0" marL="0">
              <a:lnSpc>
                <a:spcPct val="125000"/>
              </a:lnSpc>
              <a:buNone/>
            </a:pPr>
            <a:r>
              <a:rPr lang="en-US" sz="1400" dirty="0">
                <a:solidFill>
                  <a:srgbClr val="27496D"/>
                </a:solidFill>
                <a:latin typeface="Calibri" pitchFamily="34" charset="0"/>
                <a:ea typeface="Calibri" pitchFamily="34" charset="-122"/>
                <a:cs typeface="Calibri" pitchFamily="34" charset="-120"/>
              </a:rPr>
              <a:t>Overall field goal percentage: 46.2%. Notice how little that one number tells you on its own.</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10</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LeBron James: 36 Real Attempts vs. Houston</a:t>
            </a:r>
            <a:endParaRPr lang="en-US" sz="2600" dirty="0"/>
          </a:p>
        </p:txBody>
      </p:sp>
      <p:pic>
        <p:nvPicPr>
          <p:cNvPr id="4" name="Image 0" descr="module4_lebron_scatter.png">    </p:cNvPr>
          <p:cNvPicPr>
            <a:picLocks noChangeAspect="1"/>
          </p:cNvPicPr>
          <p:nvPr/>
        </p:nvPicPr>
        <p:blipFill>
          <a:blip r:embed="rId1"/>
          <a:stretch>
            <a:fillRect/>
          </a:stretch>
        </p:blipFill>
        <p:spPr>
          <a:xfrm>
            <a:off x="3566160" y="1691640"/>
            <a:ext cx="4937760" cy="45720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Data: PbP.BDB, 2018 NBA playoffs, Cleveland vs. Houston.</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11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LeBron James's Real Zone Breakdown</a:t>
            </a:r>
            <a:endParaRPr lang="en-US" sz="27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2377440"/>
        </p:xfrm>
        <a:graphic>
          <a:graphicData uri="http://schemas.openxmlformats.org/drawingml/2006/table">
            <a:tbl>
              <a:tblPr/>
              <a:tblGrid>
                <a:gridCol w="4690872"/>
                <a:gridCol w="3200400"/>
                <a:gridCol w="3200400"/>
              </a:tblGrid>
              <a:tr h="47548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Zone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Share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Rim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44.4%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Short/Mid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33.3%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Long Two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Three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27.8%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bl>
          </a:graphicData>
        </a:graphic>
      </p:graphicFrame>
      <p:sp>
        <p:nvSpPr>
          <p:cNvPr id="5" name="Text 2"/>
          <p:cNvSpPr txBox="1"/>
          <p:nvPr/>
        </p:nvSpPr>
        <p:spPr>
          <a:xfrm>
            <a:off x="548640" y="4663440"/>
            <a:ext cx="11091672" cy="914400"/>
          </a:xfrm>
          <a:prstGeom prst="rect">
            <a:avLst/>
          </a:prstGeom>
          <a:noFill/>
          <a:ln/>
        </p:spPr>
        <p:txBody>
          <a:bodyPr wrap="square" lIns="0" tIns="0" rIns="0" bIns="0" rtlCol="0" anchor="t"/>
          <a:lstStyle/>
          <a:p>
            <a:pPr indent="0" marL="0">
              <a:lnSpc>
                <a:spcPct val="125000"/>
              </a:lnSpc>
              <a:buNone/>
            </a:pPr>
            <a:r>
              <a:rPr lang="en-US" sz="1400" dirty="0">
                <a:solidFill>
                  <a:srgbClr val="27496D"/>
                </a:solidFill>
                <a:latin typeface="Calibri" pitchFamily="34" charset="0"/>
                <a:ea typeface="Calibri" pitchFamily="34" charset="-122"/>
                <a:cs typeface="Calibri" pitchFamily="34" charset="-120"/>
              </a:rPr>
              <a:t>Overall field goal percentage: 52.8%. A very different real shot profile from Harden's.</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ONE REAL NUMBER WORTH PAUSING ON</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87.5% at the Rim, in Real Playoff Minutes</a:t>
            </a:r>
            <a:endParaRPr lang="en-US" sz="2700" dirty="0"/>
          </a:p>
        </p:txBody>
      </p:sp>
      <p:sp>
        <p:nvSpPr>
          <p:cNvPr id="4" name="Shape 2"/>
          <p:cNvSpPr/>
          <p:nvPr/>
        </p:nvSpPr>
        <p:spPr>
          <a:xfrm>
            <a:off x="548640" y="2103120"/>
            <a:ext cx="3840480" cy="3108960"/>
          </a:xfrm>
          <a:prstGeom prst="roundRect">
            <a:avLst>
              <a:gd name="adj" fmla="val 1765"/>
            </a:avLst>
          </a:prstGeom>
          <a:solidFill>
            <a:srgbClr val="E4572E"/>
          </a:solidFill>
          <a:ln/>
        </p:spPr>
      </p:sp>
      <p:sp>
        <p:nvSpPr>
          <p:cNvPr id="5" name="Text 3"/>
          <p:cNvSpPr txBox="1"/>
          <p:nvPr/>
        </p:nvSpPr>
        <p:spPr>
          <a:xfrm>
            <a:off x="548640" y="2514600"/>
            <a:ext cx="384048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87.5%</a:t>
            </a:r>
            <a:endParaRPr lang="en-US" sz="5400" dirty="0"/>
          </a:p>
        </p:txBody>
      </p:sp>
      <p:sp>
        <p:nvSpPr>
          <p:cNvPr id="6" name="Text 4"/>
          <p:cNvSpPr txBox="1"/>
          <p:nvPr/>
        </p:nvSpPr>
        <p:spPr>
          <a:xfrm>
            <a:off x="822960" y="3749040"/>
            <a:ext cx="3291840" cy="1280160"/>
          </a:xfrm>
          <a:prstGeom prst="rect">
            <a:avLst/>
          </a:prstGeom>
          <a:noFill/>
          <a:ln/>
        </p:spPr>
        <p:txBody>
          <a:bodyPr wrap="square" lIns="0" tIns="0" rIns="0" bIns="0" rtlCol="0" anchor="ctr"/>
          <a:lstStyle/>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LeBron James's real</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field goal percentage</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at the rim in this sample</a:t>
            </a:r>
            <a:endParaRPr lang="en-US" sz="1300" dirty="0"/>
          </a:p>
        </p:txBody>
      </p:sp>
      <p:sp>
        <p:nvSpPr>
          <p:cNvPr id="7" name="Text 5"/>
          <p:cNvSpPr txBox="1"/>
          <p:nvPr/>
        </p:nvSpPr>
        <p:spPr>
          <a:xfrm>
            <a:off x="4663440" y="2103120"/>
            <a:ext cx="6428232" cy="3108960"/>
          </a:xfrm>
          <a:prstGeom prst="rect">
            <a:avLst/>
          </a:prstGeom>
          <a:noFill/>
          <a:ln/>
        </p:spPr>
        <p:txBody>
          <a:bodyPr wrap="square" lIns="0" tIns="0" rIns="0" bIns="0" rtlCol="0" anchor="t"/>
          <a:lstStyle/>
          <a:p>
            <a:pPr indent="0" marL="0">
              <a:lnSpc>
                <a:spcPct val="130000"/>
              </a:lnSpc>
              <a:buNone/>
            </a:pPr>
            <a:r>
              <a:rPr lang="en-US" sz="1500" b="1" dirty="0">
                <a:solidFill>
                  <a:srgbClr val="16213E"/>
                </a:solidFill>
                <a:latin typeface="Calibri" pitchFamily="34" charset="0"/>
                <a:ea typeface="Calibri" pitchFamily="34" charset="-122"/>
                <a:cs typeface="Calibri" pitchFamily="34" charset="-120"/>
              </a:rPr>
              <a:t>For context: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the leaguewide rim average across the entire 2018 playoffs was 64.4%. LeBron's real sample here is well above that.
</a:t>
            </a:r>
            <a:pPr indent="0" marL="0">
              <a:lnSpc>
                <a:spcPct val="130000"/>
              </a:lnSpc>
              <a:buNone/>
            </a:pPr>
            <a:r>
              <a:rPr lang="en-US" sz="1500" b="1" dirty="0">
                <a:solidFill>
                  <a:srgbClr val="E4572E"/>
                </a:solidFill>
                <a:latin typeface="Calibri" pitchFamily="34" charset="0"/>
                <a:ea typeface="Calibri" pitchFamily="34" charset="-122"/>
                <a:cs typeface="Calibri" pitchFamily="34" charset="-120"/>
              </a:rPr>
              <a:t>Worth naming: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this is a real but small sample (16 total rim attempts). A single hot or cold stretch can move a percentage like this a lot -- always check the attempt count.</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900" b="1" dirty="0">
                <a:solidFill>
                  <a:srgbClr val="16213E"/>
                </a:solidFill>
                <a:latin typeface="Cambria" pitchFamily="34" charset="0"/>
                <a:ea typeface="Cambria" pitchFamily="34" charset="-122"/>
                <a:cs typeface="Cambria" pitchFamily="34" charset="-120"/>
              </a:rPr>
              <a:t>Reading a Shot Chart Honestly</a:t>
            </a:r>
            <a:endParaRPr lang="en-US" sz="2900" dirty="0"/>
          </a:p>
        </p:txBody>
      </p:sp>
      <p:sp>
        <p:nvSpPr>
          <p:cNvPr id="4" name="Shape 2"/>
          <p:cNvSpPr/>
          <p:nvPr/>
        </p:nvSpPr>
        <p:spPr>
          <a:xfrm>
            <a:off x="548640" y="2103120"/>
            <a:ext cx="11091672" cy="2011680"/>
          </a:xfrm>
          <a:prstGeom prst="roundRect">
            <a:avLst>
              <a:gd name="adj" fmla="val 2727"/>
            </a:avLst>
          </a:prstGeom>
          <a:solidFill>
            <a:srgbClr val="EDF1F7"/>
          </a:solidFill>
          <a:ln/>
        </p:spPr>
      </p:sp>
      <p:sp>
        <p:nvSpPr>
          <p:cNvPr id="5" name="Text 3"/>
          <p:cNvSpPr txBox="1"/>
          <p:nvPr/>
        </p:nvSpPr>
        <p:spPr>
          <a:xfrm>
            <a:off x="914400" y="2377440"/>
            <a:ext cx="10360152" cy="146304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A shot chart with a lot of dots clustered at the rim looks impressive. But a cluster built from twelve total attempts tells a very different, far less reliable story than the same-looking cluster built from two hundred real attempts across a full season.</a:t>
            </a:r>
            <a:endParaRPr lang="en-US" sz="1600" dirty="0"/>
          </a:p>
        </p:txBody>
      </p:sp>
      <p:sp>
        <p:nvSpPr>
          <p:cNvPr id="6" name="Text 4"/>
          <p:cNvSpPr txBox="1"/>
          <p:nvPr/>
        </p:nvSpPr>
        <p:spPr>
          <a:xfrm>
            <a:off x="548640" y="4480560"/>
            <a:ext cx="11091672" cy="914400"/>
          </a:xfrm>
          <a:prstGeom prst="rect">
            <a:avLst/>
          </a:prstGeom>
          <a:noFill/>
          <a:ln/>
        </p:spPr>
        <p:txBody>
          <a:bodyPr wrap="square" lIns="0" tIns="0" rIns="0" bIns="0" rtlCol="0" anchor="t"/>
          <a:lstStyle/>
          <a:p>
            <a:pPr indent="0" marL="0">
              <a:lnSpc>
                <a:spcPct val="125000"/>
              </a:lnSpc>
              <a:buNone/>
            </a:pPr>
            <a:r>
              <a:rPr lang="en-US" sz="1500" b="1" dirty="0">
                <a:solidFill>
                  <a:srgbClr val="E4572E"/>
                </a:solidFill>
                <a:latin typeface="Calibri" pitchFamily="34" charset="0"/>
                <a:ea typeface="Calibri" pitchFamily="34" charset="-122"/>
                <a:cs typeface="Calibri" pitchFamily="34" charset="-120"/>
              </a:rPr>
              <a:t>Always check the real attempt count behind a visually striking cluster before you trust it.</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27496D"/>
                </a:solidFill>
                <a:latin typeface="Calibri" pitchFamily="34" charset="0"/>
                <a:ea typeface="Calibri" pitchFamily="34" charset="-122"/>
                <a:cs typeface="Calibri" pitchFamily="34" charset="-120"/>
              </a:rPr>
              <a:t>THROUGHLINE · POSITIONING &amp; SHIFTING</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Location Is the Foundation of Spatial Analytics</a:t>
            </a:r>
            <a:endParaRPr lang="en-US" sz="2800" dirty="0"/>
          </a:p>
        </p:txBody>
      </p:sp>
      <p:sp>
        <p:nvSpPr>
          <p:cNvPr id="4" name="Shape 2"/>
          <p:cNvSpPr/>
          <p:nvPr/>
        </p:nvSpPr>
        <p:spPr>
          <a:xfrm>
            <a:off x="548640" y="1920240"/>
            <a:ext cx="54864" cy="2926080"/>
          </a:xfrm>
          <a:prstGeom prst="rect">
            <a:avLst/>
          </a:prstGeom>
          <a:solidFill>
            <a:srgbClr val="27496D"/>
          </a:solidFill>
          <a:ln/>
        </p:spPr>
      </p:sp>
      <p:sp>
        <p:nvSpPr>
          <p:cNvPr id="5" name="Text 3"/>
          <p:cNvSpPr txBox="1"/>
          <p:nvPr/>
        </p:nvSpPr>
        <p:spPr>
          <a:xfrm>
            <a:off x="914400" y="2011680"/>
            <a:ext cx="10725912" cy="36576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The question:</a:t>
            </a:r>
            <a:endParaRPr lang="en-US" sz="1300" dirty="0"/>
          </a:p>
        </p:txBody>
      </p:sp>
      <p:sp>
        <p:nvSpPr>
          <p:cNvPr id="6" name="Text 4"/>
          <p:cNvSpPr txBox="1"/>
          <p:nvPr/>
        </p:nvSpPr>
        <p:spPr>
          <a:xfrm>
            <a:off x="914400" y="2377440"/>
            <a:ext cx="10725912" cy="822960"/>
          </a:xfrm>
          <a:prstGeom prst="rect">
            <a:avLst/>
          </a:prstGeom>
          <a:noFill/>
          <a:ln/>
        </p:spPr>
        <p:txBody>
          <a:bodyPr wrap="square" lIns="0" tIns="0" rIns="0" bIns="0" rtlCol="0" anchor="t"/>
          <a:lstStyle/>
          <a:p>
            <a:pPr indent="0" marL="0">
              <a:lnSpc>
                <a:spcPct val="125000"/>
              </a:lnSpc>
              <a:buNone/>
            </a:pPr>
            <a:r>
              <a:rPr lang="en-US" sz="1700" i="1" dirty="0">
                <a:solidFill>
                  <a:srgbClr val="16213E"/>
                </a:solidFill>
                <a:latin typeface="Calibri" pitchFamily="34" charset="0"/>
                <a:ea typeface="Calibri" pitchFamily="34" charset="-122"/>
                <a:cs typeface="Calibri" pitchFamily="34" charset="-120"/>
              </a:rPr>
              <a:t>Where did this happen on the floor, and how does that change what the number means?</a:t>
            </a:r>
            <a:endParaRPr lang="en-US" sz="1700" dirty="0"/>
          </a:p>
        </p:txBody>
      </p:sp>
      <p:sp>
        <p:nvSpPr>
          <p:cNvPr id="7" name="Text 5"/>
          <p:cNvSpPr txBox="1"/>
          <p:nvPr/>
        </p:nvSpPr>
        <p:spPr>
          <a:xfrm>
            <a:off x="914400" y="3383280"/>
            <a:ext cx="10725912" cy="146304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Shot location is the most direct, literal form of positioning data in this course. Every later spatial technique builds on it: Module 6 studies event density and shooting under defensive pressure using this same coordinate data, and Module 8 fits a regression model of scoring probability by location.</a:t>
            </a:r>
            <a:endParaRPr lang="en-US" sz="1500" dirty="0"/>
          </a:p>
        </p:txBody>
      </p:sp>
      <p:sp>
        <p:nvSpPr>
          <p:cNvPr id="8" name="Text 6"/>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Morey, D. (Houston Rockets front office philosophy, widely reported since the mid-2010s).</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PRACTICE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One More Real Chart, On Your Own</a:t>
            </a:r>
            <a:endParaRPr lang="en-US" sz="2800" dirty="0"/>
          </a:p>
        </p:txBody>
      </p:sp>
      <p:sp>
        <p:nvSpPr>
          <p:cNvPr id="4" name="Shape 2"/>
          <p:cNvSpPr/>
          <p:nvPr/>
        </p:nvSpPr>
        <p:spPr>
          <a:xfrm>
            <a:off x="548640" y="2103120"/>
            <a:ext cx="11091672" cy="2377440"/>
          </a:xfrm>
          <a:prstGeom prst="roundRect">
            <a:avLst>
              <a:gd name="adj" fmla="val 2308"/>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Look back at Cleveland's shot chart from Segment 2.</a:t>
            </a:r>
            <a:endParaRPr lang="en-US" sz="1600" dirty="0"/>
          </a:p>
          <a:p>
            <a:pPr indent="0" marL="0">
              <a:lnSpc>
                <a:spcPct val="140000"/>
              </a:lnSpc>
              <a:buNone/>
            </a:pP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1. Compare it, by eye, to Houston's chart from Segment 1.</a:t>
            </a: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2. Which chart has more shots in the middle of the floor?</a:t>
            </a: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3. Does that match the real zone table numbers we computed?</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A Broadcast Scout vs. a Front-Office Analyst</a:t>
            </a:r>
            <a:endParaRPr lang="en-US" sz="2600" dirty="0"/>
          </a:p>
        </p:txBody>
      </p:sp>
      <p:sp>
        <p:nvSpPr>
          <p:cNvPr id="4" name="Shape 2"/>
          <p:cNvSpPr/>
          <p:nvPr/>
        </p:nvSpPr>
        <p:spPr>
          <a:xfrm>
            <a:off x="548640" y="2103120"/>
            <a:ext cx="5362956" cy="2834640"/>
          </a:xfrm>
          <a:prstGeom prst="roundRect">
            <a:avLst>
              <a:gd name="adj" fmla="val 1935"/>
            </a:avLst>
          </a:prstGeom>
          <a:solidFill>
            <a:srgbClr val="EDF1F7"/>
          </a:solidFill>
          <a:ln/>
        </p:spPr>
      </p:sp>
      <p:sp>
        <p:nvSpPr>
          <p:cNvPr id="5" name="Text 3"/>
          <p:cNvSpPr txBox="1"/>
          <p:nvPr/>
        </p:nvSpPr>
        <p:spPr>
          <a:xfrm>
            <a:off x="822960" y="2331720"/>
            <a:ext cx="4814316" cy="457200"/>
          </a:xfrm>
          <a:prstGeom prst="rect">
            <a:avLst/>
          </a:prstGeom>
          <a:noFill/>
          <a:ln/>
        </p:spPr>
        <p:txBody>
          <a:bodyPr wrap="square" lIns="0" tIns="0" rIns="0" bIns="0" rtlCol="0" anchor="ctr"/>
          <a:lstStyle/>
          <a:p>
            <a:pPr indent="0" marL="0">
              <a:buNone/>
            </a:pPr>
            <a:r>
              <a:rPr lang="en-US" sz="1500" b="1" dirty="0">
                <a:solidFill>
                  <a:srgbClr val="16213E"/>
                </a:solidFill>
                <a:latin typeface="Cambria" pitchFamily="34" charset="0"/>
                <a:ea typeface="Cambria" pitchFamily="34" charset="-122"/>
                <a:cs typeface="Cambria" pitchFamily="34" charset="-120"/>
              </a:rPr>
              <a:t>Broadcast Scout</a:t>
            </a:r>
            <a:endParaRPr lang="en-US" sz="1500" dirty="0"/>
          </a:p>
        </p:txBody>
      </p:sp>
      <p:sp>
        <p:nvSpPr>
          <p:cNvPr id="6" name="Text 4"/>
          <p:cNvSpPr txBox="1"/>
          <p:nvPr/>
        </p:nvSpPr>
        <p:spPr>
          <a:xfrm>
            <a:off x="822960" y="283464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Is scouting one upcoming playoff opponent and has one afternoon. Which of today's tools -- shot chart or zone table -- gets them a usable answer fastest?</a:t>
            </a:r>
            <a:endParaRPr lang="en-US" sz="1400" dirty="0"/>
          </a:p>
        </p:txBody>
      </p:sp>
      <p:sp>
        <p:nvSpPr>
          <p:cNvPr id="7" name="Shape 5"/>
          <p:cNvSpPr/>
          <p:nvPr/>
        </p:nvSpPr>
        <p:spPr>
          <a:xfrm>
            <a:off x="6277356" y="2103120"/>
            <a:ext cx="5362956" cy="2834640"/>
          </a:xfrm>
          <a:prstGeom prst="roundRect">
            <a:avLst>
              <a:gd name="adj" fmla="val 1935"/>
            </a:avLst>
          </a:prstGeom>
          <a:solidFill>
            <a:srgbClr val="EDF1F7"/>
          </a:solidFill>
          <a:ln/>
        </p:spPr>
      </p:sp>
      <p:sp>
        <p:nvSpPr>
          <p:cNvPr id="8" name="Text 6"/>
          <p:cNvSpPr txBox="1"/>
          <p:nvPr/>
        </p:nvSpPr>
        <p:spPr>
          <a:xfrm>
            <a:off x="6551676" y="2331720"/>
            <a:ext cx="4814316" cy="457200"/>
          </a:xfrm>
          <a:prstGeom prst="rect">
            <a:avLst/>
          </a:prstGeom>
          <a:noFill/>
          <a:ln/>
        </p:spPr>
        <p:txBody>
          <a:bodyPr wrap="square" lIns="0" tIns="0" rIns="0" bIns="0" rtlCol="0" anchor="ctr"/>
          <a:lstStyle/>
          <a:p>
            <a:pPr indent="0" marL="0">
              <a:buNone/>
            </a:pPr>
            <a:r>
              <a:rPr lang="en-US" sz="1500" b="1" dirty="0">
                <a:solidFill>
                  <a:srgbClr val="16213E"/>
                </a:solidFill>
                <a:latin typeface="Cambria" pitchFamily="34" charset="0"/>
                <a:ea typeface="Cambria" pitchFamily="34" charset="-122"/>
                <a:cs typeface="Cambria" pitchFamily="34" charset="-120"/>
              </a:rPr>
              <a:t>Front-Office Analyst</a:t>
            </a:r>
            <a:endParaRPr lang="en-US" sz="1500" dirty="0"/>
          </a:p>
        </p:txBody>
      </p:sp>
      <p:sp>
        <p:nvSpPr>
          <p:cNvPr id="9" name="Text 7"/>
          <p:cNvSpPr txBox="1"/>
          <p:nvPr/>
        </p:nvSpPr>
        <p:spPr>
          <a:xfrm>
            <a:off x="6551676" y="283464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Is deciding whether to build next year's roster around a Moreyball-style offense. Which of today's real numbers matters most to that decision?</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Two Real Players, Two Real Profiles</a:t>
            </a:r>
            <a:endParaRPr lang="en-US" sz="30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Built real shot charts and zone tables for James Harden and LeBron James, and practiced reading a shot chart honestly, attempt counts and all.</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Module 5 moves from one variable at a time (location) into correlation and player networks -- how players' real numbers relate to each other.</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SUMMARY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 to Carry Forward</a:t>
            </a:r>
            <a:endParaRPr lang="en-US" sz="3000" dirty="0"/>
          </a:p>
        </p:txBody>
      </p:sp>
      <p:sp>
        <p:nvSpPr>
          <p:cNvPr id="4" name="Shape 2"/>
          <p:cNvSpPr/>
          <p:nvPr/>
        </p:nvSpPr>
        <p:spPr>
          <a:xfrm>
            <a:off x="548640" y="2011680"/>
            <a:ext cx="164592" cy="164592"/>
          </a:xfrm>
          <a:prstGeom prst="rect">
            <a:avLst/>
          </a:prstGeom>
          <a:solidFill>
            <a:srgbClr val="27496D"/>
          </a:solidFill>
          <a:ln/>
        </p:spPr>
      </p:sp>
      <p:sp>
        <p:nvSpPr>
          <p:cNvPr id="5" name="Text 3"/>
          <p:cNvSpPr txBox="1"/>
          <p:nvPr/>
        </p:nvSpPr>
        <p:spPr>
          <a:xfrm>
            <a:off x="914400" y="18745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Shot location is its own variable -- spatial data lets you break a single shooting percentage apart by where it actually happened.</a:t>
            </a:r>
            <a:endParaRPr lang="en-US" sz="1500" dirty="0"/>
          </a:p>
        </p:txBody>
      </p:sp>
      <p:sp>
        <p:nvSpPr>
          <p:cNvPr id="6" name="Shape 4"/>
          <p:cNvSpPr/>
          <p:nvPr/>
        </p:nvSpPr>
        <p:spPr>
          <a:xfrm>
            <a:off x="548640" y="2926080"/>
            <a:ext cx="164592" cy="164592"/>
          </a:xfrm>
          <a:prstGeom prst="rect">
            <a:avLst/>
          </a:prstGeom>
          <a:solidFill>
            <a:srgbClr val="E4572E"/>
          </a:solidFill>
          <a:ln/>
        </p:spPr>
      </p:sp>
      <p:sp>
        <p:nvSpPr>
          <p:cNvPr id="7" name="Text 5"/>
          <p:cNvSpPr txBox="1"/>
          <p:nvPr/>
        </p:nvSpPr>
        <p:spPr>
          <a:xfrm>
            <a:off x="914400" y="27889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Points per shot (0.83 for the long two vs. 1.13 for three, in real 2018 playoff data) can rank two zones in the opposite order that field goal percentage alone would suggest.</a:t>
            </a:r>
            <a:endParaRPr lang="en-US" sz="1500" dirty="0"/>
          </a:p>
        </p:txBody>
      </p:sp>
      <p:sp>
        <p:nvSpPr>
          <p:cNvPr id="8" name="Shape 6"/>
          <p:cNvSpPr/>
          <p:nvPr/>
        </p:nvSpPr>
        <p:spPr>
          <a:xfrm>
            <a:off x="548640" y="3840480"/>
            <a:ext cx="164592" cy="164592"/>
          </a:xfrm>
          <a:prstGeom prst="rect">
            <a:avLst/>
          </a:prstGeom>
          <a:solidFill>
            <a:srgbClr val="27496D"/>
          </a:solidFill>
          <a:ln/>
        </p:spPr>
      </p:sp>
      <p:sp>
        <p:nvSpPr>
          <p:cNvPr id="9" name="Text 7"/>
          <p:cNvSpPr txBox="1"/>
          <p:nvPr/>
        </p:nvSpPr>
        <p:spPr>
          <a:xfrm>
            <a:off x="914400" y="37033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"Moreyball" is a real, measurable pattern: Houston's real 82.2% rim-plus-three share versus Cleveland's 66.0% is direct evidence of two different real shot-selection philosophies.</a:t>
            </a:r>
            <a:endParaRPr lang="en-US" sz="1500" dirty="0"/>
          </a:p>
        </p:txBody>
      </p:sp>
      <p:sp>
        <p:nvSpPr>
          <p:cNvPr id="10" name="Shape 8"/>
          <p:cNvSpPr/>
          <p:nvPr/>
        </p:nvSpPr>
        <p:spPr>
          <a:xfrm>
            <a:off x="548640" y="4754880"/>
            <a:ext cx="164592" cy="164592"/>
          </a:xfrm>
          <a:prstGeom prst="rect">
            <a:avLst/>
          </a:prstGeom>
          <a:solidFill>
            <a:srgbClr val="E4572E"/>
          </a:solidFill>
          <a:ln/>
        </p:spPr>
      </p:sp>
      <p:sp>
        <p:nvSpPr>
          <p:cNvPr id="11" name="Text 9"/>
          <p:cNvSpPr txBox="1"/>
          <p:nvPr/>
        </p:nvSpPr>
        <p:spPr>
          <a:xfrm>
            <a:off x="914400" y="46177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Every number in this module came from PbP.BDB, real 2018 NBA playoff play-by-play data, reproducible by anyone who runs the script.</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MODULE 05</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Two Things Before Next Class</a:t>
            </a:r>
            <a:endParaRPr lang="en-US" sz="3000" dirty="0"/>
          </a:p>
        </p:txBody>
      </p:sp>
      <p:sp>
        <p:nvSpPr>
          <p:cNvPr id="4" name="Shape 2"/>
          <p:cNvSpPr/>
          <p:nvPr/>
        </p:nvSpPr>
        <p:spPr>
          <a:xfrm>
            <a:off x="548640" y="2103120"/>
            <a:ext cx="5362956" cy="2377440"/>
          </a:xfrm>
          <a:prstGeom prst="roundRect">
            <a:avLst>
              <a:gd name="adj" fmla="val 2308"/>
            </a:avLst>
          </a:prstGeom>
          <a:solidFill>
            <a:srgbClr val="EDF1F7"/>
          </a:solidFill>
          <a:ln/>
        </p:spPr>
      </p:sp>
      <p:sp>
        <p:nvSpPr>
          <p:cNvPr id="5" name="Text 3"/>
          <p:cNvSpPr txBox="1"/>
          <p:nvPr/>
        </p:nvSpPr>
        <p:spPr>
          <a:xfrm>
            <a:off x="822960" y="233172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Read</a:t>
            </a:r>
            <a:endParaRPr lang="en-US" sz="1300" dirty="0"/>
          </a:p>
        </p:txBody>
      </p:sp>
      <p:sp>
        <p:nvSpPr>
          <p:cNvPr id="6" name="Text 4"/>
          <p:cNvSpPr txBox="1"/>
          <p:nvPr/>
        </p:nvSpPr>
        <p:spPr>
          <a:xfrm>
            <a:off x="822960" y="2743200"/>
            <a:ext cx="4814316" cy="146304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Basketball Data Science, Ch. 3 (the first half, on correlation and player networks).</a:t>
            </a:r>
            <a:endParaRPr lang="en-US" sz="1400" dirty="0"/>
          </a:p>
        </p:txBody>
      </p:sp>
      <p:sp>
        <p:nvSpPr>
          <p:cNvPr id="7" name="Shape 5"/>
          <p:cNvSpPr/>
          <p:nvPr/>
        </p:nvSpPr>
        <p:spPr>
          <a:xfrm>
            <a:off x="6277356" y="2103120"/>
            <a:ext cx="5362956" cy="2377440"/>
          </a:xfrm>
          <a:prstGeom prst="roundRect">
            <a:avLst>
              <a:gd name="adj" fmla="val 2308"/>
            </a:avLst>
          </a:prstGeom>
          <a:solidFill>
            <a:srgbClr val="EDF1F7"/>
          </a:solidFill>
          <a:ln/>
        </p:spPr>
      </p:sp>
      <p:sp>
        <p:nvSpPr>
          <p:cNvPr id="8" name="Text 6"/>
          <p:cNvSpPr txBox="1"/>
          <p:nvPr/>
        </p:nvSpPr>
        <p:spPr>
          <a:xfrm>
            <a:off x="6551676" y="233172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Do</a:t>
            </a:r>
            <a:endParaRPr lang="en-US" sz="1300" dirty="0"/>
          </a:p>
        </p:txBody>
      </p:sp>
      <p:sp>
        <p:nvSpPr>
          <p:cNvPr id="9" name="Text 7"/>
          <p:cNvSpPr txBox="1"/>
          <p:nvPr/>
        </p:nvSpPr>
        <p:spPr>
          <a:xfrm>
            <a:off x="6551676" y="2743200"/>
            <a:ext cx="4814316" cy="146304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Complete Lab 4 (shot charts and spatial data), the practice questions, and the Module 4 quiz on D2L.</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FULL READING LIST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References Cited Today</a:t>
            </a:r>
            <a:endParaRPr lang="en-US" sz="3000" dirty="0"/>
          </a:p>
        </p:txBody>
      </p:sp>
      <p:sp>
        <p:nvSpPr>
          <p:cNvPr id="4" name="Text 2"/>
          <p:cNvSpPr txBox="1"/>
          <p:nvPr/>
        </p:nvSpPr>
        <p:spPr>
          <a:xfrm>
            <a:off x="548640" y="1920240"/>
            <a:ext cx="11091672" cy="914400"/>
          </a:xfrm>
          <a:prstGeom prst="rect">
            <a:avLst/>
          </a:prstGeom>
          <a:noFill/>
          <a:ln/>
        </p:spPr>
        <p:txBody>
          <a:bodyPr wrap="square" lIns="0" tIns="0" rIns="0" bIns="0" rtlCol="0" anchor="t"/>
          <a:lstStyle/>
          <a:p>
            <a:pPr indent="0" marL="0">
              <a:lnSpc>
                <a:spcPct val="160000"/>
              </a:lnSpc>
              <a:buNone/>
            </a:pPr>
            <a:r>
              <a:rPr lang="en-US" sz="1400" dirty="0">
                <a:solidFill>
                  <a:srgbClr val="16213E"/>
                </a:solidFill>
                <a:latin typeface="Calibri" pitchFamily="34" charset="0"/>
                <a:ea typeface="Calibri" pitchFamily="34" charset="-122"/>
                <a:cs typeface="Calibri" pitchFamily="34" charset="-120"/>
              </a:rPr>
              <a:t>Zuccolotto, P., &amp; Manisera, M. (2020). Basketball Data Science: With Applications in R, Ch. 2. Chapman &amp; Hall/CRC.</a:t>
            </a:r>
            <a:endParaRPr lang="en-US" sz="1400" dirty="0"/>
          </a:p>
          <a:p>
            <a:pPr indent="0" marL="0">
              <a:lnSpc>
                <a:spcPct val="160000"/>
              </a:lnSpc>
              <a:buNone/>
            </a:pPr>
            <a:endParaRPr lang="en-US" sz="1400" dirty="0"/>
          </a:p>
          <a:p>
            <a:pPr indent="0" marL="0">
              <a:lnSpc>
                <a:spcPct val="160000"/>
              </a:lnSpc>
              <a:buNone/>
            </a:pPr>
            <a:r>
              <a:rPr lang="en-US" sz="1400" dirty="0">
                <a:solidFill>
                  <a:srgbClr val="16213E"/>
                </a:solidFill>
                <a:latin typeface="Calibri" pitchFamily="34" charset="0"/>
                <a:ea typeface="Calibri" pitchFamily="34" charset="-122"/>
                <a:cs typeface="Calibri" pitchFamily="34" charset="-120"/>
              </a:rPr>
              <a:t>Zuccolotto, Manisera &amp; Sandri. BasketballAnalyzeR (R package), shotchart() function and the PbP.BDB dataset (2017-18 NBA playoffs). CRAN.</a:t>
            </a:r>
            <a:endParaRPr lang="en-US" sz="1400" dirty="0"/>
          </a:p>
          <a:p>
            <a:pPr indent="0" marL="0">
              <a:lnSpc>
                <a:spcPct val="160000"/>
              </a:lnSpc>
              <a:buNone/>
            </a:pPr>
            <a:endParaRPr lang="en-US" sz="1400" dirty="0"/>
          </a:p>
          <a:p>
            <a:pPr indent="0" marL="0">
              <a:lnSpc>
                <a:spcPct val="160000"/>
              </a:lnSpc>
              <a:buNone/>
            </a:pPr>
            <a:r>
              <a:rPr lang="en-US" sz="1400" dirty="0">
                <a:solidFill>
                  <a:srgbClr val="16213E"/>
                </a:solidFill>
                <a:latin typeface="Calibri" pitchFamily="34" charset="0"/>
                <a:ea typeface="Calibri" pitchFamily="34" charset="-122"/>
                <a:cs typeface="Calibri" pitchFamily="34" charset="-120"/>
              </a:rPr>
              <a:t>Digital Innovation and Transformation, Harvard Business School (2023). "Houston Rockets and 'Moreyball.'"</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83464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See You in Module 05</a:t>
            </a:r>
            <a:endParaRPr lang="en-US" sz="4000" dirty="0"/>
          </a:p>
        </p:txBody>
      </p:sp>
      <p:sp>
        <p:nvSpPr>
          <p:cNvPr id="3" name="Text 1"/>
          <p:cNvSpPr txBox="1"/>
          <p:nvPr/>
        </p:nvSpPr>
        <p:spPr>
          <a:xfrm>
            <a:off x="548640" y="3749040"/>
            <a:ext cx="11091672" cy="548640"/>
          </a:xfrm>
          <a:prstGeom prst="rect">
            <a:avLst/>
          </a:prstGeom>
          <a:noFill/>
          <a:ln/>
        </p:spPr>
        <p:txBody>
          <a:bodyPr wrap="square" lIns="0" tIns="0" rIns="0" bIns="0" rtlCol="0" anchor="ctr"/>
          <a:lstStyle/>
          <a:p>
            <a:pPr indent="0" marL="0">
              <a:buNone/>
            </a:pPr>
            <a:r>
              <a:rPr lang="en-US" sz="1800" dirty="0">
                <a:solidFill>
                  <a:srgbClr val="AEBBD1"/>
                </a:solidFill>
                <a:latin typeface="Calibri" pitchFamily="34" charset="0"/>
                <a:ea typeface="Calibri" pitchFamily="34" charset="-122"/>
                <a:cs typeface="Calibri" pitchFamily="34" charset="-120"/>
              </a:rPr>
              <a:t>Discovering Patterns: Correlation and Player Networks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2026-09-21T12:56:09Z</dcterms:created>
  <dcterms:modified xsi:type="dcterms:W3CDTF">2026-09-21T12:56:09Z</dcterms:modified>
</cp:coreProperties>
</file>