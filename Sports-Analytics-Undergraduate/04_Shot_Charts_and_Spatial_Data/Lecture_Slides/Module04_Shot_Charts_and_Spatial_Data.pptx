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Lst>
  <p:notesMasterIdLst>
    <p:notesMasterId r:id="rId5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notesMaster" Target="notesMasters/notesMaster1.xml"/><Relationship Id="rId52" Type="http://schemas.openxmlformats.org/officeDocument/2006/relationships/presProps" Target="presProps.xml"/><Relationship Id="rId53" Type="http://schemas.openxmlformats.org/officeDocument/2006/relationships/viewProps" Target="viewProps.xml"/><Relationship Id="rId54" Type="http://schemas.openxmlformats.org/officeDocument/2006/relationships/theme" Target="theme/theme1.xml"/><Relationship Id="rId5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ask the class where the makes and misses cluster, before you say anything. Push toward: tight at the rim, and along the three-point arc -- almost nothing in between. Ask why that gap might exist before revealing the zone breakdown in Segment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density map makes volume easier to read than a scatter of individual dots once you have hundreds of shots. Ask: does this change your answer to the previous slide's question about the 'empty' area of the floor?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ask why a 41.7% shot could be worse than a 37.5% shot. Push toward points per shot: 0.834 expected points for the long two (0.417 x 2) versus 1.125 for the three (0.375 x 3). Timing: about 5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this is a real, measurable 16-point gap between Houston's and Cleveland's real shot profiles against Golden State. Ask: does this prove Houston's approach is 'correct'? Push toward: it shows the strategy is real and measurable, not that it guarantees winning -- Cleveland reached the 2018 Finals that same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D33"/>
        </a:solidFill>
      </p:bgPr>
    </p:bg>
    <p:spTree>
      <p:nvGrpSpPr>
        <p:cNvPr id="1" name=""/>
        <p:cNvGrpSpPr/>
        <p:nvPr/>
      </p:nvGrpSpPr>
      <p:grpSpPr>
        <a:xfrm>
          <a:off x="0" y="0"/>
          <a:ext cx="0" cy="0"/>
          <a:chOff x="0" y="0"/>
          <a:chExt cx="0" cy="0"/>
        </a:xfrm>
      </p:grpSpPr>
      <p:sp>
        <p:nvSpPr>
          <p:cNvPr id="2" name="Text 0"/>
          <p:cNvSpPr txBox="1"/>
          <p:nvPr/>
        </p:nvSpPr>
        <p:spPr>
          <a:xfrm>
            <a:off x="548640" y="187452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SPORTS ANALYTICS</a:t>
            </a:r>
            <a:endParaRPr lang="en-US" sz="1300" dirty="0"/>
          </a:p>
        </p:txBody>
      </p:sp>
      <p:sp>
        <p:nvSpPr>
          <p:cNvPr id="3" name="Text 1"/>
          <p:cNvSpPr txBox="1"/>
          <p:nvPr/>
        </p:nvSpPr>
        <p:spPr>
          <a:xfrm>
            <a:off x="548640" y="2286000"/>
            <a:ext cx="11091672" cy="128016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Basketball Data Science</a:t>
            </a:r>
            <a:endParaRPr lang="en-US" sz="4400" dirty="0"/>
          </a:p>
        </p:txBody>
      </p:sp>
      <p:sp>
        <p:nvSpPr>
          <p:cNvPr id="4" name="Text 2"/>
          <p:cNvSpPr txBox="1"/>
          <p:nvPr/>
        </p:nvSpPr>
        <p:spPr>
          <a:xfrm>
            <a:off x="548640" y="3520440"/>
            <a:ext cx="11091672" cy="457200"/>
          </a:xfrm>
          <a:prstGeom prst="rect">
            <a:avLst/>
          </a:prstGeom>
          <a:noFill/>
          <a:ln/>
        </p:spPr>
        <p:txBody>
          <a:bodyPr wrap="square" lIns="0" tIns="0" rIns="0" bIns="0" rtlCol="0" anchor="ctr"/>
          <a:lstStyle/>
          <a:p>
            <a:pPr indent="0" marL="0">
              <a:buNone/>
            </a:pPr>
            <a:r>
              <a:rPr lang="en-US" sz="2000" dirty="0">
                <a:solidFill>
                  <a:srgbClr val="AEBBD1"/>
                </a:solidFill>
                <a:latin typeface="Calibri" pitchFamily="34" charset="0"/>
                <a:ea typeface="Calibri" pitchFamily="34" charset="-122"/>
                <a:cs typeface="Calibri" pitchFamily="34" charset="-120"/>
              </a:rPr>
              <a:t>Module 04 · Shot Charts and Spatial Data</a:t>
            </a:r>
            <a:endParaRPr lang="en-US" sz="2000" dirty="0"/>
          </a:p>
        </p:txBody>
      </p:sp>
      <p:sp>
        <p:nvSpPr>
          <p:cNvPr id="5" name="Shape 3"/>
          <p:cNvSpPr/>
          <p:nvPr/>
        </p:nvSpPr>
        <p:spPr>
          <a:xfrm>
            <a:off x="548640" y="4251960"/>
            <a:ext cx="3291840" cy="777240"/>
          </a:xfrm>
          <a:prstGeom prst="roundRect">
            <a:avLst>
              <a:gd name="adj" fmla="val 7059"/>
            </a:avLst>
          </a:prstGeom>
          <a:solidFill>
            <a:srgbClr val="16213E"/>
          </a:solidFill>
          <a:ln/>
        </p:spPr>
      </p:sp>
      <p:sp>
        <p:nvSpPr>
          <p:cNvPr id="6" name="Text 4"/>
          <p:cNvSpPr txBox="1"/>
          <p:nvPr/>
        </p:nvSpPr>
        <p:spPr>
          <a:xfrm>
            <a:off x="731520" y="4251960"/>
            <a:ext cx="2926080" cy="7772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Week 4
</a:t>
            </a:r>
            <a:pPr indent="0" marL="0">
              <a:buNone/>
            </a:pPr>
            <a:r>
              <a:rPr lang="en-US" sz="1300" dirty="0">
                <a:solidFill>
                  <a:srgbClr val="FFFFFF"/>
                </a:solidFill>
                <a:latin typeface="Calibri" pitchFamily="34" charset="0"/>
                <a:ea typeface="Calibri" pitchFamily="34" charset="-122"/>
                <a:cs typeface="Calibri" pitchFamily="34" charset="-120"/>
              </a:rPr>
              <a:t>Undergraduate · 3-hour session</a:t>
            </a:r>
            <a:endParaRPr lang="en-US" sz="1300" dirty="0"/>
          </a:p>
        </p:txBody>
      </p:sp>
      <p:sp>
        <p:nvSpPr>
          <p:cNvPr id="7" name="Text 5"/>
          <p:cNvSpPr txBox="1"/>
          <p:nvPr/>
        </p:nvSpPr>
        <p:spPr>
          <a:xfrm>
            <a:off x="4114800" y="4251960"/>
            <a:ext cx="6949440" cy="777240"/>
          </a:xfrm>
          <a:prstGeom prst="rect">
            <a:avLst/>
          </a:prstGeom>
          <a:noFill/>
          <a:ln/>
        </p:spPr>
        <p:txBody>
          <a:bodyPr wrap="square" lIns="0" tIns="0" rIns="0" bIns="0" rtlCol="0" anchor="ctr"/>
          <a:lstStyle/>
          <a:p>
            <a:pPr indent="0" marL="0">
              <a:buNone/>
            </a:pPr>
            <a:r>
              <a:rPr lang="en-US" sz="1200" dirty="0">
                <a:solidFill>
                  <a:srgbClr val="AEBBD1"/>
                </a:solidFill>
                <a:latin typeface="Calibri" pitchFamily="34" charset="0"/>
                <a:ea typeface="Calibri" pitchFamily="34" charset="-122"/>
                <a:cs typeface="Calibri" pitchFamily="34" charset="-120"/>
              </a:rPr>
              <a:t>Maps to Chapter 2C:</a:t>
            </a:r>
            <a:endParaRPr lang="en-US" sz="1200" dirty="0"/>
          </a:p>
          <a:p>
            <a:pPr indent="0" marL="0">
              <a:buNone/>
            </a:pPr>
            <a:r>
              <a:rPr lang="en-US" sz="1200" dirty="0">
                <a:solidFill>
                  <a:srgbClr val="AEBBD1"/>
                </a:solidFill>
                <a:latin typeface="Calibri" pitchFamily="34" charset="0"/>
                <a:ea typeface="Calibri" pitchFamily="34" charset="-122"/>
                <a:cs typeface="Calibri" pitchFamily="34" charset="-120"/>
              </a:rPr>
              <a:t>Zuccolotto, P., &amp; Manisera, M. (2020). Basketball Data Science: With Applications in R. Chapman &amp; Hall/CRC.</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BEFORE WE START</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3000" b="1" dirty="0">
                <a:solidFill>
                  <a:srgbClr val="16213E"/>
                </a:solidFill>
                <a:latin typeface="Cambria" pitchFamily="34" charset="0"/>
                <a:ea typeface="Cambria" pitchFamily="34" charset="-122"/>
                <a:cs typeface="Cambria" pitchFamily="34" charset="-120"/>
              </a:rPr>
              <a:t>What's Coming Up</a:t>
            </a:r>
            <a:endParaRPr lang="en-US" sz="3000" dirty="0"/>
          </a:p>
        </p:txBody>
      </p:sp>
      <p:sp>
        <p:nvSpPr>
          <p:cNvPr id="4" name="Shape 2"/>
          <p:cNvSpPr/>
          <p:nvPr/>
        </p:nvSpPr>
        <p:spPr>
          <a:xfrm>
            <a:off x="548640" y="2011680"/>
            <a:ext cx="11091672" cy="1051560"/>
          </a:xfrm>
          <a:prstGeom prst="roundRect">
            <a:avLst>
              <a:gd name="adj" fmla="val 5217"/>
            </a:avLst>
          </a:prstGeom>
          <a:solidFill>
            <a:srgbClr val="EDF1F7"/>
          </a:solidFill>
          <a:ln/>
        </p:spPr>
      </p:sp>
      <p:sp>
        <p:nvSpPr>
          <p:cNvPr id="5" name="Text 3"/>
          <p:cNvSpPr txBox="1"/>
          <p:nvPr/>
        </p:nvSpPr>
        <p:spPr>
          <a:xfrm>
            <a:off x="822960" y="2011680"/>
            <a:ext cx="2560320" cy="1051560"/>
          </a:xfrm>
          <a:prstGeom prst="rect">
            <a:avLst/>
          </a:prstGeom>
          <a:noFill/>
          <a:ln/>
        </p:spPr>
        <p:txBody>
          <a:bodyPr wrap="square" lIns="0" tIns="0" rIns="0" bIns="0" rtlCol="0" anchor="ctr"/>
          <a:lstStyle/>
          <a:p>
            <a:pPr indent="0" marL="0">
              <a:buNone/>
            </a:pPr>
            <a:r>
              <a:rPr lang="en-US" sz="1500" b="1" dirty="0">
                <a:solidFill>
                  <a:srgbClr val="27496D"/>
                </a:solidFill>
                <a:latin typeface="Calibri" pitchFamily="34" charset="0"/>
                <a:ea typeface="Calibri" pitchFamily="34" charset="-122"/>
                <a:cs typeface="Calibri" pitchFamily="34" charset="-120"/>
              </a:rPr>
              <a:t>Due This Week</a:t>
            </a:r>
            <a:endParaRPr lang="en-US" sz="1500" dirty="0"/>
          </a:p>
        </p:txBody>
      </p:sp>
      <p:sp>
        <p:nvSpPr>
          <p:cNvPr id="6" name="Text 4"/>
          <p:cNvSpPr txBox="1"/>
          <p:nvPr/>
        </p:nvSpPr>
        <p:spPr>
          <a:xfrm>
            <a:off x="3566160" y="2011680"/>
            <a:ext cx="7799832" cy="1051560"/>
          </a:xfrm>
          <a:prstGeom prst="rect">
            <a:avLst/>
          </a:prstGeom>
          <a:noFill/>
          <a:ln/>
        </p:spPr>
        <p:txBody>
          <a:bodyPr wrap="square" lIns="0" tIns="0" rIns="0" bIns="0" rtlCol="0" anchor="ctr"/>
          <a:lstStyle/>
          <a:p>
            <a:pPr indent="0" marL="0">
              <a:buNone/>
            </a:pPr>
            <a:r>
              <a:rPr lang="en-US" sz="1400" i="1" dirty="0">
                <a:solidFill>
                  <a:srgbClr val="6B7A99"/>
                </a:solidFill>
                <a:latin typeface="Calibri" pitchFamily="34" charset="0"/>
                <a:ea typeface="Calibri" pitchFamily="34" charset="-122"/>
                <a:cs typeface="Calibri" pitchFamily="34" charset="-120"/>
              </a:rPr>
              <a:t>-- update before class --</a:t>
            </a:r>
            <a:endParaRPr lang="en-US" sz="1400" dirty="0"/>
          </a:p>
        </p:txBody>
      </p:sp>
      <p:sp>
        <p:nvSpPr>
          <p:cNvPr id="7" name="Shape 5"/>
          <p:cNvSpPr/>
          <p:nvPr/>
        </p:nvSpPr>
        <p:spPr>
          <a:xfrm>
            <a:off x="548640" y="3246120"/>
            <a:ext cx="11091672" cy="1051560"/>
          </a:xfrm>
          <a:prstGeom prst="roundRect">
            <a:avLst>
              <a:gd name="adj" fmla="val 5217"/>
            </a:avLst>
          </a:prstGeom>
          <a:solidFill>
            <a:srgbClr val="EDF1F7"/>
          </a:solidFill>
          <a:ln/>
        </p:spPr>
      </p:sp>
      <p:sp>
        <p:nvSpPr>
          <p:cNvPr id="8" name="Text 6"/>
          <p:cNvSpPr txBox="1"/>
          <p:nvPr/>
        </p:nvSpPr>
        <p:spPr>
          <a:xfrm>
            <a:off x="822960" y="3246120"/>
            <a:ext cx="2560320" cy="1051560"/>
          </a:xfrm>
          <a:prstGeom prst="rect">
            <a:avLst/>
          </a:prstGeom>
          <a:noFill/>
          <a:ln/>
        </p:spPr>
        <p:txBody>
          <a:bodyPr wrap="square" lIns="0" tIns="0" rIns="0" bIns="0" rtlCol="0" anchor="ctr"/>
          <a:lstStyle/>
          <a:p>
            <a:pPr indent="0" marL="0">
              <a:buNone/>
            </a:pPr>
            <a:r>
              <a:rPr lang="en-US" sz="1500" b="1" dirty="0">
                <a:solidFill>
                  <a:srgbClr val="27496D"/>
                </a:solidFill>
                <a:latin typeface="Calibri" pitchFamily="34" charset="0"/>
                <a:ea typeface="Calibri" pitchFamily="34" charset="-122"/>
                <a:cs typeface="Calibri" pitchFamily="34" charset="-120"/>
              </a:rPr>
              <a:t>Coming Up</a:t>
            </a:r>
            <a:endParaRPr lang="en-US" sz="1500" dirty="0"/>
          </a:p>
        </p:txBody>
      </p:sp>
      <p:sp>
        <p:nvSpPr>
          <p:cNvPr id="9" name="Text 7"/>
          <p:cNvSpPr txBox="1"/>
          <p:nvPr/>
        </p:nvSpPr>
        <p:spPr>
          <a:xfrm>
            <a:off x="3566160" y="3246120"/>
            <a:ext cx="7799832" cy="1051560"/>
          </a:xfrm>
          <a:prstGeom prst="rect">
            <a:avLst/>
          </a:prstGeom>
          <a:noFill/>
          <a:ln/>
        </p:spPr>
        <p:txBody>
          <a:bodyPr wrap="square" lIns="0" tIns="0" rIns="0" bIns="0" rtlCol="0" anchor="ctr"/>
          <a:lstStyle/>
          <a:p>
            <a:pPr indent="0" marL="0">
              <a:buNone/>
            </a:pPr>
            <a:r>
              <a:rPr lang="en-US" sz="1400" i="1" dirty="0">
                <a:solidFill>
                  <a:srgbClr val="6B7A99"/>
                </a:solidFill>
                <a:latin typeface="Calibri" pitchFamily="34" charset="0"/>
                <a:ea typeface="Calibri" pitchFamily="34" charset="-122"/>
                <a:cs typeface="Calibri" pitchFamily="34" charset="-120"/>
              </a:rPr>
              <a:t>-- update before class --</a:t>
            </a:r>
            <a:endParaRPr lang="en-US" sz="1400" dirty="0"/>
          </a:p>
        </p:txBody>
      </p:sp>
      <p:sp>
        <p:nvSpPr>
          <p:cNvPr id="10" name="Shape 8"/>
          <p:cNvSpPr/>
          <p:nvPr/>
        </p:nvSpPr>
        <p:spPr>
          <a:xfrm>
            <a:off x="548640" y="4480560"/>
            <a:ext cx="11091672" cy="1051560"/>
          </a:xfrm>
          <a:prstGeom prst="roundRect">
            <a:avLst>
              <a:gd name="adj" fmla="val 5217"/>
            </a:avLst>
          </a:prstGeom>
          <a:solidFill>
            <a:srgbClr val="EDF1F7"/>
          </a:solidFill>
          <a:ln/>
        </p:spPr>
      </p:sp>
      <p:sp>
        <p:nvSpPr>
          <p:cNvPr id="11" name="Text 9"/>
          <p:cNvSpPr txBox="1"/>
          <p:nvPr/>
        </p:nvSpPr>
        <p:spPr>
          <a:xfrm>
            <a:off x="822960" y="4480560"/>
            <a:ext cx="2560320" cy="1051560"/>
          </a:xfrm>
          <a:prstGeom prst="rect">
            <a:avLst/>
          </a:prstGeom>
          <a:noFill/>
          <a:ln/>
        </p:spPr>
        <p:txBody>
          <a:bodyPr wrap="square" lIns="0" tIns="0" rIns="0" bIns="0" rtlCol="0" anchor="ctr"/>
          <a:lstStyle/>
          <a:p>
            <a:pPr indent="0" marL="0">
              <a:buNone/>
            </a:pPr>
            <a:r>
              <a:rPr lang="en-US" sz="1500" b="1" dirty="0">
                <a:solidFill>
                  <a:srgbClr val="27496D"/>
                </a:solidFill>
                <a:latin typeface="Calibri" pitchFamily="34" charset="0"/>
                <a:ea typeface="Calibri" pitchFamily="34" charset="-122"/>
                <a:cs typeface="Calibri" pitchFamily="34" charset="-120"/>
              </a:rPr>
              <a:t>Office Hours</a:t>
            </a:r>
            <a:endParaRPr lang="en-US" sz="1500" dirty="0"/>
          </a:p>
        </p:txBody>
      </p:sp>
      <p:sp>
        <p:nvSpPr>
          <p:cNvPr id="12" name="Text 10"/>
          <p:cNvSpPr txBox="1"/>
          <p:nvPr/>
        </p:nvSpPr>
        <p:spPr>
          <a:xfrm>
            <a:off x="3566160" y="4480560"/>
            <a:ext cx="7799832" cy="1051560"/>
          </a:xfrm>
          <a:prstGeom prst="rect">
            <a:avLst/>
          </a:prstGeom>
          <a:noFill/>
          <a:ln/>
        </p:spPr>
        <p:txBody>
          <a:bodyPr wrap="square" lIns="0" tIns="0" rIns="0" bIns="0" rtlCol="0" anchor="ctr"/>
          <a:lstStyle/>
          <a:p>
            <a:pPr indent="0" marL="0">
              <a:buNone/>
            </a:pPr>
            <a:r>
              <a:rPr lang="en-US" sz="1400" i="1" dirty="0">
                <a:solidFill>
                  <a:srgbClr val="6B7A99"/>
                </a:solidFill>
                <a:latin typeface="Calibri" pitchFamily="34" charset="0"/>
                <a:ea typeface="Calibri" pitchFamily="34" charset="-122"/>
                <a:cs typeface="Calibri" pitchFamily="34" charset="-120"/>
              </a:rPr>
              <a:t>-- update before class --</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RECAP</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3200" b="1" dirty="0">
                <a:solidFill>
                  <a:srgbClr val="16213E"/>
                </a:solidFill>
                <a:latin typeface="Cambria" pitchFamily="34" charset="0"/>
                <a:ea typeface="Cambria" pitchFamily="34" charset="-122"/>
                <a:cs typeface="Cambria" pitchFamily="34" charset="-120"/>
              </a:rPr>
              <a:t>Where We Left Off</a:t>
            </a:r>
            <a:endParaRPr lang="en-US" sz="3200" dirty="0"/>
          </a:p>
        </p:txBody>
      </p:sp>
      <p:sp>
        <p:nvSpPr>
          <p:cNvPr id="4" name="Shape 2"/>
          <p:cNvSpPr/>
          <p:nvPr/>
        </p:nvSpPr>
        <p:spPr>
          <a:xfrm>
            <a:off x="548640" y="1920240"/>
            <a:ext cx="11091672" cy="2377440"/>
          </a:xfrm>
          <a:prstGeom prst="roundRect">
            <a:avLst>
              <a:gd name="adj" fmla="val 2308"/>
            </a:avLst>
          </a:prstGeom>
          <a:solidFill>
            <a:srgbClr val="EDF1F7"/>
          </a:solidFill>
          <a:ln/>
        </p:spPr>
      </p:sp>
      <p:sp>
        <p:nvSpPr>
          <p:cNvPr id="5" name="Text 3"/>
          <p:cNvSpPr txBox="1"/>
          <p:nvPr/>
        </p:nvSpPr>
        <p:spPr>
          <a:xfrm>
            <a:off x="914400" y="2194560"/>
            <a:ext cx="10360152" cy="1828800"/>
          </a:xfrm>
          <a:prstGeom prst="rect">
            <a:avLst/>
          </a:prstGeom>
          <a:noFill/>
          <a:ln/>
        </p:spPr>
        <p:txBody>
          <a:bodyPr wrap="square" lIns="0" tIns="0" rIns="0" bIns="0" rtlCol="0" anchor="ctr"/>
          <a:lstStyle/>
          <a:p>
            <a:pPr indent="0" marL="0">
              <a:lnSpc>
                <a:spcPct val="125000"/>
              </a:lnSpc>
              <a:buNone/>
            </a:pPr>
            <a:r>
              <a:rPr lang="en-US" sz="1600" dirty="0">
                <a:solidFill>
                  <a:srgbClr val="16213E"/>
                </a:solidFill>
                <a:latin typeface="Calibri" pitchFamily="34" charset="0"/>
                <a:ea typeface="Calibri" pitchFamily="34" charset="-122"/>
                <a:cs typeface="Calibri" pitchFamily="34" charset="-120"/>
              </a:rPr>
              <a:t>Module 3 was about putting several numbers on one shared, standardized scale so you could compare a player's or team's whole profile at once, not just one stat at a time. Today we add a variable we have not touched yet: where on the court something happened. Location turns out to be one of the richest variables in the entire sport.</a:t>
            </a:r>
            <a:endParaRPr lang="en-US" sz="1600" dirty="0"/>
          </a:p>
        </p:txBody>
      </p:sp>
      <p:sp>
        <p:nvSpPr>
          <p:cNvPr id="6" name="Text 4"/>
          <p:cNvSpPr txBox="1"/>
          <p:nvPr/>
        </p:nvSpPr>
        <p:spPr>
          <a:xfrm>
            <a:off x="548640" y="4572000"/>
            <a:ext cx="11091672" cy="914400"/>
          </a:xfrm>
          <a:prstGeom prst="rect">
            <a:avLst/>
          </a:prstGeom>
          <a:noFill/>
          <a:ln/>
        </p:spPr>
        <p:txBody>
          <a:bodyPr wrap="square" lIns="0" tIns="0" rIns="0" bIns="0" rtlCol="0" anchor="t"/>
          <a:lstStyle/>
          <a:p>
            <a:pPr indent="0" marL="0">
              <a:lnSpc>
                <a:spcPct val="125000"/>
              </a:lnSpc>
              <a:buNone/>
            </a:pPr>
            <a:r>
              <a:rPr lang="en-US" sz="1500" i="1" dirty="0">
                <a:solidFill>
                  <a:srgbClr val="27496D"/>
                </a:solidFill>
                <a:latin typeface="Calibri" pitchFamily="34" charset="0"/>
                <a:ea typeface="Calibri" pitchFamily="34" charset="-122"/>
                <a:cs typeface="Calibri" pitchFamily="34" charset="-120"/>
              </a:rPr>
              <a:t>Same real approach as every module so far: real play-by-play data, real coordinates, real teams.</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OUTLINE FOR THE DAY</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3200" b="1" dirty="0">
                <a:solidFill>
                  <a:srgbClr val="16213E"/>
                </a:solidFill>
                <a:latin typeface="Cambria" pitchFamily="34" charset="0"/>
                <a:ea typeface="Cambria" pitchFamily="34" charset="-122"/>
                <a:cs typeface="Cambria" pitchFamily="34" charset="-120"/>
              </a:rPr>
              <a:t>Where We're Headed</a:t>
            </a:r>
            <a:endParaRPr lang="en-US" sz="3200" dirty="0"/>
          </a:p>
        </p:txBody>
      </p:sp>
      <p:sp>
        <p:nvSpPr>
          <p:cNvPr id="4" name="Shape 2"/>
          <p:cNvSpPr/>
          <p:nvPr/>
        </p:nvSpPr>
        <p:spPr>
          <a:xfrm>
            <a:off x="548640" y="1965960"/>
            <a:ext cx="5362956" cy="1691640"/>
          </a:xfrm>
          <a:prstGeom prst="roundRect">
            <a:avLst>
              <a:gd name="adj" fmla="val 3243"/>
            </a:avLst>
          </a:prstGeom>
          <a:solidFill>
            <a:srgbClr val="EDF1F7"/>
          </a:solidFill>
          <a:ln/>
        </p:spPr>
      </p:sp>
      <p:sp>
        <p:nvSpPr>
          <p:cNvPr id="5" name="Text 3"/>
          <p:cNvSpPr txBox="1"/>
          <p:nvPr/>
        </p:nvSpPr>
        <p:spPr>
          <a:xfrm>
            <a:off x="777240" y="2148840"/>
            <a:ext cx="548640" cy="457200"/>
          </a:xfrm>
          <a:prstGeom prst="rect">
            <a:avLst/>
          </a:prstGeom>
          <a:noFill/>
          <a:ln/>
        </p:spPr>
        <p:txBody>
          <a:bodyPr wrap="square" lIns="0" tIns="0" rIns="0" bIns="0" rtlCol="0" anchor="ctr"/>
          <a:lstStyle/>
          <a:p>
            <a:pPr indent="0" marL="0">
              <a:buNone/>
            </a:pPr>
            <a:r>
              <a:rPr lang="en-US" sz="1600" b="1" dirty="0">
                <a:solidFill>
                  <a:srgbClr val="E4572E"/>
                </a:solidFill>
                <a:latin typeface="Calibri" pitchFamily="34" charset="0"/>
                <a:ea typeface="Calibri" pitchFamily="34" charset="-122"/>
                <a:cs typeface="Calibri" pitchFamily="34" charset="-120"/>
              </a:rPr>
              <a:t>I</a:t>
            </a:r>
            <a:endParaRPr lang="en-US" sz="1600" dirty="0"/>
          </a:p>
        </p:txBody>
      </p:sp>
      <p:sp>
        <p:nvSpPr>
          <p:cNvPr id="6" name="Text 4"/>
          <p:cNvSpPr txBox="1"/>
          <p:nvPr/>
        </p:nvSpPr>
        <p:spPr>
          <a:xfrm>
            <a:off x="1188720" y="2148840"/>
            <a:ext cx="4448556" cy="457200"/>
          </a:xfrm>
          <a:prstGeom prst="rect">
            <a:avLst/>
          </a:prstGeom>
          <a:noFill/>
          <a:ln/>
        </p:spPr>
        <p:txBody>
          <a:bodyPr wrap="square" lIns="0" tIns="0" rIns="0" bIns="0" rtlCol="0" anchor="ctr"/>
          <a:lstStyle/>
          <a:p>
            <a:pPr indent="0" marL="0">
              <a:buNone/>
            </a:pPr>
            <a:r>
              <a:rPr lang="en-US" sz="1600" b="1" dirty="0">
                <a:solidFill>
                  <a:srgbClr val="16213E"/>
                </a:solidFill>
                <a:latin typeface="Cambria" pitchFamily="34" charset="0"/>
                <a:ea typeface="Cambria" pitchFamily="34" charset="-122"/>
                <a:cs typeface="Cambria" pitchFamily="34" charset="-120"/>
              </a:rPr>
              <a:t>Segment 1</a:t>
            </a:r>
            <a:endParaRPr lang="en-US" sz="1600" dirty="0"/>
          </a:p>
        </p:txBody>
      </p:sp>
      <p:sp>
        <p:nvSpPr>
          <p:cNvPr id="7" name="Text 5"/>
          <p:cNvSpPr txBox="1"/>
          <p:nvPr/>
        </p:nvSpPr>
        <p:spPr>
          <a:xfrm>
            <a:off x="777240" y="2606040"/>
            <a:ext cx="4905756" cy="960120"/>
          </a:xfrm>
          <a:prstGeom prst="rect">
            <a:avLst/>
          </a:prstGeom>
          <a:noFill/>
          <a:ln/>
        </p:spPr>
        <p:txBody>
          <a:bodyPr wrap="square" lIns="0" tIns="0" rIns="0" bIns="0" rtlCol="0" anchor="ctr"/>
          <a:lstStyle/>
          <a:p>
            <a:pPr indent="0" marL="0">
              <a:lnSpc>
                <a:spcPct val="120000"/>
              </a:lnSpc>
              <a:buNone/>
            </a:pPr>
            <a:r>
              <a:rPr lang="en-US" sz="1200" dirty="0">
                <a:solidFill>
                  <a:srgbClr val="16213E"/>
                </a:solidFill>
                <a:latin typeface="Calibri" pitchFamily="34" charset="0"/>
                <a:ea typeface="Calibri" pitchFamily="34" charset="-122"/>
                <a:cs typeface="Calibri" pitchFamily="34" charset="-120"/>
              </a:rPr>
              <a:t>Turning raw shot coordinates into a real shot chart, live</a:t>
            </a:r>
            <a:endParaRPr lang="en-US" sz="1200" dirty="0"/>
          </a:p>
        </p:txBody>
      </p:sp>
      <p:sp>
        <p:nvSpPr>
          <p:cNvPr id="8" name="Shape 6"/>
          <p:cNvSpPr/>
          <p:nvPr/>
        </p:nvSpPr>
        <p:spPr>
          <a:xfrm>
            <a:off x="6277356" y="1965960"/>
            <a:ext cx="5362956" cy="1691640"/>
          </a:xfrm>
          <a:prstGeom prst="roundRect">
            <a:avLst>
              <a:gd name="adj" fmla="val 3243"/>
            </a:avLst>
          </a:prstGeom>
          <a:solidFill>
            <a:srgbClr val="EDF1F7"/>
          </a:solidFill>
          <a:ln/>
        </p:spPr>
      </p:sp>
      <p:sp>
        <p:nvSpPr>
          <p:cNvPr id="9" name="Text 7"/>
          <p:cNvSpPr txBox="1"/>
          <p:nvPr/>
        </p:nvSpPr>
        <p:spPr>
          <a:xfrm>
            <a:off x="6505956" y="2148840"/>
            <a:ext cx="548640" cy="457200"/>
          </a:xfrm>
          <a:prstGeom prst="rect">
            <a:avLst/>
          </a:prstGeom>
          <a:noFill/>
          <a:ln/>
        </p:spPr>
        <p:txBody>
          <a:bodyPr wrap="square" lIns="0" tIns="0" rIns="0" bIns="0" rtlCol="0" anchor="ctr"/>
          <a:lstStyle/>
          <a:p>
            <a:pPr indent="0" marL="0">
              <a:buNone/>
            </a:pPr>
            <a:r>
              <a:rPr lang="en-US" sz="1600" b="1" dirty="0">
                <a:solidFill>
                  <a:srgbClr val="E4572E"/>
                </a:solidFill>
                <a:latin typeface="Calibri" pitchFamily="34" charset="0"/>
                <a:ea typeface="Calibri" pitchFamily="34" charset="-122"/>
                <a:cs typeface="Calibri" pitchFamily="34" charset="-120"/>
              </a:rPr>
              <a:t>II</a:t>
            </a:r>
            <a:endParaRPr lang="en-US" sz="1600" dirty="0"/>
          </a:p>
        </p:txBody>
      </p:sp>
      <p:sp>
        <p:nvSpPr>
          <p:cNvPr id="10" name="Text 8"/>
          <p:cNvSpPr txBox="1"/>
          <p:nvPr/>
        </p:nvSpPr>
        <p:spPr>
          <a:xfrm>
            <a:off x="6917436" y="2148840"/>
            <a:ext cx="4448556" cy="457200"/>
          </a:xfrm>
          <a:prstGeom prst="rect">
            <a:avLst/>
          </a:prstGeom>
          <a:noFill/>
          <a:ln/>
        </p:spPr>
        <p:txBody>
          <a:bodyPr wrap="square" lIns="0" tIns="0" rIns="0" bIns="0" rtlCol="0" anchor="ctr"/>
          <a:lstStyle/>
          <a:p>
            <a:pPr indent="0" marL="0">
              <a:buNone/>
            </a:pPr>
            <a:r>
              <a:rPr lang="en-US" sz="1600" b="1" dirty="0">
                <a:solidFill>
                  <a:srgbClr val="16213E"/>
                </a:solidFill>
                <a:latin typeface="Cambria" pitchFamily="34" charset="0"/>
                <a:ea typeface="Cambria" pitchFamily="34" charset="-122"/>
                <a:cs typeface="Cambria" pitchFamily="34" charset="-120"/>
              </a:rPr>
              <a:t>Segment 2</a:t>
            </a:r>
            <a:endParaRPr lang="en-US" sz="1600" dirty="0"/>
          </a:p>
        </p:txBody>
      </p:sp>
      <p:sp>
        <p:nvSpPr>
          <p:cNvPr id="11" name="Text 9"/>
          <p:cNvSpPr txBox="1"/>
          <p:nvPr/>
        </p:nvSpPr>
        <p:spPr>
          <a:xfrm>
            <a:off x="6505956" y="2606040"/>
            <a:ext cx="4905756" cy="960120"/>
          </a:xfrm>
          <a:prstGeom prst="rect">
            <a:avLst/>
          </a:prstGeom>
          <a:noFill/>
          <a:ln/>
        </p:spPr>
        <p:txBody>
          <a:bodyPr wrap="square" lIns="0" tIns="0" rIns="0" bIns="0" rtlCol="0" anchor="ctr"/>
          <a:lstStyle/>
          <a:p>
            <a:pPr indent="0" marL="0">
              <a:lnSpc>
                <a:spcPct val="120000"/>
              </a:lnSpc>
              <a:buNone/>
            </a:pPr>
            <a:r>
              <a:rPr lang="en-US" sz="1200" dirty="0">
                <a:solidFill>
                  <a:srgbClr val="16213E"/>
                </a:solidFill>
                <a:latin typeface="Calibri" pitchFamily="34" charset="0"/>
                <a:ea typeface="Calibri" pitchFamily="34" charset="-122"/>
                <a:cs typeface="Calibri" pitchFamily="34" charset="-120"/>
              </a:rPr>
              <a:t>Distance zones, Golden State's real regular-season data, and the Moreyball question</a:t>
            </a:r>
            <a:endParaRPr lang="en-US" sz="1200" dirty="0"/>
          </a:p>
        </p:txBody>
      </p:sp>
      <p:sp>
        <p:nvSpPr>
          <p:cNvPr id="12" name="Shape 10"/>
          <p:cNvSpPr/>
          <p:nvPr/>
        </p:nvSpPr>
        <p:spPr>
          <a:xfrm>
            <a:off x="548640" y="3886200"/>
            <a:ext cx="5362956" cy="1691640"/>
          </a:xfrm>
          <a:prstGeom prst="roundRect">
            <a:avLst>
              <a:gd name="adj" fmla="val 3243"/>
            </a:avLst>
          </a:prstGeom>
          <a:solidFill>
            <a:srgbClr val="EDF1F7"/>
          </a:solidFill>
          <a:ln/>
        </p:spPr>
      </p:sp>
      <p:sp>
        <p:nvSpPr>
          <p:cNvPr id="13" name="Text 11"/>
          <p:cNvSpPr txBox="1"/>
          <p:nvPr/>
        </p:nvSpPr>
        <p:spPr>
          <a:xfrm>
            <a:off x="777240" y="4069080"/>
            <a:ext cx="548640" cy="457200"/>
          </a:xfrm>
          <a:prstGeom prst="rect">
            <a:avLst/>
          </a:prstGeom>
          <a:noFill/>
          <a:ln/>
        </p:spPr>
        <p:txBody>
          <a:bodyPr wrap="square" lIns="0" tIns="0" rIns="0" bIns="0" rtlCol="0" anchor="ctr"/>
          <a:lstStyle/>
          <a:p>
            <a:pPr indent="0" marL="0">
              <a:buNone/>
            </a:pPr>
            <a:r>
              <a:rPr lang="en-US" sz="1600" b="1" dirty="0">
                <a:solidFill>
                  <a:srgbClr val="E4572E"/>
                </a:solidFill>
                <a:latin typeface="Calibri" pitchFamily="34" charset="0"/>
                <a:ea typeface="Calibri" pitchFamily="34" charset="-122"/>
                <a:cs typeface="Calibri" pitchFamily="34" charset="-120"/>
              </a:rPr>
              <a:t>III</a:t>
            </a:r>
            <a:endParaRPr lang="en-US" sz="1600" dirty="0"/>
          </a:p>
        </p:txBody>
      </p:sp>
      <p:sp>
        <p:nvSpPr>
          <p:cNvPr id="14" name="Text 12"/>
          <p:cNvSpPr txBox="1"/>
          <p:nvPr/>
        </p:nvSpPr>
        <p:spPr>
          <a:xfrm>
            <a:off x="1188720" y="4069080"/>
            <a:ext cx="4448556" cy="457200"/>
          </a:xfrm>
          <a:prstGeom prst="rect">
            <a:avLst/>
          </a:prstGeom>
          <a:noFill/>
          <a:ln/>
        </p:spPr>
        <p:txBody>
          <a:bodyPr wrap="square" lIns="0" tIns="0" rIns="0" bIns="0" rtlCol="0" anchor="ctr"/>
          <a:lstStyle/>
          <a:p>
            <a:pPr indent="0" marL="0">
              <a:buNone/>
            </a:pPr>
            <a:r>
              <a:rPr lang="en-US" sz="1600" b="1" dirty="0">
                <a:solidFill>
                  <a:srgbClr val="16213E"/>
                </a:solidFill>
                <a:latin typeface="Cambria" pitchFamily="34" charset="0"/>
                <a:ea typeface="Cambria" pitchFamily="34" charset="-122"/>
                <a:cs typeface="Cambria" pitchFamily="34" charset="-120"/>
              </a:rPr>
              <a:t>Segment 3</a:t>
            </a:r>
            <a:endParaRPr lang="en-US" sz="1600" dirty="0"/>
          </a:p>
        </p:txBody>
      </p:sp>
      <p:sp>
        <p:nvSpPr>
          <p:cNvPr id="15" name="Text 13"/>
          <p:cNvSpPr txBox="1"/>
          <p:nvPr/>
        </p:nvSpPr>
        <p:spPr>
          <a:xfrm>
            <a:off x="777240" y="4526280"/>
            <a:ext cx="4905756" cy="960120"/>
          </a:xfrm>
          <a:prstGeom prst="rect">
            <a:avLst/>
          </a:prstGeom>
          <a:noFill/>
          <a:ln/>
        </p:spPr>
        <p:txBody>
          <a:bodyPr wrap="square" lIns="0" tIns="0" rIns="0" bIns="0" rtlCol="0" anchor="ctr"/>
          <a:lstStyle/>
          <a:p>
            <a:pPr indent="0" marL="0">
              <a:lnSpc>
                <a:spcPct val="120000"/>
              </a:lnSpc>
              <a:buNone/>
            </a:pPr>
            <a:r>
              <a:rPr lang="en-US" sz="1200" dirty="0">
                <a:solidFill>
                  <a:srgbClr val="16213E"/>
                </a:solidFill>
                <a:latin typeface="Calibri" pitchFamily="34" charset="0"/>
                <a:ea typeface="Calibri" pitchFamily="34" charset="-122"/>
                <a:cs typeface="Calibri" pitchFamily="34" charset="-120"/>
              </a:rPr>
              <a:t>Two real players, two real shot profiles, side by side</a:t>
            </a:r>
            <a:endParaRPr lang="en-US" sz="1200" dirty="0"/>
          </a:p>
        </p:txBody>
      </p:sp>
      <p:sp>
        <p:nvSpPr>
          <p:cNvPr id="16" name="Shape 14"/>
          <p:cNvSpPr/>
          <p:nvPr/>
        </p:nvSpPr>
        <p:spPr>
          <a:xfrm>
            <a:off x="6277356" y="3886200"/>
            <a:ext cx="5362956" cy="1691640"/>
          </a:xfrm>
          <a:prstGeom prst="roundRect">
            <a:avLst>
              <a:gd name="adj" fmla="val 3243"/>
            </a:avLst>
          </a:prstGeom>
          <a:solidFill>
            <a:srgbClr val="EDF1F7"/>
          </a:solidFill>
          <a:ln/>
        </p:spPr>
      </p:sp>
      <p:sp>
        <p:nvSpPr>
          <p:cNvPr id="17" name="Text 15"/>
          <p:cNvSpPr txBox="1"/>
          <p:nvPr/>
        </p:nvSpPr>
        <p:spPr>
          <a:xfrm>
            <a:off x="6505956" y="4069080"/>
            <a:ext cx="548640" cy="457200"/>
          </a:xfrm>
          <a:prstGeom prst="rect">
            <a:avLst/>
          </a:prstGeom>
          <a:noFill/>
          <a:ln/>
        </p:spPr>
        <p:txBody>
          <a:bodyPr wrap="square" lIns="0" tIns="0" rIns="0" bIns="0" rtlCol="0" anchor="ctr"/>
          <a:lstStyle/>
          <a:p>
            <a:pPr indent="0" marL="0">
              <a:buNone/>
            </a:pPr>
            <a:r>
              <a:rPr lang="en-US" sz="1600" b="1" dirty="0">
                <a:solidFill>
                  <a:srgbClr val="E4572E"/>
                </a:solidFill>
                <a:latin typeface="Calibri" pitchFamily="34" charset="0"/>
                <a:ea typeface="Calibri" pitchFamily="34" charset="-122"/>
                <a:cs typeface="Calibri" pitchFamily="34" charset="-120"/>
              </a:rPr>
              <a:t>IV</a:t>
            </a:r>
            <a:endParaRPr lang="en-US" sz="1600" dirty="0"/>
          </a:p>
        </p:txBody>
      </p:sp>
      <p:sp>
        <p:nvSpPr>
          <p:cNvPr id="18" name="Text 16"/>
          <p:cNvSpPr txBox="1"/>
          <p:nvPr/>
        </p:nvSpPr>
        <p:spPr>
          <a:xfrm>
            <a:off x="6917436" y="4069080"/>
            <a:ext cx="4448556" cy="457200"/>
          </a:xfrm>
          <a:prstGeom prst="rect">
            <a:avLst/>
          </a:prstGeom>
          <a:noFill/>
          <a:ln/>
        </p:spPr>
        <p:txBody>
          <a:bodyPr wrap="square" lIns="0" tIns="0" rIns="0" bIns="0" rtlCol="0" anchor="ctr"/>
          <a:lstStyle/>
          <a:p>
            <a:pPr indent="0" marL="0">
              <a:buNone/>
            </a:pPr>
            <a:r>
              <a:rPr lang="en-US" sz="1600" b="1" dirty="0">
                <a:solidFill>
                  <a:srgbClr val="16213E"/>
                </a:solidFill>
                <a:latin typeface="Cambria" pitchFamily="34" charset="0"/>
                <a:ea typeface="Cambria" pitchFamily="34" charset="-122"/>
                <a:cs typeface="Cambria" pitchFamily="34" charset="-120"/>
              </a:rPr>
              <a:t>Before Next Class</a:t>
            </a:r>
            <a:endParaRPr lang="en-US" sz="1600" dirty="0"/>
          </a:p>
        </p:txBody>
      </p:sp>
      <p:sp>
        <p:nvSpPr>
          <p:cNvPr id="19" name="Text 17"/>
          <p:cNvSpPr txBox="1"/>
          <p:nvPr/>
        </p:nvSpPr>
        <p:spPr>
          <a:xfrm>
            <a:off x="6505956" y="4526280"/>
            <a:ext cx="4905756" cy="960120"/>
          </a:xfrm>
          <a:prstGeom prst="rect">
            <a:avLst/>
          </a:prstGeom>
          <a:noFill/>
          <a:ln/>
        </p:spPr>
        <p:txBody>
          <a:bodyPr wrap="square" lIns="0" tIns="0" rIns="0" bIns="0" rtlCol="0" anchor="ctr"/>
          <a:lstStyle/>
          <a:p>
            <a:pPr indent="0" marL="0">
              <a:lnSpc>
                <a:spcPct val="120000"/>
              </a:lnSpc>
              <a:buNone/>
            </a:pPr>
            <a:r>
              <a:rPr lang="en-US" sz="1200" dirty="0">
                <a:solidFill>
                  <a:srgbClr val="16213E"/>
                </a:solidFill>
                <a:latin typeface="Calibri" pitchFamily="34" charset="0"/>
                <a:ea typeface="Calibri" pitchFamily="34" charset="-122"/>
                <a:cs typeface="Calibri" pitchFamily="34" charset="-120"/>
              </a:rPr>
              <a:t>Lab 4, the Module 4 quiz, and the practice questions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LEARNING OBJECTIVES</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By the End of Today, You Will Be Able To</a:t>
            </a:r>
            <a:endParaRPr lang="en-US" sz="2800" dirty="0"/>
          </a:p>
        </p:txBody>
      </p:sp>
      <p:sp>
        <p:nvSpPr>
          <p:cNvPr id="4" name="Shape 2"/>
          <p:cNvSpPr/>
          <p:nvPr/>
        </p:nvSpPr>
        <p:spPr>
          <a:xfrm>
            <a:off x="548640" y="1874520"/>
            <a:ext cx="411480" cy="411480"/>
          </a:xfrm>
          <a:prstGeom prst="ellipse">
            <a:avLst/>
          </a:prstGeom>
          <a:solidFill>
            <a:srgbClr val="27496D"/>
          </a:solidFill>
          <a:ln/>
        </p:spPr>
      </p:sp>
      <p:sp>
        <p:nvSpPr>
          <p:cNvPr id="5" name="Text 3"/>
          <p:cNvSpPr txBox="1"/>
          <p:nvPr/>
        </p:nvSpPr>
        <p:spPr>
          <a:xfrm>
            <a:off x="548640" y="187452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4"/>
          <p:cNvSpPr txBox="1"/>
          <p:nvPr/>
        </p:nvSpPr>
        <p:spPr>
          <a:xfrm>
            <a:off x="1143000" y="1828800"/>
            <a:ext cx="10497312" cy="777240"/>
          </a:xfrm>
          <a:prstGeom prst="rect">
            <a:avLst/>
          </a:prstGeom>
          <a:noFill/>
          <a:ln/>
        </p:spPr>
        <p:txBody>
          <a:bodyPr wrap="square" lIns="0" tIns="0" rIns="0" bIns="0" rtlCol="0" anchor="ctr"/>
          <a:lstStyle/>
          <a:p>
            <a:pPr indent="0" marL="0">
              <a:buNone/>
            </a:pPr>
            <a:r>
              <a:rPr lang="en-US" sz="1600" dirty="0">
                <a:solidFill>
                  <a:srgbClr val="16213E"/>
                </a:solidFill>
                <a:latin typeface="Calibri" pitchFamily="34" charset="0"/>
                <a:ea typeface="Calibri" pitchFamily="34" charset="-122"/>
                <a:cs typeface="Calibri" pitchFamily="34" charset="-120"/>
              </a:rPr>
              <a:t>Explain why shot location is a variable in its own right, not just a detail attached to a make or a miss.</a:t>
            </a:r>
            <a:endParaRPr lang="en-US" sz="1600" dirty="0"/>
          </a:p>
        </p:txBody>
      </p:sp>
      <p:sp>
        <p:nvSpPr>
          <p:cNvPr id="7" name="Shape 5"/>
          <p:cNvSpPr/>
          <p:nvPr/>
        </p:nvSpPr>
        <p:spPr>
          <a:xfrm>
            <a:off x="548640" y="2670048"/>
            <a:ext cx="411480" cy="411480"/>
          </a:xfrm>
          <a:prstGeom prst="ellipse">
            <a:avLst/>
          </a:prstGeom>
          <a:solidFill>
            <a:srgbClr val="E4572E"/>
          </a:solidFill>
          <a:ln/>
        </p:spPr>
      </p:sp>
      <p:sp>
        <p:nvSpPr>
          <p:cNvPr id="8" name="Text 6"/>
          <p:cNvSpPr txBox="1"/>
          <p:nvPr/>
        </p:nvSpPr>
        <p:spPr>
          <a:xfrm>
            <a:off x="548640" y="2670048"/>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9" name="Text 7"/>
          <p:cNvSpPr txBox="1"/>
          <p:nvPr/>
        </p:nvSpPr>
        <p:spPr>
          <a:xfrm>
            <a:off x="1143000" y="2624328"/>
            <a:ext cx="10497312" cy="777240"/>
          </a:xfrm>
          <a:prstGeom prst="rect">
            <a:avLst/>
          </a:prstGeom>
          <a:noFill/>
          <a:ln/>
        </p:spPr>
        <p:txBody>
          <a:bodyPr wrap="square" lIns="0" tIns="0" rIns="0" bIns="0" rtlCol="0" anchor="ctr"/>
          <a:lstStyle/>
          <a:p>
            <a:pPr indent="0" marL="0">
              <a:buNone/>
            </a:pPr>
            <a:r>
              <a:rPr lang="en-US" sz="1600" dirty="0">
                <a:solidFill>
                  <a:srgbClr val="16213E"/>
                </a:solidFill>
                <a:latin typeface="Calibri" pitchFamily="34" charset="0"/>
                <a:ea typeface="Calibri" pitchFamily="34" charset="-122"/>
                <a:cs typeface="Calibri" pitchFamily="34" charset="-120"/>
              </a:rPr>
              <a:t>Transform raw play-by-play shot coordinates into the half-court, centered format shotchart() requires, and explain why that transformation is necessary.</a:t>
            </a:r>
            <a:endParaRPr lang="en-US" sz="1600" dirty="0"/>
          </a:p>
        </p:txBody>
      </p:sp>
      <p:sp>
        <p:nvSpPr>
          <p:cNvPr id="10" name="Shape 8"/>
          <p:cNvSpPr/>
          <p:nvPr/>
        </p:nvSpPr>
        <p:spPr>
          <a:xfrm>
            <a:off x="548640" y="3465576"/>
            <a:ext cx="411480" cy="411480"/>
          </a:xfrm>
          <a:prstGeom prst="ellipse">
            <a:avLst/>
          </a:prstGeom>
          <a:solidFill>
            <a:srgbClr val="27496D"/>
          </a:solidFill>
          <a:ln/>
        </p:spPr>
      </p:sp>
      <p:sp>
        <p:nvSpPr>
          <p:cNvPr id="11" name="Text 9"/>
          <p:cNvSpPr txBox="1"/>
          <p:nvPr/>
        </p:nvSpPr>
        <p:spPr>
          <a:xfrm>
            <a:off x="548640" y="3465576"/>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2" name="Text 10"/>
          <p:cNvSpPr txBox="1"/>
          <p:nvPr/>
        </p:nvSpPr>
        <p:spPr>
          <a:xfrm>
            <a:off x="1143000" y="3419856"/>
            <a:ext cx="10497312" cy="777240"/>
          </a:xfrm>
          <a:prstGeom prst="rect">
            <a:avLst/>
          </a:prstGeom>
          <a:noFill/>
          <a:ln/>
        </p:spPr>
        <p:txBody>
          <a:bodyPr wrap="square" lIns="0" tIns="0" rIns="0" bIns="0" rtlCol="0" anchor="ctr"/>
          <a:lstStyle/>
          <a:p>
            <a:pPr indent="0" marL="0">
              <a:buNone/>
            </a:pPr>
            <a:r>
              <a:rPr lang="en-US" sz="1600" dirty="0">
                <a:solidFill>
                  <a:srgbClr val="16213E"/>
                </a:solidFill>
                <a:latin typeface="Calibri" pitchFamily="34" charset="0"/>
                <a:ea typeface="Calibri" pitchFamily="34" charset="-122"/>
                <a:cs typeface="Calibri" pitchFamily="34" charset="-120"/>
              </a:rPr>
              <a:t>Build a real shot chart from Golden State's real 2017-18 regular-season data using BasketballAnalyzeR's shotchart() function.</a:t>
            </a:r>
            <a:endParaRPr lang="en-US" sz="1600" dirty="0"/>
          </a:p>
        </p:txBody>
      </p:sp>
      <p:sp>
        <p:nvSpPr>
          <p:cNvPr id="13" name="Shape 11"/>
          <p:cNvSpPr/>
          <p:nvPr/>
        </p:nvSpPr>
        <p:spPr>
          <a:xfrm>
            <a:off x="548640" y="4261104"/>
            <a:ext cx="411480" cy="411480"/>
          </a:xfrm>
          <a:prstGeom prst="ellipse">
            <a:avLst/>
          </a:prstGeom>
          <a:solidFill>
            <a:srgbClr val="E4572E"/>
          </a:solidFill>
          <a:ln/>
        </p:spPr>
      </p:sp>
      <p:sp>
        <p:nvSpPr>
          <p:cNvPr id="14" name="Text 12"/>
          <p:cNvSpPr txBox="1"/>
          <p:nvPr/>
        </p:nvSpPr>
        <p:spPr>
          <a:xfrm>
            <a:off x="548640" y="4261104"/>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5" name="Text 13"/>
          <p:cNvSpPr txBox="1"/>
          <p:nvPr/>
        </p:nvSpPr>
        <p:spPr>
          <a:xfrm>
            <a:off x="1143000" y="4215384"/>
            <a:ext cx="10497312" cy="777240"/>
          </a:xfrm>
          <a:prstGeom prst="rect">
            <a:avLst/>
          </a:prstGeom>
          <a:noFill/>
          <a:ln/>
        </p:spPr>
        <p:txBody>
          <a:bodyPr wrap="square" lIns="0" tIns="0" rIns="0" bIns="0" rtlCol="0" anchor="ctr"/>
          <a:lstStyle/>
          <a:p>
            <a:pPr indent="0" marL="0">
              <a:buNone/>
            </a:pPr>
            <a:r>
              <a:rPr lang="en-US" sz="1600" dirty="0">
                <a:solidFill>
                  <a:srgbClr val="16213E"/>
                </a:solidFill>
                <a:latin typeface="Calibri" pitchFamily="34" charset="0"/>
                <a:ea typeface="Calibri" pitchFamily="34" charset="-122"/>
                <a:cs typeface="Calibri" pitchFamily="34" charset="-120"/>
              </a:rPr>
              <a:t>Split real shots into four distance zones and compute field goal percentage and points per shot for each one.</a:t>
            </a:r>
            <a:endParaRPr lang="en-US" sz="1600" dirty="0"/>
          </a:p>
        </p:txBody>
      </p:sp>
      <p:sp>
        <p:nvSpPr>
          <p:cNvPr id="16" name="Shape 14"/>
          <p:cNvSpPr/>
          <p:nvPr/>
        </p:nvSpPr>
        <p:spPr>
          <a:xfrm>
            <a:off x="548640" y="5056632"/>
            <a:ext cx="411480" cy="411480"/>
          </a:xfrm>
          <a:prstGeom prst="ellipse">
            <a:avLst/>
          </a:prstGeom>
          <a:solidFill>
            <a:srgbClr val="27496D"/>
          </a:solidFill>
          <a:ln/>
        </p:spPr>
      </p:sp>
      <p:sp>
        <p:nvSpPr>
          <p:cNvPr id="17" name="Text 15"/>
          <p:cNvSpPr txBox="1"/>
          <p:nvPr/>
        </p:nvSpPr>
        <p:spPr>
          <a:xfrm>
            <a:off x="548640" y="5056632"/>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18" name="Text 16"/>
          <p:cNvSpPr txBox="1"/>
          <p:nvPr/>
        </p:nvSpPr>
        <p:spPr>
          <a:xfrm>
            <a:off x="1143000" y="5010912"/>
            <a:ext cx="10497312" cy="777240"/>
          </a:xfrm>
          <a:prstGeom prst="rect">
            <a:avLst/>
          </a:prstGeom>
          <a:noFill/>
          <a:ln/>
        </p:spPr>
        <p:txBody>
          <a:bodyPr wrap="square" lIns="0" tIns="0" rIns="0" bIns="0" rtlCol="0" anchor="ctr"/>
          <a:lstStyle/>
          <a:p>
            <a:pPr indent="0" marL="0">
              <a:buNone/>
            </a:pPr>
            <a:r>
              <a:rPr lang="en-US" sz="1600" dirty="0">
                <a:solidFill>
                  <a:srgbClr val="16213E"/>
                </a:solidFill>
                <a:latin typeface="Calibri" pitchFamily="34" charset="0"/>
                <a:ea typeface="Calibri" pitchFamily="34" charset="-122"/>
                <a:cs typeface="Calibri" pitchFamily="34" charset="-120"/>
              </a:rPr>
              <a:t>Explain, using real data you compute yourself, what "Moreyball" means as a shot-selection strategy, not just a nickname.</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CONCEPT · SEGMENT 1</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600" b="1" dirty="0">
                <a:solidFill>
                  <a:srgbClr val="16213E"/>
                </a:solidFill>
                <a:latin typeface="Cambria" pitchFamily="34" charset="0"/>
                <a:ea typeface="Cambria" pitchFamily="34" charset="-122"/>
                <a:cs typeface="Cambria" pitchFamily="34" charset="-120"/>
              </a:rPr>
              <a:t>One Shooting Percentage Can Hide Two Different Players</a:t>
            </a:r>
            <a:endParaRPr lang="en-US" sz="2600" dirty="0"/>
          </a:p>
        </p:txBody>
      </p:sp>
      <p:sp>
        <p:nvSpPr>
          <p:cNvPr id="4" name="Shape 2"/>
          <p:cNvSpPr/>
          <p:nvPr/>
        </p:nvSpPr>
        <p:spPr>
          <a:xfrm>
            <a:off x="548640" y="2103120"/>
            <a:ext cx="11091672" cy="1554480"/>
          </a:xfrm>
          <a:prstGeom prst="roundRect">
            <a:avLst>
              <a:gd name="adj" fmla="val 3529"/>
            </a:avLst>
          </a:prstGeom>
          <a:solidFill>
            <a:srgbClr val="EDF1F7"/>
          </a:solidFill>
          <a:ln/>
        </p:spPr>
      </p:sp>
      <p:sp>
        <p:nvSpPr>
          <p:cNvPr id="5" name="Text 3"/>
          <p:cNvSpPr txBox="1"/>
          <p:nvPr/>
        </p:nvSpPr>
        <p:spPr>
          <a:xfrm>
            <a:off x="914400" y="2377440"/>
            <a:ext cx="10360152" cy="1005840"/>
          </a:xfrm>
          <a:prstGeom prst="rect">
            <a:avLst/>
          </a:prstGeom>
          <a:noFill/>
          <a:ln/>
        </p:spPr>
        <p:txBody>
          <a:bodyPr wrap="square" lIns="0" tIns="0" rIns="0" bIns="0" rtlCol="0" anchor="ctr"/>
          <a:lstStyle/>
          <a:p>
            <a:pPr indent="0" marL="0">
              <a:lnSpc>
                <a:spcPct val="125000"/>
              </a:lnSpc>
              <a:buNone/>
            </a:pPr>
            <a:r>
              <a:rPr lang="en-US" sz="1700" dirty="0">
                <a:solidFill>
                  <a:srgbClr val="16213E"/>
                </a:solidFill>
                <a:latin typeface="Calibri" pitchFamily="34" charset="0"/>
                <a:ea typeface="Calibri" pitchFamily="34" charset="-122"/>
                <a:cs typeface="Calibri" pitchFamily="34" charset="-120"/>
              </a:rPr>
              <a:t>A player who shoots 45% overall could be a mediocre three-point shooter carried by a great inside game, or an elite three-point shooter who occasionally forces a bad long two. One number cannot tell these two players apart.</a:t>
            </a:r>
            <a:endParaRPr lang="en-US" sz="1700" dirty="0"/>
          </a:p>
        </p:txBody>
      </p:sp>
      <p:sp>
        <p:nvSpPr>
          <p:cNvPr id="6" name="Text 4"/>
          <p:cNvSpPr txBox="1"/>
          <p:nvPr/>
        </p:nvSpPr>
        <p:spPr>
          <a:xfrm>
            <a:off x="548640" y="3931920"/>
            <a:ext cx="11091672" cy="914400"/>
          </a:xfrm>
          <a:prstGeom prst="rect">
            <a:avLst/>
          </a:prstGeom>
          <a:noFill/>
          <a:ln/>
        </p:spPr>
        <p:txBody>
          <a:bodyPr wrap="square" lIns="0" tIns="0" rIns="0" bIns="0" rtlCol="0" anchor="t"/>
          <a:lstStyle/>
          <a:p>
            <a:pPr indent="0" marL="0">
              <a:lnSpc>
                <a:spcPct val="125000"/>
              </a:lnSpc>
              <a:buNone/>
            </a:pPr>
            <a:r>
              <a:rPr lang="en-US" sz="2000" b="1" dirty="0">
                <a:solidFill>
                  <a:srgbClr val="E4572E"/>
                </a:solidFill>
                <a:latin typeface="Calibri" pitchFamily="34" charset="0"/>
                <a:ea typeface="Calibri" pitchFamily="34" charset="-122"/>
                <a:cs typeface="Calibri" pitchFamily="34" charset="-120"/>
              </a:rPr>
              <a:t>Spatial data -- where a shot came from -- is what lets you tell them apart.</a:t>
            </a:r>
            <a:endParaRPr lang="en-US"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D33"/>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CONCEPT · SEGMENT 1</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Real Shots, Real Games: PbP.BDB</a:t>
            </a:r>
            <a:endParaRPr lang="en-US" sz="2800" dirty="0"/>
          </a:p>
        </p:txBody>
      </p:sp>
      <p:sp>
        <p:nvSpPr>
          <p:cNvPr id="4" name="Shape 2"/>
          <p:cNvSpPr/>
          <p:nvPr/>
        </p:nvSpPr>
        <p:spPr>
          <a:xfrm>
            <a:off x="548640" y="2103120"/>
            <a:ext cx="11091672" cy="3108960"/>
          </a:xfrm>
          <a:prstGeom prst="roundRect">
            <a:avLst>
              <a:gd name="adj" fmla="val 1765"/>
            </a:avLst>
          </a:prstGeom>
          <a:solidFill>
            <a:srgbClr val="27496D"/>
          </a:solidFill>
          <a:ln/>
        </p:spPr>
      </p:sp>
      <p:sp>
        <p:nvSpPr>
          <p:cNvPr id="5" name="Text 3"/>
          <p:cNvSpPr txBox="1"/>
          <p:nvPr/>
        </p:nvSpPr>
        <p:spPr>
          <a:xfrm>
            <a:off x="914400" y="2377440"/>
            <a:ext cx="10360152" cy="1371600"/>
          </a:xfrm>
          <a:prstGeom prst="rect">
            <a:avLst/>
          </a:prstGeom>
          <a:noFill/>
          <a:ln/>
        </p:spPr>
        <p:txBody>
          <a:bodyPr wrap="square" lIns="0" tIns="0" rIns="0" bIns="0" rtlCol="0" anchor="ctr"/>
          <a:lstStyle/>
          <a:p>
            <a:pPr indent="0" marL="0">
              <a:lnSpc>
                <a:spcPct val="135000"/>
              </a:lnSpc>
              <a:buNone/>
            </a:pPr>
            <a:r>
              <a:rPr lang="en-US" sz="1700" dirty="0">
                <a:solidFill>
                  <a:srgbClr val="FFFFFF"/>
                </a:solidFill>
                <a:latin typeface="Calibri" pitchFamily="34" charset="0"/>
                <a:ea typeface="Calibri" pitchFamily="34" charset="-122"/>
                <a:cs typeface="Calibri" pitchFamily="34" charset="-120"/>
              </a:rPr>
              <a:t>Every chart in this module comes from BasketballAnalyzeR's PbP.BDB dataset: the same real, event-level play-by-play data Module 3 uses, Golden State's real, complete 2017-18 regular season. 82 real games. 14,354 real field goal attempts. Every shot's exact x-y coordinates, recorded as it happened.</a:t>
            </a:r>
            <a:endParaRPr lang="en-US" sz="1700" dirty="0"/>
          </a:p>
        </p:txBody>
      </p:sp>
      <p:sp>
        <p:nvSpPr>
          <p:cNvPr id="6" name="Text 4"/>
          <p:cNvSpPr txBox="1"/>
          <p:nvPr/>
        </p:nvSpPr>
        <p:spPr>
          <a:xfrm>
            <a:off x="914400" y="4114800"/>
            <a:ext cx="10360152" cy="914400"/>
          </a:xfrm>
          <a:prstGeom prst="rect">
            <a:avLst/>
          </a:prstGeom>
          <a:noFill/>
          <a:ln/>
        </p:spPr>
        <p:txBody>
          <a:bodyPr wrap="square" lIns="0" tIns="0" rIns="0" bIns="0" rtlCol="0" anchor="ctr"/>
          <a:lstStyle/>
          <a:p>
            <a:pPr indent="0" marL="0">
              <a:buNone/>
            </a:pPr>
            <a:r>
              <a:rPr lang="en-US" sz="1400" i="1" dirty="0">
                <a:solidFill>
                  <a:srgbClr val="AEBBD1"/>
                </a:solidFill>
                <a:latin typeface="Calibri" pitchFamily="34" charset="0"/>
                <a:ea typeface="Calibri" pitchFamily="34" charset="-122"/>
                <a:cs typeface="Calibri" pitchFamily="34" charset="-120"/>
              </a:rPr>
              <a:t>This is one team's real, complete regular season, not a leaguewide sample -- every other team's rows here are limited to its own few real regular-season games against Golden State, a real, honest fact about the sample we'll return to later in this module.</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D33"/>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LET'S WATCH THIS TOGETHER</a:t>
            </a:r>
            <a:endParaRPr lang="en-US" sz="1300" dirty="0"/>
          </a:p>
        </p:txBody>
      </p:sp>
      <p:sp>
        <p:nvSpPr>
          <p:cNvPr id="3" name="Text 1"/>
          <p:cNvSpPr txBox="1"/>
          <p:nvPr/>
        </p:nvSpPr>
        <p:spPr>
          <a:xfrm>
            <a:off x="548640" y="1554480"/>
            <a:ext cx="11091672" cy="109728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What Is a Shot Chart, Really?</a:t>
            </a:r>
            <a:endParaRPr lang="en-US" sz="2800" dirty="0"/>
          </a:p>
        </p:txBody>
      </p:sp>
      <p:sp>
        <p:nvSpPr>
          <p:cNvPr id="4" name="Shape 2"/>
          <p:cNvSpPr/>
          <p:nvPr/>
        </p:nvSpPr>
        <p:spPr>
          <a:xfrm>
            <a:off x="548640" y="2834640"/>
            <a:ext cx="11091672" cy="1737360"/>
          </a:xfrm>
          <a:prstGeom prst="roundRect">
            <a:avLst>
              <a:gd name="adj" fmla="val 3158"/>
            </a:avLst>
          </a:prstGeom>
          <a:solidFill>
            <a:srgbClr val="16213E"/>
          </a:solidFill>
          <a:ln/>
        </p:spPr>
      </p:sp>
      <p:sp>
        <p:nvSpPr>
          <p:cNvPr id="5" name="Shape 3"/>
          <p:cNvSpPr/>
          <p:nvPr/>
        </p:nvSpPr>
        <p:spPr>
          <a:xfrm>
            <a:off x="1005840" y="3246120"/>
            <a:ext cx="914400" cy="914400"/>
          </a:xfrm>
          <a:prstGeom prst="ellipse">
            <a:avLst/>
          </a:prstGeom>
          <a:solidFill>
            <a:srgbClr val="E4572E"/>
          </a:solidFill>
          <a:ln/>
        </p:spPr>
      </p:sp>
      <p:sp>
        <p:nvSpPr>
          <p:cNvPr id="6" name="Text 4"/>
          <p:cNvSpPr txBox="1"/>
          <p:nvPr/>
        </p:nvSpPr>
        <p:spPr>
          <a:xfrm>
            <a:off x="1005840" y="3246120"/>
            <a:ext cx="914400" cy="914400"/>
          </a:xfrm>
          <a:prstGeom prst="rect">
            <a:avLst/>
          </a:prstGeom>
          <a:noFill/>
          <a:ln/>
        </p:spPr>
        <p:txBody>
          <a:bodyPr wrap="square" lIns="0" tIns="0" rIns="0" bIns="0" rtlCol="0" anchor="ctr"/>
          <a:lstStyle/>
          <a:p>
            <a:pPr algn="ctr" indent="0" marL="0">
              <a:buNone/>
            </a:pPr>
            <a:r>
              <a:rPr lang="en-US" sz="3000" dirty="0">
                <a:solidFill>
                  <a:srgbClr val="FFFFFF"/>
                </a:solidFill>
                <a:latin typeface="Calibri" pitchFamily="34" charset="0"/>
                <a:ea typeface="Calibri" pitchFamily="34" charset="-122"/>
                <a:cs typeface="Calibri" pitchFamily="34" charset="-120"/>
              </a:rPr>
              <a:t>▶</a:t>
            </a:r>
            <a:endParaRPr lang="en-US" sz="3000" dirty="0"/>
          </a:p>
        </p:txBody>
      </p:sp>
      <p:sp>
        <p:nvSpPr>
          <p:cNvPr id="7" name="Text 5"/>
          <p:cNvSpPr txBox="1"/>
          <p:nvPr/>
        </p:nvSpPr>
        <p:spPr>
          <a:xfrm>
            <a:off x="2194560" y="3063240"/>
            <a:ext cx="9262872" cy="82296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"NBA Shot Charts: A Basketball Data Visualization" (YouTube)</a:t>
            </a:r>
            <a:endParaRPr lang="en-US" sz="1800" dirty="0"/>
          </a:p>
        </p:txBody>
      </p:sp>
      <p:sp>
        <p:nvSpPr>
          <p:cNvPr id="8" name="Text 6"/>
          <p:cNvSpPr txBox="1"/>
          <p:nvPr/>
        </p:nvSpPr>
        <p:spPr>
          <a:xfrm>
            <a:off x="2194560" y="3794760"/>
            <a:ext cx="9262872" cy="640080"/>
          </a:xfrm>
          <a:prstGeom prst="rect">
            <a:avLst/>
          </a:prstGeom>
          <a:noFill/>
          <a:ln/>
        </p:spPr>
        <p:txBody>
          <a:bodyPr wrap="square" lIns="0" tIns="0" rIns="0" bIns="0" rtlCol="0" anchor="ctr"/>
          <a:lstStyle/>
          <a:p>
            <a:pPr indent="0" marL="0">
              <a:buNone/>
            </a:pPr>
            <a:r>
              <a:rPr lang="en-US" sz="1300" dirty="0">
                <a:solidFill>
                  <a:srgbClr val="AEBBD1"/>
                </a:solidFill>
                <a:latin typeface="Calibri" pitchFamily="34" charset="0"/>
                <a:ea typeface="Calibri" pitchFamily="34" charset="-122"/>
                <a:cs typeface="Calibri" pitchFamily="34" charset="-120"/>
              </a:rPr>
              <a:t>About 3 minutes. A concept walkthrough of how shot chart visualizations are built and read, before we build our own from real data.</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CONCEPT · SEGMENT 1</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700" b="1" dirty="0">
                <a:solidFill>
                  <a:srgbClr val="16213E"/>
                </a:solidFill>
                <a:latin typeface="Cambria" pitchFamily="34" charset="0"/>
                <a:ea typeface="Cambria" pitchFamily="34" charset="-122"/>
                <a:cs typeface="Cambria" pitchFamily="34" charset="-120"/>
              </a:rPr>
              <a:t>Why Raw Coordinates Don't Plot Directly</a:t>
            </a:r>
            <a:endParaRPr lang="en-US" sz="2700" dirty="0"/>
          </a:p>
        </p:txBody>
      </p:sp>
      <p:sp>
        <p:nvSpPr>
          <p:cNvPr id="4" name="Shape 2"/>
          <p:cNvSpPr/>
          <p:nvPr/>
        </p:nvSpPr>
        <p:spPr>
          <a:xfrm>
            <a:off x="548640" y="2057400"/>
            <a:ext cx="11091672" cy="1463040"/>
          </a:xfrm>
          <a:prstGeom prst="roundRect">
            <a:avLst>
              <a:gd name="adj" fmla="val 3750"/>
            </a:avLst>
          </a:prstGeom>
          <a:solidFill>
            <a:srgbClr val="EDF1F7"/>
          </a:solidFill>
          <a:ln/>
        </p:spPr>
      </p:sp>
      <p:sp>
        <p:nvSpPr>
          <p:cNvPr id="5" name="Text 3"/>
          <p:cNvSpPr txBox="1"/>
          <p:nvPr/>
        </p:nvSpPr>
        <p:spPr>
          <a:xfrm>
            <a:off x="914400" y="2331720"/>
            <a:ext cx="10360152" cy="914400"/>
          </a:xfrm>
          <a:prstGeom prst="rect">
            <a:avLst/>
          </a:prstGeom>
          <a:noFill/>
          <a:ln/>
        </p:spPr>
        <p:txBody>
          <a:bodyPr wrap="square" lIns="0" tIns="0" rIns="0" bIns="0" rtlCol="0" anchor="ctr"/>
          <a:lstStyle/>
          <a:p>
            <a:pPr indent="0" marL="0">
              <a:lnSpc>
                <a:spcPct val="125000"/>
              </a:lnSpc>
              <a:buNone/>
            </a:pPr>
            <a:r>
              <a:rPr lang="en-US" sz="1550" dirty="0">
                <a:solidFill>
                  <a:srgbClr val="16213E"/>
                </a:solidFill>
                <a:latin typeface="Calibri" pitchFamily="34" charset="0"/>
                <a:ea typeface="Calibri" pitchFamily="34" charset="-122"/>
                <a:cs typeface="Calibri" pitchFamily="34" charset="-120"/>
              </a:rPr>
              <a:t>shotchart() expects half-court coordinates centered on the basket, with y always zero or negative. Our real data's converted_x/converted_y columns are full-court coordinates, spanning both baskets, because teams switch ends every other quarter.</a:t>
            </a:r>
            <a:endParaRPr lang="en-US" sz="1550" dirty="0"/>
          </a:p>
        </p:txBody>
      </p:sp>
      <p:sp>
        <p:nvSpPr>
          <p:cNvPr id="6" name="Text 4"/>
          <p:cNvSpPr txBox="1"/>
          <p:nvPr/>
        </p:nvSpPr>
        <p:spPr>
          <a:xfrm>
            <a:off x="548640" y="3749040"/>
            <a:ext cx="11091672" cy="914400"/>
          </a:xfrm>
          <a:prstGeom prst="rect">
            <a:avLst/>
          </a:prstGeom>
          <a:noFill/>
          <a:ln/>
        </p:spPr>
        <p:txBody>
          <a:bodyPr wrap="square" lIns="0" tIns="0" rIns="0" bIns="0" rtlCol="0" anchor="t"/>
          <a:lstStyle/>
          <a:p>
            <a:pPr indent="0" marL="0">
              <a:lnSpc>
                <a:spcPct val="125000"/>
              </a:lnSpc>
              <a:buNone/>
            </a:pPr>
            <a:r>
              <a:rPr lang="en-US" sz="1400" i="1" dirty="0">
                <a:solidFill>
                  <a:srgbClr val="27496D"/>
                </a:solidFill>
                <a:latin typeface="Calibri" pitchFamily="34" charset="0"/>
                <a:ea typeface="Calibri" pitchFamily="34" charset="-122"/>
                <a:cs typeface="Calibri" pitchFamily="34" charset="-120"/>
              </a:rPr>
              <a:t>So a shot at the "far" basket has to be folded onto the same half-court view as a shot at the "near" basket.</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27496D"/>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FFFFFF"/>
                </a:solidFill>
                <a:latin typeface="Calibri" pitchFamily="34" charset="0"/>
                <a:ea typeface="Calibri" pitchFamily="34" charset="-122"/>
                <a:cs typeface="Calibri" pitchFamily="34" charset="-120"/>
              </a:rPr>
              <a:t>LET'S RUN THIS TOGETHER</a:t>
            </a:r>
            <a:endParaRPr lang="en-US" sz="1300" dirty="0"/>
          </a:p>
        </p:txBody>
      </p:sp>
      <p:sp>
        <p:nvSpPr>
          <p:cNvPr id="3" name="Text 1"/>
          <p:cNvSpPr txBox="1"/>
          <p:nvPr/>
        </p:nvSpPr>
        <p:spPr>
          <a:xfrm>
            <a:off x="548640" y="2377440"/>
            <a:ext cx="11091672" cy="14630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Let's build real half-court coordinates together.</a:t>
            </a:r>
            <a:endParaRPr lang="en-US" sz="3000" dirty="0"/>
          </a:p>
        </p:txBody>
      </p:sp>
      <p:sp>
        <p:nvSpPr>
          <p:cNvPr id="4" name="Text 2"/>
          <p:cNvSpPr txBox="1"/>
          <p:nvPr/>
        </p:nvSpPr>
        <p:spPr>
          <a:xfrm>
            <a:off x="548640" y="3931920"/>
            <a:ext cx="11091672" cy="54864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Pull up your own session. We'll run it line by line and look at the real output together.</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WORKED EXAMPLE, STEP 1</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600" b="1" dirty="0">
                <a:solidFill>
                  <a:srgbClr val="16213E"/>
                </a:solidFill>
                <a:latin typeface="Cambria" pitchFamily="34" charset="0"/>
                <a:ea typeface="Cambria" pitchFamily="34" charset="-122"/>
                <a:cs typeface="Cambria" pitchFamily="34" charset="-120"/>
              </a:rPr>
              <a:t>Folding Every Shot Onto One Half-Court</a:t>
            </a:r>
            <a:endParaRPr lang="en-US" sz="2600" dirty="0"/>
          </a:p>
        </p:txBody>
      </p:sp>
      <p:sp>
        <p:nvSpPr>
          <p:cNvPr id="4" name="Shape 2"/>
          <p:cNvSpPr/>
          <p:nvPr/>
        </p:nvSpPr>
        <p:spPr>
          <a:xfrm>
            <a:off x="548640" y="2011680"/>
            <a:ext cx="11091672" cy="3017520"/>
          </a:xfrm>
          <a:prstGeom prst="roundRect">
            <a:avLst>
              <a:gd name="adj" fmla="val 1818"/>
            </a:avLst>
          </a:prstGeom>
          <a:solidFill>
            <a:srgbClr val="0B1D33"/>
          </a:solidFill>
          <a:ln/>
        </p:spPr>
      </p:sp>
      <p:sp>
        <p:nvSpPr>
          <p:cNvPr id="5" name="Text 3"/>
          <p:cNvSpPr txBox="1"/>
          <p:nvPr/>
        </p:nvSpPr>
        <p:spPr>
          <a:xfrm>
            <a:off x="914400" y="2240280"/>
            <a:ext cx="10360152" cy="2560320"/>
          </a:xfrm>
          <a:prstGeom prst="rect">
            <a:avLst/>
          </a:prstGeom>
          <a:noFill/>
          <a:ln/>
        </p:spPr>
        <p:txBody>
          <a:bodyPr wrap="square" lIns="0" tIns="0" rIns="0" bIns="0" rtlCol="0" anchor="ctr"/>
          <a:lstStyle/>
          <a:p>
            <a:pPr indent="0" marL="0">
              <a:buNone/>
            </a:pPr>
            <a:r>
              <a:rPr lang="en-US" sz="1500" dirty="0">
                <a:solidFill>
                  <a:srgbClr val="D9E2F3"/>
                </a:solidFill>
                <a:latin typeface="Courier New" pitchFamily="34" charset="0"/>
                <a:ea typeface="Courier New" pitchFamily="34" charset="-122"/>
                <a:cs typeface="Courier New" pitchFamily="34" charset="-120"/>
              </a:rPr>
              <a:t>shots &lt;- PbP %&gt;%</a:t>
            </a:r>
            <a:endParaRPr lang="en-US" sz="1500" dirty="0"/>
          </a:p>
          <a:p>
            <a:pPr indent="0" marL="0">
              <a:buNone/>
            </a:pPr>
            <a:r>
              <a:rPr lang="en-US" sz="1500" dirty="0">
                <a:solidFill>
                  <a:srgbClr val="D9E2F3"/>
                </a:solidFill>
                <a:latin typeface="Courier New" pitchFamily="34" charset="0"/>
                <a:ea typeface="Courier New" pitchFamily="34" charset="-122"/>
                <a:cs typeface="Courier New" pitchFamily="34" charset="-120"/>
              </a:rPr>
              <a:t>  filter(event_type %in% c("shot","miss")) %&gt;%</a:t>
            </a:r>
            <a:endParaRPr lang="en-US" sz="1500" dirty="0"/>
          </a:p>
          <a:p>
            <a:pPr indent="0" marL="0">
              <a:buNone/>
            </a:pPr>
            <a:r>
              <a:rPr lang="en-US" sz="1500" dirty="0">
                <a:solidFill>
                  <a:srgbClr val="D9E2F3"/>
                </a:solidFill>
                <a:latin typeface="Courier New" pitchFamily="34" charset="0"/>
                <a:ea typeface="Courier New" pitchFamily="34" charset="-122"/>
                <a:cs typeface="Courier New" pitchFamily="34" charset="-120"/>
              </a:rPr>
              <a:t>  mutate(cx = as.numeric(as.character(converted_x)),</a:t>
            </a:r>
            <a:endParaRPr lang="en-US" sz="1500" dirty="0"/>
          </a:p>
          <a:p>
            <a:pPr indent="0" marL="0">
              <a:buNone/>
            </a:pPr>
            <a:r>
              <a:rPr lang="en-US" sz="1500" dirty="0">
                <a:solidFill>
                  <a:srgbClr val="D9E2F3"/>
                </a:solidFill>
                <a:latin typeface="Courier New" pitchFamily="34" charset="0"/>
                <a:ea typeface="Courier New" pitchFamily="34" charset="-122"/>
                <a:cs typeface="Courier New" pitchFamily="34" charset="-120"/>
              </a:rPr>
              <a:t>         cy = as.numeric(as.character(converted_y))) %&gt;%</a:t>
            </a:r>
            <a:endParaRPr lang="en-US" sz="1500" dirty="0"/>
          </a:p>
          <a:p>
            <a:pPr indent="0" marL="0">
              <a:buNone/>
            </a:pPr>
            <a:r>
              <a:rPr lang="en-US" sz="1500" dirty="0">
                <a:solidFill>
                  <a:srgbClr val="D9E2F3"/>
                </a:solidFill>
                <a:latin typeface="Courier New" pitchFamily="34" charset="0"/>
                <a:ea typeface="Courier New" pitchFamily="34" charset="-122"/>
                <a:cs typeface="Courier New" pitchFamily="34" charset="-120"/>
              </a:rPr>
              <a:t>  mutate(yc = ifelse(cy &lt;= 47, cy - 47, 47 - cy),</a:t>
            </a:r>
            <a:endParaRPr lang="en-US" sz="1500" dirty="0"/>
          </a:p>
          <a:p>
            <a:pPr indent="0" marL="0">
              <a:buNone/>
            </a:pPr>
            <a:r>
              <a:rPr lang="en-US" sz="1500" dirty="0">
                <a:solidFill>
                  <a:srgbClr val="D9E2F3"/>
                </a:solidFill>
                <a:latin typeface="Courier New" pitchFamily="34" charset="0"/>
                <a:ea typeface="Courier New" pitchFamily="34" charset="-122"/>
                <a:cs typeface="Courier New" pitchFamily="34" charset="-120"/>
              </a:rPr>
              <a:t>         xc = ifelse(cy &lt;= 47, cx - 25, 25 - cx))</a:t>
            </a:r>
            <a:endParaRPr lang="en-US" sz="1500" dirty="0"/>
          </a:p>
        </p:txBody>
      </p:sp>
      <p:sp>
        <p:nvSpPr>
          <p:cNvPr id="6" name="Text 4"/>
          <p:cNvSpPr txBox="1"/>
          <p:nvPr/>
        </p:nvSpPr>
        <p:spPr>
          <a:xfrm>
            <a:off x="548640" y="5166360"/>
            <a:ext cx="11091672" cy="914400"/>
          </a:xfrm>
          <a:prstGeom prst="rect">
            <a:avLst/>
          </a:prstGeom>
          <a:noFill/>
          <a:ln/>
        </p:spPr>
        <p:txBody>
          <a:bodyPr wrap="square" lIns="0" tIns="0" rIns="0" bIns="0" rtlCol="0" anchor="t"/>
          <a:lstStyle/>
          <a:p>
            <a:pPr indent="0" marL="0">
              <a:lnSpc>
                <a:spcPct val="125000"/>
              </a:lnSpc>
              <a:buNone/>
            </a:pPr>
            <a:r>
              <a:rPr lang="en-US" sz="1300" i="1" dirty="0">
                <a:solidFill>
                  <a:srgbClr val="27496D"/>
                </a:solidFill>
                <a:latin typeface="Calibri" pitchFamily="34" charset="0"/>
                <a:ea typeface="Calibri" pitchFamily="34" charset="-122"/>
                <a:cs typeface="Calibri" pitchFamily="34" charset="-120"/>
              </a:rPr>
              <a:t>Run this yourself. Every shot now has an xc/yc pair that shotchart() can actually plot.</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WORKED EXAMPLE, STEP 2</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600" b="1" dirty="0">
                <a:solidFill>
                  <a:srgbClr val="16213E"/>
                </a:solidFill>
                <a:latin typeface="Cambria" pitchFamily="34" charset="0"/>
                <a:ea typeface="Cambria" pitchFamily="34" charset="-122"/>
                <a:cs typeface="Cambria" pitchFamily="34" charset="-120"/>
              </a:rPr>
              <a:t>Houston Rockets: 273 Real Attempts vs. Golden State</a:t>
            </a:r>
            <a:endParaRPr lang="en-US" sz="2600" dirty="0"/>
          </a:p>
        </p:txBody>
      </p:sp>
      <p:pic>
        <p:nvPicPr>
          <p:cNvPr id="4" name="Image 0" descr="module4_hou_scatter.png">    </p:cNvPr>
          <p:cNvPicPr>
            <a:picLocks noChangeAspect="1"/>
          </p:cNvPicPr>
          <p:nvPr/>
        </p:nvPicPr>
        <p:blipFill>
          <a:blip r:embed="rId1"/>
          <a:stretch>
            <a:fillRect/>
          </a:stretch>
        </p:blipFill>
        <p:spPr>
          <a:xfrm>
            <a:off x="3566160" y="1691640"/>
            <a:ext cx="4937760" cy="4572000"/>
          </a:xfrm>
          <a:prstGeom prst="rect">
            <a:avLst/>
          </a:prstGeom>
        </p:spPr>
      </p:pic>
      <p:sp>
        <p:nvSpPr>
          <p:cNvPr id="5" name="Text 2"/>
          <p:cNvSpPr txBox="1"/>
          <p:nvPr/>
        </p:nvSpPr>
        <p:spPr>
          <a:xfrm>
            <a:off x="548640" y="6355080"/>
            <a:ext cx="11091672" cy="365760"/>
          </a:xfrm>
          <a:prstGeom prst="rect">
            <a:avLst/>
          </a:prstGeom>
          <a:noFill/>
          <a:ln/>
        </p:spPr>
        <p:txBody>
          <a:bodyPr wrap="square" lIns="0" tIns="0" rIns="0" bIns="0" rtlCol="0" anchor="ctr"/>
          <a:lstStyle/>
          <a:p>
            <a:pPr indent="0" marL="0">
              <a:buNone/>
            </a:pPr>
            <a:r>
              <a:rPr lang="en-US" sz="1000" dirty="0">
                <a:solidFill>
                  <a:srgbClr val="6B7A99"/>
                </a:solidFill>
                <a:latin typeface="Calibri" pitchFamily="34" charset="0"/>
                <a:ea typeface="Calibri" pitchFamily="34" charset="-122"/>
                <a:cs typeface="Calibri" pitchFamily="34" charset="-120"/>
              </a:rPr>
              <a:t>shotchart(hou, x="xc", y="yc", z="result2", scatter=TRUE). Data: PbP.BDB, Houston's three real 2017-18 regular-season games vs. Golden State.</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INTERACTIVE ACTIVITY</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Describe What You See, Before I Tell You</a:t>
            </a:r>
            <a:endParaRPr lang="en-US" sz="2800" dirty="0"/>
          </a:p>
        </p:txBody>
      </p:sp>
      <p:sp>
        <p:nvSpPr>
          <p:cNvPr id="4" name="Shape 2"/>
          <p:cNvSpPr/>
          <p:nvPr/>
        </p:nvSpPr>
        <p:spPr>
          <a:xfrm>
            <a:off x="548640" y="2103120"/>
            <a:ext cx="11091672" cy="2194560"/>
          </a:xfrm>
          <a:prstGeom prst="roundRect">
            <a:avLst>
              <a:gd name="adj" fmla="val 2500"/>
            </a:avLst>
          </a:prstGeom>
          <a:solidFill>
            <a:srgbClr val="EDF1F7"/>
          </a:solidFill>
          <a:ln/>
        </p:spPr>
      </p:sp>
      <p:sp>
        <p:nvSpPr>
          <p:cNvPr id="5" name="Text 3"/>
          <p:cNvSpPr txBox="1"/>
          <p:nvPr/>
        </p:nvSpPr>
        <p:spPr>
          <a:xfrm>
            <a:off x="914400" y="2377440"/>
            <a:ext cx="10360152" cy="1828800"/>
          </a:xfrm>
          <a:prstGeom prst="rect">
            <a:avLst/>
          </a:prstGeom>
          <a:noFill/>
          <a:ln/>
        </p:spPr>
        <p:txBody>
          <a:bodyPr wrap="square" lIns="0" tIns="0" rIns="0" bIns="0" rtlCol="0" anchor="ctr"/>
          <a:lstStyle/>
          <a:p>
            <a:pPr indent="0" marL="0">
              <a:lnSpc>
                <a:spcPct val="140000"/>
              </a:lnSpc>
              <a:buNone/>
            </a:pPr>
            <a:r>
              <a:rPr lang="en-US" sz="1600" dirty="0">
                <a:solidFill>
                  <a:srgbClr val="16213E"/>
                </a:solidFill>
                <a:latin typeface="Calibri" pitchFamily="34" charset="0"/>
                <a:ea typeface="Calibri" pitchFamily="34" charset="-122"/>
                <a:cs typeface="Calibri" pitchFamily="34" charset="-120"/>
              </a:rPr>
              <a:t>Turn to a partner.</a:t>
            </a:r>
            <a:endParaRPr lang="en-US" sz="1600" dirty="0"/>
          </a:p>
          <a:p>
            <a:pPr indent="0" marL="0">
              <a:lnSpc>
                <a:spcPct val="140000"/>
              </a:lnSpc>
              <a:buNone/>
            </a:pPr>
            <a:endParaRPr lang="en-US" sz="1600" dirty="0"/>
          </a:p>
          <a:p>
            <a:pPr indent="0" marL="0">
              <a:lnSpc>
                <a:spcPct val="140000"/>
              </a:lnSpc>
              <a:buNone/>
            </a:pPr>
            <a:r>
              <a:rPr lang="en-US" sz="1600" dirty="0">
                <a:solidFill>
                  <a:srgbClr val="16213E"/>
                </a:solidFill>
                <a:latin typeface="Calibri" pitchFamily="34" charset="0"/>
                <a:ea typeface="Calibri" pitchFamily="34" charset="-122"/>
                <a:cs typeface="Calibri" pitchFamily="34" charset="-120"/>
              </a:rPr>
              <a:t>1. Where do Houston's makes and misses cluster on the floor?</a:t>
            </a:r>
            <a:endParaRPr lang="en-US" sz="1600" dirty="0"/>
          </a:p>
          <a:p>
            <a:pPr indent="0" marL="0">
              <a:lnSpc>
                <a:spcPct val="140000"/>
              </a:lnSpc>
              <a:buNone/>
            </a:pPr>
            <a:r>
              <a:rPr lang="en-US" sz="1600" dirty="0">
                <a:solidFill>
                  <a:srgbClr val="16213E"/>
                </a:solidFill>
                <a:latin typeface="Calibri" pitchFamily="34" charset="0"/>
                <a:ea typeface="Calibri" pitchFamily="34" charset="-122"/>
                <a:cs typeface="Calibri" pitchFamily="34" charset="-120"/>
              </a:rPr>
              <a:t>2. Is there an area of the half-court that looks nearly empty?</a:t>
            </a:r>
            <a:endParaRPr lang="en-US" sz="1600" dirty="0"/>
          </a:p>
          <a:p>
            <a:pPr indent="0" marL="0">
              <a:lnSpc>
                <a:spcPct val="140000"/>
              </a:lnSpc>
              <a:buNone/>
            </a:pPr>
            <a:r>
              <a:rPr lang="en-US" sz="1600" dirty="0">
                <a:solidFill>
                  <a:srgbClr val="16213E"/>
                </a:solidFill>
                <a:latin typeface="Calibri" pitchFamily="34" charset="0"/>
                <a:ea typeface="Calibri" pitchFamily="34" charset="-122"/>
                <a:cs typeface="Calibri" pitchFamily="34" charset="-120"/>
              </a:rPr>
              <a:t>3. What would you guess is happening in that empty area, before we compute anything?</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27496D"/>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FFFFFF"/>
                </a:solidFill>
                <a:latin typeface="Calibri" pitchFamily="34" charset="0"/>
                <a:ea typeface="Calibri" pitchFamily="34" charset="-122"/>
                <a:cs typeface="Calibri" pitchFamily="34" charset="-120"/>
              </a:rPr>
              <a:t>LET'S RUN THIS TOGETHER</a:t>
            </a:r>
            <a:endParaRPr lang="en-US" sz="1300" dirty="0"/>
          </a:p>
        </p:txBody>
      </p:sp>
      <p:sp>
        <p:nvSpPr>
          <p:cNvPr id="3" name="Text 1"/>
          <p:cNvSpPr txBox="1"/>
          <p:nvPr/>
        </p:nvSpPr>
        <p:spPr>
          <a:xfrm>
            <a:off x="548640" y="2377440"/>
            <a:ext cx="11091672" cy="14630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Now let's see the same shots as a density map.</a:t>
            </a:r>
            <a:endParaRPr lang="en-US" sz="3000" dirty="0"/>
          </a:p>
        </p:txBody>
      </p:sp>
      <p:sp>
        <p:nvSpPr>
          <p:cNvPr id="4" name="Text 2"/>
          <p:cNvSpPr txBox="1"/>
          <p:nvPr/>
        </p:nvSpPr>
        <p:spPr>
          <a:xfrm>
            <a:off x="548640" y="3931920"/>
            <a:ext cx="11091672" cy="54864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Pull up your own session. We'll run it line by line and look at the real output together.</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WORKED EXAMPLE, STEP 3</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The Same Shots, as a Density Map</a:t>
            </a:r>
            <a:endParaRPr lang="en-US" sz="2800" dirty="0"/>
          </a:p>
        </p:txBody>
      </p:sp>
      <p:pic>
        <p:nvPicPr>
          <p:cNvPr id="4" name="Image 0" descr="module4_hou_density.png">    </p:cNvPr>
          <p:cNvPicPr>
            <a:picLocks noChangeAspect="1"/>
          </p:cNvPicPr>
          <p:nvPr/>
        </p:nvPicPr>
        <p:blipFill>
          <a:blip r:embed="rId1"/>
          <a:stretch>
            <a:fillRect/>
          </a:stretch>
        </p:blipFill>
        <p:spPr>
          <a:xfrm>
            <a:off x="3566160" y="1691640"/>
            <a:ext cx="4937760" cy="4572000"/>
          </a:xfrm>
          <a:prstGeom prst="rect">
            <a:avLst/>
          </a:prstGeom>
        </p:spPr>
      </p:pic>
      <p:sp>
        <p:nvSpPr>
          <p:cNvPr id="5" name="Text 2"/>
          <p:cNvSpPr txBox="1"/>
          <p:nvPr/>
        </p:nvSpPr>
        <p:spPr>
          <a:xfrm>
            <a:off x="548640" y="6355080"/>
            <a:ext cx="11091672" cy="365760"/>
          </a:xfrm>
          <a:prstGeom prst="rect">
            <a:avLst/>
          </a:prstGeom>
          <a:noFill/>
          <a:ln/>
        </p:spPr>
        <p:txBody>
          <a:bodyPr wrap="square" lIns="0" tIns="0" rIns="0" bIns="0" rtlCol="0" anchor="ctr"/>
          <a:lstStyle/>
          <a:p>
            <a:pPr indent="0" marL="0">
              <a:buNone/>
            </a:pPr>
            <a:r>
              <a:rPr lang="en-US" sz="1000" dirty="0">
                <a:solidFill>
                  <a:srgbClr val="6B7A99"/>
                </a:solidFill>
                <a:latin typeface="Calibri" pitchFamily="34" charset="0"/>
                <a:ea typeface="Calibri" pitchFamily="34" charset="-122"/>
                <a:cs typeface="Calibri" pitchFamily="34" charset="-120"/>
              </a:rPr>
              <a:t>shotchart(hou, x="xc", y="yc", type="density-hexbin", nbins=24). Data: PbP.BDB, Houston's three real 2017-18 regular-season games vs. Golden State.</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RECAP · SEGMENT 1</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3000" b="1" dirty="0">
                <a:solidFill>
                  <a:srgbClr val="16213E"/>
                </a:solidFill>
                <a:latin typeface="Cambria" pitchFamily="34" charset="0"/>
                <a:ea typeface="Cambria" pitchFamily="34" charset="-122"/>
                <a:cs typeface="Cambria" pitchFamily="34" charset="-120"/>
              </a:rPr>
              <a:t>From Coordinates to a Real Shot Chart</a:t>
            </a:r>
            <a:endParaRPr lang="en-US" sz="3000" dirty="0"/>
          </a:p>
        </p:txBody>
      </p:sp>
      <p:sp>
        <p:nvSpPr>
          <p:cNvPr id="4" name="Shape 2"/>
          <p:cNvSpPr/>
          <p:nvPr/>
        </p:nvSpPr>
        <p:spPr>
          <a:xfrm>
            <a:off x="548640" y="2011680"/>
            <a:ext cx="5362956" cy="2651760"/>
          </a:xfrm>
          <a:prstGeom prst="roundRect">
            <a:avLst>
              <a:gd name="adj" fmla="val 2069"/>
            </a:avLst>
          </a:prstGeom>
          <a:solidFill>
            <a:srgbClr val="EDF1F7"/>
          </a:solidFill>
          <a:ln/>
        </p:spPr>
      </p:sp>
      <p:sp>
        <p:nvSpPr>
          <p:cNvPr id="5" name="Text 3"/>
          <p:cNvSpPr txBox="1"/>
          <p:nvPr/>
        </p:nvSpPr>
        <p:spPr>
          <a:xfrm>
            <a:off x="822960" y="2240280"/>
            <a:ext cx="4814316" cy="365760"/>
          </a:xfrm>
          <a:prstGeom prst="rect">
            <a:avLst/>
          </a:prstGeom>
          <a:noFill/>
          <a:ln/>
        </p:spPr>
        <p:txBody>
          <a:bodyPr wrap="square" lIns="0" tIns="0" rIns="0" bIns="0" rtlCol="0" anchor="ctr"/>
          <a:lstStyle/>
          <a:p>
            <a:pPr indent="0" marL="0">
              <a:buNone/>
            </a:pPr>
            <a:r>
              <a:rPr lang="en-US" sz="1300" b="1" dirty="0">
                <a:solidFill>
                  <a:srgbClr val="E4572E"/>
                </a:solidFill>
                <a:latin typeface="Calibri" pitchFamily="34" charset="0"/>
                <a:ea typeface="Calibri" pitchFamily="34" charset="-122"/>
                <a:cs typeface="Calibri" pitchFamily="34" charset="-120"/>
              </a:rPr>
              <a:t>Covered</a:t>
            </a:r>
            <a:endParaRPr lang="en-US" sz="1300" dirty="0"/>
          </a:p>
        </p:txBody>
      </p:sp>
      <p:sp>
        <p:nvSpPr>
          <p:cNvPr id="6" name="Text 4"/>
          <p:cNvSpPr txBox="1"/>
          <p:nvPr/>
        </p:nvSpPr>
        <p:spPr>
          <a:xfrm>
            <a:off x="822960" y="2651760"/>
            <a:ext cx="4814316" cy="1828800"/>
          </a:xfrm>
          <a:prstGeom prst="rect">
            <a:avLst/>
          </a:prstGeom>
          <a:noFill/>
          <a:ln/>
        </p:spPr>
        <p:txBody>
          <a:bodyPr wrap="square" lIns="0" tIns="0" rIns="0" bIns="0" rtlCol="0" anchor="t"/>
          <a:lstStyle/>
          <a:p>
            <a:pPr indent="0" marL="0">
              <a:lnSpc>
                <a:spcPct val="125000"/>
              </a:lnSpc>
              <a:buNone/>
            </a:pPr>
            <a:r>
              <a:rPr lang="en-US" sz="1400" dirty="0">
                <a:solidFill>
                  <a:srgbClr val="16213E"/>
                </a:solidFill>
                <a:latin typeface="Calibri" pitchFamily="34" charset="0"/>
                <a:ea typeface="Calibri" pitchFamily="34" charset="-122"/>
                <a:cs typeface="Calibri" pitchFamily="34" charset="-120"/>
              </a:rPr>
              <a:t>Why raw coordinates need a half-court transform, and built a real shot chart and density map from Houston's 273 real attempts in their three 2017-18 regular-season games against Golden State.</a:t>
            </a:r>
            <a:endParaRPr lang="en-US" sz="1400" dirty="0"/>
          </a:p>
        </p:txBody>
      </p:sp>
      <p:sp>
        <p:nvSpPr>
          <p:cNvPr id="7" name="Shape 5"/>
          <p:cNvSpPr/>
          <p:nvPr/>
        </p:nvSpPr>
        <p:spPr>
          <a:xfrm>
            <a:off x="6277356" y="2011680"/>
            <a:ext cx="5362956" cy="2651760"/>
          </a:xfrm>
          <a:prstGeom prst="roundRect">
            <a:avLst>
              <a:gd name="adj" fmla="val 2069"/>
            </a:avLst>
          </a:prstGeom>
          <a:solidFill>
            <a:srgbClr val="EDF1F7"/>
          </a:solidFill>
          <a:ln/>
        </p:spPr>
      </p:sp>
      <p:sp>
        <p:nvSpPr>
          <p:cNvPr id="8" name="Text 6"/>
          <p:cNvSpPr txBox="1"/>
          <p:nvPr/>
        </p:nvSpPr>
        <p:spPr>
          <a:xfrm>
            <a:off x="6551676" y="2240280"/>
            <a:ext cx="4814316" cy="365760"/>
          </a:xfrm>
          <a:prstGeom prst="rect">
            <a:avLst/>
          </a:prstGeom>
          <a:noFill/>
          <a:ln/>
        </p:spPr>
        <p:txBody>
          <a:bodyPr wrap="square" lIns="0" tIns="0" rIns="0" bIns="0" rtlCol="0" anchor="ctr"/>
          <a:lstStyle/>
          <a:p>
            <a:pPr indent="0" marL="0">
              <a:buNone/>
            </a:pPr>
            <a:r>
              <a:rPr lang="en-US" sz="1300" b="1" dirty="0">
                <a:solidFill>
                  <a:srgbClr val="E4572E"/>
                </a:solidFill>
                <a:latin typeface="Calibri" pitchFamily="34" charset="0"/>
                <a:ea typeface="Calibri" pitchFamily="34" charset="-122"/>
                <a:cs typeface="Calibri" pitchFamily="34" charset="-120"/>
              </a:rPr>
              <a:t>Next</a:t>
            </a:r>
            <a:endParaRPr lang="en-US" sz="1300" dirty="0"/>
          </a:p>
        </p:txBody>
      </p:sp>
      <p:sp>
        <p:nvSpPr>
          <p:cNvPr id="9" name="Text 7"/>
          <p:cNvSpPr txBox="1"/>
          <p:nvPr/>
        </p:nvSpPr>
        <p:spPr>
          <a:xfrm>
            <a:off x="6551676" y="2651760"/>
            <a:ext cx="4814316" cy="1828800"/>
          </a:xfrm>
          <a:prstGeom prst="rect">
            <a:avLst/>
          </a:prstGeom>
          <a:noFill/>
          <a:ln/>
        </p:spPr>
        <p:txBody>
          <a:bodyPr wrap="square" lIns="0" tIns="0" rIns="0" bIns="0" rtlCol="0" anchor="t"/>
          <a:lstStyle/>
          <a:p>
            <a:pPr indent="0" marL="0">
              <a:lnSpc>
                <a:spcPct val="125000"/>
              </a:lnSpc>
              <a:buNone/>
            </a:pPr>
            <a:r>
              <a:rPr lang="en-US" sz="1400" dirty="0">
                <a:solidFill>
                  <a:srgbClr val="16213E"/>
                </a:solidFill>
                <a:latin typeface="Calibri" pitchFamily="34" charset="0"/>
                <a:ea typeface="Calibri" pitchFamily="34" charset="-122"/>
                <a:cs typeface="Calibri" pitchFamily="34" charset="-120"/>
              </a:rPr>
              <a:t>Segment 2 turns that visual gap in the middle of the floor into a real, computed set of distance zones -- and asks why teams avoid it.</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B1D33"/>
        </a:solidFill>
      </p:bgPr>
    </p:bg>
    <p:spTree>
      <p:nvGrpSpPr>
        <p:cNvPr id="1" name=""/>
        <p:cNvGrpSpPr/>
        <p:nvPr/>
      </p:nvGrpSpPr>
      <p:grpSpPr>
        <a:xfrm>
          <a:off x="0" y="0"/>
          <a:ext cx="0" cy="0"/>
          <a:chOff x="0" y="0"/>
          <a:chExt cx="0" cy="0"/>
        </a:xfrm>
      </p:grpSpPr>
      <p:sp>
        <p:nvSpPr>
          <p:cNvPr id="2" name="Text 0"/>
          <p:cNvSpPr txBox="1"/>
          <p:nvPr/>
        </p:nvSpPr>
        <p:spPr>
          <a:xfrm>
            <a:off x="548640" y="2743200"/>
            <a:ext cx="11091672" cy="9144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10-Minute Break</a:t>
            </a:r>
            <a:endParaRPr lang="en-US" sz="4000" dirty="0"/>
          </a:p>
        </p:txBody>
      </p:sp>
      <p:sp>
        <p:nvSpPr>
          <p:cNvPr id="3" name="Text 1"/>
          <p:cNvSpPr txBox="1"/>
          <p:nvPr/>
        </p:nvSpPr>
        <p:spPr>
          <a:xfrm>
            <a:off x="548640" y="3657600"/>
            <a:ext cx="11091672" cy="548640"/>
          </a:xfrm>
          <a:prstGeom prst="rect">
            <a:avLst/>
          </a:prstGeom>
          <a:noFill/>
          <a:ln/>
        </p:spPr>
        <p:txBody>
          <a:bodyPr wrap="square" lIns="0" tIns="0" rIns="0" bIns="0" rtlCol="0" anchor="ctr"/>
          <a:lstStyle/>
          <a:p>
            <a:pPr indent="0" marL="0">
              <a:buNone/>
            </a:pPr>
            <a:r>
              <a:rPr lang="en-US" sz="1600" dirty="0">
                <a:solidFill>
                  <a:srgbClr val="AEBBD1"/>
                </a:solidFill>
                <a:latin typeface="Calibri" pitchFamily="34" charset="0"/>
                <a:ea typeface="Calibri" pitchFamily="34" charset="-122"/>
                <a:cs typeface="Calibri" pitchFamily="34" charset="-120"/>
              </a:rPr>
              <a:t>Back at the top of the hour. Next: distance zones and Moreyball.</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B1D33"/>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CONCEPT · SEGMENT 2</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Turning a Scatter of Dots Into a Comparison</a:t>
            </a:r>
            <a:endParaRPr lang="en-US" sz="2800" dirty="0"/>
          </a:p>
        </p:txBody>
      </p:sp>
      <p:sp>
        <p:nvSpPr>
          <p:cNvPr id="4" name="Text 2"/>
          <p:cNvSpPr txBox="1"/>
          <p:nvPr/>
        </p:nvSpPr>
        <p:spPr>
          <a:xfrm>
            <a:off x="548640" y="2103120"/>
            <a:ext cx="11091672" cy="1463040"/>
          </a:xfrm>
          <a:prstGeom prst="rect">
            <a:avLst/>
          </a:prstGeom>
          <a:noFill/>
          <a:ln/>
        </p:spPr>
        <p:txBody>
          <a:bodyPr wrap="square" lIns="0" tIns="0" rIns="0" bIns="0" rtlCol="0" anchor="ctr"/>
          <a:lstStyle/>
          <a:p>
            <a:pPr indent="0" marL="0">
              <a:lnSpc>
                <a:spcPct val="125000"/>
              </a:lnSpc>
              <a:buNone/>
            </a:pPr>
            <a:r>
              <a:rPr lang="en-US" sz="1700" dirty="0">
                <a:solidFill>
                  <a:srgbClr val="FFFFFF"/>
                </a:solidFill>
                <a:latin typeface="Calibri" pitchFamily="34" charset="0"/>
                <a:ea typeface="Calibri" pitchFamily="34" charset="-122"/>
                <a:cs typeface="Calibri" pitchFamily="34" charset="-120"/>
              </a:rPr>
              <a:t>A shot chart is compelling to look at, but it is hard to compare two players or two teams by eye alone. To make a real comparison, this module splits the court into four distance zones, computed directly from each shot's real shot_distance value.</a:t>
            </a:r>
            <a:endParaRPr lang="en-US" sz="1700" dirty="0"/>
          </a:p>
        </p:txBody>
      </p:sp>
      <p:sp>
        <p:nvSpPr>
          <p:cNvPr id="5" name="Text 3"/>
          <p:cNvSpPr txBox="1"/>
          <p:nvPr/>
        </p:nvSpPr>
        <p:spPr>
          <a:xfrm>
            <a:off x="548640" y="3749040"/>
            <a:ext cx="11091672" cy="914400"/>
          </a:xfrm>
          <a:prstGeom prst="rect">
            <a:avLst/>
          </a:prstGeom>
          <a:noFill/>
          <a:ln/>
        </p:spPr>
        <p:txBody>
          <a:bodyPr wrap="square" lIns="0" tIns="0" rIns="0" bIns="0" rtlCol="0" anchor="t"/>
          <a:lstStyle/>
          <a:p>
            <a:pPr indent="0" marL="0">
              <a:lnSpc>
                <a:spcPct val="125000"/>
              </a:lnSpc>
              <a:buNone/>
            </a:pPr>
            <a:r>
              <a:rPr lang="en-US" sz="1400" i="1" dirty="0">
                <a:solidFill>
                  <a:srgbClr val="AEBBD1"/>
                </a:solidFill>
                <a:latin typeface="Calibri" pitchFamily="34" charset="0"/>
                <a:ea typeface="Calibri" pitchFamily="34" charset="-122"/>
                <a:cs typeface="Calibri" pitchFamily="34" charset="-120"/>
              </a:rPr>
              <a:t>Same habit as every module: turn a picture into a number you can actually compare.</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CONCEPT · SEGMENT 2</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3000" b="1" dirty="0">
                <a:solidFill>
                  <a:srgbClr val="16213E"/>
                </a:solidFill>
                <a:latin typeface="Cambria" pitchFamily="34" charset="0"/>
                <a:ea typeface="Cambria" pitchFamily="34" charset="-122"/>
                <a:cs typeface="Cambria" pitchFamily="34" charset="-120"/>
              </a:rPr>
              <a:t>Four Real Distance Zones</a:t>
            </a:r>
            <a:endParaRPr lang="en-US" sz="3000" dirty="0"/>
          </a:p>
        </p:txBody>
      </p:sp>
      <p:sp>
        <p:nvSpPr>
          <p:cNvPr id="4" name="Shape 2"/>
          <p:cNvSpPr/>
          <p:nvPr/>
        </p:nvSpPr>
        <p:spPr>
          <a:xfrm>
            <a:off x="548640" y="1965960"/>
            <a:ext cx="11091672" cy="914400"/>
          </a:xfrm>
          <a:prstGeom prst="roundRect">
            <a:avLst>
              <a:gd name="adj" fmla="val 6000"/>
            </a:avLst>
          </a:prstGeom>
          <a:solidFill>
            <a:srgbClr val="EDF1F7"/>
          </a:solidFill>
          <a:ln/>
        </p:spPr>
      </p:sp>
      <p:sp>
        <p:nvSpPr>
          <p:cNvPr id="5" name="Text 3"/>
          <p:cNvSpPr txBox="1"/>
          <p:nvPr/>
        </p:nvSpPr>
        <p:spPr>
          <a:xfrm>
            <a:off x="822960" y="1965960"/>
            <a:ext cx="2377440" cy="914400"/>
          </a:xfrm>
          <a:prstGeom prst="rect">
            <a:avLst/>
          </a:prstGeom>
          <a:noFill/>
          <a:ln/>
        </p:spPr>
        <p:txBody>
          <a:bodyPr wrap="square" lIns="0" tIns="0" rIns="0" bIns="0" rtlCol="0" anchor="ctr"/>
          <a:lstStyle/>
          <a:p>
            <a:pPr indent="0" marL="0">
              <a:buNone/>
            </a:pPr>
            <a:r>
              <a:rPr lang="en-US" sz="1500" b="1" dirty="0">
                <a:solidFill>
                  <a:srgbClr val="27496D"/>
                </a:solidFill>
                <a:latin typeface="Calibri" pitchFamily="34" charset="0"/>
                <a:ea typeface="Calibri" pitchFamily="34" charset="-122"/>
                <a:cs typeface="Calibri" pitchFamily="34" charset="-120"/>
              </a:rPr>
              <a:t>Rim</a:t>
            </a:r>
            <a:endParaRPr lang="en-US" sz="1500" dirty="0"/>
          </a:p>
        </p:txBody>
      </p:sp>
      <p:sp>
        <p:nvSpPr>
          <p:cNvPr id="6" name="Text 4"/>
          <p:cNvSpPr txBox="1"/>
          <p:nvPr/>
        </p:nvSpPr>
        <p:spPr>
          <a:xfrm>
            <a:off x="3383280" y="1965960"/>
            <a:ext cx="7982712" cy="914400"/>
          </a:xfrm>
          <a:prstGeom prst="rect">
            <a:avLst/>
          </a:prstGeom>
          <a:noFill/>
          <a:ln/>
        </p:spPr>
        <p:txBody>
          <a:bodyPr wrap="square" lIns="0" tIns="0" rIns="0" bIns="0" rtlCol="0" anchor="ctr"/>
          <a:lstStyle/>
          <a:p>
            <a:pPr indent="0" marL="0">
              <a:buNone/>
            </a:pPr>
            <a:r>
              <a:rPr lang="en-US" sz="1400" dirty="0">
                <a:solidFill>
                  <a:srgbClr val="16213E"/>
                </a:solidFill>
                <a:latin typeface="Calibri" pitchFamily="34" charset="0"/>
                <a:ea typeface="Calibri" pitchFamily="34" charset="-122"/>
                <a:cs typeface="Calibri" pitchFamily="34" charset="-120"/>
              </a:rPr>
              <a:t>0-4 feet from the basket.</a:t>
            </a:r>
            <a:endParaRPr lang="en-US" sz="1400" dirty="0"/>
          </a:p>
        </p:txBody>
      </p:sp>
      <p:sp>
        <p:nvSpPr>
          <p:cNvPr id="7" name="Shape 5"/>
          <p:cNvSpPr/>
          <p:nvPr/>
        </p:nvSpPr>
        <p:spPr>
          <a:xfrm>
            <a:off x="548640" y="3017520"/>
            <a:ext cx="11091672" cy="914400"/>
          </a:xfrm>
          <a:prstGeom prst="roundRect">
            <a:avLst>
              <a:gd name="adj" fmla="val 6000"/>
            </a:avLst>
          </a:prstGeom>
          <a:solidFill>
            <a:srgbClr val="EDF1F7"/>
          </a:solidFill>
          <a:ln/>
        </p:spPr>
      </p:sp>
      <p:sp>
        <p:nvSpPr>
          <p:cNvPr id="8" name="Text 6"/>
          <p:cNvSpPr txBox="1"/>
          <p:nvPr/>
        </p:nvSpPr>
        <p:spPr>
          <a:xfrm>
            <a:off x="822960" y="3017520"/>
            <a:ext cx="2377440" cy="914400"/>
          </a:xfrm>
          <a:prstGeom prst="rect">
            <a:avLst/>
          </a:prstGeom>
          <a:noFill/>
          <a:ln/>
        </p:spPr>
        <p:txBody>
          <a:bodyPr wrap="square" lIns="0" tIns="0" rIns="0" bIns="0" rtlCol="0" anchor="ctr"/>
          <a:lstStyle/>
          <a:p>
            <a:pPr indent="0" marL="0">
              <a:buNone/>
            </a:pPr>
            <a:r>
              <a:rPr lang="en-US" sz="1500" b="1" dirty="0">
                <a:solidFill>
                  <a:srgbClr val="27496D"/>
                </a:solidFill>
                <a:latin typeface="Calibri" pitchFamily="34" charset="0"/>
                <a:ea typeface="Calibri" pitchFamily="34" charset="-122"/>
                <a:cs typeface="Calibri" pitchFamily="34" charset="-120"/>
              </a:rPr>
              <a:t>Short/Mid</a:t>
            </a:r>
            <a:endParaRPr lang="en-US" sz="1500" dirty="0"/>
          </a:p>
        </p:txBody>
      </p:sp>
      <p:sp>
        <p:nvSpPr>
          <p:cNvPr id="9" name="Text 7"/>
          <p:cNvSpPr txBox="1"/>
          <p:nvPr/>
        </p:nvSpPr>
        <p:spPr>
          <a:xfrm>
            <a:off x="3383280" y="3017520"/>
            <a:ext cx="7982712" cy="914400"/>
          </a:xfrm>
          <a:prstGeom prst="rect">
            <a:avLst/>
          </a:prstGeom>
          <a:noFill/>
          <a:ln/>
        </p:spPr>
        <p:txBody>
          <a:bodyPr wrap="square" lIns="0" tIns="0" rIns="0" bIns="0" rtlCol="0" anchor="ctr"/>
          <a:lstStyle/>
          <a:p>
            <a:pPr indent="0" marL="0">
              <a:buNone/>
            </a:pPr>
            <a:r>
              <a:rPr lang="en-US" sz="1400" dirty="0">
                <a:solidFill>
                  <a:srgbClr val="16213E"/>
                </a:solidFill>
                <a:latin typeface="Calibri" pitchFamily="34" charset="0"/>
                <a:ea typeface="Calibri" pitchFamily="34" charset="-122"/>
                <a:cs typeface="Calibri" pitchFamily="34" charset="-120"/>
              </a:rPr>
              <a:t>5-14 feet -- floaters, short jumpers.</a:t>
            </a:r>
            <a:endParaRPr lang="en-US" sz="1400" dirty="0"/>
          </a:p>
        </p:txBody>
      </p:sp>
      <p:sp>
        <p:nvSpPr>
          <p:cNvPr id="10" name="Shape 8"/>
          <p:cNvSpPr/>
          <p:nvPr/>
        </p:nvSpPr>
        <p:spPr>
          <a:xfrm>
            <a:off x="548640" y="4069080"/>
            <a:ext cx="11091672" cy="914400"/>
          </a:xfrm>
          <a:prstGeom prst="roundRect">
            <a:avLst>
              <a:gd name="adj" fmla="val 6000"/>
            </a:avLst>
          </a:prstGeom>
          <a:solidFill>
            <a:srgbClr val="EDF1F7"/>
          </a:solidFill>
          <a:ln/>
        </p:spPr>
      </p:sp>
      <p:sp>
        <p:nvSpPr>
          <p:cNvPr id="11" name="Text 9"/>
          <p:cNvSpPr txBox="1"/>
          <p:nvPr/>
        </p:nvSpPr>
        <p:spPr>
          <a:xfrm>
            <a:off x="822960" y="4069080"/>
            <a:ext cx="2377440" cy="914400"/>
          </a:xfrm>
          <a:prstGeom prst="rect">
            <a:avLst/>
          </a:prstGeom>
          <a:noFill/>
          <a:ln/>
        </p:spPr>
        <p:txBody>
          <a:bodyPr wrap="square" lIns="0" tIns="0" rIns="0" bIns="0" rtlCol="0" anchor="ctr"/>
          <a:lstStyle/>
          <a:p>
            <a:pPr indent="0" marL="0">
              <a:buNone/>
            </a:pPr>
            <a:r>
              <a:rPr lang="en-US" sz="1500" b="1" dirty="0">
                <a:solidFill>
                  <a:srgbClr val="27496D"/>
                </a:solidFill>
                <a:latin typeface="Calibri" pitchFamily="34" charset="0"/>
                <a:ea typeface="Calibri" pitchFamily="34" charset="-122"/>
                <a:cs typeface="Calibri" pitchFamily="34" charset="-120"/>
              </a:rPr>
              <a:t>Long Two</a:t>
            </a:r>
            <a:endParaRPr lang="en-US" sz="1500" dirty="0"/>
          </a:p>
        </p:txBody>
      </p:sp>
      <p:sp>
        <p:nvSpPr>
          <p:cNvPr id="12" name="Text 10"/>
          <p:cNvSpPr txBox="1"/>
          <p:nvPr/>
        </p:nvSpPr>
        <p:spPr>
          <a:xfrm>
            <a:off x="3383280" y="4069080"/>
            <a:ext cx="7982712" cy="914400"/>
          </a:xfrm>
          <a:prstGeom prst="rect">
            <a:avLst/>
          </a:prstGeom>
          <a:noFill/>
          <a:ln/>
        </p:spPr>
        <p:txBody>
          <a:bodyPr wrap="square" lIns="0" tIns="0" rIns="0" bIns="0" rtlCol="0" anchor="ctr"/>
          <a:lstStyle/>
          <a:p>
            <a:pPr indent="0" marL="0">
              <a:buNone/>
            </a:pPr>
            <a:r>
              <a:rPr lang="en-US" sz="1400" dirty="0">
                <a:solidFill>
                  <a:srgbClr val="16213E"/>
                </a:solidFill>
                <a:latin typeface="Calibri" pitchFamily="34" charset="0"/>
                <a:ea typeface="Calibri" pitchFamily="34" charset="-122"/>
                <a:cs typeface="Calibri" pitchFamily="34" charset="-120"/>
              </a:rPr>
              <a:t>15-21 feet -- the mid-range jump shot.</a:t>
            </a:r>
            <a:endParaRPr lang="en-US" sz="1400" dirty="0"/>
          </a:p>
        </p:txBody>
      </p:sp>
      <p:sp>
        <p:nvSpPr>
          <p:cNvPr id="13" name="Shape 11"/>
          <p:cNvSpPr/>
          <p:nvPr/>
        </p:nvSpPr>
        <p:spPr>
          <a:xfrm>
            <a:off x="548640" y="5120640"/>
            <a:ext cx="11091672" cy="914400"/>
          </a:xfrm>
          <a:prstGeom prst="roundRect">
            <a:avLst>
              <a:gd name="adj" fmla="val 6000"/>
            </a:avLst>
          </a:prstGeom>
          <a:solidFill>
            <a:srgbClr val="EDF1F7"/>
          </a:solidFill>
          <a:ln/>
        </p:spPr>
      </p:sp>
      <p:sp>
        <p:nvSpPr>
          <p:cNvPr id="14" name="Text 12"/>
          <p:cNvSpPr txBox="1"/>
          <p:nvPr/>
        </p:nvSpPr>
        <p:spPr>
          <a:xfrm>
            <a:off x="822960" y="5120640"/>
            <a:ext cx="2377440" cy="914400"/>
          </a:xfrm>
          <a:prstGeom prst="rect">
            <a:avLst/>
          </a:prstGeom>
          <a:noFill/>
          <a:ln/>
        </p:spPr>
        <p:txBody>
          <a:bodyPr wrap="square" lIns="0" tIns="0" rIns="0" bIns="0" rtlCol="0" anchor="ctr"/>
          <a:lstStyle/>
          <a:p>
            <a:pPr indent="0" marL="0">
              <a:buNone/>
            </a:pPr>
            <a:r>
              <a:rPr lang="en-US" sz="1500" b="1" dirty="0">
                <a:solidFill>
                  <a:srgbClr val="27496D"/>
                </a:solidFill>
                <a:latin typeface="Calibri" pitchFamily="34" charset="0"/>
                <a:ea typeface="Calibri" pitchFamily="34" charset="-122"/>
                <a:cs typeface="Calibri" pitchFamily="34" charset="-120"/>
              </a:rPr>
              <a:t>Three</a:t>
            </a:r>
            <a:endParaRPr lang="en-US" sz="1500" dirty="0"/>
          </a:p>
        </p:txBody>
      </p:sp>
      <p:sp>
        <p:nvSpPr>
          <p:cNvPr id="15" name="Text 13"/>
          <p:cNvSpPr txBox="1"/>
          <p:nvPr/>
        </p:nvSpPr>
        <p:spPr>
          <a:xfrm>
            <a:off x="3383280" y="5120640"/>
            <a:ext cx="7982712" cy="914400"/>
          </a:xfrm>
          <a:prstGeom prst="rect">
            <a:avLst/>
          </a:prstGeom>
          <a:noFill/>
          <a:ln/>
        </p:spPr>
        <p:txBody>
          <a:bodyPr wrap="square" lIns="0" tIns="0" rIns="0" bIns="0" rtlCol="0" anchor="ctr"/>
          <a:lstStyle/>
          <a:p>
            <a:pPr indent="0" marL="0">
              <a:buNone/>
            </a:pPr>
            <a:r>
              <a:rPr lang="en-US" sz="1400" dirty="0">
                <a:solidFill>
                  <a:srgbClr val="16213E"/>
                </a:solidFill>
                <a:latin typeface="Calibri" pitchFamily="34" charset="0"/>
                <a:ea typeface="Calibri" pitchFamily="34" charset="-122"/>
                <a:cs typeface="Calibri" pitchFamily="34" charset="-120"/>
              </a:rPr>
              <a:t>22 feet or more -- behind the arc, no upper bound.</a:t>
            </a:r>
            <a:endParaRPr lang="en-US" sz="1400" dirty="0"/>
          </a:p>
        </p:txBody>
      </p:sp>
      <p:sp>
        <p:nvSpPr>
          <p:cNvPr id="16" name="Text 14"/>
          <p:cNvSpPr txBox="1"/>
          <p:nvPr/>
        </p:nvSpPr>
        <p:spPr>
          <a:xfrm>
            <a:off x="548640" y="6355080"/>
            <a:ext cx="11091672" cy="365760"/>
          </a:xfrm>
          <a:prstGeom prst="rect">
            <a:avLst/>
          </a:prstGeom>
          <a:noFill/>
          <a:ln/>
        </p:spPr>
        <p:txBody>
          <a:bodyPr wrap="square" lIns="0" tIns="0" rIns="0" bIns="0" rtlCol="0" anchor="ctr"/>
          <a:lstStyle/>
          <a:p>
            <a:pPr indent="0" marL="0">
              <a:buNone/>
            </a:pPr>
            <a:r>
              <a:rPr lang="en-US" sz="1000" dirty="0">
                <a:solidFill>
                  <a:srgbClr val="6B7A99"/>
                </a:solidFill>
                <a:latin typeface="Calibri" pitchFamily="34" charset="0"/>
                <a:ea typeface="Calibri" pitchFamily="34" charset="-122"/>
                <a:cs typeface="Calibri" pitchFamily="34" charset="-120"/>
              </a:rPr>
              <a:t>Computed directly from shot_distance in PbP.BDB using case_when() in R.</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27496D"/>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FFFFFF"/>
                </a:solidFill>
                <a:latin typeface="Calibri" pitchFamily="34" charset="0"/>
                <a:ea typeface="Calibri" pitchFamily="34" charset="-122"/>
                <a:cs typeface="Calibri" pitchFamily="34" charset="-120"/>
              </a:rPr>
              <a:t>LET'S RUN THIS TOGETHER</a:t>
            </a:r>
            <a:endParaRPr lang="en-US" sz="1300" dirty="0"/>
          </a:p>
        </p:txBody>
      </p:sp>
      <p:sp>
        <p:nvSpPr>
          <p:cNvPr id="3" name="Text 1"/>
          <p:cNvSpPr txBox="1"/>
          <p:nvPr/>
        </p:nvSpPr>
        <p:spPr>
          <a:xfrm>
            <a:off x="548640" y="2377440"/>
            <a:ext cx="11091672" cy="14630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Let's compute the real leaguewide zone table together.</a:t>
            </a:r>
            <a:endParaRPr lang="en-US" sz="3000" dirty="0"/>
          </a:p>
        </p:txBody>
      </p:sp>
      <p:sp>
        <p:nvSpPr>
          <p:cNvPr id="4" name="Text 2"/>
          <p:cNvSpPr txBox="1"/>
          <p:nvPr/>
        </p:nvSpPr>
        <p:spPr>
          <a:xfrm>
            <a:off x="548640" y="3931920"/>
            <a:ext cx="11091672" cy="54864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Pull up your own session. We'll run it line by line and look at the real output together.</a:t>
            </a:r>
            <a:endParaRPr lang="en-US" sz="16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WORKED EXAMPLE, STEP 4</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500" b="1" dirty="0">
                <a:solidFill>
                  <a:srgbClr val="16213E"/>
                </a:solidFill>
                <a:latin typeface="Cambria" pitchFamily="34" charset="0"/>
                <a:ea typeface="Cambria" pitchFamily="34" charset="-122"/>
                <a:cs typeface="Cambria" pitchFamily="34" charset="-120"/>
              </a:rPr>
              <a:t>All 14,354 Real Attempts in This Dataset, by Zone</a:t>
            </a:r>
            <a:endParaRPr lang="en-US" sz="25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2011680"/>
          <a:ext cx="11091672" cy="2377440"/>
        </p:xfrm>
        <a:graphic>
          <a:graphicData uri="http://schemas.openxmlformats.org/drawingml/2006/table">
            <a:tbl>
              <a:tblPr/>
              <a:tblGrid>
                <a:gridCol w="4050792"/>
                <a:gridCol w="2651760"/>
                <a:gridCol w="2194560"/>
                <a:gridCol w="2194560"/>
              </a:tblGrid>
              <a:tr h="475488">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Zone</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7496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Attempts</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7496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Share</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7496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FG%</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7496D"/>
                    </a:solidFill>
                  </a:tcPr>
                </a:tc>
              </a:tr>
              <a:tr h="475488">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Rim (0-4 ft)</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4,513</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31.4%</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64.4%</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r>
              <a:tr h="475488">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Short/Mid (5-14 ft)</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2,770</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19.3%</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41.8%</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r>
              <a:tr h="475488">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Long Two (15-21 ft)</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2,128</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14.8%</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41.7%</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r>
              <a:tr h="475488">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Three (22+ ft)</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4,943</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34.4%</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37.5%</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r>
            </a:tbl>
          </a:graphicData>
        </a:graphic>
      </p:graphicFrame>
      <p:sp>
        <p:nvSpPr>
          <p:cNvPr id="5" name="Text 2"/>
          <p:cNvSpPr txBox="1"/>
          <p:nvPr/>
        </p:nvSpPr>
        <p:spPr>
          <a:xfrm>
            <a:off x="548640" y="4663440"/>
            <a:ext cx="11091672" cy="914400"/>
          </a:xfrm>
          <a:prstGeom prst="rect">
            <a:avLst/>
          </a:prstGeom>
          <a:noFill/>
          <a:ln/>
        </p:spPr>
        <p:txBody>
          <a:bodyPr wrap="square" lIns="0" tIns="0" rIns="0" bIns="0" rtlCol="0" anchor="t"/>
          <a:lstStyle/>
          <a:p>
            <a:pPr indent="0" marL="0">
              <a:lnSpc>
                <a:spcPct val="125000"/>
              </a:lnSpc>
              <a:buNone/>
            </a:pPr>
            <a:r>
              <a:rPr lang="en-US" sz="1500" dirty="0">
                <a:solidFill>
                  <a:srgbClr val="27496D"/>
                </a:solidFill>
                <a:latin typeface="Calibri" pitchFamily="34" charset="0"/>
                <a:ea typeface="Calibri" pitchFamily="34" charset="-122"/>
                <a:cs typeface="Calibri" pitchFamily="34" charset="-120"/>
              </a:rPr>
              <a:t>The long two is the smallest share of any zone in this dataset -- only 14.8% of every real attempt.</a:t>
            </a:r>
            <a:endParaRPr lang="en-US" sz="1500" dirty="0"/>
          </a:p>
        </p:txBody>
      </p:sp>
      <p:sp>
        <p:nvSpPr>
          <p:cNvPr id="6" name="Text 3"/>
          <p:cNvSpPr txBox="1"/>
          <p:nvPr/>
        </p:nvSpPr>
        <p:spPr>
          <a:xfrm>
            <a:off x="548640" y="6355080"/>
            <a:ext cx="11091672" cy="365760"/>
          </a:xfrm>
          <a:prstGeom prst="rect">
            <a:avLst/>
          </a:prstGeom>
          <a:noFill/>
          <a:ln/>
        </p:spPr>
        <p:txBody>
          <a:bodyPr wrap="square" lIns="0" tIns="0" rIns="0" bIns="0" rtlCol="0" anchor="ctr"/>
          <a:lstStyle/>
          <a:p>
            <a:pPr indent="0" marL="0">
              <a:buNone/>
            </a:pPr>
            <a:r>
              <a:rPr lang="en-US" sz="1000" dirty="0">
                <a:solidFill>
                  <a:srgbClr val="6B7A99"/>
                </a:solidFill>
                <a:latin typeface="Calibri" pitchFamily="34" charset="0"/>
                <a:ea typeface="Calibri" pitchFamily="34" charset="-122"/>
                <a:cs typeface="Calibri" pitchFamily="34" charset="-120"/>
              </a:rPr>
              <a:t>Data: PbP.BDB, Golden State's real 2017-18 regular season, computed in module4_shot_charts.R.</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CONCEPT · THE CORE IDEA OF THIS MODULE</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600" b="1" dirty="0">
                <a:solidFill>
                  <a:srgbClr val="16213E"/>
                </a:solidFill>
                <a:latin typeface="Cambria" pitchFamily="34" charset="0"/>
                <a:ea typeface="Cambria" pitchFamily="34" charset="-122"/>
                <a:cs typeface="Cambria" pitchFamily="34" charset="-120"/>
              </a:rPr>
              <a:t>The Long Two Is Disappearing From the Real Game</a:t>
            </a:r>
            <a:endParaRPr lang="en-US" sz="2600" dirty="0"/>
          </a:p>
        </p:txBody>
      </p:sp>
      <p:sp>
        <p:nvSpPr>
          <p:cNvPr id="4" name="Shape 2"/>
          <p:cNvSpPr/>
          <p:nvPr/>
        </p:nvSpPr>
        <p:spPr>
          <a:xfrm>
            <a:off x="548640" y="2103120"/>
            <a:ext cx="3840480" cy="3108960"/>
          </a:xfrm>
          <a:prstGeom prst="roundRect">
            <a:avLst>
              <a:gd name="adj" fmla="val 1765"/>
            </a:avLst>
          </a:prstGeom>
          <a:solidFill>
            <a:srgbClr val="E4572E"/>
          </a:solidFill>
          <a:ln/>
        </p:spPr>
      </p:sp>
      <p:sp>
        <p:nvSpPr>
          <p:cNvPr id="5" name="Text 3"/>
          <p:cNvSpPr txBox="1"/>
          <p:nvPr/>
        </p:nvSpPr>
        <p:spPr>
          <a:xfrm>
            <a:off x="548640" y="2514600"/>
            <a:ext cx="3840480" cy="1188720"/>
          </a:xfrm>
          <a:prstGeom prst="rect">
            <a:avLst/>
          </a:prstGeom>
          <a:noFill/>
          <a:ln/>
        </p:spPr>
        <p:txBody>
          <a:bodyPr wrap="square" lIns="0" tIns="0" rIns="0" bIns="0" rtlCol="0" anchor="ctr"/>
          <a:lstStyle/>
          <a:p>
            <a:pPr algn="ctr" indent="0" marL="0">
              <a:buNone/>
            </a:pPr>
            <a:r>
              <a:rPr lang="en-US" sz="5400" b="1" dirty="0">
                <a:solidFill>
                  <a:srgbClr val="FFFFFF"/>
                </a:solidFill>
                <a:latin typeface="Cambria" pitchFamily="34" charset="0"/>
                <a:ea typeface="Cambria" pitchFamily="34" charset="-122"/>
                <a:cs typeface="Cambria" pitchFamily="34" charset="-120"/>
              </a:rPr>
              <a:t>14.8%</a:t>
            </a:r>
            <a:endParaRPr lang="en-US" sz="5400" dirty="0"/>
          </a:p>
        </p:txBody>
      </p:sp>
      <p:sp>
        <p:nvSpPr>
          <p:cNvPr id="6" name="Text 4"/>
          <p:cNvSpPr txBox="1"/>
          <p:nvPr/>
        </p:nvSpPr>
        <p:spPr>
          <a:xfrm>
            <a:off x="822960" y="3749040"/>
            <a:ext cx="3291840" cy="1280160"/>
          </a:xfrm>
          <a:prstGeom prst="rect">
            <a:avLst/>
          </a:prstGeom>
          <a:noFill/>
          <a:ln/>
        </p:spPr>
        <p:txBody>
          <a:bodyPr wrap="square" lIns="0" tIns="0" rIns="0" bIns="0" rtlCol="0" anchor="ctr"/>
          <a:lstStyle/>
          <a:p>
            <a:pPr algn="ctr" indent="0" marL="0">
              <a:lnSpc>
                <a:spcPct val="130000"/>
              </a:lnSpc>
              <a:buNone/>
            </a:pPr>
            <a:r>
              <a:rPr lang="en-US" sz="1300" dirty="0">
                <a:solidFill>
                  <a:srgbClr val="FFFFFF"/>
                </a:solidFill>
                <a:latin typeface="Calibri" pitchFamily="34" charset="0"/>
                <a:ea typeface="Calibri" pitchFamily="34" charset="-122"/>
                <a:cs typeface="Calibri" pitchFamily="34" charset="-120"/>
              </a:rPr>
              <a:t>of all real attempts in</a:t>
            </a:r>
            <a:endParaRPr lang="en-US" sz="1300" dirty="0"/>
          </a:p>
          <a:p>
            <a:pPr algn="ctr" indent="0" marL="0">
              <a:lnSpc>
                <a:spcPct val="130000"/>
              </a:lnSpc>
              <a:buNone/>
            </a:pPr>
            <a:r>
              <a:rPr lang="en-US" sz="1300" dirty="0">
                <a:solidFill>
                  <a:srgbClr val="FFFFFF"/>
                </a:solidFill>
                <a:latin typeface="Calibri" pitchFamily="34" charset="0"/>
                <a:ea typeface="Calibri" pitchFamily="34" charset="-122"/>
                <a:cs typeface="Calibri" pitchFamily="34" charset="-120"/>
              </a:rPr>
              <a:t>this dataset came from the</a:t>
            </a:r>
            <a:endParaRPr lang="en-US" sz="1300" dirty="0"/>
          </a:p>
          <a:p>
            <a:pPr algn="ctr" indent="0" marL="0">
              <a:lnSpc>
                <a:spcPct val="130000"/>
              </a:lnSpc>
              <a:buNone/>
            </a:pPr>
            <a:r>
              <a:rPr lang="en-US" sz="1300" dirty="0">
                <a:solidFill>
                  <a:srgbClr val="FFFFFF"/>
                </a:solidFill>
                <a:latin typeface="Calibri" pitchFamily="34" charset="0"/>
                <a:ea typeface="Calibri" pitchFamily="34" charset="-122"/>
                <a:cs typeface="Calibri" pitchFamily="34" charset="-120"/>
              </a:rPr>
              <a:t>long two -- the smallest</a:t>
            </a:r>
            <a:endParaRPr lang="en-US" sz="1300" dirty="0"/>
          </a:p>
          <a:p>
            <a:pPr algn="ctr" indent="0" marL="0">
              <a:lnSpc>
                <a:spcPct val="130000"/>
              </a:lnSpc>
              <a:buNone/>
            </a:pPr>
            <a:r>
              <a:rPr lang="en-US" sz="1300" dirty="0">
                <a:solidFill>
                  <a:srgbClr val="FFFFFF"/>
                </a:solidFill>
                <a:latin typeface="Calibri" pitchFamily="34" charset="0"/>
                <a:ea typeface="Calibri" pitchFamily="34" charset="-122"/>
                <a:cs typeface="Calibri" pitchFamily="34" charset="-120"/>
              </a:rPr>
              <a:t>share of any zone</a:t>
            </a:r>
            <a:endParaRPr lang="en-US" sz="1300" dirty="0"/>
          </a:p>
        </p:txBody>
      </p:sp>
      <p:sp>
        <p:nvSpPr>
          <p:cNvPr id="7" name="Text 5"/>
          <p:cNvSpPr txBox="1"/>
          <p:nvPr/>
        </p:nvSpPr>
        <p:spPr>
          <a:xfrm>
            <a:off x="4663440" y="2103120"/>
            <a:ext cx="6428232" cy="3108960"/>
          </a:xfrm>
          <a:prstGeom prst="rect">
            <a:avLst/>
          </a:prstGeom>
          <a:noFill/>
          <a:ln/>
        </p:spPr>
        <p:txBody>
          <a:bodyPr wrap="square" lIns="0" tIns="0" rIns="0" bIns="0" rtlCol="0" anchor="t"/>
          <a:lstStyle/>
          <a:p>
            <a:pPr indent="0" marL="0">
              <a:lnSpc>
                <a:spcPct val="130000"/>
              </a:lnSpc>
              <a:buNone/>
            </a:pPr>
            <a:r>
              <a:rPr lang="en-US" sz="1500" b="1" dirty="0">
                <a:solidFill>
                  <a:srgbClr val="16213E"/>
                </a:solidFill>
                <a:latin typeface="Calibri" pitchFamily="34" charset="0"/>
                <a:ea typeface="Calibri" pitchFamily="34" charset="-122"/>
                <a:cs typeface="Calibri" pitchFamily="34" charset="-120"/>
              </a:rPr>
              <a:t>Why it matters: </a:t>
            </a:r>
            <a:pPr indent="0" marL="0">
              <a:lnSpc>
                <a:spcPct val="130000"/>
              </a:lnSpc>
              <a:buNone/>
            </a:pPr>
            <a:r>
              <a:rPr lang="en-US" sz="1500" dirty="0">
                <a:solidFill>
                  <a:srgbClr val="16213E"/>
                </a:solidFill>
                <a:latin typeface="Calibri" pitchFamily="34" charset="0"/>
                <a:ea typeface="Calibri" pitchFamily="34" charset="-122"/>
                <a:cs typeface="Calibri" pitchFamily="34" charset="-120"/>
              </a:rPr>
              <a:t>the long two converts at 41.7%, lower than the rim's 64.4%, and is worth the same two points as a much easier rim shot -- no extra point the way a made three earns.
</a:t>
            </a:r>
            <a:pPr indent="0" marL="0">
              <a:lnSpc>
                <a:spcPct val="130000"/>
              </a:lnSpc>
              <a:buNone/>
            </a:pPr>
            <a:r>
              <a:rPr lang="en-US" sz="1500" b="1" dirty="0">
                <a:solidFill>
                  <a:srgbClr val="E4572E"/>
                </a:solidFill>
                <a:latin typeface="Calibri" pitchFamily="34" charset="0"/>
                <a:ea typeface="Calibri" pitchFamily="34" charset="-122"/>
                <a:cs typeface="Calibri" pitchFamily="34" charset="-120"/>
              </a:rPr>
              <a:t>The takeaway: </a:t>
            </a:r>
            <a:pPr indent="0" marL="0">
              <a:lnSpc>
                <a:spcPct val="130000"/>
              </a:lnSpc>
              <a:buNone/>
            </a:pPr>
            <a:r>
              <a:rPr lang="en-US" sz="1500" dirty="0">
                <a:solidFill>
                  <a:srgbClr val="16213E"/>
                </a:solidFill>
                <a:latin typeface="Calibri" pitchFamily="34" charset="0"/>
                <a:ea typeface="Calibri" pitchFamily="34" charset="-122"/>
                <a:cs typeface="Calibri" pitchFamily="34" charset="-120"/>
              </a:rPr>
              <a:t>a shot can have a perfectly respectable field goal percentage and still be a bad shot to take, once you account for what it is worth.</a:t>
            </a:r>
            <a:endParaRPr lang="en-US" sz="15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CONCEPT · SEGMENT 2</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700" b="1" dirty="0">
                <a:solidFill>
                  <a:srgbClr val="16213E"/>
                </a:solidFill>
                <a:latin typeface="Cambria" pitchFamily="34" charset="0"/>
                <a:ea typeface="Cambria" pitchFamily="34" charset="-122"/>
                <a:cs typeface="Cambria" pitchFamily="34" charset="-120"/>
              </a:rPr>
              <a:t>Field Goal Percentage Is Not the Whole Story</a:t>
            </a:r>
            <a:endParaRPr lang="en-US" sz="2700" dirty="0"/>
          </a:p>
        </p:txBody>
      </p:sp>
      <p:sp>
        <p:nvSpPr>
          <p:cNvPr id="4" name="Shape 2"/>
          <p:cNvSpPr/>
          <p:nvPr/>
        </p:nvSpPr>
        <p:spPr>
          <a:xfrm>
            <a:off x="548640" y="2103120"/>
            <a:ext cx="11091672" cy="1554480"/>
          </a:xfrm>
          <a:prstGeom prst="roundRect">
            <a:avLst>
              <a:gd name="adj" fmla="val 3529"/>
            </a:avLst>
          </a:prstGeom>
          <a:solidFill>
            <a:srgbClr val="EDF1F7"/>
          </a:solidFill>
          <a:ln/>
        </p:spPr>
      </p:sp>
      <p:sp>
        <p:nvSpPr>
          <p:cNvPr id="5" name="Text 3"/>
          <p:cNvSpPr txBox="1"/>
          <p:nvPr/>
        </p:nvSpPr>
        <p:spPr>
          <a:xfrm>
            <a:off x="914400" y="2377440"/>
            <a:ext cx="10360152" cy="1005840"/>
          </a:xfrm>
          <a:prstGeom prst="rect">
            <a:avLst/>
          </a:prstGeom>
          <a:noFill/>
          <a:ln/>
        </p:spPr>
        <p:txBody>
          <a:bodyPr wrap="square" lIns="0" tIns="0" rIns="0" bIns="0" rtlCol="0" anchor="ctr"/>
          <a:lstStyle/>
          <a:p>
            <a:pPr indent="0" marL="0">
              <a:lnSpc>
                <a:spcPct val="125000"/>
              </a:lnSpc>
              <a:buNone/>
            </a:pPr>
            <a:r>
              <a:rPr lang="en-US" sz="1600" dirty="0">
                <a:solidFill>
                  <a:srgbClr val="16213E"/>
                </a:solidFill>
                <a:latin typeface="Calibri" pitchFamily="34" charset="0"/>
                <a:ea typeface="Calibri" pitchFamily="34" charset="-122"/>
                <a:cs typeface="Calibri" pitchFamily="34" charset="-120"/>
              </a:rPr>
              <a:t>Points per shot (PPS) accounts for both whether a shot goes in and how many points it is worth when it does. A zone can have a lower field goal percentage than another zone and still be the better zone to shoot from, once the extra point from three is priced in.</a:t>
            </a:r>
            <a:endParaRPr lang="en-US" sz="1600" dirty="0"/>
          </a:p>
        </p:txBody>
      </p:sp>
      <p:sp>
        <p:nvSpPr>
          <p:cNvPr id="6" name="Text 4"/>
          <p:cNvSpPr txBox="1"/>
          <p:nvPr/>
        </p:nvSpPr>
        <p:spPr>
          <a:xfrm>
            <a:off x="548640" y="3931920"/>
            <a:ext cx="11091672" cy="914400"/>
          </a:xfrm>
          <a:prstGeom prst="rect">
            <a:avLst/>
          </a:prstGeom>
          <a:noFill/>
          <a:ln/>
        </p:spPr>
        <p:txBody>
          <a:bodyPr wrap="square" lIns="0" tIns="0" rIns="0" bIns="0" rtlCol="0" anchor="t"/>
          <a:lstStyle/>
          <a:p>
            <a:pPr indent="0" marL="0">
              <a:lnSpc>
                <a:spcPct val="125000"/>
              </a:lnSpc>
              <a:buNone/>
            </a:pPr>
            <a:r>
              <a:rPr lang="en-US" sz="1500" i="1" dirty="0">
                <a:solidFill>
                  <a:srgbClr val="27496D"/>
                </a:solidFill>
                <a:latin typeface="Calibri" pitchFamily="34" charset="0"/>
                <a:ea typeface="Calibri" pitchFamily="34" charset="-122"/>
                <a:cs typeface="Calibri" pitchFamily="34" charset="-120"/>
              </a:rPr>
              <a:t>PPS = FG% × points per make (2 or 3).</a:t>
            </a:r>
            <a:endParaRPr lang="en-US" sz="15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WORKED EXAMPLE, STEP 5</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600" b="1" dirty="0">
                <a:solidFill>
                  <a:srgbClr val="16213E"/>
                </a:solidFill>
                <a:latin typeface="Cambria" pitchFamily="34" charset="0"/>
                <a:ea typeface="Cambria" pitchFamily="34" charset="-122"/>
                <a:cs typeface="Cambria" pitchFamily="34" charset="-120"/>
              </a:rPr>
              <a:t>Points Per Shot, Rim vs. Long Two vs. Three</a:t>
            </a:r>
            <a:endParaRPr lang="en-US" sz="26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48640" y="2011680"/>
          <a:ext cx="11091672" cy="2011680"/>
        </p:xfrm>
        <a:graphic>
          <a:graphicData uri="http://schemas.openxmlformats.org/drawingml/2006/table">
            <a:tbl>
              <a:tblPr/>
              <a:tblGrid>
                <a:gridCol w="4050792"/>
                <a:gridCol w="2286000"/>
                <a:gridCol w="2377440"/>
                <a:gridCol w="2377440"/>
              </a:tblGrid>
              <a:tr h="502920">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Zone</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7496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FG%</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7496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Points Per Make</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7496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Points Per Shot</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7496D"/>
                    </a:solidFill>
                  </a:tcPr>
                </a:tc>
              </a:tr>
              <a:tr h="502920">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Rim (0-4 ft)</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64.4%</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2</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1.29</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r>
              <a:tr h="502920">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Long Two (15-21 ft)</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41.7%</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2</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0.83</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r>
              <a:tr h="502920">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Three (22+ ft)</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37.5%</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3</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1.13</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5" name="Text 2"/>
          <p:cNvSpPr txBox="1"/>
          <p:nvPr/>
        </p:nvSpPr>
        <p:spPr>
          <a:xfrm>
            <a:off x="548640" y="4389120"/>
            <a:ext cx="11091672" cy="914400"/>
          </a:xfrm>
          <a:prstGeom prst="rect">
            <a:avLst/>
          </a:prstGeom>
          <a:noFill/>
          <a:ln/>
        </p:spPr>
        <p:txBody>
          <a:bodyPr wrap="square" lIns="0" tIns="0" rIns="0" bIns="0" rtlCol="0" anchor="t"/>
          <a:lstStyle/>
          <a:p>
            <a:pPr indent="0" marL="0">
              <a:lnSpc>
                <a:spcPct val="125000"/>
              </a:lnSpc>
              <a:buNone/>
            </a:pPr>
            <a:r>
              <a:rPr lang="en-US" sz="1400" dirty="0">
                <a:solidFill>
                  <a:srgbClr val="27496D"/>
                </a:solidFill>
                <a:latin typeface="Calibri" pitchFamily="34" charset="0"/>
                <a:ea typeface="Calibri" pitchFamily="34" charset="-122"/>
                <a:cs typeface="Calibri" pitchFamily="34" charset="-120"/>
              </a:rPr>
              <a:t>Even with the lowest field goal percentage of the three, the three-point shot beats the long two on real expected value.</a:t>
            </a:r>
            <a:endParaRPr lang="en-US" sz="1400" dirty="0"/>
          </a:p>
        </p:txBody>
      </p:sp>
      <p:sp>
        <p:nvSpPr>
          <p:cNvPr id="6" name="Text 3"/>
          <p:cNvSpPr txBox="1"/>
          <p:nvPr/>
        </p:nvSpPr>
        <p:spPr>
          <a:xfrm>
            <a:off x="548640" y="6355080"/>
            <a:ext cx="11091672" cy="365760"/>
          </a:xfrm>
          <a:prstGeom prst="rect">
            <a:avLst/>
          </a:prstGeom>
          <a:noFill/>
          <a:ln/>
        </p:spPr>
        <p:txBody>
          <a:bodyPr wrap="square" lIns="0" tIns="0" rIns="0" bIns="0" rtlCol="0" anchor="ctr"/>
          <a:lstStyle/>
          <a:p>
            <a:pPr indent="0" marL="0">
              <a:buNone/>
            </a:pPr>
            <a:r>
              <a:rPr lang="en-US" sz="1000" dirty="0">
                <a:solidFill>
                  <a:srgbClr val="6B7A99"/>
                </a:solidFill>
                <a:latin typeface="Calibri" pitchFamily="34" charset="0"/>
                <a:ea typeface="Calibri" pitchFamily="34" charset="-122"/>
                <a:cs typeface="Calibri" pitchFamily="34" charset="-120"/>
              </a:rPr>
              <a:t>Points per shot computed from the zone table, PbP.BDB, Golden State's real 2017-18 regular season.</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B1D33"/>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LET'S WATCH THIS TOGETHER</a:t>
            </a:r>
            <a:endParaRPr lang="en-US" sz="1300" dirty="0"/>
          </a:p>
        </p:txBody>
      </p:sp>
      <p:sp>
        <p:nvSpPr>
          <p:cNvPr id="3" name="Text 1"/>
          <p:cNvSpPr txBox="1"/>
          <p:nvPr/>
        </p:nvSpPr>
        <p:spPr>
          <a:xfrm>
            <a:off x="548640" y="1554480"/>
            <a:ext cx="11091672" cy="109728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Seeing a Three-Heavy Attack in Real Game Footage</a:t>
            </a:r>
            <a:endParaRPr lang="en-US" sz="2800" dirty="0"/>
          </a:p>
        </p:txBody>
      </p:sp>
      <p:sp>
        <p:nvSpPr>
          <p:cNvPr id="4" name="Shape 2"/>
          <p:cNvSpPr/>
          <p:nvPr/>
        </p:nvSpPr>
        <p:spPr>
          <a:xfrm>
            <a:off x="548640" y="2834640"/>
            <a:ext cx="11091672" cy="1737360"/>
          </a:xfrm>
          <a:prstGeom prst="roundRect">
            <a:avLst>
              <a:gd name="adj" fmla="val 3158"/>
            </a:avLst>
          </a:prstGeom>
          <a:solidFill>
            <a:srgbClr val="16213E"/>
          </a:solidFill>
          <a:ln/>
        </p:spPr>
      </p:sp>
      <p:sp>
        <p:nvSpPr>
          <p:cNvPr id="5" name="Shape 3"/>
          <p:cNvSpPr/>
          <p:nvPr/>
        </p:nvSpPr>
        <p:spPr>
          <a:xfrm>
            <a:off x="1005840" y="3246120"/>
            <a:ext cx="914400" cy="914400"/>
          </a:xfrm>
          <a:prstGeom prst="ellipse">
            <a:avLst/>
          </a:prstGeom>
          <a:solidFill>
            <a:srgbClr val="E4572E"/>
          </a:solidFill>
          <a:ln/>
        </p:spPr>
      </p:sp>
      <p:sp>
        <p:nvSpPr>
          <p:cNvPr id="6" name="Text 4"/>
          <p:cNvSpPr txBox="1"/>
          <p:nvPr/>
        </p:nvSpPr>
        <p:spPr>
          <a:xfrm>
            <a:off x="1005840" y="3246120"/>
            <a:ext cx="914400" cy="914400"/>
          </a:xfrm>
          <a:prstGeom prst="rect">
            <a:avLst/>
          </a:prstGeom>
          <a:noFill/>
          <a:ln/>
        </p:spPr>
        <p:txBody>
          <a:bodyPr wrap="square" lIns="0" tIns="0" rIns="0" bIns="0" rtlCol="0" anchor="ctr"/>
          <a:lstStyle/>
          <a:p>
            <a:pPr algn="ctr" indent="0" marL="0">
              <a:buNone/>
            </a:pPr>
            <a:r>
              <a:rPr lang="en-US" sz="3000" dirty="0">
                <a:solidFill>
                  <a:srgbClr val="FFFFFF"/>
                </a:solidFill>
                <a:latin typeface="Calibri" pitchFamily="34" charset="0"/>
                <a:ea typeface="Calibri" pitchFamily="34" charset="-122"/>
                <a:cs typeface="Calibri" pitchFamily="34" charset="-120"/>
              </a:rPr>
              <a:t>▶</a:t>
            </a:r>
            <a:endParaRPr lang="en-US" sz="3000" dirty="0"/>
          </a:p>
        </p:txBody>
      </p:sp>
      <p:sp>
        <p:nvSpPr>
          <p:cNvPr id="7" name="Text 5"/>
          <p:cNvSpPr txBox="1"/>
          <p:nvPr/>
        </p:nvSpPr>
        <p:spPr>
          <a:xfrm>
            <a:off x="2194560" y="3063240"/>
            <a:ext cx="9262872" cy="82296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"Stephen Curry Full Game 1 Highlights vs Cavaliers, 2018 NBA Finals -- 29 Pts, 9 Ast, CLUTCH!" (YouTube)</a:t>
            </a:r>
            <a:endParaRPr lang="en-US" sz="1800" dirty="0"/>
          </a:p>
        </p:txBody>
      </p:sp>
      <p:sp>
        <p:nvSpPr>
          <p:cNvPr id="8" name="Text 6"/>
          <p:cNvSpPr txBox="1"/>
          <p:nvPr/>
        </p:nvSpPr>
        <p:spPr>
          <a:xfrm>
            <a:off x="2194560" y="3794760"/>
            <a:ext cx="9262872" cy="640080"/>
          </a:xfrm>
          <a:prstGeom prst="rect">
            <a:avLst/>
          </a:prstGeom>
          <a:noFill/>
          <a:ln/>
        </p:spPr>
        <p:txBody>
          <a:bodyPr wrap="square" lIns="0" tIns="0" rIns="0" bIns="0" rtlCol="0" anchor="ctr"/>
          <a:lstStyle/>
          <a:p>
            <a:pPr indent="0" marL="0">
              <a:buNone/>
            </a:pPr>
            <a:r>
              <a:rPr lang="en-US" sz="1300" dirty="0">
                <a:solidFill>
                  <a:srgbClr val="AEBBD1"/>
                </a:solidFill>
                <a:latin typeface="Calibri" pitchFamily="34" charset="0"/>
                <a:ea typeface="Calibri" pitchFamily="34" charset="-122"/>
                <a:cs typeface="Calibri" pitchFamily="34" charset="-120"/>
              </a:rPr>
              <a:t>Real footage from the same Golden State roster this module's real regular-season data comes from. Watch for how many of Golden State's shots come from the rim or from three.</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B1D33"/>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CONCEPT · SEGMENT 2</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"Moreyball": A Real Shot-Selection Strategy</a:t>
            </a:r>
            <a:endParaRPr lang="en-US" sz="2800" dirty="0"/>
          </a:p>
        </p:txBody>
      </p:sp>
      <p:sp>
        <p:nvSpPr>
          <p:cNvPr id="4" name="Shape 2"/>
          <p:cNvSpPr/>
          <p:nvPr/>
        </p:nvSpPr>
        <p:spPr>
          <a:xfrm>
            <a:off x="548640" y="2103120"/>
            <a:ext cx="11091672" cy="3108960"/>
          </a:xfrm>
          <a:prstGeom prst="roundRect">
            <a:avLst>
              <a:gd name="adj" fmla="val 1765"/>
            </a:avLst>
          </a:prstGeom>
          <a:solidFill>
            <a:srgbClr val="27496D"/>
          </a:solidFill>
          <a:ln/>
        </p:spPr>
      </p:sp>
      <p:sp>
        <p:nvSpPr>
          <p:cNvPr id="5" name="Text 3"/>
          <p:cNvSpPr txBox="1"/>
          <p:nvPr/>
        </p:nvSpPr>
        <p:spPr>
          <a:xfrm>
            <a:off x="914400" y="2377440"/>
            <a:ext cx="10360152" cy="2743200"/>
          </a:xfrm>
          <a:prstGeom prst="rect">
            <a:avLst/>
          </a:prstGeom>
          <a:noFill/>
          <a:ln/>
        </p:spPr>
        <p:txBody>
          <a:bodyPr wrap="square" lIns="0" tIns="0" rIns="0" bIns="0" rtlCol="0" anchor="ctr"/>
          <a:lstStyle/>
          <a:p>
            <a:pPr indent="0" marL="0">
              <a:lnSpc>
                <a:spcPct val="135000"/>
              </a:lnSpc>
              <a:buNone/>
            </a:pPr>
            <a:r>
              <a:rPr lang="en-US" sz="1600" dirty="0">
                <a:solidFill>
                  <a:srgbClr val="FFFFFF"/>
                </a:solidFill>
                <a:latin typeface="Calibri" pitchFamily="34" charset="0"/>
                <a:ea typeface="Calibri" pitchFamily="34" charset="-122"/>
                <a:cs typeface="Calibri" pitchFamily="34" charset="-120"/>
              </a:rPr>
              <a:t>Houston Rockets general manager Daryl Morey built his roster and offense around one real, data-driven principle: take shots at the rim or from three, and avoid the long two whenever a better option exists. Reporters and fans nicknamed this "Moreyball." It is not just a nickname -- it is a real, testable shot-selection pattern, and this module's zone tables let us test it directly.</a:t>
            </a:r>
            <a:endParaRPr lang="en-US" sz="16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27496D"/>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FFFFFF"/>
                </a:solidFill>
                <a:latin typeface="Calibri" pitchFamily="34" charset="0"/>
                <a:ea typeface="Calibri" pitchFamily="34" charset="-122"/>
                <a:cs typeface="Calibri" pitchFamily="34" charset="-120"/>
              </a:rPr>
              <a:t>LET'S RUN THIS TOGETHER</a:t>
            </a:r>
            <a:endParaRPr lang="en-US" sz="1300" dirty="0"/>
          </a:p>
        </p:txBody>
      </p:sp>
      <p:sp>
        <p:nvSpPr>
          <p:cNvPr id="3" name="Text 1"/>
          <p:cNvSpPr txBox="1"/>
          <p:nvPr/>
        </p:nvSpPr>
        <p:spPr>
          <a:xfrm>
            <a:off x="548640" y="2377440"/>
            <a:ext cx="11091672" cy="14630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Let's test Moreyball on two real teams together.</a:t>
            </a:r>
            <a:endParaRPr lang="en-US" sz="3000" dirty="0"/>
          </a:p>
        </p:txBody>
      </p:sp>
      <p:sp>
        <p:nvSpPr>
          <p:cNvPr id="4" name="Text 2"/>
          <p:cNvSpPr txBox="1"/>
          <p:nvPr/>
        </p:nvSpPr>
        <p:spPr>
          <a:xfrm>
            <a:off x="548640" y="3931920"/>
            <a:ext cx="11091672" cy="54864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Pull up your own session. We'll run it line by line and look at the real output together.</a:t>
            </a:r>
            <a:endParaRPr lang="en-US" sz="16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WORKED EXAMPLE, STEP 6</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600" b="1" dirty="0">
                <a:solidFill>
                  <a:srgbClr val="16213E"/>
                </a:solidFill>
                <a:latin typeface="Cambria" pitchFamily="34" charset="0"/>
                <a:ea typeface="Cambria" pitchFamily="34" charset="-122"/>
                <a:cs typeface="Cambria" pitchFamily="34" charset="-120"/>
              </a:rPr>
              <a:t>Two Real Teams, Zone by Zone</a:t>
            </a:r>
            <a:endParaRPr lang="en-US" sz="26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548640" y="2011680"/>
          <a:ext cx="11091672" cy="2560320"/>
        </p:xfrm>
        <a:graphic>
          <a:graphicData uri="http://schemas.openxmlformats.org/drawingml/2006/table">
            <a:tbl>
              <a:tblPr/>
              <a:tblGrid>
                <a:gridCol w="2862072"/>
                <a:gridCol w="2286000"/>
                <a:gridCol w="2103120"/>
                <a:gridCol w="2103120"/>
                <a:gridCol w="1737360"/>
              </a:tblGrid>
              <a:tr h="512064">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Zone</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7496D"/>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HOU Share</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7496D"/>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HOU FG%</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7496D"/>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CLE Share</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7496D"/>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CLE FG%</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7496D"/>
                    </a:solidFill>
                  </a:tcPr>
                </a:tc>
              </a:tr>
              <a:tr h="512064">
                <a:tc>
                  <a:txBody>
                    <a:bodyPr/>
                    <a:lstStyle/>
                    <a:p>
                      <a:pPr algn="ctr" indent="0" marL="0">
                        <a:buNone/>
                      </a:pPr>
                      <a:r>
                        <a:rPr lang="en-US" sz="1300" dirty="0">
                          <a:solidFill>
                            <a:srgbClr val="16213E"/>
                          </a:solidFill>
                          <a:latin typeface="Calibri" pitchFamily="34" charset="0"/>
                          <a:ea typeface="Calibri" pitchFamily="34" charset="-122"/>
                          <a:cs typeface="Calibri" pitchFamily="34" charset="-120"/>
                        </a:rPr>
                        <a:t>Rim</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300" dirty="0">
                          <a:solidFill>
                            <a:srgbClr val="16213E"/>
                          </a:solidFill>
                          <a:latin typeface="Calibri" pitchFamily="34" charset="0"/>
                          <a:ea typeface="Calibri" pitchFamily="34" charset="-122"/>
                          <a:cs typeface="Calibri" pitchFamily="34" charset="-120"/>
                        </a:rPr>
                        <a:t>35.5%</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300" dirty="0">
                          <a:solidFill>
                            <a:srgbClr val="16213E"/>
                          </a:solidFill>
                          <a:latin typeface="Calibri" pitchFamily="34" charset="0"/>
                          <a:ea typeface="Calibri" pitchFamily="34" charset="-122"/>
                          <a:cs typeface="Calibri" pitchFamily="34" charset="-120"/>
                        </a:rPr>
                        <a:t>67.0%</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300" dirty="0">
                          <a:solidFill>
                            <a:srgbClr val="16213E"/>
                          </a:solidFill>
                          <a:latin typeface="Calibri" pitchFamily="34" charset="0"/>
                          <a:ea typeface="Calibri" pitchFamily="34" charset="-122"/>
                          <a:cs typeface="Calibri" pitchFamily="34" charset="-120"/>
                        </a:rPr>
                        <a:t>28.6%</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300" dirty="0">
                          <a:solidFill>
                            <a:srgbClr val="16213E"/>
                          </a:solidFill>
                          <a:latin typeface="Calibri" pitchFamily="34" charset="0"/>
                          <a:ea typeface="Calibri" pitchFamily="34" charset="-122"/>
                          <a:cs typeface="Calibri" pitchFamily="34" charset="-120"/>
                        </a:rPr>
                        <a:t>53.8%</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r>
              <a:tr h="512064">
                <a:tc>
                  <a:txBody>
                    <a:bodyPr/>
                    <a:lstStyle/>
                    <a:p>
                      <a:pPr algn="ctr" indent="0" marL="0">
                        <a:buNone/>
                      </a:pPr>
                      <a:r>
                        <a:rPr lang="en-US" sz="1300" dirty="0">
                          <a:solidFill>
                            <a:srgbClr val="16213E"/>
                          </a:solidFill>
                          <a:latin typeface="Calibri" pitchFamily="34" charset="0"/>
                          <a:ea typeface="Calibri" pitchFamily="34" charset="-122"/>
                          <a:cs typeface="Calibri" pitchFamily="34" charset="-120"/>
                        </a:rPr>
                        <a:t>Short/Mid</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c>
                  <a:txBody>
                    <a:bodyPr/>
                    <a:lstStyle/>
                    <a:p>
                      <a:pPr algn="ctr" indent="0" marL="0">
                        <a:buNone/>
                      </a:pPr>
                      <a:r>
                        <a:rPr lang="en-US" sz="1300" dirty="0">
                          <a:solidFill>
                            <a:srgbClr val="16213E"/>
                          </a:solidFill>
                          <a:latin typeface="Calibri" pitchFamily="34" charset="0"/>
                          <a:ea typeface="Calibri" pitchFamily="34" charset="-122"/>
                          <a:cs typeface="Calibri" pitchFamily="34" charset="-120"/>
                        </a:rPr>
                        <a:t>10.6%</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c>
                  <a:txBody>
                    <a:bodyPr/>
                    <a:lstStyle/>
                    <a:p>
                      <a:pPr algn="ctr" indent="0" marL="0">
                        <a:buNone/>
                      </a:pPr>
                      <a:r>
                        <a:rPr lang="en-US" sz="1300" dirty="0">
                          <a:solidFill>
                            <a:srgbClr val="16213E"/>
                          </a:solidFill>
                          <a:latin typeface="Calibri" pitchFamily="34" charset="0"/>
                          <a:ea typeface="Calibri" pitchFamily="34" charset="-122"/>
                          <a:cs typeface="Calibri" pitchFamily="34" charset="-120"/>
                        </a:rPr>
                        <a:t>37.9%</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c>
                  <a:txBody>
                    <a:bodyPr/>
                    <a:lstStyle/>
                    <a:p>
                      <a:pPr algn="ctr" indent="0" marL="0">
                        <a:buNone/>
                      </a:pPr>
                      <a:r>
                        <a:rPr lang="en-US" sz="1300" dirty="0">
                          <a:solidFill>
                            <a:srgbClr val="16213E"/>
                          </a:solidFill>
                          <a:latin typeface="Calibri" pitchFamily="34" charset="0"/>
                          <a:ea typeface="Calibri" pitchFamily="34" charset="-122"/>
                          <a:cs typeface="Calibri" pitchFamily="34" charset="-120"/>
                        </a:rPr>
                        <a:t>22.5%</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c>
                  <a:txBody>
                    <a:bodyPr/>
                    <a:lstStyle/>
                    <a:p>
                      <a:pPr algn="ctr" indent="0" marL="0">
                        <a:buNone/>
                      </a:pPr>
                      <a:r>
                        <a:rPr lang="en-US" sz="1300" dirty="0">
                          <a:solidFill>
                            <a:srgbClr val="16213E"/>
                          </a:solidFill>
                          <a:latin typeface="Calibri" pitchFamily="34" charset="0"/>
                          <a:ea typeface="Calibri" pitchFamily="34" charset="-122"/>
                          <a:cs typeface="Calibri" pitchFamily="34" charset="-120"/>
                        </a:rPr>
                        <a:t>34.1%</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r>
              <a:tr h="512064">
                <a:tc>
                  <a:txBody>
                    <a:bodyPr/>
                    <a:lstStyle/>
                    <a:p>
                      <a:pPr algn="ctr" indent="0" marL="0">
                        <a:buNone/>
                      </a:pPr>
                      <a:r>
                        <a:rPr lang="en-US" sz="1300" dirty="0">
                          <a:solidFill>
                            <a:srgbClr val="16213E"/>
                          </a:solidFill>
                          <a:latin typeface="Calibri" pitchFamily="34" charset="0"/>
                          <a:ea typeface="Calibri" pitchFamily="34" charset="-122"/>
                          <a:cs typeface="Calibri" pitchFamily="34" charset="-120"/>
                        </a:rPr>
                        <a:t>Long Two</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300" dirty="0">
                          <a:solidFill>
                            <a:srgbClr val="16213E"/>
                          </a:solidFill>
                          <a:latin typeface="Calibri" pitchFamily="34" charset="0"/>
                          <a:ea typeface="Calibri" pitchFamily="34" charset="-122"/>
                          <a:cs typeface="Calibri" pitchFamily="34" charset="-120"/>
                        </a:rPr>
                        <a:t>6.2%</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300" dirty="0">
                          <a:solidFill>
                            <a:srgbClr val="16213E"/>
                          </a:solidFill>
                          <a:latin typeface="Calibri" pitchFamily="34" charset="0"/>
                          <a:ea typeface="Calibri" pitchFamily="34" charset="-122"/>
                          <a:cs typeface="Calibri" pitchFamily="34" charset="-120"/>
                        </a:rPr>
                        <a:t>47.1%</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300" dirty="0">
                          <a:solidFill>
                            <a:srgbClr val="16213E"/>
                          </a:solidFill>
                          <a:latin typeface="Calibri" pitchFamily="34" charset="0"/>
                          <a:ea typeface="Calibri" pitchFamily="34" charset="-122"/>
                          <a:cs typeface="Calibri" pitchFamily="34" charset="-120"/>
                        </a:rPr>
                        <a:t>11.5%</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300" dirty="0">
                          <a:solidFill>
                            <a:srgbClr val="16213E"/>
                          </a:solidFill>
                          <a:latin typeface="Calibri" pitchFamily="34" charset="0"/>
                          <a:ea typeface="Calibri" pitchFamily="34" charset="-122"/>
                          <a:cs typeface="Calibri" pitchFamily="34" charset="-120"/>
                        </a:rPr>
                        <a:t>19.0%</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r>
              <a:tr h="512064">
                <a:tc>
                  <a:txBody>
                    <a:bodyPr/>
                    <a:lstStyle/>
                    <a:p>
                      <a:pPr algn="ctr" indent="0" marL="0">
                        <a:buNone/>
                      </a:pPr>
                      <a:r>
                        <a:rPr lang="en-US" sz="1300" dirty="0">
                          <a:solidFill>
                            <a:srgbClr val="16213E"/>
                          </a:solidFill>
                          <a:latin typeface="Calibri" pitchFamily="34" charset="0"/>
                          <a:ea typeface="Calibri" pitchFamily="34" charset="-122"/>
                          <a:cs typeface="Calibri" pitchFamily="34" charset="-120"/>
                        </a:rPr>
                        <a:t>Three</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c>
                  <a:txBody>
                    <a:bodyPr/>
                    <a:lstStyle/>
                    <a:p>
                      <a:pPr algn="ctr" indent="0" marL="0">
                        <a:buNone/>
                      </a:pPr>
                      <a:r>
                        <a:rPr lang="en-US" sz="1300" dirty="0">
                          <a:solidFill>
                            <a:srgbClr val="16213E"/>
                          </a:solidFill>
                          <a:latin typeface="Calibri" pitchFamily="34" charset="0"/>
                          <a:ea typeface="Calibri" pitchFamily="34" charset="-122"/>
                          <a:cs typeface="Calibri" pitchFamily="34" charset="-120"/>
                        </a:rPr>
                        <a:t>47.6%</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c>
                  <a:txBody>
                    <a:bodyPr/>
                    <a:lstStyle/>
                    <a:p>
                      <a:pPr algn="ctr" indent="0" marL="0">
                        <a:buNone/>
                      </a:pPr>
                      <a:r>
                        <a:rPr lang="en-US" sz="1300" dirty="0">
                          <a:solidFill>
                            <a:srgbClr val="16213E"/>
                          </a:solidFill>
                          <a:latin typeface="Calibri" pitchFamily="34" charset="0"/>
                          <a:ea typeface="Calibri" pitchFamily="34" charset="-122"/>
                          <a:cs typeface="Calibri" pitchFamily="34" charset="-120"/>
                        </a:rPr>
                        <a:t>35.4%</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c>
                  <a:txBody>
                    <a:bodyPr/>
                    <a:lstStyle/>
                    <a:p>
                      <a:pPr algn="ctr" indent="0" marL="0">
                        <a:buNone/>
                      </a:pPr>
                      <a:r>
                        <a:rPr lang="en-US" sz="1300" dirty="0">
                          <a:solidFill>
                            <a:srgbClr val="16213E"/>
                          </a:solidFill>
                          <a:latin typeface="Calibri" pitchFamily="34" charset="0"/>
                          <a:ea typeface="Calibri" pitchFamily="34" charset="-122"/>
                          <a:cs typeface="Calibri" pitchFamily="34" charset="-120"/>
                        </a:rPr>
                        <a:t>37.4%</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c>
                  <a:txBody>
                    <a:bodyPr/>
                    <a:lstStyle/>
                    <a:p>
                      <a:pPr algn="ctr" indent="0" marL="0">
                        <a:buNone/>
                      </a:pPr>
                      <a:r>
                        <a:rPr lang="en-US" sz="1300" dirty="0">
                          <a:solidFill>
                            <a:srgbClr val="16213E"/>
                          </a:solidFill>
                          <a:latin typeface="Calibri" pitchFamily="34" charset="0"/>
                          <a:ea typeface="Calibri" pitchFamily="34" charset="-122"/>
                          <a:cs typeface="Calibri" pitchFamily="34" charset="-120"/>
                        </a:rPr>
                        <a:t>36.8%</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r>
            </a:tbl>
          </a:graphicData>
        </a:graphic>
      </p:graphicFrame>
      <p:sp>
        <p:nvSpPr>
          <p:cNvPr id="5" name="Text 2"/>
          <p:cNvSpPr txBox="1"/>
          <p:nvPr/>
        </p:nvSpPr>
        <p:spPr>
          <a:xfrm>
            <a:off x="548640" y="6355080"/>
            <a:ext cx="11091672" cy="365760"/>
          </a:xfrm>
          <a:prstGeom prst="rect">
            <a:avLst/>
          </a:prstGeom>
          <a:noFill/>
          <a:ln/>
        </p:spPr>
        <p:txBody>
          <a:bodyPr wrap="square" lIns="0" tIns="0" rIns="0" bIns="0" rtlCol="0" anchor="ctr"/>
          <a:lstStyle/>
          <a:p>
            <a:pPr indent="0" marL="0">
              <a:buNone/>
            </a:pPr>
            <a:r>
              <a:rPr lang="en-US" sz="1000" dirty="0">
                <a:solidFill>
                  <a:srgbClr val="6B7A99"/>
                </a:solidFill>
                <a:latin typeface="Calibri" pitchFamily="34" charset="0"/>
                <a:ea typeface="Calibri" pitchFamily="34" charset="-122"/>
                <a:cs typeface="Calibri" pitchFamily="34" charset="-120"/>
              </a:rPr>
              <a:t>Data: PbP.BDB, Golden State's real 2017-18 regular season. Houston Rockets (273 real attempts) vs. Cleveland Cavaliers (each team's own real games against Golden State).</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CONCEPT · READING THE REAL NUMBERS</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Moreyball, Confirmed by the Real Data</a:t>
            </a:r>
            <a:endParaRPr lang="en-US" sz="2800" dirty="0"/>
          </a:p>
        </p:txBody>
      </p:sp>
      <p:sp>
        <p:nvSpPr>
          <p:cNvPr id="4" name="Shape 2"/>
          <p:cNvSpPr/>
          <p:nvPr/>
        </p:nvSpPr>
        <p:spPr>
          <a:xfrm>
            <a:off x="548640" y="2103120"/>
            <a:ext cx="5362956" cy="3017520"/>
          </a:xfrm>
          <a:prstGeom prst="roundRect">
            <a:avLst>
              <a:gd name="adj" fmla="val 1818"/>
            </a:avLst>
          </a:prstGeom>
          <a:solidFill>
            <a:srgbClr val="E4572E"/>
          </a:solidFill>
          <a:ln/>
        </p:spPr>
      </p:sp>
      <p:sp>
        <p:nvSpPr>
          <p:cNvPr id="5" name="Text 3"/>
          <p:cNvSpPr txBox="1"/>
          <p:nvPr/>
        </p:nvSpPr>
        <p:spPr>
          <a:xfrm>
            <a:off x="548640" y="2468880"/>
            <a:ext cx="5362956" cy="1005840"/>
          </a:xfrm>
          <a:prstGeom prst="rect">
            <a:avLst/>
          </a:prstGeom>
          <a:noFill/>
          <a:ln/>
        </p:spPr>
        <p:txBody>
          <a:bodyPr wrap="square" lIns="0" tIns="0" rIns="0" bIns="0" rtlCol="0" anchor="ctr"/>
          <a:lstStyle/>
          <a:p>
            <a:pPr algn="ctr" indent="0" marL="0">
              <a:buNone/>
            </a:pPr>
            <a:r>
              <a:rPr lang="en-US" sz="4600" b="1" dirty="0">
                <a:solidFill>
                  <a:srgbClr val="FFFFFF"/>
                </a:solidFill>
                <a:latin typeface="Cambria" pitchFamily="34" charset="0"/>
                <a:ea typeface="Cambria" pitchFamily="34" charset="-122"/>
                <a:cs typeface="Cambria" pitchFamily="34" charset="-120"/>
              </a:rPr>
              <a:t>82.2%</a:t>
            </a:r>
            <a:endParaRPr lang="en-US" sz="4600" dirty="0"/>
          </a:p>
        </p:txBody>
      </p:sp>
      <p:sp>
        <p:nvSpPr>
          <p:cNvPr id="6" name="Text 4"/>
          <p:cNvSpPr txBox="1"/>
          <p:nvPr/>
        </p:nvSpPr>
        <p:spPr>
          <a:xfrm>
            <a:off x="822960" y="3520440"/>
            <a:ext cx="4814316" cy="1188720"/>
          </a:xfrm>
          <a:prstGeom prst="rect">
            <a:avLst/>
          </a:prstGeom>
          <a:noFill/>
          <a:ln/>
        </p:spPr>
        <p:txBody>
          <a:bodyPr wrap="square" lIns="0" tIns="0" rIns="0" bIns="0" rtlCol="0" anchor="ctr"/>
          <a:lstStyle/>
          <a:p>
            <a:pPr algn="ctr" indent="0" marL="0">
              <a:lnSpc>
                <a:spcPct val="130000"/>
              </a:lnSpc>
              <a:buNone/>
            </a:pPr>
            <a:r>
              <a:rPr lang="en-US" sz="1400" dirty="0">
                <a:solidFill>
                  <a:srgbClr val="FFFFFF"/>
                </a:solidFill>
                <a:latin typeface="Calibri" pitchFamily="34" charset="0"/>
                <a:ea typeface="Calibri" pitchFamily="34" charset="-122"/>
                <a:cs typeface="Calibri" pitchFamily="34" charset="-120"/>
              </a:rPr>
              <a:t>of Houston's real shots came</a:t>
            </a:r>
            <a:endParaRPr lang="en-US" sz="1400" dirty="0"/>
          </a:p>
          <a:p>
            <a:pPr algn="ctr" indent="0" marL="0">
              <a:lnSpc>
                <a:spcPct val="130000"/>
              </a:lnSpc>
              <a:buNone/>
            </a:pPr>
            <a:r>
              <a:rPr lang="en-US" sz="1400" dirty="0">
                <a:solidFill>
                  <a:srgbClr val="FFFFFF"/>
                </a:solidFill>
                <a:latin typeface="Calibri" pitchFamily="34" charset="0"/>
                <a:ea typeface="Calibri" pitchFamily="34" charset="-122"/>
                <a:cs typeface="Calibri" pitchFamily="34" charset="-120"/>
              </a:rPr>
              <a:t>from the rim or from three</a:t>
            </a:r>
            <a:endParaRPr lang="en-US" sz="1400" dirty="0"/>
          </a:p>
        </p:txBody>
      </p:sp>
      <p:sp>
        <p:nvSpPr>
          <p:cNvPr id="7" name="Shape 5"/>
          <p:cNvSpPr/>
          <p:nvPr/>
        </p:nvSpPr>
        <p:spPr>
          <a:xfrm>
            <a:off x="6277356" y="2103120"/>
            <a:ext cx="5362956" cy="3017520"/>
          </a:xfrm>
          <a:prstGeom prst="roundRect">
            <a:avLst>
              <a:gd name="adj" fmla="val 1818"/>
            </a:avLst>
          </a:prstGeom>
          <a:solidFill>
            <a:srgbClr val="27496D"/>
          </a:solidFill>
          <a:ln/>
        </p:spPr>
      </p:sp>
      <p:sp>
        <p:nvSpPr>
          <p:cNvPr id="8" name="Text 6"/>
          <p:cNvSpPr txBox="1"/>
          <p:nvPr/>
        </p:nvSpPr>
        <p:spPr>
          <a:xfrm>
            <a:off x="6277356" y="2468880"/>
            <a:ext cx="5362956" cy="1005840"/>
          </a:xfrm>
          <a:prstGeom prst="rect">
            <a:avLst/>
          </a:prstGeom>
          <a:noFill/>
          <a:ln/>
        </p:spPr>
        <p:txBody>
          <a:bodyPr wrap="square" lIns="0" tIns="0" rIns="0" bIns="0" rtlCol="0" anchor="ctr"/>
          <a:lstStyle/>
          <a:p>
            <a:pPr algn="ctr" indent="0" marL="0">
              <a:buNone/>
            </a:pPr>
            <a:r>
              <a:rPr lang="en-US" sz="4600" b="1" dirty="0">
                <a:solidFill>
                  <a:srgbClr val="FFFFFF"/>
                </a:solidFill>
                <a:latin typeface="Cambria" pitchFamily="34" charset="0"/>
                <a:ea typeface="Cambria" pitchFamily="34" charset="-122"/>
                <a:cs typeface="Cambria" pitchFamily="34" charset="-120"/>
              </a:rPr>
              <a:t>66.0%</a:t>
            </a:r>
            <a:endParaRPr lang="en-US" sz="4600" dirty="0"/>
          </a:p>
        </p:txBody>
      </p:sp>
      <p:sp>
        <p:nvSpPr>
          <p:cNvPr id="9" name="Text 7"/>
          <p:cNvSpPr txBox="1"/>
          <p:nvPr/>
        </p:nvSpPr>
        <p:spPr>
          <a:xfrm>
            <a:off x="6551676" y="3520440"/>
            <a:ext cx="4814316" cy="1188720"/>
          </a:xfrm>
          <a:prstGeom prst="rect">
            <a:avLst/>
          </a:prstGeom>
          <a:noFill/>
          <a:ln/>
        </p:spPr>
        <p:txBody>
          <a:bodyPr wrap="square" lIns="0" tIns="0" rIns="0" bIns="0" rtlCol="0" anchor="ctr"/>
          <a:lstStyle/>
          <a:p>
            <a:pPr algn="ctr" indent="0" marL="0">
              <a:lnSpc>
                <a:spcPct val="130000"/>
              </a:lnSpc>
              <a:buNone/>
            </a:pPr>
            <a:r>
              <a:rPr lang="en-US" sz="1400" dirty="0">
                <a:solidFill>
                  <a:srgbClr val="FFFFFF"/>
                </a:solidFill>
                <a:latin typeface="Calibri" pitchFamily="34" charset="0"/>
                <a:ea typeface="Calibri" pitchFamily="34" charset="-122"/>
                <a:cs typeface="Calibri" pitchFamily="34" charset="-120"/>
              </a:rPr>
              <a:t>of Cleveland's real shots came</a:t>
            </a:r>
            <a:endParaRPr lang="en-US" sz="1400" dirty="0"/>
          </a:p>
          <a:p>
            <a:pPr algn="ctr" indent="0" marL="0">
              <a:lnSpc>
                <a:spcPct val="130000"/>
              </a:lnSpc>
              <a:buNone/>
            </a:pPr>
            <a:r>
              <a:rPr lang="en-US" sz="1400" dirty="0">
                <a:solidFill>
                  <a:srgbClr val="FFFFFF"/>
                </a:solidFill>
                <a:latin typeface="Calibri" pitchFamily="34" charset="0"/>
                <a:ea typeface="Calibri" pitchFamily="34" charset="-122"/>
                <a:cs typeface="Calibri" pitchFamily="34" charset="-120"/>
              </a:rPr>
              <a:t>from the rim or from three</a:t>
            </a:r>
            <a:endParaRPr lang="en-US" sz="1400" dirty="0"/>
          </a:p>
        </p:txBody>
      </p:sp>
      <p:sp>
        <p:nvSpPr>
          <p:cNvPr id="10" name="Text 8"/>
          <p:cNvSpPr txBox="1"/>
          <p:nvPr/>
        </p:nvSpPr>
        <p:spPr>
          <a:xfrm>
            <a:off x="548640" y="6355080"/>
            <a:ext cx="11091672" cy="365760"/>
          </a:xfrm>
          <a:prstGeom prst="rect">
            <a:avLst/>
          </a:prstGeom>
          <a:noFill/>
          <a:ln/>
        </p:spPr>
        <p:txBody>
          <a:bodyPr wrap="square" lIns="0" tIns="0" rIns="0" bIns="0" rtlCol="0" anchor="ctr"/>
          <a:lstStyle/>
          <a:p>
            <a:pPr indent="0" marL="0">
              <a:buNone/>
            </a:pPr>
            <a:r>
              <a:rPr lang="en-US" sz="1000" dirty="0">
                <a:solidFill>
                  <a:srgbClr val="6B7A99"/>
                </a:solidFill>
                <a:latin typeface="Calibri" pitchFamily="34" charset="0"/>
                <a:ea typeface="Calibri" pitchFamily="34" charset="-122"/>
                <a:cs typeface="Calibri" pitchFamily="34" charset="-120"/>
              </a:rPr>
              <a:t>Rim share + three share, each team, PbP.BDB, Golden State's real 2017-18 regular season.</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WORKED EXAMPLE, STEP 7</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500" b="1" dirty="0">
                <a:solidFill>
                  <a:srgbClr val="16213E"/>
                </a:solidFill>
                <a:latin typeface="Cambria" pitchFamily="34" charset="0"/>
                <a:ea typeface="Cambria" pitchFamily="34" charset="-122"/>
                <a:cs typeface="Cambria" pitchFamily="34" charset="-120"/>
              </a:rPr>
              <a:t>Cleveland Cavaliers: a More Spread-Out Real Profile</a:t>
            </a:r>
            <a:endParaRPr lang="en-US" sz="2500" dirty="0"/>
          </a:p>
        </p:txBody>
      </p:sp>
      <p:pic>
        <p:nvPicPr>
          <p:cNvPr id="4" name="Image 0" descr="module4_cle_scatter.png">    </p:cNvPr>
          <p:cNvPicPr>
            <a:picLocks noChangeAspect="1"/>
          </p:cNvPicPr>
          <p:nvPr/>
        </p:nvPicPr>
        <p:blipFill>
          <a:blip r:embed="rId1"/>
          <a:stretch>
            <a:fillRect/>
          </a:stretch>
        </p:blipFill>
        <p:spPr>
          <a:xfrm>
            <a:off x="3566160" y="1691640"/>
            <a:ext cx="4937760" cy="4572000"/>
          </a:xfrm>
          <a:prstGeom prst="rect">
            <a:avLst/>
          </a:prstGeom>
        </p:spPr>
      </p:pic>
      <p:sp>
        <p:nvSpPr>
          <p:cNvPr id="5" name="Text 2"/>
          <p:cNvSpPr txBox="1"/>
          <p:nvPr/>
        </p:nvSpPr>
        <p:spPr>
          <a:xfrm>
            <a:off x="548640" y="6355080"/>
            <a:ext cx="11091672" cy="365760"/>
          </a:xfrm>
          <a:prstGeom prst="rect">
            <a:avLst/>
          </a:prstGeom>
          <a:noFill/>
          <a:ln/>
        </p:spPr>
        <p:txBody>
          <a:bodyPr wrap="square" lIns="0" tIns="0" rIns="0" bIns="0" rtlCol="0" anchor="ctr"/>
          <a:lstStyle/>
          <a:p>
            <a:pPr indent="0" marL="0">
              <a:buNone/>
            </a:pPr>
            <a:r>
              <a:rPr lang="en-US" sz="1000" dirty="0">
                <a:solidFill>
                  <a:srgbClr val="6B7A99"/>
                </a:solidFill>
                <a:latin typeface="Calibri" pitchFamily="34" charset="0"/>
                <a:ea typeface="Calibri" pitchFamily="34" charset="-122"/>
                <a:cs typeface="Calibri" pitchFamily="34" charset="-120"/>
              </a:rPr>
              <a:t>shotchart(cle, x="xc", y="yc", z="result2", scatter=TRUE). Data: PbP.BDB, Cleveland's two real 2017-18 regular-season games vs. Golden State.</a:t>
            </a:r>
            <a:endParaRPr lang="en-US" sz="1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INTERACTIVE ACTIVITY</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Test Moreyball on a Team I Assign You</a:t>
            </a:r>
            <a:endParaRPr lang="en-US" sz="2800" dirty="0"/>
          </a:p>
        </p:txBody>
      </p:sp>
      <p:sp>
        <p:nvSpPr>
          <p:cNvPr id="4" name="Shape 2"/>
          <p:cNvSpPr/>
          <p:nvPr/>
        </p:nvSpPr>
        <p:spPr>
          <a:xfrm>
            <a:off x="548640" y="2103120"/>
            <a:ext cx="11091672" cy="2377440"/>
          </a:xfrm>
          <a:prstGeom prst="roundRect">
            <a:avLst>
              <a:gd name="adj" fmla="val 2308"/>
            </a:avLst>
          </a:prstGeom>
          <a:solidFill>
            <a:srgbClr val="EDF1F7"/>
          </a:solidFill>
          <a:ln/>
        </p:spPr>
      </p:sp>
      <p:sp>
        <p:nvSpPr>
          <p:cNvPr id="5" name="Text 3"/>
          <p:cNvSpPr txBox="1"/>
          <p:nvPr/>
        </p:nvSpPr>
        <p:spPr>
          <a:xfrm>
            <a:off x="914400" y="2377440"/>
            <a:ext cx="10360152" cy="1828800"/>
          </a:xfrm>
          <a:prstGeom prst="rect">
            <a:avLst/>
          </a:prstGeom>
          <a:noFill/>
          <a:ln/>
        </p:spPr>
        <p:txBody>
          <a:bodyPr wrap="square" lIns="0" tIns="0" rIns="0" bIns="0" rtlCol="0" anchor="ctr"/>
          <a:lstStyle/>
          <a:p>
            <a:pPr indent="0" marL="0">
              <a:lnSpc>
                <a:spcPct val="135000"/>
              </a:lnSpc>
              <a:buNone/>
            </a:pPr>
            <a:r>
              <a:rPr lang="en-US" sz="1500" dirty="0">
                <a:solidFill>
                  <a:srgbClr val="16213E"/>
                </a:solidFill>
                <a:latin typeface="Calibri" pitchFamily="34" charset="0"/>
                <a:ea typeface="Calibri" pitchFamily="34" charset="-122"/>
                <a:cs typeface="Calibri" pitchFamily="34" charset="-120"/>
              </a:rPr>
              <a:t>Get into groups of 3-4. I'll assign your group one more real team Golden State played that season.</a:t>
            </a:r>
            <a:endParaRPr lang="en-US" sz="1500" dirty="0"/>
          </a:p>
          <a:p>
            <a:pPr indent="0" marL="0">
              <a:lnSpc>
                <a:spcPct val="135000"/>
              </a:lnSpc>
              <a:buNone/>
            </a:pPr>
            <a:endParaRPr lang="en-US" sz="1500" dirty="0"/>
          </a:p>
          <a:p>
            <a:pPr indent="0" marL="0">
              <a:lnSpc>
                <a:spcPct val="135000"/>
              </a:lnSpc>
              <a:buNone/>
            </a:pPr>
            <a:r>
              <a:rPr lang="en-US" sz="1500" dirty="0">
                <a:solidFill>
                  <a:srgbClr val="16213E"/>
                </a:solidFill>
                <a:latin typeface="Calibri" pitchFamily="34" charset="0"/>
                <a:ea typeface="Calibri" pitchFamily="34" charset="-122"/>
                <a:cs typeface="Calibri" pitchFamily="34" charset="-120"/>
              </a:rPr>
              <a:t>1. Build that team's real zone table using the same code we just ran.</a:t>
            </a:r>
            <a:endParaRPr lang="en-US" sz="1500" dirty="0"/>
          </a:p>
          <a:p>
            <a:pPr indent="0" marL="0">
              <a:lnSpc>
                <a:spcPct val="135000"/>
              </a:lnSpc>
              <a:buNone/>
            </a:pPr>
            <a:r>
              <a:rPr lang="en-US" sz="1500" dirty="0">
                <a:solidFill>
                  <a:srgbClr val="16213E"/>
                </a:solidFill>
                <a:latin typeface="Calibri" pitchFamily="34" charset="0"/>
                <a:ea typeface="Calibri" pitchFamily="34" charset="-122"/>
                <a:cs typeface="Calibri" pitchFamily="34" charset="-120"/>
              </a:rPr>
              <a:t>2. Compute their combined rim-plus-three share.</a:t>
            </a:r>
            <a:endParaRPr lang="en-US" sz="1500" dirty="0"/>
          </a:p>
          <a:p>
            <a:pPr indent="0" marL="0">
              <a:lnSpc>
                <a:spcPct val="135000"/>
              </a:lnSpc>
              <a:buNone/>
            </a:pPr>
            <a:r>
              <a:rPr lang="en-US" sz="1500" dirty="0">
                <a:solidFill>
                  <a:srgbClr val="16213E"/>
                </a:solidFill>
                <a:latin typeface="Calibri" pitchFamily="34" charset="0"/>
                <a:ea typeface="Calibri" pitchFamily="34" charset="-122"/>
                <a:cs typeface="Calibri" pitchFamily="34" charset="-120"/>
              </a:rPr>
              <a:t>3. Does your team look more like Houston's profile or Cleveland's? Be ready to report your number to the class.</a:t>
            </a:r>
            <a:endParaRPr lang="en-US" sz="15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RECAP · SEGMENT 2</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3000" b="1" dirty="0">
                <a:solidFill>
                  <a:srgbClr val="16213E"/>
                </a:solidFill>
                <a:latin typeface="Cambria" pitchFamily="34" charset="0"/>
                <a:ea typeface="Cambria" pitchFamily="34" charset="-122"/>
                <a:cs typeface="Cambria" pitchFamily="34" charset="-120"/>
              </a:rPr>
              <a:t>Zones and Moreyball, Covered</a:t>
            </a:r>
            <a:endParaRPr lang="en-US" sz="3000" dirty="0"/>
          </a:p>
        </p:txBody>
      </p:sp>
      <p:sp>
        <p:nvSpPr>
          <p:cNvPr id="4" name="Shape 2"/>
          <p:cNvSpPr/>
          <p:nvPr/>
        </p:nvSpPr>
        <p:spPr>
          <a:xfrm>
            <a:off x="548640" y="2011680"/>
            <a:ext cx="5362956" cy="2651760"/>
          </a:xfrm>
          <a:prstGeom prst="roundRect">
            <a:avLst>
              <a:gd name="adj" fmla="val 2069"/>
            </a:avLst>
          </a:prstGeom>
          <a:solidFill>
            <a:srgbClr val="EDF1F7"/>
          </a:solidFill>
          <a:ln/>
        </p:spPr>
      </p:sp>
      <p:sp>
        <p:nvSpPr>
          <p:cNvPr id="5" name="Text 3"/>
          <p:cNvSpPr txBox="1"/>
          <p:nvPr/>
        </p:nvSpPr>
        <p:spPr>
          <a:xfrm>
            <a:off x="822960" y="2240280"/>
            <a:ext cx="4814316" cy="365760"/>
          </a:xfrm>
          <a:prstGeom prst="rect">
            <a:avLst/>
          </a:prstGeom>
          <a:noFill/>
          <a:ln/>
        </p:spPr>
        <p:txBody>
          <a:bodyPr wrap="square" lIns="0" tIns="0" rIns="0" bIns="0" rtlCol="0" anchor="ctr"/>
          <a:lstStyle/>
          <a:p>
            <a:pPr indent="0" marL="0">
              <a:buNone/>
            </a:pPr>
            <a:r>
              <a:rPr lang="en-US" sz="1300" b="1" dirty="0">
                <a:solidFill>
                  <a:srgbClr val="E4572E"/>
                </a:solidFill>
                <a:latin typeface="Calibri" pitchFamily="34" charset="0"/>
                <a:ea typeface="Calibri" pitchFamily="34" charset="-122"/>
                <a:cs typeface="Calibri" pitchFamily="34" charset="-120"/>
              </a:rPr>
              <a:t>Covered</a:t>
            </a:r>
            <a:endParaRPr lang="en-US" sz="1300" dirty="0"/>
          </a:p>
        </p:txBody>
      </p:sp>
      <p:sp>
        <p:nvSpPr>
          <p:cNvPr id="6" name="Text 4"/>
          <p:cNvSpPr txBox="1"/>
          <p:nvPr/>
        </p:nvSpPr>
        <p:spPr>
          <a:xfrm>
            <a:off x="822960" y="2651760"/>
            <a:ext cx="4814316" cy="1828800"/>
          </a:xfrm>
          <a:prstGeom prst="rect">
            <a:avLst/>
          </a:prstGeom>
          <a:noFill/>
          <a:ln/>
        </p:spPr>
        <p:txBody>
          <a:bodyPr wrap="square" lIns="0" tIns="0" rIns="0" bIns="0" rtlCol="0" anchor="t"/>
          <a:lstStyle/>
          <a:p>
            <a:pPr indent="0" marL="0">
              <a:lnSpc>
                <a:spcPct val="125000"/>
              </a:lnSpc>
              <a:buNone/>
            </a:pPr>
            <a:r>
              <a:rPr lang="en-US" sz="1400" dirty="0">
                <a:solidFill>
                  <a:srgbClr val="16213E"/>
                </a:solidFill>
                <a:latin typeface="Calibri" pitchFamily="34" charset="0"/>
                <a:ea typeface="Calibri" pitchFamily="34" charset="-122"/>
                <a:cs typeface="Calibri" pitchFamily="34" charset="-120"/>
              </a:rPr>
              <a:t>Four real distance zones, points per shot versus field goal percentage, and a real, measurable comparison between Houston's and Cleveland's 2018 shot profiles.</a:t>
            </a:r>
            <a:endParaRPr lang="en-US" sz="1400" dirty="0"/>
          </a:p>
        </p:txBody>
      </p:sp>
      <p:sp>
        <p:nvSpPr>
          <p:cNvPr id="7" name="Shape 5"/>
          <p:cNvSpPr/>
          <p:nvPr/>
        </p:nvSpPr>
        <p:spPr>
          <a:xfrm>
            <a:off x="6277356" y="2011680"/>
            <a:ext cx="5362956" cy="2651760"/>
          </a:xfrm>
          <a:prstGeom prst="roundRect">
            <a:avLst>
              <a:gd name="adj" fmla="val 2069"/>
            </a:avLst>
          </a:prstGeom>
          <a:solidFill>
            <a:srgbClr val="EDF1F7"/>
          </a:solidFill>
          <a:ln/>
        </p:spPr>
      </p:sp>
      <p:sp>
        <p:nvSpPr>
          <p:cNvPr id="8" name="Text 6"/>
          <p:cNvSpPr txBox="1"/>
          <p:nvPr/>
        </p:nvSpPr>
        <p:spPr>
          <a:xfrm>
            <a:off x="6551676" y="2240280"/>
            <a:ext cx="4814316" cy="365760"/>
          </a:xfrm>
          <a:prstGeom prst="rect">
            <a:avLst/>
          </a:prstGeom>
          <a:noFill/>
          <a:ln/>
        </p:spPr>
        <p:txBody>
          <a:bodyPr wrap="square" lIns="0" tIns="0" rIns="0" bIns="0" rtlCol="0" anchor="ctr"/>
          <a:lstStyle/>
          <a:p>
            <a:pPr indent="0" marL="0">
              <a:buNone/>
            </a:pPr>
            <a:r>
              <a:rPr lang="en-US" sz="1300" b="1" dirty="0">
                <a:solidFill>
                  <a:srgbClr val="E4572E"/>
                </a:solidFill>
                <a:latin typeface="Calibri" pitchFamily="34" charset="0"/>
                <a:ea typeface="Calibri" pitchFamily="34" charset="-122"/>
                <a:cs typeface="Calibri" pitchFamily="34" charset="-120"/>
              </a:rPr>
              <a:t>Next</a:t>
            </a:r>
            <a:endParaRPr lang="en-US" sz="1300" dirty="0"/>
          </a:p>
        </p:txBody>
      </p:sp>
      <p:sp>
        <p:nvSpPr>
          <p:cNvPr id="9" name="Text 7"/>
          <p:cNvSpPr txBox="1"/>
          <p:nvPr/>
        </p:nvSpPr>
        <p:spPr>
          <a:xfrm>
            <a:off x="6551676" y="2651760"/>
            <a:ext cx="4814316" cy="1828800"/>
          </a:xfrm>
          <a:prstGeom prst="rect">
            <a:avLst/>
          </a:prstGeom>
          <a:noFill/>
          <a:ln/>
        </p:spPr>
        <p:txBody>
          <a:bodyPr wrap="square" lIns="0" tIns="0" rIns="0" bIns="0" rtlCol="0" anchor="t"/>
          <a:lstStyle/>
          <a:p>
            <a:pPr indent="0" marL="0">
              <a:lnSpc>
                <a:spcPct val="125000"/>
              </a:lnSpc>
              <a:buNone/>
            </a:pPr>
            <a:r>
              <a:rPr lang="en-US" sz="1400" dirty="0">
                <a:solidFill>
                  <a:srgbClr val="16213E"/>
                </a:solidFill>
                <a:latin typeface="Calibri" pitchFamily="34" charset="0"/>
                <a:ea typeface="Calibri" pitchFamily="34" charset="-122"/>
                <a:cs typeface="Calibri" pitchFamily="34" charset="-120"/>
              </a:rPr>
              <a:t>Segment 3 moves from team-level shot selection down to two real, individual players.</a:t>
            </a:r>
            <a:endParaRPr lang="en-US" sz="1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B1D33"/>
        </a:solidFill>
      </p:bgPr>
    </p:bg>
    <p:spTree>
      <p:nvGrpSpPr>
        <p:cNvPr id="1" name=""/>
        <p:cNvGrpSpPr/>
        <p:nvPr/>
      </p:nvGrpSpPr>
      <p:grpSpPr>
        <a:xfrm>
          <a:off x="0" y="0"/>
          <a:ext cx="0" cy="0"/>
          <a:chOff x="0" y="0"/>
          <a:chExt cx="0" cy="0"/>
        </a:xfrm>
      </p:grpSpPr>
      <p:sp>
        <p:nvSpPr>
          <p:cNvPr id="2" name="Text 0"/>
          <p:cNvSpPr txBox="1"/>
          <p:nvPr/>
        </p:nvSpPr>
        <p:spPr>
          <a:xfrm>
            <a:off x="548640" y="2743200"/>
            <a:ext cx="11091672" cy="9144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10-Minute Break</a:t>
            </a:r>
            <a:endParaRPr lang="en-US" sz="4000" dirty="0"/>
          </a:p>
        </p:txBody>
      </p:sp>
      <p:sp>
        <p:nvSpPr>
          <p:cNvPr id="3" name="Text 1"/>
          <p:cNvSpPr txBox="1"/>
          <p:nvPr/>
        </p:nvSpPr>
        <p:spPr>
          <a:xfrm>
            <a:off x="548640" y="3657600"/>
            <a:ext cx="11091672" cy="548640"/>
          </a:xfrm>
          <a:prstGeom prst="rect">
            <a:avLst/>
          </a:prstGeom>
          <a:noFill/>
          <a:ln/>
        </p:spPr>
        <p:txBody>
          <a:bodyPr wrap="square" lIns="0" tIns="0" rIns="0" bIns="0" rtlCol="0" anchor="ctr"/>
          <a:lstStyle/>
          <a:p>
            <a:pPr indent="0" marL="0">
              <a:buNone/>
            </a:pPr>
            <a:r>
              <a:rPr lang="en-US" sz="1600" dirty="0">
                <a:solidFill>
                  <a:srgbClr val="AEBBD1"/>
                </a:solidFill>
                <a:latin typeface="Calibri" pitchFamily="34" charset="0"/>
                <a:ea typeface="Calibri" pitchFamily="34" charset="-122"/>
                <a:cs typeface="Calibri" pitchFamily="34" charset="-120"/>
              </a:rPr>
              <a:t>Back at the top of the hour. Next: two real players, side by side.</a:t>
            </a:r>
            <a:endParaRPr lang="en-US" sz="16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B1D33"/>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CONCEPT · SEGMENT 3</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The Same Zone Thinking, One Player at a Time</a:t>
            </a:r>
            <a:endParaRPr lang="en-US" sz="2800" dirty="0"/>
          </a:p>
        </p:txBody>
      </p:sp>
      <p:sp>
        <p:nvSpPr>
          <p:cNvPr id="4" name="Text 2"/>
          <p:cNvSpPr txBox="1"/>
          <p:nvPr/>
        </p:nvSpPr>
        <p:spPr>
          <a:xfrm>
            <a:off x="548640" y="2103120"/>
            <a:ext cx="11091672" cy="1463040"/>
          </a:xfrm>
          <a:prstGeom prst="rect">
            <a:avLst/>
          </a:prstGeom>
          <a:noFill/>
          <a:ln/>
        </p:spPr>
        <p:txBody>
          <a:bodyPr wrap="square" lIns="0" tIns="0" rIns="0" bIns="0" rtlCol="0" anchor="ctr"/>
          <a:lstStyle/>
          <a:p>
            <a:pPr indent="0" marL="0">
              <a:lnSpc>
                <a:spcPct val="125000"/>
              </a:lnSpc>
              <a:buNone/>
            </a:pPr>
            <a:r>
              <a:rPr lang="en-US" sz="1700" dirty="0">
                <a:solidFill>
                  <a:srgbClr val="FFFFFF"/>
                </a:solidFill>
                <a:latin typeface="Calibri" pitchFamily="34" charset="0"/>
                <a:ea typeface="Calibri" pitchFamily="34" charset="-122"/>
                <a:cs typeface="Calibri" pitchFamily="34" charset="-120"/>
              </a:rPr>
              <a:t>Everything we just did at the team level works identically for one player. Filter the real shot data to one player's real attempts, and you get their own shot chart and their own zone table -- their real shot selection, not their team's.</a:t>
            </a:r>
            <a:endParaRPr lang="en-US" sz="17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27496D"/>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FFFFFF"/>
                </a:solidFill>
                <a:latin typeface="Calibri" pitchFamily="34" charset="0"/>
                <a:ea typeface="Calibri" pitchFamily="34" charset="-122"/>
                <a:cs typeface="Calibri" pitchFamily="34" charset="-120"/>
              </a:rPr>
              <a:t>LET'S RUN THIS TOGETHER</a:t>
            </a:r>
            <a:endParaRPr lang="en-US" sz="1300" dirty="0"/>
          </a:p>
        </p:txBody>
      </p:sp>
      <p:sp>
        <p:nvSpPr>
          <p:cNvPr id="3" name="Text 1"/>
          <p:cNvSpPr txBox="1"/>
          <p:nvPr/>
        </p:nvSpPr>
        <p:spPr>
          <a:xfrm>
            <a:off x="548640" y="2377440"/>
            <a:ext cx="11091672" cy="14630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Let's pull two real players' shots and chart them.</a:t>
            </a:r>
            <a:endParaRPr lang="en-US" sz="3000" dirty="0"/>
          </a:p>
        </p:txBody>
      </p:sp>
      <p:sp>
        <p:nvSpPr>
          <p:cNvPr id="4" name="Text 2"/>
          <p:cNvSpPr txBox="1"/>
          <p:nvPr/>
        </p:nvSpPr>
        <p:spPr>
          <a:xfrm>
            <a:off x="548640" y="3931920"/>
            <a:ext cx="11091672" cy="54864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Pull up your own session. We'll run it line by line and look at the real output together.</a:t>
            </a:r>
            <a:endParaRPr lang="en-US" sz="16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WORKED EXAMPLE, STEP 8</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600" b="1" dirty="0">
                <a:solidFill>
                  <a:srgbClr val="16213E"/>
                </a:solidFill>
                <a:latin typeface="Cambria" pitchFamily="34" charset="0"/>
                <a:ea typeface="Cambria" pitchFamily="34" charset="-122"/>
                <a:cs typeface="Cambria" pitchFamily="34" charset="-120"/>
              </a:rPr>
              <a:t>James Harden: 39 Real Attempts vs. Golden State</a:t>
            </a:r>
            <a:endParaRPr lang="en-US" sz="2600" dirty="0"/>
          </a:p>
        </p:txBody>
      </p:sp>
      <p:pic>
        <p:nvPicPr>
          <p:cNvPr id="4" name="Image 0" descr="module4_harden_scatter.png">    </p:cNvPr>
          <p:cNvPicPr>
            <a:picLocks noChangeAspect="1"/>
          </p:cNvPicPr>
          <p:nvPr/>
        </p:nvPicPr>
        <p:blipFill>
          <a:blip r:embed="rId1"/>
          <a:stretch>
            <a:fillRect/>
          </a:stretch>
        </p:blipFill>
        <p:spPr>
          <a:xfrm>
            <a:off x="3566160" y="1691640"/>
            <a:ext cx="4937760" cy="4572000"/>
          </a:xfrm>
          <a:prstGeom prst="rect">
            <a:avLst/>
          </a:prstGeom>
        </p:spPr>
      </p:pic>
      <p:sp>
        <p:nvSpPr>
          <p:cNvPr id="5" name="Text 2"/>
          <p:cNvSpPr txBox="1"/>
          <p:nvPr/>
        </p:nvSpPr>
        <p:spPr>
          <a:xfrm>
            <a:off x="548640" y="6355080"/>
            <a:ext cx="11091672" cy="365760"/>
          </a:xfrm>
          <a:prstGeom prst="rect">
            <a:avLst/>
          </a:prstGeom>
          <a:noFill/>
          <a:ln/>
        </p:spPr>
        <p:txBody>
          <a:bodyPr wrap="square" lIns="0" tIns="0" rIns="0" bIns="0" rtlCol="0" anchor="ctr"/>
          <a:lstStyle/>
          <a:p>
            <a:pPr indent="0" marL="0">
              <a:buNone/>
            </a:pPr>
            <a:r>
              <a:rPr lang="en-US" sz="1000" dirty="0">
                <a:solidFill>
                  <a:srgbClr val="6B7A99"/>
                </a:solidFill>
                <a:latin typeface="Calibri" pitchFamily="34" charset="0"/>
                <a:ea typeface="Calibri" pitchFamily="34" charset="-122"/>
                <a:cs typeface="Calibri" pitchFamily="34" charset="-120"/>
              </a:rPr>
              <a:t>Data: PbP.BDB, Houston's real 2017-18 regular-season games vs. Golden State.</a:t>
            </a:r>
            <a:endParaRPr lang="en-US" sz="10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WORKED EXAMPLE, STEP 9</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700" b="1" dirty="0">
                <a:solidFill>
                  <a:srgbClr val="16213E"/>
                </a:solidFill>
                <a:latin typeface="Cambria" pitchFamily="34" charset="0"/>
                <a:ea typeface="Cambria" pitchFamily="34" charset="-122"/>
                <a:cs typeface="Cambria" pitchFamily="34" charset="-120"/>
              </a:rPr>
              <a:t>James Harden's Real Zone Breakdown</a:t>
            </a:r>
            <a:endParaRPr lang="en-US" sz="2700"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548640" y="2011680"/>
          <a:ext cx="11091672" cy="2377440"/>
        </p:xfrm>
        <a:graphic>
          <a:graphicData uri="http://schemas.openxmlformats.org/drawingml/2006/table">
            <a:tbl>
              <a:tblPr/>
              <a:tblGrid>
                <a:gridCol w="4690872"/>
                <a:gridCol w="3200400"/>
                <a:gridCol w="3200400"/>
              </a:tblGrid>
              <a:tr h="475488">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Zone</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7496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Share</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7496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FG%</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7496D"/>
                    </a:solidFill>
                  </a:tcPr>
                </a:tc>
              </a:tr>
              <a:tr h="475488">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Rim</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28.2%</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54.5%</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r>
              <a:tr h="475488">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Short/Mid</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17.9%</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14.3%</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r>
              <a:tr h="475488">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Long Two</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7.7%</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66.7%</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r>
              <a:tr h="475488">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Three</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46.2%</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50.0%</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r>
            </a:tbl>
          </a:graphicData>
        </a:graphic>
      </p:graphicFrame>
      <p:sp>
        <p:nvSpPr>
          <p:cNvPr id="5" name="Text 2"/>
          <p:cNvSpPr txBox="1"/>
          <p:nvPr/>
        </p:nvSpPr>
        <p:spPr>
          <a:xfrm>
            <a:off x="548640" y="4663440"/>
            <a:ext cx="11091672" cy="914400"/>
          </a:xfrm>
          <a:prstGeom prst="rect">
            <a:avLst/>
          </a:prstGeom>
          <a:noFill/>
          <a:ln/>
        </p:spPr>
        <p:txBody>
          <a:bodyPr wrap="square" lIns="0" tIns="0" rIns="0" bIns="0" rtlCol="0" anchor="t"/>
          <a:lstStyle/>
          <a:p>
            <a:pPr indent="0" marL="0">
              <a:lnSpc>
                <a:spcPct val="125000"/>
              </a:lnSpc>
              <a:buNone/>
            </a:pPr>
            <a:r>
              <a:rPr lang="en-US" sz="1400" dirty="0">
                <a:solidFill>
                  <a:srgbClr val="27496D"/>
                </a:solidFill>
                <a:latin typeface="Calibri" pitchFamily="34" charset="0"/>
                <a:ea typeface="Calibri" pitchFamily="34" charset="-122"/>
                <a:cs typeface="Calibri" pitchFamily="34" charset="-120"/>
              </a:rPr>
              <a:t>Overall field goal percentage: 46.2%. Notice how little that one number tells you on its own.</a:t>
            </a:r>
            <a:endParaRPr lang="en-US" sz="14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WORKED EXAMPLE, STEP 10</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600" b="1" dirty="0">
                <a:solidFill>
                  <a:srgbClr val="16213E"/>
                </a:solidFill>
                <a:latin typeface="Cambria" pitchFamily="34" charset="0"/>
                <a:ea typeface="Cambria" pitchFamily="34" charset="-122"/>
                <a:cs typeface="Cambria" pitchFamily="34" charset="-120"/>
              </a:rPr>
              <a:t>LeBron James: 36 Real Attempts vs. Golden State</a:t>
            </a:r>
            <a:endParaRPr lang="en-US" sz="2600" dirty="0"/>
          </a:p>
        </p:txBody>
      </p:sp>
      <p:pic>
        <p:nvPicPr>
          <p:cNvPr id="4" name="Image 0" descr="module4_lebron_scatter.png">    </p:cNvPr>
          <p:cNvPicPr>
            <a:picLocks noChangeAspect="1"/>
          </p:cNvPicPr>
          <p:nvPr/>
        </p:nvPicPr>
        <p:blipFill>
          <a:blip r:embed="rId1"/>
          <a:stretch>
            <a:fillRect/>
          </a:stretch>
        </p:blipFill>
        <p:spPr>
          <a:xfrm>
            <a:off x="3566160" y="1691640"/>
            <a:ext cx="4937760" cy="4572000"/>
          </a:xfrm>
          <a:prstGeom prst="rect">
            <a:avLst/>
          </a:prstGeom>
        </p:spPr>
      </p:pic>
      <p:sp>
        <p:nvSpPr>
          <p:cNvPr id="5" name="Text 2"/>
          <p:cNvSpPr txBox="1"/>
          <p:nvPr/>
        </p:nvSpPr>
        <p:spPr>
          <a:xfrm>
            <a:off x="548640" y="6355080"/>
            <a:ext cx="11091672" cy="365760"/>
          </a:xfrm>
          <a:prstGeom prst="rect">
            <a:avLst/>
          </a:prstGeom>
          <a:noFill/>
          <a:ln/>
        </p:spPr>
        <p:txBody>
          <a:bodyPr wrap="square" lIns="0" tIns="0" rIns="0" bIns="0" rtlCol="0" anchor="ctr"/>
          <a:lstStyle/>
          <a:p>
            <a:pPr indent="0" marL="0">
              <a:buNone/>
            </a:pPr>
            <a:r>
              <a:rPr lang="en-US" sz="1000" dirty="0">
                <a:solidFill>
                  <a:srgbClr val="6B7A99"/>
                </a:solidFill>
                <a:latin typeface="Calibri" pitchFamily="34" charset="0"/>
                <a:ea typeface="Calibri" pitchFamily="34" charset="-122"/>
                <a:cs typeface="Calibri" pitchFamily="34" charset="-120"/>
              </a:rPr>
              <a:t>Data: PbP.BDB, Cleveland's real 2017-18 regular-season games vs. Golden State.</a:t>
            </a:r>
            <a:endParaRPr lang="en-US" sz="10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WORKED EXAMPLE, STEP 11</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700" b="1" dirty="0">
                <a:solidFill>
                  <a:srgbClr val="16213E"/>
                </a:solidFill>
                <a:latin typeface="Cambria" pitchFamily="34" charset="0"/>
                <a:ea typeface="Cambria" pitchFamily="34" charset="-122"/>
                <a:cs typeface="Cambria" pitchFamily="34" charset="-120"/>
              </a:rPr>
              <a:t>LeBron James's Real Zone Breakdown</a:t>
            </a:r>
            <a:endParaRPr lang="en-US" sz="2700" dirty="0"/>
          </a:p>
        </p:txBody>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548640" y="2011680"/>
          <a:ext cx="11091672" cy="2377440"/>
        </p:xfrm>
        <a:graphic>
          <a:graphicData uri="http://schemas.openxmlformats.org/drawingml/2006/table">
            <a:tbl>
              <a:tblPr/>
              <a:tblGrid>
                <a:gridCol w="4690872"/>
                <a:gridCol w="3200400"/>
                <a:gridCol w="3200400"/>
              </a:tblGrid>
              <a:tr h="475488">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Zone</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7496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Share</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7496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FG%</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7496D"/>
                    </a:solidFill>
                  </a:tcPr>
                </a:tc>
              </a:tr>
              <a:tr h="475488">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Rim</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44.4%</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87.5%</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r>
              <a:tr h="475488">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Short/Mid</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16.7%</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33.3%</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r>
              <a:tr h="475488">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Long Two</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11.1%</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25.0%</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r>
              <a:tr h="475488">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Three</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27.8%</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20.0%</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r>
            </a:tbl>
          </a:graphicData>
        </a:graphic>
      </p:graphicFrame>
      <p:sp>
        <p:nvSpPr>
          <p:cNvPr id="5" name="Text 2"/>
          <p:cNvSpPr txBox="1"/>
          <p:nvPr/>
        </p:nvSpPr>
        <p:spPr>
          <a:xfrm>
            <a:off x="548640" y="4663440"/>
            <a:ext cx="11091672" cy="914400"/>
          </a:xfrm>
          <a:prstGeom prst="rect">
            <a:avLst/>
          </a:prstGeom>
          <a:noFill/>
          <a:ln/>
        </p:spPr>
        <p:txBody>
          <a:bodyPr wrap="square" lIns="0" tIns="0" rIns="0" bIns="0" rtlCol="0" anchor="t"/>
          <a:lstStyle/>
          <a:p>
            <a:pPr indent="0" marL="0">
              <a:lnSpc>
                <a:spcPct val="125000"/>
              </a:lnSpc>
              <a:buNone/>
            </a:pPr>
            <a:r>
              <a:rPr lang="en-US" sz="1400" dirty="0">
                <a:solidFill>
                  <a:srgbClr val="27496D"/>
                </a:solidFill>
                <a:latin typeface="Calibri" pitchFamily="34" charset="0"/>
                <a:ea typeface="Calibri" pitchFamily="34" charset="-122"/>
                <a:cs typeface="Calibri" pitchFamily="34" charset="-120"/>
              </a:rPr>
              <a:t>Overall field goal percentage: 52.8%. A very different real shot profile from Harden's.</a:t>
            </a:r>
            <a:endParaRPr lang="en-US" sz="14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CONCEPT · ONE REAL NUMBER WORTH PAUSING ON</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700" b="1" dirty="0">
                <a:solidFill>
                  <a:srgbClr val="16213E"/>
                </a:solidFill>
                <a:latin typeface="Cambria" pitchFamily="34" charset="0"/>
                <a:ea typeface="Cambria" pitchFamily="34" charset="-122"/>
                <a:cs typeface="Cambria" pitchFamily="34" charset="-120"/>
              </a:rPr>
              <a:t>87.5% at the Rim, in a Real Small Sample</a:t>
            </a:r>
            <a:endParaRPr lang="en-US" sz="2700" dirty="0"/>
          </a:p>
        </p:txBody>
      </p:sp>
      <p:sp>
        <p:nvSpPr>
          <p:cNvPr id="4" name="Shape 2"/>
          <p:cNvSpPr/>
          <p:nvPr/>
        </p:nvSpPr>
        <p:spPr>
          <a:xfrm>
            <a:off x="548640" y="2103120"/>
            <a:ext cx="3840480" cy="3108960"/>
          </a:xfrm>
          <a:prstGeom prst="roundRect">
            <a:avLst>
              <a:gd name="adj" fmla="val 1765"/>
            </a:avLst>
          </a:prstGeom>
          <a:solidFill>
            <a:srgbClr val="E4572E"/>
          </a:solidFill>
          <a:ln/>
        </p:spPr>
      </p:sp>
      <p:sp>
        <p:nvSpPr>
          <p:cNvPr id="5" name="Text 3"/>
          <p:cNvSpPr txBox="1"/>
          <p:nvPr/>
        </p:nvSpPr>
        <p:spPr>
          <a:xfrm>
            <a:off x="548640" y="2514600"/>
            <a:ext cx="3840480" cy="1188720"/>
          </a:xfrm>
          <a:prstGeom prst="rect">
            <a:avLst/>
          </a:prstGeom>
          <a:noFill/>
          <a:ln/>
        </p:spPr>
        <p:txBody>
          <a:bodyPr wrap="square" lIns="0" tIns="0" rIns="0" bIns="0" rtlCol="0" anchor="ctr"/>
          <a:lstStyle/>
          <a:p>
            <a:pPr algn="ctr" indent="0" marL="0">
              <a:buNone/>
            </a:pPr>
            <a:r>
              <a:rPr lang="en-US" sz="5400" b="1" dirty="0">
                <a:solidFill>
                  <a:srgbClr val="FFFFFF"/>
                </a:solidFill>
                <a:latin typeface="Cambria" pitchFamily="34" charset="0"/>
                <a:ea typeface="Cambria" pitchFamily="34" charset="-122"/>
                <a:cs typeface="Cambria" pitchFamily="34" charset="-120"/>
              </a:rPr>
              <a:t>87.5%</a:t>
            </a:r>
            <a:endParaRPr lang="en-US" sz="5400" dirty="0"/>
          </a:p>
        </p:txBody>
      </p:sp>
      <p:sp>
        <p:nvSpPr>
          <p:cNvPr id="6" name="Text 4"/>
          <p:cNvSpPr txBox="1"/>
          <p:nvPr/>
        </p:nvSpPr>
        <p:spPr>
          <a:xfrm>
            <a:off x="822960" y="3749040"/>
            <a:ext cx="3291840" cy="1280160"/>
          </a:xfrm>
          <a:prstGeom prst="rect">
            <a:avLst/>
          </a:prstGeom>
          <a:noFill/>
          <a:ln/>
        </p:spPr>
        <p:txBody>
          <a:bodyPr wrap="square" lIns="0" tIns="0" rIns="0" bIns="0" rtlCol="0" anchor="ctr"/>
          <a:lstStyle/>
          <a:p>
            <a:pPr algn="ctr" indent="0" marL="0">
              <a:lnSpc>
                <a:spcPct val="130000"/>
              </a:lnSpc>
              <a:buNone/>
            </a:pPr>
            <a:r>
              <a:rPr lang="en-US" sz="1300" dirty="0">
                <a:solidFill>
                  <a:srgbClr val="FFFFFF"/>
                </a:solidFill>
                <a:latin typeface="Calibri" pitchFamily="34" charset="0"/>
                <a:ea typeface="Calibri" pitchFamily="34" charset="-122"/>
                <a:cs typeface="Calibri" pitchFamily="34" charset="-120"/>
              </a:rPr>
              <a:t>LeBron James's real</a:t>
            </a:r>
            <a:endParaRPr lang="en-US" sz="1300" dirty="0"/>
          </a:p>
          <a:p>
            <a:pPr algn="ctr" indent="0" marL="0">
              <a:lnSpc>
                <a:spcPct val="130000"/>
              </a:lnSpc>
              <a:buNone/>
            </a:pPr>
            <a:r>
              <a:rPr lang="en-US" sz="1300" dirty="0">
                <a:solidFill>
                  <a:srgbClr val="FFFFFF"/>
                </a:solidFill>
                <a:latin typeface="Calibri" pitchFamily="34" charset="0"/>
                <a:ea typeface="Calibri" pitchFamily="34" charset="-122"/>
                <a:cs typeface="Calibri" pitchFamily="34" charset="-120"/>
              </a:rPr>
              <a:t>field goal percentage</a:t>
            </a:r>
            <a:endParaRPr lang="en-US" sz="1300" dirty="0"/>
          </a:p>
          <a:p>
            <a:pPr algn="ctr" indent="0" marL="0">
              <a:lnSpc>
                <a:spcPct val="130000"/>
              </a:lnSpc>
              <a:buNone/>
            </a:pPr>
            <a:r>
              <a:rPr lang="en-US" sz="1300" dirty="0">
                <a:solidFill>
                  <a:srgbClr val="FFFFFF"/>
                </a:solidFill>
                <a:latin typeface="Calibri" pitchFamily="34" charset="0"/>
                <a:ea typeface="Calibri" pitchFamily="34" charset="-122"/>
                <a:cs typeface="Calibri" pitchFamily="34" charset="-120"/>
              </a:rPr>
              <a:t>at the rim in this sample</a:t>
            </a:r>
            <a:endParaRPr lang="en-US" sz="1300" dirty="0"/>
          </a:p>
        </p:txBody>
      </p:sp>
      <p:sp>
        <p:nvSpPr>
          <p:cNvPr id="7" name="Text 5"/>
          <p:cNvSpPr txBox="1"/>
          <p:nvPr/>
        </p:nvSpPr>
        <p:spPr>
          <a:xfrm>
            <a:off x="4663440" y="2103120"/>
            <a:ext cx="6428232" cy="3108960"/>
          </a:xfrm>
          <a:prstGeom prst="rect">
            <a:avLst/>
          </a:prstGeom>
          <a:noFill/>
          <a:ln/>
        </p:spPr>
        <p:txBody>
          <a:bodyPr wrap="square" lIns="0" tIns="0" rIns="0" bIns="0" rtlCol="0" anchor="t"/>
          <a:lstStyle/>
          <a:p>
            <a:pPr indent="0" marL="0">
              <a:lnSpc>
                <a:spcPct val="130000"/>
              </a:lnSpc>
              <a:buNone/>
            </a:pPr>
            <a:r>
              <a:rPr lang="en-US" sz="1500" b="1" dirty="0">
                <a:solidFill>
                  <a:srgbClr val="16213E"/>
                </a:solidFill>
                <a:latin typeface="Calibri" pitchFamily="34" charset="0"/>
                <a:ea typeface="Calibri" pitchFamily="34" charset="-122"/>
                <a:cs typeface="Calibri" pitchFamily="34" charset="-120"/>
              </a:rPr>
              <a:t>For context: </a:t>
            </a:r>
            <a:pPr indent="0" marL="0">
              <a:lnSpc>
                <a:spcPct val="130000"/>
              </a:lnSpc>
              <a:buNone/>
            </a:pPr>
            <a:r>
              <a:rPr lang="en-US" sz="1500" dirty="0">
                <a:solidFill>
                  <a:srgbClr val="16213E"/>
                </a:solidFill>
                <a:latin typeface="Calibri" pitchFamily="34" charset="0"/>
                <a:ea typeface="Calibri" pitchFamily="34" charset="-122"/>
                <a:cs typeface="Calibri" pitchFamily="34" charset="-120"/>
              </a:rPr>
              <a:t>the rim average across this module's full real sample (Golden State's 2017-18 regular season) was 64.4%. LeBron's real sample here is well above that.
</a:t>
            </a:r>
            <a:pPr indent="0" marL="0">
              <a:lnSpc>
                <a:spcPct val="130000"/>
              </a:lnSpc>
              <a:buNone/>
            </a:pPr>
            <a:r>
              <a:rPr lang="en-US" sz="1500" b="1" dirty="0">
                <a:solidFill>
                  <a:srgbClr val="E4572E"/>
                </a:solidFill>
                <a:latin typeface="Calibri" pitchFamily="34" charset="0"/>
                <a:ea typeface="Calibri" pitchFamily="34" charset="-122"/>
                <a:cs typeface="Calibri" pitchFamily="34" charset="-120"/>
              </a:rPr>
              <a:t>Worth naming: </a:t>
            </a:r>
            <a:pPr indent="0" marL="0">
              <a:lnSpc>
                <a:spcPct val="130000"/>
              </a:lnSpc>
              <a:buNone/>
            </a:pPr>
            <a:r>
              <a:rPr lang="en-US" sz="1500" dirty="0">
                <a:solidFill>
                  <a:srgbClr val="16213E"/>
                </a:solidFill>
                <a:latin typeface="Calibri" pitchFamily="34" charset="0"/>
                <a:ea typeface="Calibri" pitchFamily="34" charset="-122"/>
                <a:cs typeface="Calibri" pitchFamily="34" charset="-120"/>
              </a:rPr>
              <a:t>this is a real but small sample (16 total rim attempts). A single hot or cold stretch can move a percentage like this a lot -- always check the attempt count.</a:t>
            </a:r>
            <a:endParaRPr lang="en-US" sz="15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CONCEPT · SEGMENT 3</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900" b="1" dirty="0">
                <a:solidFill>
                  <a:srgbClr val="16213E"/>
                </a:solidFill>
                <a:latin typeface="Cambria" pitchFamily="34" charset="0"/>
                <a:ea typeface="Cambria" pitchFamily="34" charset="-122"/>
                <a:cs typeface="Cambria" pitchFamily="34" charset="-120"/>
              </a:rPr>
              <a:t>Reading a Shot Chart Honestly</a:t>
            </a:r>
            <a:endParaRPr lang="en-US" sz="2900" dirty="0"/>
          </a:p>
        </p:txBody>
      </p:sp>
      <p:sp>
        <p:nvSpPr>
          <p:cNvPr id="4" name="Shape 2"/>
          <p:cNvSpPr/>
          <p:nvPr/>
        </p:nvSpPr>
        <p:spPr>
          <a:xfrm>
            <a:off x="548640" y="2103120"/>
            <a:ext cx="11091672" cy="2011680"/>
          </a:xfrm>
          <a:prstGeom prst="roundRect">
            <a:avLst>
              <a:gd name="adj" fmla="val 2727"/>
            </a:avLst>
          </a:prstGeom>
          <a:solidFill>
            <a:srgbClr val="EDF1F7"/>
          </a:solidFill>
          <a:ln/>
        </p:spPr>
      </p:sp>
      <p:sp>
        <p:nvSpPr>
          <p:cNvPr id="5" name="Text 3"/>
          <p:cNvSpPr txBox="1"/>
          <p:nvPr/>
        </p:nvSpPr>
        <p:spPr>
          <a:xfrm>
            <a:off x="914400" y="2377440"/>
            <a:ext cx="10360152" cy="1463040"/>
          </a:xfrm>
          <a:prstGeom prst="rect">
            <a:avLst/>
          </a:prstGeom>
          <a:noFill/>
          <a:ln/>
        </p:spPr>
        <p:txBody>
          <a:bodyPr wrap="square" lIns="0" tIns="0" rIns="0" bIns="0" rtlCol="0" anchor="ctr"/>
          <a:lstStyle/>
          <a:p>
            <a:pPr indent="0" marL="0">
              <a:lnSpc>
                <a:spcPct val="125000"/>
              </a:lnSpc>
              <a:buNone/>
            </a:pPr>
            <a:r>
              <a:rPr lang="en-US" sz="1600" dirty="0">
                <a:solidFill>
                  <a:srgbClr val="16213E"/>
                </a:solidFill>
                <a:latin typeface="Calibri" pitchFamily="34" charset="0"/>
                <a:ea typeface="Calibri" pitchFamily="34" charset="-122"/>
                <a:cs typeface="Calibri" pitchFamily="34" charset="-120"/>
              </a:rPr>
              <a:t>A shot chart with a lot of dots clustered at the rim looks impressive. But a cluster built from twelve total attempts tells a very different, far less reliable story than the same-looking cluster built from two hundred real attempts across a full season.</a:t>
            </a:r>
            <a:endParaRPr lang="en-US" sz="1600" dirty="0"/>
          </a:p>
        </p:txBody>
      </p:sp>
      <p:sp>
        <p:nvSpPr>
          <p:cNvPr id="6" name="Text 4"/>
          <p:cNvSpPr txBox="1"/>
          <p:nvPr/>
        </p:nvSpPr>
        <p:spPr>
          <a:xfrm>
            <a:off x="548640" y="4480560"/>
            <a:ext cx="11091672" cy="914400"/>
          </a:xfrm>
          <a:prstGeom prst="rect">
            <a:avLst/>
          </a:prstGeom>
          <a:noFill/>
          <a:ln/>
        </p:spPr>
        <p:txBody>
          <a:bodyPr wrap="square" lIns="0" tIns="0" rIns="0" bIns="0" rtlCol="0" anchor="t"/>
          <a:lstStyle/>
          <a:p>
            <a:pPr indent="0" marL="0">
              <a:lnSpc>
                <a:spcPct val="125000"/>
              </a:lnSpc>
              <a:buNone/>
            </a:pPr>
            <a:r>
              <a:rPr lang="en-US" sz="1500" b="1" dirty="0">
                <a:solidFill>
                  <a:srgbClr val="E4572E"/>
                </a:solidFill>
                <a:latin typeface="Calibri" pitchFamily="34" charset="0"/>
                <a:ea typeface="Calibri" pitchFamily="34" charset="-122"/>
                <a:cs typeface="Calibri" pitchFamily="34" charset="-120"/>
              </a:rPr>
              <a:t>Always check the real attempt count behind a visually striking cluster before you trust it.</a:t>
            </a:r>
            <a:endParaRPr lang="en-US" sz="15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27496D"/>
                </a:solidFill>
                <a:latin typeface="Calibri" pitchFamily="34" charset="0"/>
                <a:ea typeface="Calibri" pitchFamily="34" charset="-122"/>
                <a:cs typeface="Calibri" pitchFamily="34" charset="-120"/>
              </a:rPr>
              <a:t>THROUGHLINE · POSITIONING &amp; SHIFTING</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Location Is the Foundation of Spatial Analytics</a:t>
            </a:r>
            <a:endParaRPr lang="en-US" sz="2800" dirty="0"/>
          </a:p>
        </p:txBody>
      </p:sp>
      <p:sp>
        <p:nvSpPr>
          <p:cNvPr id="4" name="Shape 2"/>
          <p:cNvSpPr/>
          <p:nvPr/>
        </p:nvSpPr>
        <p:spPr>
          <a:xfrm>
            <a:off x="548640" y="1920240"/>
            <a:ext cx="54864" cy="2926080"/>
          </a:xfrm>
          <a:prstGeom prst="rect">
            <a:avLst/>
          </a:prstGeom>
          <a:solidFill>
            <a:srgbClr val="27496D"/>
          </a:solidFill>
          <a:ln/>
        </p:spPr>
      </p:sp>
      <p:sp>
        <p:nvSpPr>
          <p:cNvPr id="5" name="Text 3"/>
          <p:cNvSpPr txBox="1"/>
          <p:nvPr/>
        </p:nvSpPr>
        <p:spPr>
          <a:xfrm>
            <a:off x="914400" y="2011680"/>
            <a:ext cx="10725912" cy="365760"/>
          </a:xfrm>
          <a:prstGeom prst="rect">
            <a:avLst/>
          </a:prstGeom>
          <a:noFill/>
          <a:ln/>
        </p:spPr>
        <p:txBody>
          <a:bodyPr wrap="square" lIns="0" tIns="0" rIns="0" bIns="0" rtlCol="0" anchor="ctr"/>
          <a:lstStyle/>
          <a:p>
            <a:pPr indent="0" marL="0">
              <a:buNone/>
            </a:pPr>
            <a:r>
              <a:rPr lang="en-US" sz="1300" b="1" dirty="0">
                <a:solidFill>
                  <a:srgbClr val="27496D"/>
                </a:solidFill>
                <a:latin typeface="Calibri" pitchFamily="34" charset="0"/>
                <a:ea typeface="Calibri" pitchFamily="34" charset="-122"/>
                <a:cs typeface="Calibri" pitchFamily="34" charset="-120"/>
              </a:rPr>
              <a:t>The question:</a:t>
            </a:r>
            <a:endParaRPr lang="en-US" sz="1300" dirty="0"/>
          </a:p>
        </p:txBody>
      </p:sp>
      <p:sp>
        <p:nvSpPr>
          <p:cNvPr id="6" name="Text 4"/>
          <p:cNvSpPr txBox="1"/>
          <p:nvPr/>
        </p:nvSpPr>
        <p:spPr>
          <a:xfrm>
            <a:off x="914400" y="2377440"/>
            <a:ext cx="10725912" cy="822960"/>
          </a:xfrm>
          <a:prstGeom prst="rect">
            <a:avLst/>
          </a:prstGeom>
          <a:noFill/>
          <a:ln/>
        </p:spPr>
        <p:txBody>
          <a:bodyPr wrap="square" lIns="0" tIns="0" rIns="0" bIns="0" rtlCol="0" anchor="t"/>
          <a:lstStyle/>
          <a:p>
            <a:pPr indent="0" marL="0">
              <a:lnSpc>
                <a:spcPct val="125000"/>
              </a:lnSpc>
              <a:buNone/>
            </a:pPr>
            <a:r>
              <a:rPr lang="en-US" sz="1700" i="1" dirty="0">
                <a:solidFill>
                  <a:srgbClr val="16213E"/>
                </a:solidFill>
                <a:latin typeface="Calibri" pitchFamily="34" charset="0"/>
                <a:ea typeface="Calibri" pitchFamily="34" charset="-122"/>
                <a:cs typeface="Calibri" pitchFamily="34" charset="-120"/>
              </a:rPr>
              <a:t>Where did this happen on the floor, and how does that change what the number means?</a:t>
            </a:r>
            <a:endParaRPr lang="en-US" sz="1700" dirty="0"/>
          </a:p>
        </p:txBody>
      </p:sp>
      <p:sp>
        <p:nvSpPr>
          <p:cNvPr id="7" name="Text 5"/>
          <p:cNvSpPr txBox="1"/>
          <p:nvPr/>
        </p:nvSpPr>
        <p:spPr>
          <a:xfrm>
            <a:off x="914400" y="3383280"/>
            <a:ext cx="10725912" cy="1463040"/>
          </a:xfrm>
          <a:prstGeom prst="rect">
            <a:avLst/>
          </a:prstGeom>
          <a:noFill/>
          <a:ln/>
        </p:spPr>
        <p:txBody>
          <a:bodyPr wrap="square" lIns="0" tIns="0" rIns="0" bIns="0" rtlCol="0" anchor="t"/>
          <a:lstStyle/>
          <a:p>
            <a:pPr indent="0" marL="0">
              <a:lnSpc>
                <a:spcPct val="125000"/>
              </a:lnSpc>
              <a:buNone/>
            </a:pPr>
            <a:r>
              <a:rPr lang="en-US" sz="1500" dirty="0">
                <a:solidFill>
                  <a:srgbClr val="16213E"/>
                </a:solidFill>
                <a:latin typeface="Calibri" pitchFamily="34" charset="0"/>
                <a:ea typeface="Calibri" pitchFamily="34" charset="-122"/>
                <a:cs typeface="Calibri" pitchFamily="34" charset="-120"/>
              </a:rPr>
              <a:t>Shot location is the most direct, literal form of positioning data in this course. Every later spatial technique builds on it: Module 6 studies event density and shooting under defensive pressure using this same coordinate data, and Module 8 fits a regression model of scoring probability by location.</a:t>
            </a:r>
            <a:endParaRPr lang="en-US" sz="1500" dirty="0"/>
          </a:p>
        </p:txBody>
      </p:sp>
      <p:sp>
        <p:nvSpPr>
          <p:cNvPr id="8" name="Text 6"/>
          <p:cNvSpPr txBox="1"/>
          <p:nvPr/>
        </p:nvSpPr>
        <p:spPr>
          <a:xfrm>
            <a:off x="548640" y="6355080"/>
            <a:ext cx="11091672" cy="365760"/>
          </a:xfrm>
          <a:prstGeom prst="rect">
            <a:avLst/>
          </a:prstGeom>
          <a:noFill/>
          <a:ln/>
        </p:spPr>
        <p:txBody>
          <a:bodyPr wrap="square" lIns="0" tIns="0" rIns="0" bIns="0" rtlCol="0" anchor="ctr"/>
          <a:lstStyle/>
          <a:p>
            <a:pPr indent="0" marL="0">
              <a:buNone/>
            </a:pPr>
            <a:r>
              <a:rPr lang="en-US" sz="1000" dirty="0">
                <a:solidFill>
                  <a:srgbClr val="6B7A99"/>
                </a:solidFill>
                <a:latin typeface="Calibri" pitchFamily="34" charset="0"/>
                <a:ea typeface="Calibri" pitchFamily="34" charset="-122"/>
                <a:cs typeface="Calibri" pitchFamily="34" charset="-120"/>
              </a:rPr>
              <a:t>Morey, D. (Houston Rockets front office philosophy, widely reported since the mid-2010s).</a:t>
            </a:r>
            <a:endParaRPr lang="en-US" sz="10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PRACTICE</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One More Real Chart, On Your Own</a:t>
            </a:r>
            <a:endParaRPr lang="en-US" sz="2800" dirty="0"/>
          </a:p>
        </p:txBody>
      </p:sp>
      <p:sp>
        <p:nvSpPr>
          <p:cNvPr id="4" name="Shape 2"/>
          <p:cNvSpPr/>
          <p:nvPr/>
        </p:nvSpPr>
        <p:spPr>
          <a:xfrm>
            <a:off x="548640" y="2103120"/>
            <a:ext cx="11091672" cy="2377440"/>
          </a:xfrm>
          <a:prstGeom prst="roundRect">
            <a:avLst>
              <a:gd name="adj" fmla="val 2308"/>
            </a:avLst>
          </a:prstGeom>
          <a:solidFill>
            <a:srgbClr val="EDF1F7"/>
          </a:solidFill>
          <a:ln/>
        </p:spPr>
      </p:sp>
      <p:sp>
        <p:nvSpPr>
          <p:cNvPr id="5" name="Text 3"/>
          <p:cNvSpPr txBox="1"/>
          <p:nvPr/>
        </p:nvSpPr>
        <p:spPr>
          <a:xfrm>
            <a:off x="914400" y="2377440"/>
            <a:ext cx="10360152" cy="1828800"/>
          </a:xfrm>
          <a:prstGeom prst="rect">
            <a:avLst/>
          </a:prstGeom>
          <a:noFill/>
          <a:ln/>
        </p:spPr>
        <p:txBody>
          <a:bodyPr wrap="square" lIns="0" tIns="0" rIns="0" bIns="0" rtlCol="0" anchor="ctr"/>
          <a:lstStyle/>
          <a:p>
            <a:pPr indent="0" marL="0">
              <a:lnSpc>
                <a:spcPct val="140000"/>
              </a:lnSpc>
              <a:buNone/>
            </a:pPr>
            <a:r>
              <a:rPr lang="en-US" sz="1600" dirty="0">
                <a:solidFill>
                  <a:srgbClr val="16213E"/>
                </a:solidFill>
                <a:latin typeface="Calibri" pitchFamily="34" charset="0"/>
                <a:ea typeface="Calibri" pitchFamily="34" charset="-122"/>
                <a:cs typeface="Calibri" pitchFamily="34" charset="-120"/>
              </a:rPr>
              <a:t>Look back at Cleveland's shot chart from Segment 2.</a:t>
            </a:r>
            <a:endParaRPr lang="en-US" sz="1600" dirty="0"/>
          </a:p>
          <a:p>
            <a:pPr indent="0" marL="0">
              <a:lnSpc>
                <a:spcPct val="140000"/>
              </a:lnSpc>
              <a:buNone/>
            </a:pPr>
            <a:endParaRPr lang="en-US" sz="1600" dirty="0"/>
          </a:p>
          <a:p>
            <a:pPr indent="0" marL="0">
              <a:lnSpc>
                <a:spcPct val="140000"/>
              </a:lnSpc>
              <a:buNone/>
            </a:pPr>
            <a:r>
              <a:rPr lang="en-US" sz="1600" dirty="0">
                <a:solidFill>
                  <a:srgbClr val="16213E"/>
                </a:solidFill>
                <a:latin typeface="Calibri" pitchFamily="34" charset="0"/>
                <a:ea typeface="Calibri" pitchFamily="34" charset="-122"/>
                <a:cs typeface="Calibri" pitchFamily="34" charset="-120"/>
              </a:rPr>
              <a:t>1. Compare it, by eye, to Houston's chart from Segment 1.</a:t>
            </a:r>
            <a:endParaRPr lang="en-US" sz="1600" dirty="0"/>
          </a:p>
          <a:p>
            <a:pPr indent="0" marL="0">
              <a:lnSpc>
                <a:spcPct val="140000"/>
              </a:lnSpc>
              <a:buNone/>
            </a:pPr>
            <a:r>
              <a:rPr lang="en-US" sz="1600" dirty="0">
                <a:solidFill>
                  <a:srgbClr val="16213E"/>
                </a:solidFill>
                <a:latin typeface="Calibri" pitchFamily="34" charset="0"/>
                <a:ea typeface="Calibri" pitchFamily="34" charset="-122"/>
                <a:cs typeface="Calibri" pitchFamily="34" charset="-120"/>
              </a:rPr>
              <a:t>2. Which chart has more shots in the middle of the floor?</a:t>
            </a:r>
            <a:endParaRPr lang="en-US" sz="1600" dirty="0"/>
          </a:p>
          <a:p>
            <a:pPr indent="0" marL="0">
              <a:lnSpc>
                <a:spcPct val="140000"/>
              </a:lnSpc>
              <a:buNone/>
            </a:pPr>
            <a:r>
              <a:rPr lang="en-US" sz="1600" dirty="0">
                <a:solidFill>
                  <a:srgbClr val="16213E"/>
                </a:solidFill>
                <a:latin typeface="Calibri" pitchFamily="34" charset="0"/>
                <a:ea typeface="Calibri" pitchFamily="34" charset="-122"/>
                <a:cs typeface="Calibri" pitchFamily="34" charset="-120"/>
              </a:rPr>
              <a:t>3. Does that match the real zone table numbers we computed?</a:t>
            </a:r>
            <a:endParaRPr lang="en-US" sz="16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INTERACTIVE ACTIVITY</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600" b="1" dirty="0">
                <a:solidFill>
                  <a:srgbClr val="16213E"/>
                </a:solidFill>
                <a:latin typeface="Cambria" pitchFamily="34" charset="0"/>
                <a:ea typeface="Cambria" pitchFamily="34" charset="-122"/>
                <a:cs typeface="Cambria" pitchFamily="34" charset="-120"/>
              </a:rPr>
              <a:t>A Broadcast Scout vs. a Front-Office Analyst</a:t>
            </a:r>
            <a:endParaRPr lang="en-US" sz="2600" dirty="0"/>
          </a:p>
        </p:txBody>
      </p:sp>
      <p:sp>
        <p:nvSpPr>
          <p:cNvPr id="4" name="Shape 2"/>
          <p:cNvSpPr/>
          <p:nvPr/>
        </p:nvSpPr>
        <p:spPr>
          <a:xfrm>
            <a:off x="548640" y="2103120"/>
            <a:ext cx="5362956" cy="2834640"/>
          </a:xfrm>
          <a:prstGeom prst="roundRect">
            <a:avLst>
              <a:gd name="adj" fmla="val 1935"/>
            </a:avLst>
          </a:prstGeom>
          <a:solidFill>
            <a:srgbClr val="EDF1F7"/>
          </a:solidFill>
          <a:ln/>
        </p:spPr>
      </p:sp>
      <p:sp>
        <p:nvSpPr>
          <p:cNvPr id="5" name="Text 3"/>
          <p:cNvSpPr txBox="1"/>
          <p:nvPr/>
        </p:nvSpPr>
        <p:spPr>
          <a:xfrm>
            <a:off x="822960" y="2331720"/>
            <a:ext cx="4814316" cy="457200"/>
          </a:xfrm>
          <a:prstGeom prst="rect">
            <a:avLst/>
          </a:prstGeom>
          <a:noFill/>
          <a:ln/>
        </p:spPr>
        <p:txBody>
          <a:bodyPr wrap="square" lIns="0" tIns="0" rIns="0" bIns="0" rtlCol="0" anchor="ctr"/>
          <a:lstStyle/>
          <a:p>
            <a:pPr indent="0" marL="0">
              <a:buNone/>
            </a:pPr>
            <a:r>
              <a:rPr lang="en-US" sz="1500" b="1" dirty="0">
                <a:solidFill>
                  <a:srgbClr val="16213E"/>
                </a:solidFill>
                <a:latin typeface="Cambria" pitchFamily="34" charset="0"/>
                <a:ea typeface="Cambria" pitchFamily="34" charset="-122"/>
                <a:cs typeface="Cambria" pitchFamily="34" charset="-120"/>
              </a:rPr>
              <a:t>Broadcast Scout</a:t>
            </a:r>
            <a:endParaRPr lang="en-US" sz="1500" dirty="0"/>
          </a:p>
        </p:txBody>
      </p:sp>
      <p:sp>
        <p:nvSpPr>
          <p:cNvPr id="6" name="Text 4"/>
          <p:cNvSpPr txBox="1"/>
          <p:nvPr/>
        </p:nvSpPr>
        <p:spPr>
          <a:xfrm>
            <a:off x="822960" y="2834640"/>
            <a:ext cx="4814316" cy="1828800"/>
          </a:xfrm>
          <a:prstGeom prst="rect">
            <a:avLst/>
          </a:prstGeom>
          <a:noFill/>
          <a:ln/>
        </p:spPr>
        <p:txBody>
          <a:bodyPr wrap="square" lIns="0" tIns="0" rIns="0" bIns="0" rtlCol="0" anchor="t"/>
          <a:lstStyle/>
          <a:p>
            <a:pPr indent="0" marL="0">
              <a:lnSpc>
                <a:spcPct val="125000"/>
              </a:lnSpc>
              <a:buNone/>
            </a:pPr>
            <a:r>
              <a:rPr lang="en-US" sz="1400" dirty="0">
                <a:solidFill>
                  <a:srgbClr val="16213E"/>
                </a:solidFill>
                <a:latin typeface="Calibri" pitchFamily="34" charset="0"/>
                <a:ea typeface="Calibri" pitchFamily="34" charset="-122"/>
                <a:cs typeface="Calibri" pitchFamily="34" charset="-120"/>
              </a:rPr>
              <a:t>Is scouting one upcoming playoff opponent and has one afternoon. Which of today's tools -- shot chart or zone table -- gets them a usable answer fastest?</a:t>
            </a:r>
            <a:endParaRPr lang="en-US" sz="1400" dirty="0"/>
          </a:p>
        </p:txBody>
      </p:sp>
      <p:sp>
        <p:nvSpPr>
          <p:cNvPr id="7" name="Shape 5"/>
          <p:cNvSpPr/>
          <p:nvPr/>
        </p:nvSpPr>
        <p:spPr>
          <a:xfrm>
            <a:off x="6277356" y="2103120"/>
            <a:ext cx="5362956" cy="2834640"/>
          </a:xfrm>
          <a:prstGeom prst="roundRect">
            <a:avLst>
              <a:gd name="adj" fmla="val 1935"/>
            </a:avLst>
          </a:prstGeom>
          <a:solidFill>
            <a:srgbClr val="EDF1F7"/>
          </a:solidFill>
          <a:ln/>
        </p:spPr>
      </p:sp>
      <p:sp>
        <p:nvSpPr>
          <p:cNvPr id="8" name="Text 6"/>
          <p:cNvSpPr txBox="1"/>
          <p:nvPr/>
        </p:nvSpPr>
        <p:spPr>
          <a:xfrm>
            <a:off x="6551676" y="2331720"/>
            <a:ext cx="4814316" cy="457200"/>
          </a:xfrm>
          <a:prstGeom prst="rect">
            <a:avLst/>
          </a:prstGeom>
          <a:noFill/>
          <a:ln/>
        </p:spPr>
        <p:txBody>
          <a:bodyPr wrap="square" lIns="0" tIns="0" rIns="0" bIns="0" rtlCol="0" anchor="ctr"/>
          <a:lstStyle/>
          <a:p>
            <a:pPr indent="0" marL="0">
              <a:buNone/>
            </a:pPr>
            <a:r>
              <a:rPr lang="en-US" sz="1500" b="1" dirty="0">
                <a:solidFill>
                  <a:srgbClr val="16213E"/>
                </a:solidFill>
                <a:latin typeface="Cambria" pitchFamily="34" charset="0"/>
                <a:ea typeface="Cambria" pitchFamily="34" charset="-122"/>
                <a:cs typeface="Cambria" pitchFamily="34" charset="-120"/>
              </a:rPr>
              <a:t>Front-Office Analyst</a:t>
            </a:r>
            <a:endParaRPr lang="en-US" sz="1500" dirty="0"/>
          </a:p>
        </p:txBody>
      </p:sp>
      <p:sp>
        <p:nvSpPr>
          <p:cNvPr id="9" name="Text 7"/>
          <p:cNvSpPr txBox="1"/>
          <p:nvPr/>
        </p:nvSpPr>
        <p:spPr>
          <a:xfrm>
            <a:off x="6551676" y="2834640"/>
            <a:ext cx="4814316" cy="1828800"/>
          </a:xfrm>
          <a:prstGeom prst="rect">
            <a:avLst/>
          </a:prstGeom>
          <a:noFill/>
          <a:ln/>
        </p:spPr>
        <p:txBody>
          <a:bodyPr wrap="square" lIns="0" tIns="0" rIns="0" bIns="0" rtlCol="0" anchor="t"/>
          <a:lstStyle/>
          <a:p>
            <a:pPr indent="0" marL="0">
              <a:lnSpc>
                <a:spcPct val="125000"/>
              </a:lnSpc>
              <a:buNone/>
            </a:pPr>
            <a:r>
              <a:rPr lang="en-US" sz="1400" dirty="0">
                <a:solidFill>
                  <a:srgbClr val="16213E"/>
                </a:solidFill>
                <a:latin typeface="Calibri" pitchFamily="34" charset="0"/>
                <a:ea typeface="Calibri" pitchFamily="34" charset="-122"/>
                <a:cs typeface="Calibri" pitchFamily="34" charset="-120"/>
              </a:rPr>
              <a:t>Is deciding whether to build next year's roster around a Moreyball-style offense. Which of today's real numbers matters most to that decision?</a:t>
            </a:r>
            <a:endParaRPr lang="en-US" sz="14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RECAP · SEGMENT 3</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3000" b="1" dirty="0">
                <a:solidFill>
                  <a:srgbClr val="16213E"/>
                </a:solidFill>
                <a:latin typeface="Cambria" pitchFamily="34" charset="0"/>
                <a:ea typeface="Cambria" pitchFamily="34" charset="-122"/>
                <a:cs typeface="Cambria" pitchFamily="34" charset="-120"/>
              </a:rPr>
              <a:t>Two Real Players, Two Real Profiles</a:t>
            </a:r>
            <a:endParaRPr lang="en-US" sz="3000" dirty="0"/>
          </a:p>
        </p:txBody>
      </p:sp>
      <p:sp>
        <p:nvSpPr>
          <p:cNvPr id="4" name="Shape 2"/>
          <p:cNvSpPr/>
          <p:nvPr/>
        </p:nvSpPr>
        <p:spPr>
          <a:xfrm>
            <a:off x="548640" y="2011680"/>
            <a:ext cx="5362956" cy="2651760"/>
          </a:xfrm>
          <a:prstGeom prst="roundRect">
            <a:avLst>
              <a:gd name="adj" fmla="val 2069"/>
            </a:avLst>
          </a:prstGeom>
          <a:solidFill>
            <a:srgbClr val="EDF1F7"/>
          </a:solidFill>
          <a:ln/>
        </p:spPr>
      </p:sp>
      <p:sp>
        <p:nvSpPr>
          <p:cNvPr id="5" name="Text 3"/>
          <p:cNvSpPr txBox="1"/>
          <p:nvPr/>
        </p:nvSpPr>
        <p:spPr>
          <a:xfrm>
            <a:off x="822960" y="2240280"/>
            <a:ext cx="4814316" cy="365760"/>
          </a:xfrm>
          <a:prstGeom prst="rect">
            <a:avLst/>
          </a:prstGeom>
          <a:noFill/>
          <a:ln/>
        </p:spPr>
        <p:txBody>
          <a:bodyPr wrap="square" lIns="0" tIns="0" rIns="0" bIns="0" rtlCol="0" anchor="ctr"/>
          <a:lstStyle/>
          <a:p>
            <a:pPr indent="0" marL="0">
              <a:buNone/>
            </a:pPr>
            <a:r>
              <a:rPr lang="en-US" sz="1300" b="1" dirty="0">
                <a:solidFill>
                  <a:srgbClr val="E4572E"/>
                </a:solidFill>
                <a:latin typeface="Calibri" pitchFamily="34" charset="0"/>
                <a:ea typeface="Calibri" pitchFamily="34" charset="-122"/>
                <a:cs typeface="Calibri" pitchFamily="34" charset="-120"/>
              </a:rPr>
              <a:t>Covered</a:t>
            </a:r>
            <a:endParaRPr lang="en-US" sz="1300" dirty="0"/>
          </a:p>
        </p:txBody>
      </p:sp>
      <p:sp>
        <p:nvSpPr>
          <p:cNvPr id="6" name="Text 4"/>
          <p:cNvSpPr txBox="1"/>
          <p:nvPr/>
        </p:nvSpPr>
        <p:spPr>
          <a:xfrm>
            <a:off x="822960" y="2651760"/>
            <a:ext cx="4814316" cy="1828800"/>
          </a:xfrm>
          <a:prstGeom prst="rect">
            <a:avLst/>
          </a:prstGeom>
          <a:noFill/>
          <a:ln/>
        </p:spPr>
        <p:txBody>
          <a:bodyPr wrap="square" lIns="0" tIns="0" rIns="0" bIns="0" rtlCol="0" anchor="t"/>
          <a:lstStyle/>
          <a:p>
            <a:pPr indent="0" marL="0">
              <a:lnSpc>
                <a:spcPct val="125000"/>
              </a:lnSpc>
              <a:buNone/>
            </a:pPr>
            <a:r>
              <a:rPr lang="en-US" sz="1400" dirty="0">
                <a:solidFill>
                  <a:srgbClr val="16213E"/>
                </a:solidFill>
                <a:latin typeface="Calibri" pitchFamily="34" charset="0"/>
                <a:ea typeface="Calibri" pitchFamily="34" charset="-122"/>
                <a:cs typeface="Calibri" pitchFamily="34" charset="-120"/>
              </a:rPr>
              <a:t>Built real shot charts and zone tables for James Harden and LeBron James, and practiced reading a shot chart honestly, attempt counts and all.</a:t>
            </a:r>
            <a:endParaRPr lang="en-US" sz="1400" dirty="0"/>
          </a:p>
        </p:txBody>
      </p:sp>
      <p:sp>
        <p:nvSpPr>
          <p:cNvPr id="7" name="Shape 5"/>
          <p:cNvSpPr/>
          <p:nvPr/>
        </p:nvSpPr>
        <p:spPr>
          <a:xfrm>
            <a:off x="6277356" y="2011680"/>
            <a:ext cx="5362956" cy="2651760"/>
          </a:xfrm>
          <a:prstGeom prst="roundRect">
            <a:avLst>
              <a:gd name="adj" fmla="val 2069"/>
            </a:avLst>
          </a:prstGeom>
          <a:solidFill>
            <a:srgbClr val="EDF1F7"/>
          </a:solidFill>
          <a:ln/>
        </p:spPr>
      </p:sp>
      <p:sp>
        <p:nvSpPr>
          <p:cNvPr id="8" name="Text 6"/>
          <p:cNvSpPr txBox="1"/>
          <p:nvPr/>
        </p:nvSpPr>
        <p:spPr>
          <a:xfrm>
            <a:off x="6551676" y="2240280"/>
            <a:ext cx="4814316" cy="365760"/>
          </a:xfrm>
          <a:prstGeom prst="rect">
            <a:avLst/>
          </a:prstGeom>
          <a:noFill/>
          <a:ln/>
        </p:spPr>
        <p:txBody>
          <a:bodyPr wrap="square" lIns="0" tIns="0" rIns="0" bIns="0" rtlCol="0" anchor="ctr"/>
          <a:lstStyle/>
          <a:p>
            <a:pPr indent="0" marL="0">
              <a:buNone/>
            </a:pPr>
            <a:r>
              <a:rPr lang="en-US" sz="1300" b="1" dirty="0">
                <a:solidFill>
                  <a:srgbClr val="E4572E"/>
                </a:solidFill>
                <a:latin typeface="Calibri" pitchFamily="34" charset="0"/>
                <a:ea typeface="Calibri" pitchFamily="34" charset="-122"/>
                <a:cs typeface="Calibri" pitchFamily="34" charset="-120"/>
              </a:rPr>
              <a:t>Next</a:t>
            </a:r>
            <a:endParaRPr lang="en-US" sz="1300" dirty="0"/>
          </a:p>
        </p:txBody>
      </p:sp>
      <p:sp>
        <p:nvSpPr>
          <p:cNvPr id="9" name="Text 7"/>
          <p:cNvSpPr txBox="1"/>
          <p:nvPr/>
        </p:nvSpPr>
        <p:spPr>
          <a:xfrm>
            <a:off x="6551676" y="2651760"/>
            <a:ext cx="4814316" cy="1828800"/>
          </a:xfrm>
          <a:prstGeom prst="rect">
            <a:avLst/>
          </a:prstGeom>
          <a:noFill/>
          <a:ln/>
        </p:spPr>
        <p:txBody>
          <a:bodyPr wrap="square" lIns="0" tIns="0" rIns="0" bIns="0" rtlCol="0" anchor="t"/>
          <a:lstStyle/>
          <a:p>
            <a:pPr indent="0" marL="0">
              <a:lnSpc>
                <a:spcPct val="125000"/>
              </a:lnSpc>
              <a:buNone/>
            </a:pPr>
            <a:r>
              <a:rPr lang="en-US" sz="1400" dirty="0">
                <a:solidFill>
                  <a:srgbClr val="16213E"/>
                </a:solidFill>
                <a:latin typeface="Calibri" pitchFamily="34" charset="0"/>
                <a:ea typeface="Calibri" pitchFamily="34" charset="-122"/>
                <a:cs typeface="Calibri" pitchFamily="34" charset="-120"/>
              </a:rPr>
              <a:t>Module 5 moves from one variable at a time (location) into correlation and player networks -- how players' real numbers relate to each other.</a:t>
            </a:r>
            <a:endParaRPr lang="en-US" sz="14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SUMMARY</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3000" b="1" dirty="0">
                <a:solidFill>
                  <a:srgbClr val="16213E"/>
                </a:solidFill>
                <a:latin typeface="Cambria" pitchFamily="34" charset="0"/>
                <a:ea typeface="Cambria" pitchFamily="34" charset="-122"/>
                <a:cs typeface="Cambria" pitchFamily="34" charset="-120"/>
              </a:rPr>
              <a:t>What to Carry Forward</a:t>
            </a:r>
            <a:endParaRPr lang="en-US" sz="3000" dirty="0"/>
          </a:p>
        </p:txBody>
      </p:sp>
      <p:sp>
        <p:nvSpPr>
          <p:cNvPr id="4" name="Shape 2"/>
          <p:cNvSpPr/>
          <p:nvPr/>
        </p:nvSpPr>
        <p:spPr>
          <a:xfrm>
            <a:off x="548640" y="2011680"/>
            <a:ext cx="164592" cy="164592"/>
          </a:xfrm>
          <a:prstGeom prst="rect">
            <a:avLst/>
          </a:prstGeom>
          <a:solidFill>
            <a:srgbClr val="27496D"/>
          </a:solidFill>
          <a:ln/>
        </p:spPr>
      </p:sp>
      <p:sp>
        <p:nvSpPr>
          <p:cNvPr id="5" name="Text 3"/>
          <p:cNvSpPr txBox="1"/>
          <p:nvPr/>
        </p:nvSpPr>
        <p:spPr>
          <a:xfrm>
            <a:off x="914400" y="1874520"/>
            <a:ext cx="10725912" cy="822960"/>
          </a:xfrm>
          <a:prstGeom prst="rect">
            <a:avLst/>
          </a:prstGeom>
          <a:noFill/>
          <a:ln/>
        </p:spPr>
        <p:txBody>
          <a:bodyPr wrap="square" lIns="0" tIns="0" rIns="0" bIns="0" rtlCol="0" anchor="t"/>
          <a:lstStyle/>
          <a:p>
            <a:pPr indent="0" marL="0">
              <a:lnSpc>
                <a:spcPct val="125000"/>
              </a:lnSpc>
              <a:buNone/>
            </a:pPr>
            <a:r>
              <a:rPr lang="en-US" sz="1500" dirty="0">
                <a:solidFill>
                  <a:srgbClr val="16213E"/>
                </a:solidFill>
                <a:latin typeface="Calibri" pitchFamily="34" charset="0"/>
                <a:ea typeface="Calibri" pitchFamily="34" charset="-122"/>
                <a:cs typeface="Calibri" pitchFamily="34" charset="-120"/>
              </a:rPr>
              <a:t>Shot location is its own variable -- spatial data lets you break a single shooting percentage apart by where it actually happened.</a:t>
            </a:r>
            <a:endParaRPr lang="en-US" sz="1500" dirty="0"/>
          </a:p>
        </p:txBody>
      </p:sp>
      <p:sp>
        <p:nvSpPr>
          <p:cNvPr id="6" name="Shape 4"/>
          <p:cNvSpPr/>
          <p:nvPr/>
        </p:nvSpPr>
        <p:spPr>
          <a:xfrm>
            <a:off x="548640" y="2926080"/>
            <a:ext cx="164592" cy="164592"/>
          </a:xfrm>
          <a:prstGeom prst="rect">
            <a:avLst/>
          </a:prstGeom>
          <a:solidFill>
            <a:srgbClr val="E4572E"/>
          </a:solidFill>
          <a:ln/>
        </p:spPr>
      </p:sp>
      <p:sp>
        <p:nvSpPr>
          <p:cNvPr id="7" name="Text 5"/>
          <p:cNvSpPr txBox="1"/>
          <p:nvPr/>
        </p:nvSpPr>
        <p:spPr>
          <a:xfrm>
            <a:off x="914400" y="2788920"/>
            <a:ext cx="10725912" cy="822960"/>
          </a:xfrm>
          <a:prstGeom prst="rect">
            <a:avLst/>
          </a:prstGeom>
          <a:noFill/>
          <a:ln/>
        </p:spPr>
        <p:txBody>
          <a:bodyPr wrap="square" lIns="0" tIns="0" rIns="0" bIns="0" rtlCol="0" anchor="t"/>
          <a:lstStyle/>
          <a:p>
            <a:pPr indent="0" marL="0">
              <a:lnSpc>
                <a:spcPct val="125000"/>
              </a:lnSpc>
              <a:buNone/>
            </a:pPr>
            <a:r>
              <a:rPr lang="en-US" sz="1500" dirty="0">
                <a:solidFill>
                  <a:srgbClr val="16213E"/>
                </a:solidFill>
                <a:latin typeface="Calibri" pitchFamily="34" charset="0"/>
                <a:ea typeface="Calibri" pitchFamily="34" charset="-122"/>
                <a:cs typeface="Calibri" pitchFamily="34" charset="-120"/>
              </a:rPr>
              <a:t>Points per shot (0.83 for the long two vs. 1.13 for three, in this module's real 2017-18 regular-season data) can rank two zones in the opposite order that field goal percentage alone would suggest.</a:t>
            </a:r>
            <a:endParaRPr lang="en-US" sz="1500" dirty="0"/>
          </a:p>
        </p:txBody>
      </p:sp>
      <p:sp>
        <p:nvSpPr>
          <p:cNvPr id="8" name="Shape 6"/>
          <p:cNvSpPr/>
          <p:nvPr/>
        </p:nvSpPr>
        <p:spPr>
          <a:xfrm>
            <a:off x="548640" y="3840480"/>
            <a:ext cx="164592" cy="164592"/>
          </a:xfrm>
          <a:prstGeom prst="rect">
            <a:avLst/>
          </a:prstGeom>
          <a:solidFill>
            <a:srgbClr val="27496D"/>
          </a:solidFill>
          <a:ln/>
        </p:spPr>
      </p:sp>
      <p:sp>
        <p:nvSpPr>
          <p:cNvPr id="9" name="Text 7"/>
          <p:cNvSpPr txBox="1"/>
          <p:nvPr/>
        </p:nvSpPr>
        <p:spPr>
          <a:xfrm>
            <a:off x="914400" y="3703320"/>
            <a:ext cx="10725912" cy="822960"/>
          </a:xfrm>
          <a:prstGeom prst="rect">
            <a:avLst/>
          </a:prstGeom>
          <a:noFill/>
          <a:ln/>
        </p:spPr>
        <p:txBody>
          <a:bodyPr wrap="square" lIns="0" tIns="0" rIns="0" bIns="0" rtlCol="0" anchor="t"/>
          <a:lstStyle/>
          <a:p>
            <a:pPr indent="0" marL="0">
              <a:lnSpc>
                <a:spcPct val="125000"/>
              </a:lnSpc>
              <a:buNone/>
            </a:pPr>
            <a:r>
              <a:rPr lang="en-US" sz="1500" dirty="0">
                <a:solidFill>
                  <a:srgbClr val="16213E"/>
                </a:solidFill>
                <a:latin typeface="Calibri" pitchFamily="34" charset="0"/>
                <a:ea typeface="Calibri" pitchFamily="34" charset="-122"/>
                <a:cs typeface="Calibri" pitchFamily="34" charset="-120"/>
              </a:rPr>
              <a:t>"Moreyball" is a real, measurable pattern: Houston's real 82.2% rim-plus-three share versus Cleveland's 66.0% is direct evidence of two different real shot-selection philosophies.</a:t>
            </a:r>
            <a:endParaRPr lang="en-US" sz="1500" dirty="0"/>
          </a:p>
        </p:txBody>
      </p:sp>
      <p:sp>
        <p:nvSpPr>
          <p:cNvPr id="10" name="Shape 8"/>
          <p:cNvSpPr/>
          <p:nvPr/>
        </p:nvSpPr>
        <p:spPr>
          <a:xfrm>
            <a:off x="548640" y="4754880"/>
            <a:ext cx="164592" cy="164592"/>
          </a:xfrm>
          <a:prstGeom prst="rect">
            <a:avLst/>
          </a:prstGeom>
          <a:solidFill>
            <a:srgbClr val="E4572E"/>
          </a:solidFill>
          <a:ln/>
        </p:spPr>
      </p:sp>
      <p:sp>
        <p:nvSpPr>
          <p:cNvPr id="11" name="Text 9"/>
          <p:cNvSpPr txBox="1"/>
          <p:nvPr/>
        </p:nvSpPr>
        <p:spPr>
          <a:xfrm>
            <a:off x="914400" y="4617720"/>
            <a:ext cx="10725912" cy="822960"/>
          </a:xfrm>
          <a:prstGeom prst="rect">
            <a:avLst/>
          </a:prstGeom>
          <a:noFill/>
          <a:ln/>
        </p:spPr>
        <p:txBody>
          <a:bodyPr wrap="square" lIns="0" tIns="0" rIns="0" bIns="0" rtlCol="0" anchor="t"/>
          <a:lstStyle/>
          <a:p>
            <a:pPr indent="0" marL="0">
              <a:lnSpc>
                <a:spcPct val="125000"/>
              </a:lnSpc>
              <a:buNone/>
            </a:pPr>
            <a:r>
              <a:rPr lang="en-US" sz="1500" dirty="0">
                <a:solidFill>
                  <a:srgbClr val="16213E"/>
                </a:solidFill>
                <a:latin typeface="Calibri" pitchFamily="34" charset="0"/>
                <a:ea typeface="Calibri" pitchFamily="34" charset="-122"/>
                <a:cs typeface="Calibri" pitchFamily="34" charset="-120"/>
              </a:rPr>
              <a:t>Every number in this module came from PbP.BDB, Golden State's real, complete 2017-18 NBA regular-season play-by-play log, reproducible by anyone who runs the script.</a:t>
            </a:r>
            <a:endParaRPr lang="en-US" sz="15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BEFORE MODULE 05</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3000" b="1" dirty="0">
                <a:solidFill>
                  <a:srgbClr val="16213E"/>
                </a:solidFill>
                <a:latin typeface="Cambria" pitchFamily="34" charset="0"/>
                <a:ea typeface="Cambria" pitchFamily="34" charset="-122"/>
                <a:cs typeface="Cambria" pitchFamily="34" charset="-120"/>
              </a:rPr>
              <a:t>Two Things Before Next Class</a:t>
            </a:r>
            <a:endParaRPr lang="en-US" sz="3000" dirty="0"/>
          </a:p>
        </p:txBody>
      </p:sp>
      <p:sp>
        <p:nvSpPr>
          <p:cNvPr id="4" name="Shape 2"/>
          <p:cNvSpPr/>
          <p:nvPr/>
        </p:nvSpPr>
        <p:spPr>
          <a:xfrm>
            <a:off x="548640" y="2103120"/>
            <a:ext cx="5362956" cy="2377440"/>
          </a:xfrm>
          <a:prstGeom prst="roundRect">
            <a:avLst>
              <a:gd name="adj" fmla="val 2308"/>
            </a:avLst>
          </a:prstGeom>
          <a:solidFill>
            <a:srgbClr val="EDF1F7"/>
          </a:solidFill>
          <a:ln/>
        </p:spPr>
      </p:sp>
      <p:sp>
        <p:nvSpPr>
          <p:cNvPr id="5" name="Text 3"/>
          <p:cNvSpPr txBox="1"/>
          <p:nvPr/>
        </p:nvSpPr>
        <p:spPr>
          <a:xfrm>
            <a:off x="822960" y="2331720"/>
            <a:ext cx="4814316" cy="365760"/>
          </a:xfrm>
          <a:prstGeom prst="rect">
            <a:avLst/>
          </a:prstGeom>
          <a:noFill/>
          <a:ln/>
        </p:spPr>
        <p:txBody>
          <a:bodyPr wrap="square" lIns="0" tIns="0" rIns="0" bIns="0" rtlCol="0" anchor="ctr"/>
          <a:lstStyle/>
          <a:p>
            <a:pPr indent="0" marL="0">
              <a:buNone/>
            </a:pPr>
            <a:r>
              <a:rPr lang="en-US" sz="1300" b="1" dirty="0">
                <a:solidFill>
                  <a:srgbClr val="E4572E"/>
                </a:solidFill>
                <a:latin typeface="Calibri" pitchFamily="34" charset="0"/>
                <a:ea typeface="Calibri" pitchFamily="34" charset="-122"/>
                <a:cs typeface="Calibri" pitchFamily="34" charset="-120"/>
              </a:rPr>
              <a:t>Read</a:t>
            </a:r>
            <a:endParaRPr lang="en-US" sz="1300" dirty="0"/>
          </a:p>
        </p:txBody>
      </p:sp>
      <p:sp>
        <p:nvSpPr>
          <p:cNvPr id="6" name="Text 4"/>
          <p:cNvSpPr txBox="1"/>
          <p:nvPr/>
        </p:nvSpPr>
        <p:spPr>
          <a:xfrm>
            <a:off x="822960" y="2743200"/>
            <a:ext cx="4814316" cy="1463040"/>
          </a:xfrm>
          <a:prstGeom prst="rect">
            <a:avLst/>
          </a:prstGeom>
          <a:noFill/>
          <a:ln/>
        </p:spPr>
        <p:txBody>
          <a:bodyPr wrap="square" lIns="0" tIns="0" rIns="0" bIns="0" rtlCol="0" anchor="t"/>
          <a:lstStyle/>
          <a:p>
            <a:pPr indent="0" marL="0">
              <a:lnSpc>
                <a:spcPct val="125000"/>
              </a:lnSpc>
              <a:buNone/>
            </a:pPr>
            <a:r>
              <a:rPr lang="en-US" sz="1400" dirty="0">
                <a:solidFill>
                  <a:srgbClr val="16213E"/>
                </a:solidFill>
                <a:latin typeface="Calibri" pitchFamily="34" charset="0"/>
                <a:ea typeface="Calibri" pitchFamily="34" charset="-122"/>
                <a:cs typeface="Calibri" pitchFamily="34" charset="-120"/>
              </a:rPr>
              <a:t>Basketball Data Science, Ch. 3 (the first half, on correlation and player networks).</a:t>
            </a:r>
            <a:endParaRPr lang="en-US" sz="1400" dirty="0"/>
          </a:p>
        </p:txBody>
      </p:sp>
      <p:sp>
        <p:nvSpPr>
          <p:cNvPr id="7" name="Shape 5"/>
          <p:cNvSpPr/>
          <p:nvPr/>
        </p:nvSpPr>
        <p:spPr>
          <a:xfrm>
            <a:off x="6277356" y="2103120"/>
            <a:ext cx="5362956" cy="2377440"/>
          </a:xfrm>
          <a:prstGeom prst="roundRect">
            <a:avLst>
              <a:gd name="adj" fmla="val 2308"/>
            </a:avLst>
          </a:prstGeom>
          <a:solidFill>
            <a:srgbClr val="EDF1F7"/>
          </a:solidFill>
          <a:ln/>
        </p:spPr>
      </p:sp>
      <p:sp>
        <p:nvSpPr>
          <p:cNvPr id="8" name="Text 6"/>
          <p:cNvSpPr txBox="1"/>
          <p:nvPr/>
        </p:nvSpPr>
        <p:spPr>
          <a:xfrm>
            <a:off x="6551676" y="2331720"/>
            <a:ext cx="4814316" cy="365760"/>
          </a:xfrm>
          <a:prstGeom prst="rect">
            <a:avLst/>
          </a:prstGeom>
          <a:noFill/>
          <a:ln/>
        </p:spPr>
        <p:txBody>
          <a:bodyPr wrap="square" lIns="0" tIns="0" rIns="0" bIns="0" rtlCol="0" anchor="ctr"/>
          <a:lstStyle/>
          <a:p>
            <a:pPr indent="0" marL="0">
              <a:buNone/>
            </a:pPr>
            <a:r>
              <a:rPr lang="en-US" sz="1300" b="1" dirty="0">
                <a:solidFill>
                  <a:srgbClr val="E4572E"/>
                </a:solidFill>
                <a:latin typeface="Calibri" pitchFamily="34" charset="0"/>
                <a:ea typeface="Calibri" pitchFamily="34" charset="-122"/>
                <a:cs typeface="Calibri" pitchFamily="34" charset="-120"/>
              </a:rPr>
              <a:t>Do</a:t>
            </a:r>
            <a:endParaRPr lang="en-US" sz="1300" dirty="0"/>
          </a:p>
        </p:txBody>
      </p:sp>
      <p:sp>
        <p:nvSpPr>
          <p:cNvPr id="9" name="Text 7"/>
          <p:cNvSpPr txBox="1"/>
          <p:nvPr/>
        </p:nvSpPr>
        <p:spPr>
          <a:xfrm>
            <a:off x="6551676" y="2743200"/>
            <a:ext cx="4814316" cy="1463040"/>
          </a:xfrm>
          <a:prstGeom prst="rect">
            <a:avLst/>
          </a:prstGeom>
          <a:noFill/>
          <a:ln/>
        </p:spPr>
        <p:txBody>
          <a:bodyPr wrap="square" lIns="0" tIns="0" rIns="0" bIns="0" rtlCol="0" anchor="t"/>
          <a:lstStyle/>
          <a:p>
            <a:pPr indent="0" marL="0">
              <a:lnSpc>
                <a:spcPct val="125000"/>
              </a:lnSpc>
              <a:buNone/>
            </a:pPr>
            <a:r>
              <a:rPr lang="en-US" sz="1400" dirty="0">
                <a:solidFill>
                  <a:srgbClr val="16213E"/>
                </a:solidFill>
                <a:latin typeface="Calibri" pitchFamily="34" charset="0"/>
                <a:ea typeface="Calibri" pitchFamily="34" charset="-122"/>
                <a:cs typeface="Calibri" pitchFamily="34" charset="-120"/>
              </a:rPr>
              <a:t>Complete Lab 4 (shot charts and spatial data), the practice questions, and the Module 4 quiz on D2L.</a:t>
            </a:r>
            <a:endParaRPr lang="en-US" sz="14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FULL READING LIST</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3000" b="1" dirty="0">
                <a:solidFill>
                  <a:srgbClr val="16213E"/>
                </a:solidFill>
                <a:latin typeface="Cambria" pitchFamily="34" charset="0"/>
                <a:ea typeface="Cambria" pitchFamily="34" charset="-122"/>
                <a:cs typeface="Cambria" pitchFamily="34" charset="-120"/>
              </a:rPr>
              <a:t>References Cited Today</a:t>
            </a:r>
            <a:endParaRPr lang="en-US" sz="3000" dirty="0"/>
          </a:p>
        </p:txBody>
      </p:sp>
      <p:sp>
        <p:nvSpPr>
          <p:cNvPr id="4" name="Text 2"/>
          <p:cNvSpPr txBox="1"/>
          <p:nvPr/>
        </p:nvSpPr>
        <p:spPr>
          <a:xfrm>
            <a:off x="548640" y="1920240"/>
            <a:ext cx="11091672" cy="914400"/>
          </a:xfrm>
          <a:prstGeom prst="rect">
            <a:avLst/>
          </a:prstGeom>
          <a:noFill/>
          <a:ln/>
        </p:spPr>
        <p:txBody>
          <a:bodyPr wrap="square" lIns="0" tIns="0" rIns="0" bIns="0" rtlCol="0" anchor="t"/>
          <a:lstStyle/>
          <a:p>
            <a:pPr indent="0" marL="0">
              <a:lnSpc>
                <a:spcPct val="160000"/>
              </a:lnSpc>
              <a:buNone/>
            </a:pPr>
            <a:r>
              <a:rPr lang="en-US" sz="1400" dirty="0">
                <a:solidFill>
                  <a:srgbClr val="16213E"/>
                </a:solidFill>
                <a:latin typeface="Calibri" pitchFamily="34" charset="0"/>
                <a:ea typeface="Calibri" pitchFamily="34" charset="-122"/>
                <a:cs typeface="Calibri" pitchFamily="34" charset="-120"/>
              </a:rPr>
              <a:t>Zuccolotto, P., &amp; Manisera, M. (2020). Basketball Data Science: With Applications in R, Ch. 2. Chapman &amp; Hall/CRC.</a:t>
            </a:r>
            <a:endParaRPr lang="en-US" sz="1400" dirty="0"/>
          </a:p>
          <a:p>
            <a:pPr indent="0" marL="0">
              <a:lnSpc>
                <a:spcPct val="160000"/>
              </a:lnSpc>
              <a:buNone/>
            </a:pPr>
            <a:endParaRPr lang="en-US" sz="1400" dirty="0"/>
          </a:p>
          <a:p>
            <a:pPr indent="0" marL="0">
              <a:lnSpc>
                <a:spcPct val="160000"/>
              </a:lnSpc>
              <a:buNone/>
            </a:pPr>
            <a:r>
              <a:rPr lang="en-US" sz="1400" dirty="0">
                <a:solidFill>
                  <a:srgbClr val="16213E"/>
                </a:solidFill>
                <a:latin typeface="Calibri" pitchFamily="34" charset="0"/>
                <a:ea typeface="Calibri" pitchFamily="34" charset="-122"/>
                <a:cs typeface="Calibri" pitchFamily="34" charset="-120"/>
              </a:rPr>
              <a:t>Zuccolotto, Manisera &amp; Sandri. BasketballAnalyzeR (R package), shotchart() function and the PbP.BDB dataset (Golden State Warriors' real, complete 2017-18 NBA regular season). CRAN.</a:t>
            </a:r>
            <a:endParaRPr lang="en-US" sz="1400" dirty="0"/>
          </a:p>
          <a:p>
            <a:pPr indent="0" marL="0">
              <a:lnSpc>
                <a:spcPct val="160000"/>
              </a:lnSpc>
              <a:buNone/>
            </a:pPr>
            <a:endParaRPr lang="en-US" sz="1400" dirty="0"/>
          </a:p>
          <a:p>
            <a:pPr indent="0" marL="0">
              <a:lnSpc>
                <a:spcPct val="160000"/>
              </a:lnSpc>
              <a:buNone/>
            </a:pPr>
            <a:r>
              <a:rPr lang="en-US" sz="1400" dirty="0">
                <a:solidFill>
                  <a:srgbClr val="16213E"/>
                </a:solidFill>
                <a:latin typeface="Calibri" pitchFamily="34" charset="0"/>
                <a:ea typeface="Calibri" pitchFamily="34" charset="-122"/>
                <a:cs typeface="Calibri" pitchFamily="34" charset="-120"/>
              </a:rPr>
              <a:t>Digital Innovation and Transformation, Harvard Business School (2023). "Houston Rockets and 'Moreyball.'"</a:t>
            </a:r>
            <a:endParaRPr lang="en-US" sz="14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B1D33"/>
        </a:solidFill>
      </p:bgPr>
    </p:bg>
    <p:spTree>
      <p:nvGrpSpPr>
        <p:cNvPr id="1" name=""/>
        <p:cNvGrpSpPr/>
        <p:nvPr/>
      </p:nvGrpSpPr>
      <p:grpSpPr>
        <a:xfrm>
          <a:off x="0" y="0"/>
          <a:ext cx="0" cy="0"/>
          <a:chOff x="0" y="0"/>
          <a:chExt cx="0" cy="0"/>
        </a:xfrm>
      </p:grpSpPr>
      <p:sp>
        <p:nvSpPr>
          <p:cNvPr id="2" name="Text 0"/>
          <p:cNvSpPr txBox="1"/>
          <p:nvPr/>
        </p:nvSpPr>
        <p:spPr>
          <a:xfrm>
            <a:off x="548640" y="2834640"/>
            <a:ext cx="11091672" cy="9144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See You in Module 05</a:t>
            </a:r>
            <a:endParaRPr lang="en-US" sz="4000" dirty="0"/>
          </a:p>
        </p:txBody>
      </p:sp>
      <p:sp>
        <p:nvSpPr>
          <p:cNvPr id="3" name="Text 1"/>
          <p:cNvSpPr txBox="1"/>
          <p:nvPr/>
        </p:nvSpPr>
        <p:spPr>
          <a:xfrm>
            <a:off x="548640" y="3749040"/>
            <a:ext cx="11091672" cy="548640"/>
          </a:xfrm>
          <a:prstGeom prst="rect">
            <a:avLst/>
          </a:prstGeom>
          <a:noFill/>
          <a:ln/>
        </p:spPr>
        <p:txBody>
          <a:bodyPr wrap="square" lIns="0" tIns="0" rIns="0" bIns="0" rtlCol="0" anchor="ctr"/>
          <a:lstStyle/>
          <a:p>
            <a:pPr indent="0" marL="0">
              <a:buNone/>
            </a:pPr>
            <a:r>
              <a:rPr lang="en-US" sz="1800" dirty="0">
                <a:solidFill>
                  <a:srgbClr val="AEBBD1"/>
                </a:solidFill>
                <a:latin typeface="Calibri" pitchFamily="34" charset="0"/>
                <a:ea typeface="Calibri" pitchFamily="34" charset="-122"/>
                <a:cs typeface="Calibri" pitchFamily="34" charset="-120"/>
              </a:rPr>
              <a:t>Discovering Patterns: Correlation and Player Networks</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49</Slides>
  <Notes>49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49</vt:i4>
      </vt:variant>
    </vt:vector>
  </HeadingPairs>
  <TitlesOfParts>
    <vt:vector size="5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2026-09-21T12:56:09Z</dcterms:created>
  <dcterms:modified xsi:type="dcterms:W3CDTF">2026-09-21T12:56:09Z</dcterms:modified>
</cp:coreProperties>
</file>