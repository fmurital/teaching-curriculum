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notesMasterIdLst>
    <p:notesMasterId r:id="rId5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notesMaster" Target="notesMasters/notesMaster1.xml"/><Relationship Id="rId58" Type="http://schemas.openxmlformats.org/officeDocument/2006/relationships/presProps" Target="presProps.xml"/><Relationship Id="rId59" Type="http://schemas.openxmlformats.org/officeDocument/2006/relationships/viewProps" Target="viewProps.xml"/><Relationship Id="rId60" Type="http://schemas.openxmlformats.org/officeDocument/2006/relationships/theme" Target="theme/theme1.xml"/><Relationship Id="rId6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Discussion: point out that wins are mechanically close to point differential (outscoring opponents IS winning), so part of this R-squared's strength is structural, not a proof that regression always finds relationships this clean. Ask the class for a real variable pair where they would expect a weaker fit before we look at one next. Timing: about 4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Discussion: ask the class why we would expect this relationship to be weaker than Net Rating/Wins. Push toward: turnovers depend on more than just how often a player passes -- decision-making, defensive pressure, and role all matter too. Ask what a coach or front office analyst should and should not conclude from an R-squared this size. Timing: about 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Discussion: Chris Paul's real turnover rate is close to half of Harden's on almost the exact same real assist rate. Ask the class: what does that gap represent that the regression line alone cannot capture? Push toward individual decision-making, shot creation demands, and offensive role, not measurement error. This is the single best moment in the module to reinforce that a regression line describes an average tendency, not a guarantee about any one real player. Timing: about 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Discussion: ask the class what real roster decision could produce a tighter three-point spread on one specific team than the league at large. Push toward deliberate roster construction: a team built around three-point shooting will recruit and play rotation players who all shoot a similar, high real percentage from three, narrowing that one variable's spread relative to a more randomly assembled roster. Timing: about 4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Discussion: ask the class what real basketball story the negative correlation between three-pointers made and both rebounds and blocks tells. Push toward: the league statistically sorts itself into perimeter shooters and interior rebounders/shot-blockers, two different kinds of real players who rarely do both at a high rate. Ask whether any current real player breaks this pattern, and why that would be considered valuable. Timing: about 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745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ANALYTICS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86000"/>
            <a:ext cx="11091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Basketball Data Science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20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E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08 · Modeling Relationships, Regression and Surface Area Dynamics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4251960"/>
            <a:ext cx="3291840" cy="777240"/>
          </a:xfrm>
          <a:prstGeom prst="roundRect">
            <a:avLst>
              <a:gd name="adj" fmla="val 7059"/>
            </a:avLst>
          </a:prstGeom>
          <a:solidFill>
            <a:srgbClr val="16213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42519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Undergraduate · 3-hour session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114800" y="425196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 Chapter 5: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E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Zuccolotto, P., &amp; Manisera, M. (2020). Basketball Data Science: With Applications in R. Chapman &amp; Hall/CRC.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START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Coming Up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91672" cy="1051560"/>
          </a:xfrm>
          <a:prstGeom prst="roundRect">
            <a:avLst>
              <a:gd name="adj" fmla="val 5217"/>
            </a:avLst>
          </a:prstGeom>
          <a:solidFill>
            <a:srgbClr val="EDF1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4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This Week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2011680"/>
            <a:ext cx="7799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 update before class --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11091672" cy="1051560"/>
          </a:xfrm>
          <a:prstGeom prst="roundRect">
            <a:avLst>
              <a:gd name="adj" fmla="val 5217"/>
            </a:avLst>
          </a:prstGeom>
          <a:solidFill>
            <a:srgbClr val="EDF1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24612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4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3246120"/>
            <a:ext cx="7799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 update before class --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480560"/>
            <a:ext cx="11091672" cy="1051560"/>
          </a:xfrm>
          <a:prstGeom prst="roundRect">
            <a:avLst>
              <a:gd name="adj" fmla="val 5217"/>
            </a:avLst>
          </a:prstGeom>
          <a:solidFill>
            <a:srgbClr val="EDF1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448056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4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Hours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4480560"/>
            <a:ext cx="7799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 update before class --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Left Off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91672" cy="2377440"/>
          </a:xfrm>
          <a:prstGeom prst="roundRect">
            <a:avLst>
              <a:gd name="adj" fmla="val 2308"/>
            </a:avLst>
          </a:prstGeom>
          <a:solidFill>
            <a:srgbClr val="EDF1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194560"/>
            <a:ext cx="103601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asked what kind of player and team actually exist in the league, and let real clustering group them by statistical shape instead of trusting a position label. Today I want to ask a different question: how do two real numbers move together, and can I use one to honestly predict the other. Same real 2017-18 data, same BasketballAnalyzeR package.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 FOR THE DAY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We're Headed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62956" cy="1691640"/>
          </a:xfrm>
          <a:prstGeom prst="roundRect">
            <a:avLst>
              <a:gd name="adj" fmla="val 3243"/>
            </a:avLst>
          </a:prstGeom>
          <a:solidFill>
            <a:srgbClr val="EDF1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2148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2148840"/>
            <a:ext cx="44485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 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06040"/>
            <a:ext cx="49057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 team's Net Rating really predict its wins? A real regression, start to finish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7356" y="1965960"/>
            <a:ext cx="5362956" cy="1691640"/>
          </a:xfrm>
          <a:prstGeom prst="roundRect">
            <a:avLst>
              <a:gd name="adj" fmla="val 3243"/>
            </a:avLst>
          </a:prstGeom>
          <a:solidFill>
            <a:srgbClr val="EDF1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05956" y="2148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917436" y="2148840"/>
            <a:ext cx="44485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 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505956" y="2606040"/>
            <a:ext cx="49057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messier real relationship: assists, turnovers, and what a regression line can't tell you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5362956" cy="1691640"/>
          </a:xfrm>
          <a:prstGeom prst="roundRect">
            <a:avLst>
              <a:gd name="adj" fmla="val 3243"/>
            </a:avLst>
          </a:prstGeom>
          <a:solidFill>
            <a:srgbClr val="EDF1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4069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4069080"/>
            <a:ext cx="44485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 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526280"/>
            <a:ext cx="49057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area dynamics: real variability as area, and a real correlation network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77356" y="3886200"/>
            <a:ext cx="5362956" cy="1691640"/>
          </a:xfrm>
          <a:prstGeom prst="roundRect">
            <a:avLst>
              <a:gd name="adj" fmla="val 3243"/>
            </a:avLst>
          </a:prstGeom>
          <a:solidFill>
            <a:srgbClr val="EDF1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05956" y="4069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917436" y="4069080"/>
            <a:ext cx="44485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Next Class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505956" y="4526280"/>
            <a:ext cx="49057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8, the practice questions, and the Module 8 quiz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Today, You Will Be Able 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411480" cy="411480"/>
          </a:xfrm>
          <a:prstGeom prst="ellipse">
            <a:avLst/>
          </a:prstGeom>
          <a:solidFill>
            <a:srgbClr val="27496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920240"/>
            <a:ext cx="10497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a simple linear regression with BasketballAnalyzeR::simplereg() and explain what R-squared measures.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761488"/>
            <a:ext cx="411480" cy="41148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7614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715768"/>
            <a:ext cx="10497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Explain, using a real example, why a strong real relationship (Net Rating and Wins) looks different from a moderate one (assists and turnovers).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557016"/>
            <a:ext cx="411480" cy="411480"/>
          </a:xfrm>
          <a:prstGeom prst="ellipse">
            <a:avLst/>
          </a:prstGeom>
          <a:solidFill>
            <a:srgbClr val="27496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5570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3511296"/>
            <a:ext cx="10497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read a real mean-variability ("surface area") bubble diagram with variability(), and explain what a larger bubble means.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352544"/>
            <a:ext cx="411480" cy="41148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3525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4306824"/>
            <a:ext cx="10497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read a real correlation network with corranalysis(), and explain what a threshold does to the displayed matrix.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5148072"/>
            <a:ext cx="411480" cy="411480"/>
          </a:xfrm>
          <a:prstGeom prst="ellipse">
            <a:avLst/>
          </a:prstGeom>
          <a:solidFill>
            <a:srgbClr val="27496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1480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5102352"/>
            <a:ext cx="10497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today's real modeling results to positioning and shifting and to game analysis.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· SEGMENT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"What Groups Exist" to "What Predicts What"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91672" cy="1554480"/>
          </a:xfrm>
          <a:prstGeom prst="roundRect">
            <a:avLst>
              <a:gd name="adj" fmla="val 3529"/>
            </a:avLst>
          </a:prstGeom>
          <a:solidFill>
            <a:srgbClr val="EDF1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377440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Clustering, from Module 7, answers "what kind of player or team is this." Regression answers a different question: if I know one real number about a team or player, how well can I predict another real number from it. That's what modeling relationships means, and it's the foundation for almost every predictive model later in this field.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319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274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start with the strongest real relationship in this course so far.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· SEGMENT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Regression Line, In Plain Language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91672" cy="1554480"/>
          </a:xfrm>
          <a:prstGeom prst="roundRect">
            <a:avLst>
              <a:gd name="adj" fmla="val 3529"/>
            </a:avLst>
          </a:prstGeom>
          <a:solidFill>
            <a:srgbClr val="27496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331720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linear regression draws the single straight line that best fits a scatter of real points, one x-value predicting one y-value. R-squared tells you how much of the real up-and-down variation in y is explained by that line, from 0% (the line explains nothing) to 100% (every point sits exactly on it).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319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274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R, this is BasketballAnalyzeR::simplereg(x, y, type = "lin").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BEFORE WE COMPUTE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Net Rating Actually Measure?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91672" cy="3291840"/>
          </a:xfrm>
          <a:prstGeom prst="roundRect">
            <a:avLst>
              <a:gd name="adj" fmla="val 1667"/>
            </a:avLst>
          </a:prstGeom>
          <a:solidFill>
            <a:srgbClr val="0B1D33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2423160"/>
            <a:ext cx="1188720" cy="118872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2560320" y="2286000"/>
            <a:ext cx="8714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Net Rating (NetRtg) In Basketball Analytics?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3063240"/>
            <a:ext cx="8714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Basketball Stats Central  •  runtime not independently confirmed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3429000"/>
            <a:ext cx="8714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https://www.youtube.com/watch?v=A1wZ6_IajNw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3886200"/>
            <a:ext cx="85313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9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concept-explainer covering exactly what Net Rating measures and why it combines offensive and defensive rating into one number, before we build it ourselves from real 2017-18 data.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7496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RUN THIS TOGETHER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77440"/>
            <a:ext cx="110916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open our R package and build real Net Rating together.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319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up your own session. We'll run it line by line and look at the real output together.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EXAMPLE, STEP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Real Net Rating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91672" cy="2834640"/>
          </a:xfrm>
          <a:prstGeom prst="roundRect">
            <a:avLst>
              <a:gd name="adj" fmla="val 1935"/>
            </a:avLst>
          </a:prstGeom>
          <a:solidFill>
            <a:srgbClr val="0B1D3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240280"/>
            <a:ext cx="103601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library(BasketballAnalyzeR)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data(Tbox)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data(Obox)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 &lt;- fourfactors(Tbox, Obox)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NetRtg &lt;- FF$ORtg - FF$DRtg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&lt;- Tbox$W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mod_lin &lt;- simplereg(x = NetRtg, y = W, type = "lin")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mod_lin$R2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029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274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this yourself. You should get the same real R-squared on the next slide.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EXAMPLE, STEP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Net Rating and Real Wins, Top and Bottom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91672" cy="2560320"/>
        </p:xfrm>
        <a:graphic>
          <a:graphicData uri="http://schemas.openxmlformats.org/drawingml/2006/table">
            <a:tbl>
              <a:tblPr/>
              <a:tblGrid>
                <a:gridCol w="5605272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496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Net Rating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496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Wins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496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Houston Rockets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+8.47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Golden State Warriors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+8.04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1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Toronto Raptors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+7.60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Atlanta Hawks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-5.79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1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Chicago Bulls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-7.81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Phoenix Suns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-9.71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1F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75488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74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and worst real Net Rating teams are also, in order, the most and fewest real wins in the league.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3550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fourfactors(Tbox, Obox), 2017-18 NBA season, BasketballAnalyzeR.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EXAMPLE, STEP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 Fitted Line</a:t>
            </a:r>
            <a:endParaRPr lang="en-US" sz="2800" dirty="0"/>
          </a:p>
        </p:txBody>
      </p:sp>
      <p:pic>
        <p:nvPicPr>
          <p:cNvPr id="4" name="Image 0" descr="module8_team_netrtg_wins_regres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0240" y="1600200"/>
            <a:ext cx="8321040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3550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simplereg(x = NetRtg, y = W, type = "lin"), 30 real NBA teams, 2017-18 season.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· READING THE FIT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91.3% of Real Win Variation, Explained by One Number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840480" cy="3108960"/>
          </a:xfrm>
          <a:prstGeom prst="roundRect">
            <a:avLst>
              <a:gd name="adj" fmla="val 1765"/>
            </a:avLst>
          </a:prstGeom>
          <a:solidFill>
            <a:srgbClr val="E457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5603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= 0.9133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65760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 = 40.998 + 2.444 × Net Rating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2103120"/>
            <a:ext cx="642823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means: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91.3% of the real variation in how many games a 2017-18 team won is explained by one single number, its point differential per hundred possessions.
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asking: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relationship this strong because Net Rating causes wins, or because wins and point differential are almost definitionally linked?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ON THE COURT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+8.47 Net Rating Season Actually Looked Like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91672" cy="3291840"/>
          </a:xfrm>
          <a:prstGeom prst="roundRect">
            <a:avLst>
              <a:gd name="adj" fmla="val 1667"/>
            </a:avLst>
          </a:prstGeom>
          <a:solidFill>
            <a:srgbClr val="0B1D33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2423160"/>
            <a:ext cx="1188720" cy="118872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2560320" y="2286000"/>
            <a:ext cx="8714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James Harden's Epic 17-18 MVP Season Highlights (Part 1)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3063240"/>
            <a:ext cx="8714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GOAT SZN  •  runtime not independently confirmed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3429000"/>
            <a:ext cx="8714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https://www.youtube.com/watch?v=tm87jrJ1BTE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3886200"/>
            <a:ext cx="85313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9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game footage from the real 2017-18 Houston Rockets, this module's highest Net Rating team (+8.47) and most wins (65). Watch what that real number looked like on the floor before we move to the next real relationship.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· SEGMENT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a Curve Fit Better Than a Straight Line?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91672" cy="1554480"/>
          </a:xfrm>
          <a:prstGeom prst="roundRect">
            <a:avLst>
              <a:gd name="adj" fmla="val 3529"/>
            </a:avLst>
          </a:prstGeom>
          <a:solidFill>
            <a:srgbClr val="EDF1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377440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simplereg() can also fit a local polynomial curve instead of a straight line, using type = "pol". If the real relationship truly bends, a curve should raise R-squared noticeably. If it's already close to a straight line, the curve should barely help.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319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274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check it on the same real data.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EXAMPLE, STEP 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Linear Fit vs. Real Curved Fit</a:t>
            </a:r>
            <a:endParaRPr lang="en-US" sz="2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91672" cy="1554480"/>
        </p:xfrm>
        <a:graphic>
          <a:graphicData uri="http://schemas.openxmlformats.org/drawingml/2006/table">
            <a:tbl>
              <a:tblPr/>
              <a:tblGrid>
                <a:gridCol w="7434072"/>
                <a:gridCol w="3657600"/>
              </a:tblGrid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496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R-squared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496D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(simplereg type = "lin")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0.9133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polynomial, degree 2 (type = "pol")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0.9527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1F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02336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74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improvement is small, about 4 percentage points. That tells us the true real relationship between Net Rating and Wins is close to a straight line across most of the league, with only a little real curvature at the extremes.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ACTIVITY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Curve Worth It?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91672" cy="2377440"/>
          </a:xfrm>
          <a:prstGeom prst="roundRect">
            <a:avLst>
              <a:gd name="adj" fmla="val 2308"/>
            </a:avLst>
          </a:prstGeom>
          <a:solidFill>
            <a:srgbClr val="EDF1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377440"/>
            <a:ext cx="103601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to the person next to you.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Using only the real numbers on the last slide, decide together whether the extra complexity of the curved model is worth a 4-point real gain in R-squared.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What would make you change your answer: a bigger real gain, a smaller one, or something about how the model will actually be used?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· SEGMENT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Strong Real Relationship, Covered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62956" cy="2651760"/>
          </a:xfrm>
          <a:prstGeom prst="roundRect">
            <a:avLst>
              <a:gd name="adj" fmla="val 2069"/>
            </a:avLst>
          </a:prstGeom>
          <a:solidFill>
            <a:srgbClr val="EDF1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240280"/>
            <a:ext cx="4814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51760"/>
            <a:ext cx="48143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real linear regression of Wins on Net Rating (R-squared 0.9133), compared it to a real curved fit (0.9527), and discussed why the fit is this strong.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77356" y="2011680"/>
            <a:ext cx="5362956" cy="2651760"/>
          </a:xfrm>
          <a:prstGeom prst="roundRect">
            <a:avLst>
              <a:gd name="adj" fmla="val 2069"/>
            </a:avLst>
          </a:prstGeom>
          <a:solidFill>
            <a:srgbClr val="EDF1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51676" y="2240280"/>
            <a:ext cx="4814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551676" y="2651760"/>
            <a:ext cx="48143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2 looks at a much messier real relationship, one where the regression line only tells part of the story.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10-Minute Break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at the top of the hour. Next: assists, turnovers, and a messier real relationship.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· SEGMENT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Every Real Relationship Is This Clean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91672" cy="3108960"/>
          </a:xfrm>
          <a:prstGeom prst="roundRect">
            <a:avLst>
              <a:gd name="adj" fmla="val 1765"/>
            </a:avLst>
          </a:prstGeom>
          <a:solidFill>
            <a:srgbClr val="27496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423160"/>
            <a:ext cx="103601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Ball-handling responsibility should raise turnover risk, but not perfectly and not identically for every player. Let's look at real assists per minute against real turnovers per minute for every 2017-18 rotation player with at least 500 real minutes played, 361 of the league's 605 real players.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BEFORE WE COMPUTE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Assists and Turnovers Together Actually Tell You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91672" cy="3291840"/>
          </a:xfrm>
          <a:prstGeom prst="roundRect">
            <a:avLst>
              <a:gd name="adj" fmla="val 1667"/>
            </a:avLst>
          </a:prstGeom>
          <a:solidFill>
            <a:srgbClr val="0B1D33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2423160"/>
            <a:ext cx="1188720" cy="118872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2560320" y="2286000"/>
            <a:ext cx="8714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Assist To Turnover Ratio?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3063240"/>
            <a:ext cx="8714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Basketball Xpert  •  runtime not independently confirmed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3429000"/>
            <a:ext cx="8714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https://www.youtube.com/watch?v=dwW9JZSMCfg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3886200"/>
            <a:ext cx="85313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9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concept-explainer on assists and turnovers together, useful before we build the real regression between the two rates ourselves.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7496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RUN THIS TOGETHER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77440"/>
            <a:ext cx="110916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build the real assist-turnover regression together.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319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up your own session. We'll run it line by line and look at the real output together.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EXAMPLE, STEP 5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the Real Assist-Turnover Regression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91672" cy="2834640"/>
          </a:xfrm>
          <a:prstGeom prst="roundRect">
            <a:avLst>
              <a:gd name="adj" fmla="val 1935"/>
            </a:avLst>
          </a:prstGeom>
          <a:solidFill>
            <a:srgbClr val="0B1D3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240280"/>
            <a:ext cx="103601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Pbox.sel &lt;- subset(Pbox, MIN &gt;= 500)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&lt;- Pbox.sel$AST / Pbox.sel$MIN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&lt;- Pbox.sel$TOV / Pbox.sel$MIN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 &lt;- Pbox.sel$Player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 &lt;- simplereg(x = X, y = Y, type = "lin")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mod$R2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029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274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BasketballAnalyzeR's own documented example for simplereg(). Run it yourself.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EXAMPLE, STEP 6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 Fitted Line, 361 Real Rotation Players</a:t>
            </a:r>
            <a:endParaRPr lang="en-US" sz="2600" dirty="0"/>
          </a:p>
        </p:txBody>
      </p:sp>
      <p:pic>
        <p:nvPicPr>
          <p:cNvPr id="4" name="Image 0" descr="module8_player_ast_tov_regres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0240" y="1600200"/>
            <a:ext cx="8321040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3550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simplereg(x = AST/MIN, y = TOV/MIN, type = "lin"), real 2017-18 rotation players, MIN &gt;= 500.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· READING A MODERATE FIT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 Than Half the Real Story, and That's Still Useful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840480" cy="3108960"/>
          </a:xfrm>
          <a:prstGeom prst="roundRect">
            <a:avLst>
              <a:gd name="adj" fmla="val 1765"/>
            </a:avLst>
          </a:prstGeom>
          <a:solidFill>
            <a:srgbClr val="E457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5603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= 0.4725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65760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TOV/min = 0.031 + 0.255 × AST/min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2103120"/>
            <a:ext cx="642823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means: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than half of the real variation in turnover rate is explained by assist rate. That's still a real, meaningful relationship; it just leaves plenty of real room for an individual player to differ from it.
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0.4725 here versus 0.9133 for Net Rating and Wins. Same method, two very different real strengths of relationship.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EXAMPLE, STEP 7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Point Guards on the Same Chart</a:t>
            </a:r>
            <a:endParaRPr lang="en-US" sz="28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91672" cy="2560320"/>
        </p:xfrm>
        <a:graphic>
          <a:graphicData uri="http://schemas.openxmlformats.org/drawingml/2006/table">
            <a:tbl>
              <a:tblPr/>
              <a:tblGrid>
                <a:gridCol w="5605272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496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AST/min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496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TOV/min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496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Russell Westbrook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John Wall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1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Chris Paul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James Harden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1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Stephen Curry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Kyrie Irving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1F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75488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74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 Paul and James Harden had nearly identical real assist rates. Look closely at their real turnover rates.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3550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Pbox, real 2017-18 NBA season, BasketballAnalyzeR, MIN &gt;= 500.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· WHAT THE LINE CAN'T TELL YOU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Assist Rate, Very Different Turnover Rate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62956" cy="2834640"/>
          </a:xfrm>
          <a:prstGeom prst="roundRect">
            <a:avLst>
              <a:gd name="adj" fmla="val 1935"/>
            </a:avLst>
          </a:prstGeom>
          <a:solidFill>
            <a:srgbClr val="EDF1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33172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Chris Paul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80360"/>
            <a:ext cx="48143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74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AST/min: 0.247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74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TOV/min: 0.069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77356" y="2103120"/>
            <a:ext cx="5362956" cy="2834640"/>
          </a:xfrm>
          <a:prstGeom prst="roundRect">
            <a:avLst>
              <a:gd name="adj" fmla="val 1935"/>
            </a:avLst>
          </a:prstGeom>
          <a:solidFill>
            <a:srgbClr val="EDF1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51676" y="233172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James Harden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551676" y="2880360"/>
            <a:ext cx="48143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AST/min: 0.247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TOV/min: 0.124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ACTIVITY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Your Own Real Pair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91672" cy="2377440"/>
          </a:xfrm>
          <a:prstGeom prst="roundRect">
            <a:avLst>
              <a:gd name="adj" fmla="val 2308"/>
            </a:avLst>
          </a:prstGeom>
          <a:solidFill>
            <a:srgbClr val="EDF1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377440"/>
            <a:ext cx="103601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up.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Using the real per-player output from Part 2 of today's code, find your own second real pair of players with a similar real assist rate but a different real turnover rate.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 one real sentence, name what you think explains the gap between your two players.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· SEGMENT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Moderate Real Relationship, Covered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62956" cy="2651760"/>
          </a:xfrm>
          <a:prstGeom prst="roundRect">
            <a:avLst>
              <a:gd name="adj" fmla="val 2069"/>
            </a:avLst>
          </a:prstGeom>
          <a:solidFill>
            <a:srgbClr val="EDF1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240280"/>
            <a:ext cx="4814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51760"/>
            <a:ext cx="48143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real regression of turnover rate on assist rate (R-squared 0.4725) and used Chris Paul versus James Harden to see what the line alone can't tell you.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77356" y="2011680"/>
            <a:ext cx="5362956" cy="2651760"/>
          </a:xfrm>
          <a:prstGeom prst="roundRect">
            <a:avLst>
              <a:gd name="adj" fmla="val 2069"/>
            </a:avLst>
          </a:prstGeom>
          <a:solidFill>
            <a:srgbClr val="EDF1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51676" y="2240280"/>
            <a:ext cx="4814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551676" y="2651760"/>
            <a:ext cx="48143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3 turns from relationships between two variables to real variability as a visual surface, plus a real correlation network.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10-Minute Break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at the top of the hour. Next: real variability as a surface, and a real correlation network.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· SEGMENT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Surface Area Dynamics: Variability as Area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91672" cy="1554480"/>
          </a:xfrm>
          <a:prstGeom prst="roundRect">
            <a:avLst>
              <a:gd name="adj" fmla="val 3529"/>
            </a:avLst>
          </a:prstGeom>
          <a:solidFill>
            <a:srgbClr val="EDF1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377440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far we've measured how two variables relate. Now let's measure how much a single variable actually varies from player to player, and picture that spread as a real bubble, where the bubble's real area is its weighted standard deviation. That's where this module's title comes from.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319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274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R, this is BasketballAnalyzeR::variability().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· SEGMENT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Weight the Spread by Shot Volume?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91672" cy="1554480"/>
          </a:xfrm>
          <a:prstGeom prst="roundRect">
            <a:avLst>
              <a:gd name="adj" fmla="val 3529"/>
            </a:avLst>
          </a:prstGeom>
          <a:solidFill>
            <a:srgbClr val="27496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331720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player with 11 real three-point attempts (Tarik Black, 2017-18) should not swing a shooting-percentage chart as much as a player with 722 real attempts (James Harden). Weighting the real standard deviation by real shot attempts keeps small, noisy samples from dominating the picture.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319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274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variability(data, data.var, size.var, weight = TRUE) does this automatically.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BEFORE WE COMPUTE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Free Throw Shooting Varies So Much Between Players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91672" cy="3291840"/>
          </a:xfrm>
          <a:prstGeom prst="roundRect">
            <a:avLst>
              <a:gd name="adj" fmla="val 1667"/>
            </a:avLst>
          </a:prstGeom>
          <a:solidFill>
            <a:srgbClr val="0B1D33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2423160"/>
            <a:ext cx="1188720" cy="118872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2560320" y="2286000"/>
            <a:ext cx="8714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Shooting 95% From the Free-Throw Line Is Almost Impossible (ft. Steve Nash)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3063240"/>
            <a:ext cx="8714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WIRED  •  runtime not independently confirmed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3429000"/>
            <a:ext cx="8714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https://www.youtube.com/watch?v=BKIOqbx3sbU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3886200"/>
            <a:ext cx="85313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9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concept-explainer on why free throw percentage varies so much from player to player, real, unguarded, mechanics-driven shooting. This sets up today's finding that free throw percentage produced the real largest bubble in our variability diagram.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27496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RUN THIS TOGETHER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77440"/>
            <a:ext cx="110916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build the real Houston Rockets variability diagram together.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319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up your own session. We'll run it line by line and look at the real output together.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EXAMPLE, STEP 8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the Real "Surface" Diagram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91672" cy="2834640"/>
          </a:xfrm>
          <a:prstGeom prst="roundRect">
            <a:avLst>
              <a:gd name="adj" fmla="val 1935"/>
            </a:avLst>
          </a:prstGeom>
          <a:solidFill>
            <a:srgbClr val="0B1D3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240280"/>
            <a:ext cx="103601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Pbox.BC &lt;- subset(Pbox, Team == "Houston Rockets" &amp; MIN &gt;= 500,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= c("Player","P2p","P3p","FTp","P2A","P3A","FTA"))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list_variability &lt;- variability(data = Pbox.BC,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data.var = c("P2p","P3p","FTp"),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size.var = c("P2A","P3A","FTA"), weight = TRUE)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plot(list_variability, max.circle = 30)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029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274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BasketballAnalyzeR's own documented example for variability(), applied to our own real team.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EXAMPLE, STEP 9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 Houston Rockets Variability Diagram</a:t>
            </a:r>
            <a:endParaRPr lang="en-US" sz="2600" dirty="0"/>
          </a:p>
        </p:txBody>
      </p:sp>
      <p:pic>
        <p:nvPicPr>
          <p:cNvPr id="4" name="Image 0" descr="module8_rockets_variability_surf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600200"/>
            <a:ext cx="9692640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3550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variability(), real 2017-18 Houston Rockets rotation (12 players, MIN &gt;= 500), weighted by real shot attempts.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EXAMPLE, STEP 10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Real Shooting Split Varies Most?</a:t>
            </a:r>
            <a:endParaRPr lang="en-US" sz="28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91672" cy="2011680"/>
        </p:xfrm>
        <a:graphic>
          <a:graphicData uri="http://schemas.openxmlformats.org/drawingml/2006/table">
            <a:tbl>
              <a:tblPr/>
              <a:tblGrid>
                <a:gridCol w="3776472"/>
                <a:gridCol w="3657600"/>
                <a:gridCol w="36576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Shooting split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496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weighted SD (Rockets)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496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weighted SD (league)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496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Two-point percentage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Three-point percentage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1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throw percentage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12.64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29768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74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throw percentage produced the real largest bubble on both charts, from Tarik Black's real 46.0% to Joe Johnson's real 95.2% on the very same roster.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3550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Pbox, real 2017-18 NBA season, BasketballAnalyzeR.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EXAMPLE, STEP 11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Real Diagram, League-Wide</a:t>
            </a:r>
            <a:endParaRPr lang="en-US" sz="2800" dirty="0"/>
          </a:p>
        </p:txBody>
      </p:sp>
      <p:pic>
        <p:nvPicPr>
          <p:cNvPr id="4" name="Image 0" descr="module8_league_variability_surf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600200"/>
            <a:ext cx="9692640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3550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variability(), real 2017-18 rotation players league-wide (361 players, MIN &gt;= 500), weighted by real shot attempts.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· A REAL ROSTER-BUILDING SIGNATURE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Real Number That Doesn't Match the League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91672" cy="2834640"/>
          </a:xfrm>
          <a:prstGeom prst="roundRect">
            <a:avLst>
              <a:gd name="adj" fmla="val 1935"/>
            </a:avLst>
          </a:prstGeom>
          <a:solidFill>
            <a:srgbClr val="EDF1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377440"/>
            <a:ext cx="103601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Rockets' real three-point weighted SD (2.41) was noticeably tighter than the real league-wide three-point weighted SD (4.46), the opposite direction from free throw and two-point percentage, which stayed close to the league pattern.</a:t>
            </a:r>
            <a:endParaRPr lang="en-US" sz="1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ACTIVITY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a Different Real Team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91672" cy="2377440"/>
          </a:xfrm>
          <a:prstGeom prst="roundRect">
            <a:avLst>
              <a:gd name="adj" fmla="val 2308"/>
            </a:avLst>
          </a:prstGeom>
          <a:solidFill>
            <a:srgbClr val="EDF1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377440"/>
            <a:ext cx="103601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into small groups (3-4 students). I'll assign your group a different real 2017-18 team.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Swap Team == "Houston Rockets" for your team and rerun Part 4 of today's code.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Which real shooting split has the largest bubble on your team? Does it match the Rockets, or is it different?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Report your team's real largest bubble back to the class.</a:t>
            </a:r>
            <a:endParaRPr lang="en-US" sz="15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· SURFACE AREA DYNAMICS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Variability as Area, Covered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91672" cy="1828800"/>
          </a:xfrm>
          <a:prstGeom prst="roundRect">
            <a:avLst>
              <a:gd name="adj" fmla="val 3000"/>
            </a:avLst>
          </a:prstGeom>
          <a:solidFill>
            <a:srgbClr val="EDF1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real weighted variability diagram for the Rockets and for the league, found free throw percentage produces the real largest bubble both times, and found one real number, three-point spread, where the Rockets clearly differ from the league.</a:t>
            </a:r>
            <a:endParaRPr lang="en-US" sz="15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· SEGMENT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Last Real Tool: A Correlation Network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91672" cy="1554480"/>
          </a:xfrm>
          <a:prstGeom prst="roundRect">
            <a:avLst>
              <a:gd name="adj" fmla="val 3529"/>
            </a:avLst>
          </a:prstGeom>
          <a:solidFill>
            <a:srgbClr val="27496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331720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corranalysis() computes a real correlation matrix across several variables at once, then draws it as a network, connecting only the pairs whose real correlation clears a threshold you set. It's a fast way to see which real relationships in a whole dataset are actually worth a closer look.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319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274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use a threshold of 0.5: anything weaker gets zeroed out of the display.</a:t>
            </a:r>
            <a:endParaRPr lang="en-US" sz="1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27496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RUN THIS TOGETHER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77440"/>
            <a:ext cx="110916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build the real correlation network together.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319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up your own session. We'll run it line by line and look at the real output together.</a:t>
            </a:r>
            <a:endParaRPr lang="en-US" sz="16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EXAMPLE, STEP 12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the Real Correlation Network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91672" cy="2834640"/>
          </a:xfrm>
          <a:prstGeom prst="roundRect">
            <a:avLst>
              <a:gd name="adj" fmla="val 1935"/>
            </a:avLst>
          </a:prstGeom>
          <a:solidFill>
            <a:srgbClr val="0B1D3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240280"/>
            <a:ext cx="103601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data_permin &lt;- data.frame(Pbox$PTS, Pbox$P3M, Pbox$P2M,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Pbox$OREB + Pbox$DREB, Pbox$AST, Pbox$TOV,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Pbox$STL, Pbox$BLK) / Pbox$MIN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names(data_permin) &lt;- c("PTS","P3M","P2M","REB","AST","TOV","STL","BLK")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data_permin &lt;- subset(data_permin, Pbox$MIN &gt;= 500)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out_corr &lt;- corranalysis(data_permin, threshold = 0.5)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plot(out_corr)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029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274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BasketballAnalyzeR's own documented example for corranalysis(). Run it yourself.</a:t>
            </a:r>
            <a:endParaRPr lang="en-US" sz="13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EXAMPLE, STEP 13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 Network, 361 Real Rotation Players</a:t>
            </a:r>
            <a:endParaRPr lang="en-US" sz="2600" dirty="0"/>
          </a:p>
        </p:txBody>
      </p:sp>
      <p:pic>
        <p:nvPicPr>
          <p:cNvPr id="4" name="Image 0" descr="module8_permin_correlation_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0" y="1554480"/>
            <a:ext cx="7589520" cy="46177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3550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corranalysis(data_permin, threshold = 0.5), real per-minute rates, 2017-18 NBA season, MIN &gt;= 500.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· CONFIRMING SEGMENT 2, AT SCALE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Strongest Real Pair in the Whole Network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840480" cy="3108960"/>
          </a:xfrm>
          <a:prstGeom prst="roundRect">
            <a:avLst>
              <a:gd name="adj" fmla="val 1765"/>
            </a:avLst>
          </a:prstGeom>
          <a:solidFill>
            <a:srgbClr val="E457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5603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0.687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65760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correlation between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assists and turnovers,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minute, league-wide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2103120"/>
            <a:ext cx="642823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same real pattern from Segment 2's Chris Paul versus Harden comparison, now confirmed across all 361 real rotation players, not just eight point guards.
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 the network: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rebounds and blocks correlate at a real 0.640, while three-pointers made correlate negatively with both rebounds (-0.518) and blocks (-0.469).</a:t>
            </a:r>
            <a:endParaRPr lang="en-US" sz="14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SYNTAX TUTORIAL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Second Walkthrough of Fitting a Regression in 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91672" cy="3291840"/>
          </a:xfrm>
          <a:prstGeom prst="roundRect">
            <a:avLst>
              <a:gd name="adj" fmla="val 1667"/>
            </a:avLst>
          </a:prstGeom>
          <a:solidFill>
            <a:srgbClr val="0B1D33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2423160"/>
            <a:ext cx="1188720" cy="118872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2560320" y="2286000"/>
            <a:ext cx="8714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Linear Regression in R | R Tutorial 5.1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3063240"/>
            <a:ext cx="8714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MarinStatsLectures  •  runtime not independently confirmed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3429000"/>
            <a:ext cx="8714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https://www.youtube.com/watch?v=66z_MRwtFJM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3886200"/>
            <a:ext cx="85313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9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coding-syntax tutorial on fitting and reading a simple linear regression in R, useful alongside today's live coding for anyone who wants a second walkthrough of lm()-style fitting before or after seeing simplereg() in class.</a:t>
            </a:r>
            <a:endParaRPr lang="en-US" sz="13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4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THROUGHLINE · POSITIONING AND SHIFTING, GAME ANALYSIS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Roles and Games from Real Relationships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4864" cy="2926080"/>
          </a:xfrm>
          <a:prstGeom prst="rect">
            <a:avLst/>
          </a:prstGeom>
          <a:solidFill>
            <a:srgbClr val="27496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0116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4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question: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7744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i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real relationships between variables to understand how a player's role is built and how a single game or season actually unfolds.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383280"/>
            <a:ext cx="107259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correlation network's split between perimeter shooters and interior rebounders and shot-blockers is a statistical picture of positioning: where a player operates on the floor shapes which real numbers move together for them. The real Net Rating and Wins relationship is squarely game and season analysis, a front office or broadcast tool for explaining outcomes with one honest number instead of a scoreboard alone.</a:t>
            </a:r>
            <a:endParaRPr lang="en-US" sz="14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 Real Network Yourself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91672" cy="2377440"/>
          </a:xfrm>
          <a:prstGeom prst="roundRect">
            <a:avLst>
              <a:gd name="adj" fmla="val 2308"/>
            </a:avLst>
          </a:prstGeom>
          <a:solidFill>
            <a:srgbClr val="EDF1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377440"/>
            <a:ext cx="103601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back at the real correlation network.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Find one real pair of variables connected by a line.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 one sentence, give a real basketball explanation for why that pair moves together.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Would you expect that same real pair to correlate this strongly in a different season? Why or why not?</a:t>
            </a:r>
            <a:endParaRPr lang="en-US" sz="16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ACTIVITY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Defend a Real Correlated Pair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91672" cy="2377440"/>
          </a:xfrm>
          <a:prstGeom prst="roundRect">
            <a:avLst>
              <a:gd name="adj" fmla="val 2308"/>
            </a:avLst>
          </a:prstGeom>
          <a:solidFill>
            <a:srgbClr val="EDF1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377440"/>
            <a:ext cx="103601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groups (3-4 students). I'll assign your group one real correlated pair from today's network: assists and turnovers, rebounds and blocks, or three-pointers made against rebounds and blocks.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one real basketball explanation for why your pair moves together, and be ready to defend it to the class using today's actual numbers.</a:t>
            </a:r>
            <a:endParaRPr lang="en-US" sz="15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· SEGMENT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Surface Area and the Network, Covered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62956" cy="2651760"/>
          </a:xfrm>
          <a:prstGeom prst="roundRect">
            <a:avLst>
              <a:gd name="adj" fmla="val 2069"/>
            </a:avLst>
          </a:prstGeom>
          <a:solidFill>
            <a:srgbClr val="EDF1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240280"/>
            <a:ext cx="4814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51760"/>
            <a:ext cx="48143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real variability diagrams for a team and the league, and a real correlation network across eight per-minute stats, confirming Segment 2's pattern at league scale.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77356" y="2011680"/>
            <a:ext cx="5362956" cy="2651760"/>
          </a:xfrm>
          <a:prstGeom prst="roundRect">
            <a:avLst>
              <a:gd name="adj" fmla="val 2069"/>
            </a:avLst>
          </a:prstGeom>
          <a:solidFill>
            <a:srgbClr val="EDF1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51676" y="2240280"/>
            <a:ext cx="4814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551676" y="2651760"/>
            <a:ext cx="48143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 puts everything from Modules 1 through 8 into one applied BasketballAnalyzeR toolkit workflow.</a:t>
            </a:r>
            <a:endParaRPr lang="en-US" sz="14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Carry Forward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64592" cy="164592"/>
          </a:xfrm>
          <a:prstGeom prst="rect">
            <a:avLst/>
          </a:prstGeom>
          <a:solidFill>
            <a:srgbClr val="27496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87452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Rating predicts real Wins extremely well (R-squared 0.9133), and a curved fit barely improves on the straight line.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164592" cy="164592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78892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Assists predict turnovers only moderately (R-squared 0.4725) -- a regression line is an honest average, not a guarantee about any one real player.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840480"/>
            <a:ext cx="164592" cy="164592"/>
          </a:xfrm>
          <a:prstGeom prst="rect">
            <a:avLst/>
          </a:prstGeom>
          <a:solidFill>
            <a:srgbClr val="27496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370332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variability() turns real spread into a visual surface; free throw percentage produced the real largest bubble, on the Rockets and league-wide.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754880"/>
            <a:ext cx="164592" cy="164592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461772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corranalysis() confirmed, at full league scale, the same assist-turnover pattern first seen in eight individual real players.</a:t>
            </a:r>
            <a:endParaRPr lang="en-US" sz="15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MODULE 09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Things Before Next Class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62956" cy="2377440"/>
          </a:xfrm>
          <a:prstGeom prst="roundRect">
            <a:avLst>
              <a:gd name="adj" fmla="val 2308"/>
            </a:avLst>
          </a:prstGeom>
          <a:solidFill>
            <a:srgbClr val="EDF1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331720"/>
            <a:ext cx="4814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43200"/>
            <a:ext cx="48143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Basketball Data Science, Ch. 6 (the BasketballAnalyzeR applied toolkit).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77356" y="2103120"/>
            <a:ext cx="5362956" cy="2377440"/>
          </a:xfrm>
          <a:prstGeom prst="roundRect">
            <a:avLst>
              <a:gd name="adj" fmla="val 2308"/>
            </a:avLst>
          </a:prstGeom>
          <a:solidFill>
            <a:srgbClr val="EDF1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51676" y="2331720"/>
            <a:ext cx="4814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551676" y="2743200"/>
            <a:ext cx="48143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Lab 8 (modeling relationships and surface dynamics), the practice questions, and the Module 8 quiz on D2L.</a:t>
            </a:r>
            <a:endParaRPr lang="en-US" sz="14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READING LIST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Cited Today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Zuccolotto, P., &amp; Manisera, M. (2020). Basketball Data Science: With Applications in R, Ch. 5. Chapman &amp; Hall/CRC.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BasketballAnalyzeR (R package), simplereg(), variability(), and corranalysis() functions. Zuccolotto, Manisera &amp; Sandri. CRAN.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NBA.com official 2017-18 team and player statistics, used to cross-check real win totals and player identities.</a:t>
            </a:r>
            <a:endParaRPr lang="en-US" sz="14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8346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You in Module 09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7490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E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BasketballAnalyzeR Package: Applied Toolkit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2026-09-28T12:45:08Z</dcterms:created>
  <dcterms:modified xsi:type="dcterms:W3CDTF">2026-09-28T12:45:08Z</dcterms:modified>
</cp:coreProperties>
</file>