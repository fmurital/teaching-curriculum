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ask the class what additional real information an NBA team's sports science staff would want before treating this one flagged game as a concern (wellness questionnaires, soreness reports, practice-load data). Push on the difference between a statistical signal and a medical diagnosis. Also note for the class: this is exactly the kind of overclaiming the course's methodological-rigor literature (Davis et al., 2024) warns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note that the review itself is balanced, some researchers still use the ACWR as a crude heuristic alongside other metrics rather than calling for it to be abandoned outright. Ask the class: does a documented statistical weakness mean a tool is useless, or does it mean the tool needs to be used with appropriate caution? Tie back to the course's running theme of checking a framework's own math.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187452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SPORTS ANALYTICS</a:t>
            </a:r>
            <a:endParaRPr lang="en-US" sz="1300" dirty="0"/>
          </a:p>
        </p:txBody>
      </p:sp>
      <p:sp>
        <p:nvSpPr>
          <p:cNvPr id="3" name="Text 1"/>
          <p:cNvSpPr txBox="1"/>
          <p:nvPr/>
        </p:nvSpPr>
        <p:spPr>
          <a:xfrm>
            <a:off x="548640" y="2286000"/>
            <a:ext cx="11091672" cy="12801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Quality Monitoring and Injury Risk</a:t>
            </a:r>
            <a:endParaRPr lang="en-US" sz="4000" dirty="0"/>
          </a:p>
        </p:txBody>
      </p:sp>
      <p:sp>
        <p:nvSpPr>
          <p:cNvPr id="4" name="Text 2"/>
          <p:cNvSpPr txBox="1"/>
          <p:nvPr/>
        </p:nvSpPr>
        <p:spPr>
          <a:xfrm>
            <a:off x="548640" y="3520440"/>
            <a:ext cx="11091672" cy="457200"/>
          </a:xfrm>
          <a:prstGeom prst="rect">
            <a:avLst/>
          </a:prstGeom>
          <a:noFill/>
          <a:ln/>
        </p:spPr>
        <p:txBody>
          <a:bodyPr wrap="square" lIns="0" tIns="0" rIns="0" bIns="0" rtlCol="0" anchor="ctr"/>
          <a:lstStyle/>
          <a:p>
            <a:pPr indent="0" marL="0">
              <a:buNone/>
            </a:pPr>
            <a:r>
              <a:rPr lang="en-US" sz="2000" dirty="0">
                <a:solidFill>
                  <a:srgbClr val="AEBBD1"/>
                </a:solidFill>
                <a:latin typeface="Calibri" pitchFamily="34" charset="0"/>
                <a:ea typeface="Calibri" pitchFamily="34" charset="-122"/>
                <a:cs typeface="Calibri" pitchFamily="34" charset="-120"/>
              </a:rPr>
              <a:t>Module 10 · The Course's Signature Module</a:t>
            </a:r>
            <a:endParaRPr lang="en-US" sz="2000" dirty="0"/>
          </a:p>
        </p:txBody>
      </p:sp>
      <p:sp>
        <p:nvSpPr>
          <p:cNvPr id="5" name="Shape 3"/>
          <p:cNvSpPr/>
          <p:nvPr/>
        </p:nvSpPr>
        <p:spPr>
          <a:xfrm>
            <a:off x="548640" y="4251960"/>
            <a:ext cx="3291840" cy="777240"/>
          </a:xfrm>
          <a:prstGeom prst="roundRect">
            <a:avLst>
              <a:gd name="adj" fmla="val 7059"/>
            </a:avLst>
          </a:prstGeom>
          <a:solidFill>
            <a:srgbClr val="16213E"/>
          </a:solidFill>
          <a:ln/>
        </p:spPr>
      </p:sp>
      <p:sp>
        <p:nvSpPr>
          <p:cNvPr id="6" name="Text 4"/>
          <p:cNvSpPr txBox="1"/>
          <p:nvPr/>
        </p:nvSpPr>
        <p:spPr>
          <a:xfrm>
            <a:off x="731520" y="4251960"/>
            <a:ext cx="2926080" cy="7772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Week 10
</a:t>
            </a:r>
            <a:pPr indent="0" marL="0">
              <a:buNone/>
            </a:pPr>
            <a:r>
              <a:rPr lang="en-US" sz="1300" dirty="0">
                <a:solidFill>
                  <a:srgbClr val="FFFFFF"/>
                </a:solidFill>
                <a:latin typeface="Calibri" pitchFamily="34" charset="0"/>
                <a:ea typeface="Calibri" pitchFamily="34" charset="-122"/>
                <a:cs typeface="Calibri" pitchFamily="34" charset="-120"/>
              </a:rPr>
              <a:t>Undergraduate · 3-hour session</a:t>
            </a:r>
            <a:endParaRPr lang="en-US" sz="1300" dirty="0"/>
          </a:p>
        </p:txBody>
      </p:sp>
      <p:sp>
        <p:nvSpPr>
          <p:cNvPr id="7" name="Text 5"/>
          <p:cNvSpPr txBox="1"/>
          <p:nvPr/>
        </p:nvSpPr>
        <p:spPr>
          <a:xfrm>
            <a:off x="4114800" y="4251960"/>
            <a:ext cx="6949440" cy="777240"/>
          </a:xfrm>
          <a:prstGeom prst="rect">
            <a:avLst/>
          </a:prstGeom>
          <a:noFill/>
          <a:ln/>
        </p:spPr>
        <p:txBody>
          <a:bodyPr wrap="square" lIns="0" tIns="0" rIns="0" bIns="0" rtlCol="0" anchor="ctr"/>
          <a:lstStyle/>
          <a:p>
            <a:pPr indent="0" marL="0">
              <a:buNone/>
            </a:pPr>
            <a:r>
              <a:rPr lang="en-US" sz="1200" dirty="0">
                <a:solidFill>
                  <a:srgbClr val="AEBBD1"/>
                </a:solidFill>
                <a:latin typeface="Calibri" pitchFamily="34" charset="0"/>
                <a:ea typeface="Calibri" pitchFamily="34" charset="-122"/>
                <a:cs typeface="Calibri" pitchFamily="34" charset="-120"/>
              </a:rPr>
              <a:t>Built from the instructor's own published research:</a:t>
            </a:r>
            <a:endParaRPr lang="en-US" sz="1200" dirty="0"/>
          </a:p>
          <a:p>
            <a:pPr indent="0" marL="0">
              <a:buNone/>
            </a:pPr>
            <a:r>
              <a:rPr lang="en-US" sz="1200" dirty="0">
                <a:solidFill>
                  <a:srgbClr val="AEBBD1"/>
                </a:solidFill>
                <a:latin typeface="Calibri" pitchFamily="34" charset="0"/>
                <a:ea typeface="Calibri" pitchFamily="34" charset="-122"/>
                <a:cs typeface="Calibri" pitchFamily="34" charset="-120"/>
              </a:rPr>
              <a:t>Muritala, Brown &amp; Haller (2026), Research in Sports Medicine.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BEFORE WE START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What's Coming Up</a:t>
            </a:r>
            <a:endParaRPr lang="en-US" sz="3000" dirty="0"/>
          </a:p>
        </p:txBody>
      </p:sp>
      <p:sp>
        <p:nvSpPr>
          <p:cNvPr id="4" name="Shape 2"/>
          <p:cNvSpPr/>
          <p:nvPr/>
        </p:nvSpPr>
        <p:spPr>
          <a:xfrm>
            <a:off x="548640" y="2011680"/>
            <a:ext cx="11091672" cy="1051560"/>
          </a:xfrm>
          <a:prstGeom prst="roundRect">
            <a:avLst>
              <a:gd name="adj" fmla="val 5217"/>
            </a:avLst>
          </a:prstGeom>
          <a:solidFill>
            <a:srgbClr val="EDF1F7"/>
          </a:solidFill>
          <a:ln/>
        </p:spPr>
      </p:sp>
      <p:sp>
        <p:nvSpPr>
          <p:cNvPr id="5" name="Text 3"/>
          <p:cNvSpPr txBox="1"/>
          <p:nvPr/>
        </p:nvSpPr>
        <p:spPr>
          <a:xfrm>
            <a:off x="822960" y="201168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Due This Week</a:t>
            </a:r>
            <a:endParaRPr lang="en-US" sz="1500" dirty="0"/>
          </a:p>
        </p:txBody>
      </p:sp>
      <p:sp>
        <p:nvSpPr>
          <p:cNvPr id="6" name="Text 4"/>
          <p:cNvSpPr txBox="1"/>
          <p:nvPr/>
        </p:nvSpPr>
        <p:spPr>
          <a:xfrm>
            <a:off x="3566160" y="201168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
        <p:nvSpPr>
          <p:cNvPr id="7" name="Shape 5"/>
          <p:cNvSpPr/>
          <p:nvPr/>
        </p:nvSpPr>
        <p:spPr>
          <a:xfrm>
            <a:off x="548640" y="3246120"/>
            <a:ext cx="11091672" cy="1051560"/>
          </a:xfrm>
          <a:prstGeom prst="roundRect">
            <a:avLst>
              <a:gd name="adj" fmla="val 5217"/>
            </a:avLst>
          </a:prstGeom>
          <a:solidFill>
            <a:srgbClr val="EDF1F7"/>
          </a:solidFill>
          <a:ln/>
        </p:spPr>
      </p:sp>
      <p:sp>
        <p:nvSpPr>
          <p:cNvPr id="8" name="Text 6"/>
          <p:cNvSpPr txBox="1"/>
          <p:nvPr/>
        </p:nvSpPr>
        <p:spPr>
          <a:xfrm>
            <a:off x="822960" y="324612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Coming Up</a:t>
            </a:r>
            <a:endParaRPr lang="en-US" sz="1500" dirty="0"/>
          </a:p>
        </p:txBody>
      </p:sp>
      <p:sp>
        <p:nvSpPr>
          <p:cNvPr id="9" name="Text 7"/>
          <p:cNvSpPr txBox="1"/>
          <p:nvPr/>
        </p:nvSpPr>
        <p:spPr>
          <a:xfrm>
            <a:off x="3566160" y="324612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
        <p:nvSpPr>
          <p:cNvPr id="10" name="Shape 8"/>
          <p:cNvSpPr/>
          <p:nvPr/>
        </p:nvSpPr>
        <p:spPr>
          <a:xfrm>
            <a:off x="548640" y="4480560"/>
            <a:ext cx="11091672" cy="1051560"/>
          </a:xfrm>
          <a:prstGeom prst="roundRect">
            <a:avLst>
              <a:gd name="adj" fmla="val 5217"/>
            </a:avLst>
          </a:prstGeom>
          <a:solidFill>
            <a:srgbClr val="EDF1F7"/>
          </a:solidFill>
          <a:ln/>
        </p:spPr>
      </p:sp>
      <p:sp>
        <p:nvSpPr>
          <p:cNvPr id="11" name="Text 9"/>
          <p:cNvSpPr txBox="1"/>
          <p:nvPr/>
        </p:nvSpPr>
        <p:spPr>
          <a:xfrm>
            <a:off x="822960" y="448056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Office Hours</a:t>
            </a:r>
            <a:endParaRPr lang="en-US" sz="1500" dirty="0"/>
          </a:p>
        </p:txBody>
      </p:sp>
      <p:sp>
        <p:nvSpPr>
          <p:cNvPr id="12" name="Text 10"/>
          <p:cNvSpPr txBox="1"/>
          <p:nvPr/>
        </p:nvSpPr>
        <p:spPr>
          <a:xfrm>
            <a:off x="3566160" y="448056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200" b="1" dirty="0">
                <a:solidFill>
                  <a:srgbClr val="16213E"/>
                </a:solidFill>
                <a:latin typeface="Cambria" pitchFamily="34" charset="0"/>
                <a:ea typeface="Cambria" pitchFamily="34" charset="-122"/>
                <a:cs typeface="Cambria" pitchFamily="34" charset="-120"/>
              </a:rPr>
              <a:t>Where We Left Off</a:t>
            </a:r>
            <a:endParaRPr lang="en-US" sz="3200" dirty="0"/>
          </a:p>
        </p:txBody>
      </p:sp>
      <p:sp>
        <p:nvSpPr>
          <p:cNvPr id="4" name="Shape 2"/>
          <p:cNvSpPr/>
          <p:nvPr/>
        </p:nvSpPr>
        <p:spPr>
          <a:xfrm>
            <a:off x="548640" y="1920240"/>
            <a:ext cx="11091672" cy="2377440"/>
          </a:xfrm>
          <a:prstGeom prst="roundRect">
            <a:avLst>
              <a:gd name="adj" fmla="val 2308"/>
            </a:avLst>
          </a:prstGeom>
          <a:solidFill>
            <a:srgbClr val="EDF1F7"/>
          </a:solidFill>
          <a:ln/>
        </p:spPr>
      </p:sp>
      <p:sp>
        <p:nvSpPr>
          <p:cNvPr id="5" name="Text 3"/>
          <p:cNvSpPr txBox="1"/>
          <p:nvPr/>
        </p:nvSpPr>
        <p:spPr>
          <a:xfrm>
            <a:off x="914400" y="2194560"/>
            <a:ext cx="10360152" cy="182880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Module 9 pulled back the curtain on the BasketballAnalyzeR package itself and sent you out with the full real toolkit this course has built all term. Today I am handing you one more real tool, and it comes from a different place than the rest of this course: my own published research on quality monitoring and reinjury risk.</a:t>
            </a:r>
            <a:endParaRPr lang="en-US" sz="1600" dirty="0"/>
          </a:p>
        </p:txBody>
      </p:sp>
      <p:sp>
        <p:nvSpPr>
          <p:cNvPr id="6" name="Text 4"/>
          <p:cNvSpPr txBox="1"/>
          <p:nvPr/>
        </p:nvSpPr>
        <p:spPr>
          <a:xfrm>
            <a:off x="548640" y="4572000"/>
            <a:ext cx="11091672" cy="914400"/>
          </a:xfrm>
          <a:prstGeom prst="rect">
            <a:avLst/>
          </a:prstGeom>
          <a:noFill/>
          <a:ln/>
        </p:spPr>
        <p:txBody>
          <a:bodyPr wrap="square" lIns="0" tIns="0" rIns="0" bIns="0" rtlCol="0" anchor="t"/>
          <a:lstStyle/>
          <a:p>
            <a:pPr indent="0" marL="0">
              <a:lnSpc>
                <a:spcPct val="125000"/>
              </a:lnSpc>
              <a:buNone/>
            </a:pPr>
            <a:r>
              <a:rPr lang="en-US" sz="1500" i="1" dirty="0">
                <a:solidFill>
                  <a:srgbClr val="27496D"/>
                </a:solidFill>
                <a:latin typeface="Calibri" pitchFamily="34" charset="0"/>
                <a:ea typeface="Calibri" pitchFamily="34" charset="-122"/>
                <a:cs typeface="Calibri" pitchFamily="34" charset="-120"/>
              </a:rPr>
              <a:t>Same course, same habit of real data and real code, one new statistical idea.</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OUTLINE FOR THE DAY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200" b="1" dirty="0">
                <a:solidFill>
                  <a:srgbClr val="16213E"/>
                </a:solidFill>
                <a:latin typeface="Cambria" pitchFamily="34" charset="0"/>
                <a:ea typeface="Cambria" pitchFamily="34" charset="-122"/>
                <a:cs typeface="Cambria" pitchFamily="34" charset="-120"/>
              </a:rPr>
              <a:t>Where We're Headed</a:t>
            </a:r>
            <a:endParaRPr lang="en-US" sz="3200" dirty="0"/>
          </a:p>
        </p:txBody>
      </p:sp>
      <p:sp>
        <p:nvSpPr>
          <p:cNvPr id="4" name="Shape 2"/>
          <p:cNvSpPr/>
          <p:nvPr/>
        </p:nvSpPr>
        <p:spPr>
          <a:xfrm>
            <a:off x="548640" y="1965960"/>
            <a:ext cx="5362956" cy="1691640"/>
          </a:xfrm>
          <a:prstGeom prst="roundRect">
            <a:avLst>
              <a:gd name="adj" fmla="val 3243"/>
            </a:avLst>
          </a:prstGeom>
          <a:solidFill>
            <a:srgbClr val="EDF1F7"/>
          </a:solidFill>
          <a:ln/>
        </p:spPr>
      </p:sp>
      <p:sp>
        <p:nvSpPr>
          <p:cNvPr id="5" name="Text 3"/>
          <p:cNvSpPr txBox="1"/>
          <p:nvPr/>
        </p:nvSpPr>
        <p:spPr>
          <a:xfrm>
            <a:off x="777240" y="214884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a:t>
            </a:r>
            <a:endParaRPr lang="en-US" sz="1600" dirty="0"/>
          </a:p>
        </p:txBody>
      </p:sp>
      <p:sp>
        <p:nvSpPr>
          <p:cNvPr id="6" name="Text 4"/>
          <p:cNvSpPr txBox="1"/>
          <p:nvPr/>
        </p:nvSpPr>
        <p:spPr>
          <a:xfrm>
            <a:off x="1188720" y="214884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1</a:t>
            </a:r>
            <a:endParaRPr lang="en-US" sz="1600" dirty="0"/>
          </a:p>
        </p:txBody>
      </p:sp>
      <p:sp>
        <p:nvSpPr>
          <p:cNvPr id="7" name="Text 5"/>
          <p:cNvSpPr txBox="1"/>
          <p:nvPr/>
        </p:nvSpPr>
        <p:spPr>
          <a:xfrm>
            <a:off x="777240" y="260604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What a control chart is, and building one from scratch on a real NBA player</a:t>
            </a:r>
            <a:endParaRPr lang="en-US" sz="1200" dirty="0"/>
          </a:p>
        </p:txBody>
      </p:sp>
      <p:sp>
        <p:nvSpPr>
          <p:cNvPr id="8" name="Shape 6"/>
          <p:cNvSpPr/>
          <p:nvPr/>
        </p:nvSpPr>
        <p:spPr>
          <a:xfrm>
            <a:off x="6277356" y="1965960"/>
            <a:ext cx="5362956" cy="1691640"/>
          </a:xfrm>
          <a:prstGeom prst="roundRect">
            <a:avLst>
              <a:gd name="adj" fmla="val 3243"/>
            </a:avLst>
          </a:prstGeom>
          <a:solidFill>
            <a:srgbClr val="EDF1F7"/>
          </a:solidFill>
          <a:ln/>
        </p:spPr>
      </p:sp>
      <p:sp>
        <p:nvSpPr>
          <p:cNvPr id="9" name="Text 7"/>
          <p:cNvSpPr txBox="1"/>
          <p:nvPr/>
        </p:nvSpPr>
        <p:spPr>
          <a:xfrm>
            <a:off x="6505956" y="214884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II</a:t>
            </a:r>
            <a:endParaRPr lang="en-US" sz="1600" dirty="0"/>
          </a:p>
        </p:txBody>
      </p:sp>
      <p:sp>
        <p:nvSpPr>
          <p:cNvPr id="10" name="Text 8"/>
          <p:cNvSpPr txBox="1"/>
          <p:nvPr/>
        </p:nvSpPr>
        <p:spPr>
          <a:xfrm>
            <a:off x="6917436" y="214884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2</a:t>
            </a:r>
            <a:endParaRPr lang="en-US" sz="1600" dirty="0"/>
          </a:p>
        </p:txBody>
      </p:sp>
      <p:sp>
        <p:nvSpPr>
          <p:cNvPr id="11" name="Text 9"/>
          <p:cNvSpPr txBox="1"/>
          <p:nvPr/>
        </p:nvSpPr>
        <p:spPr>
          <a:xfrm>
            <a:off x="6505956" y="260604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The real research this module is built on, and what quality monitoring means in professional sports</a:t>
            </a:r>
            <a:endParaRPr lang="en-US" sz="1200" dirty="0"/>
          </a:p>
        </p:txBody>
      </p:sp>
      <p:sp>
        <p:nvSpPr>
          <p:cNvPr id="12" name="Shape 10"/>
          <p:cNvSpPr/>
          <p:nvPr/>
        </p:nvSpPr>
        <p:spPr>
          <a:xfrm>
            <a:off x="548640" y="3886200"/>
            <a:ext cx="5362956" cy="1691640"/>
          </a:xfrm>
          <a:prstGeom prst="roundRect">
            <a:avLst>
              <a:gd name="adj" fmla="val 3243"/>
            </a:avLst>
          </a:prstGeom>
          <a:solidFill>
            <a:srgbClr val="EDF1F7"/>
          </a:solidFill>
          <a:ln/>
        </p:spPr>
      </p:sp>
      <p:sp>
        <p:nvSpPr>
          <p:cNvPr id="13" name="Text 11"/>
          <p:cNvSpPr txBox="1"/>
          <p:nvPr/>
        </p:nvSpPr>
        <p:spPr>
          <a:xfrm>
            <a:off x="777240" y="406908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III</a:t>
            </a:r>
            <a:endParaRPr lang="en-US" sz="1600" dirty="0"/>
          </a:p>
        </p:txBody>
      </p:sp>
      <p:sp>
        <p:nvSpPr>
          <p:cNvPr id="14" name="Text 12"/>
          <p:cNvSpPr txBox="1"/>
          <p:nvPr/>
        </p:nvSpPr>
        <p:spPr>
          <a:xfrm>
            <a:off x="1188720" y="406908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3</a:t>
            </a:r>
            <a:endParaRPr lang="en-US" sz="1600" dirty="0"/>
          </a:p>
        </p:txBody>
      </p:sp>
      <p:sp>
        <p:nvSpPr>
          <p:cNvPr id="15" name="Text 13"/>
          <p:cNvSpPr txBox="1"/>
          <p:nvPr/>
        </p:nvSpPr>
        <p:spPr>
          <a:xfrm>
            <a:off x="777240" y="452628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The Acute:Chronic Workload Ratio, its real documented weaknesses, and closing out the course</a:t>
            </a:r>
            <a:endParaRPr lang="en-US" sz="1200" dirty="0"/>
          </a:p>
        </p:txBody>
      </p:sp>
      <p:sp>
        <p:nvSpPr>
          <p:cNvPr id="16" name="Shape 14"/>
          <p:cNvSpPr/>
          <p:nvPr/>
        </p:nvSpPr>
        <p:spPr>
          <a:xfrm>
            <a:off x="6277356" y="3886200"/>
            <a:ext cx="5362956" cy="1691640"/>
          </a:xfrm>
          <a:prstGeom prst="roundRect">
            <a:avLst>
              <a:gd name="adj" fmla="val 3243"/>
            </a:avLst>
          </a:prstGeom>
          <a:solidFill>
            <a:srgbClr val="EDF1F7"/>
          </a:solidFill>
          <a:ln/>
        </p:spPr>
      </p:sp>
      <p:sp>
        <p:nvSpPr>
          <p:cNvPr id="17" name="Text 15"/>
          <p:cNvSpPr txBox="1"/>
          <p:nvPr/>
        </p:nvSpPr>
        <p:spPr>
          <a:xfrm>
            <a:off x="6505956" y="406908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IV</a:t>
            </a:r>
            <a:endParaRPr lang="en-US" sz="1600" dirty="0"/>
          </a:p>
        </p:txBody>
      </p:sp>
      <p:sp>
        <p:nvSpPr>
          <p:cNvPr id="18" name="Text 16"/>
          <p:cNvSpPr txBox="1"/>
          <p:nvPr/>
        </p:nvSpPr>
        <p:spPr>
          <a:xfrm>
            <a:off x="6917436" y="406908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Before Next Class</a:t>
            </a:r>
            <a:endParaRPr lang="en-US" sz="1600" dirty="0"/>
          </a:p>
        </p:txBody>
      </p:sp>
      <p:sp>
        <p:nvSpPr>
          <p:cNvPr id="19" name="Text 17"/>
          <p:cNvSpPr txBox="1"/>
          <p:nvPr/>
        </p:nvSpPr>
        <p:spPr>
          <a:xfrm>
            <a:off x="6505956" y="452628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Lab 10, the Module 10 quiz, and the practice questions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LEARNING OBJECTIVES</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By the End of Today, You Will Be Able To</a:t>
            </a:r>
            <a:endParaRPr lang="en-US" sz="2800" dirty="0"/>
          </a:p>
        </p:txBody>
      </p:sp>
      <p:sp>
        <p:nvSpPr>
          <p:cNvPr id="4" name="Shape 2"/>
          <p:cNvSpPr/>
          <p:nvPr/>
        </p:nvSpPr>
        <p:spPr>
          <a:xfrm>
            <a:off x="548640" y="1965960"/>
            <a:ext cx="411480" cy="411480"/>
          </a:xfrm>
          <a:prstGeom prst="ellipse">
            <a:avLst/>
          </a:prstGeom>
          <a:solidFill>
            <a:srgbClr val="27496D"/>
          </a:solidFill>
          <a:ln/>
        </p:spPr>
      </p:sp>
      <p:sp>
        <p:nvSpPr>
          <p:cNvPr id="5" name="Text 3"/>
          <p:cNvSpPr txBox="1"/>
          <p:nvPr/>
        </p:nvSpPr>
        <p:spPr>
          <a:xfrm>
            <a:off x="548640" y="19659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143000" y="192024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Explain what a control chart is and what its center line and control limits represent.</a:t>
            </a:r>
            <a:endParaRPr lang="en-US" sz="1600" dirty="0"/>
          </a:p>
        </p:txBody>
      </p:sp>
      <p:sp>
        <p:nvSpPr>
          <p:cNvPr id="7" name="Shape 5"/>
          <p:cNvSpPr/>
          <p:nvPr/>
        </p:nvSpPr>
        <p:spPr>
          <a:xfrm>
            <a:off x="548640" y="2761488"/>
            <a:ext cx="411480" cy="411480"/>
          </a:xfrm>
          <a:prstGeom prst="ellipse">
            <a:avLst/>
          </a:prstGeom>
          <a:solidFill>
            <a:srgbClr val="E4572E"/>
          </a:solidFill>
          <a:ln/>
        </p:spPr>
      </p:sp>
      <p:sp>
        <p:nvSpPr>
          <p:cNvPr id="8" name="Text 6"/>
          <p:cNvSpPr txBox="1"/>
          <p:nvPr/>
        </p:nvSpPr>
        <p:spPr>
          <a:xfrm>
            <a:off x="548640" y="2761488"/>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143000" y="2715768"/>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Compute a real I-MR control chart's center line, moving range, and control limits by hand from real data.</a:t>
            </a:r>
            <a:endParaRPr lang="en-US" sz="1600" dirty="0"/>
          </a:p>
        </p:txBody>
      </p:sp>
      <p:sp>
        <p:nvSpPr>
          <p:cNvPr id="10" name="Shape 8"/>
          <p:cNvSpPr/>
          <p:nvPr/>
        </p:nvSpPr>
        <p:spPr>
          <a:xfrm>
            <a:off x="548640" y="3557016"/>
            <a:ext cx="411480" cy="411480"/>
          </a:xfrm>
          <a:prstGeom prst="ellipse">
            <a:avLst/>
          </a:prstGeom>
          <a:solidFill>
            <a:srgbClr val="27496D"/>
          </a:solidFill>
          <a:ln/>
        </p:spPr>
      </p:sp>
      <p:sp>
        <p:nvSpPr>
          <p:cNvPr id="11" name="Text 9"/>
          <p:cNvSpPr txBox="1"/>
          <p:nvPr/>
        </p:nvSpPr>
        <p:spPr>
          <a:xfrm>
            <a:off x="548640" y="3557016"/>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143000" y="3511296"/>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Build a real control chart in R from real NBA shot-log data and identify out-of-control signals.</a:t>
            </a:r>
            <a:endParaRPr lang="en-US" sz="1600" dirty="0"/>
          </a:p>
        </p:txBody>
      </p:sp>
      <p:sp>
        <p:nvSpPr>
          <p:cNvPr id="13" name="Shape 11"/>
          <p:cNvSpPr/>
          <p:nvPr/>
        </p:nvSpPr>
        <p:spPr>
          <a:xfrm>
            <a:off x="548640" y="4352544"/>
            <a:ext cx="411480" cy="411480"/>
          </a:xfrm>
          <a:prstGeom prst="ellipse">
            <a:avLst/>
          </a:prstGeom>
          <a:solidFill>
            <a:srgbClr val="E4572E"/>
          </a:solidFill>
          <a:ln/>
        </p:spPr>
      </p:sp>
      <p:sp>
        <p:nvSpPr>
          <p:cNvPr id="14" name="Text 12"/>
          <p:cNvSpPr txBox="1"/>
          <p:nvPr/>
        </p:nvSpPr>
        <p:spPr>
          <a:xfrm>
            <a:off x="548640" y="4352544"/>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txBox="1"/>
          <p:nvPr/>
        </p:nvSpPr>
        <p:spPr>
          <a:xfrm>
            <a:off x="1143000" y="4306824"/>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Explain why a flagged signal is a prompt for investigation, not proof of a causal relationship.</a:t>
            </a:r>
            <a:endParaRPr lang="en-US" sz="1600" dirty="0"/>
          </a:p>
        </p:txBody>
      </p:sp>
      <p:sp>
        <p:nvSpPr>
          <p:cNvPr id="16" name="Shape 14"/>
          <p:cNvSpPr/>
          <p:nvPr/>
        </p:nvSpPr>
        <p:spPr>
          <a:xfrm>
            <a:off x="548640" y="5148072"/>
            <a:ext cx="411480" cy="411480"/>
          </a:xfrm>
          <a:prstGeom prst="ellipse">
            <a:avLst/>
          </a:prstGeom>
          <a:solidFill>
            <a:srgbClr val="27496D"/>
          </a:solidFill>
          <a:ln/>
        </p:spPr>
      </p:sp>
      <p:sp>
        <p:nvSpPr>
          <p:cNvPr id="17" name="Text 15"/>
          <p:cNvSpPr txBox="1"/>
          <p:nvPr/>
        </p:nvSpPr>
        <p:spPr>
          <a:xfrm>
            <a:off x="548640" y="5148072"/>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txBox="1"/>
          <p:nvPr/>
        </p:nvSpPr>
        <p:spPr>
          <a:xfrm>
            <a:off x="1143000" y="5102352"/>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Describe the Acute:Chronic Workload Ratio and name its real, documented statistical weaknesses.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A Module Built From My Own Research</a:t>
            </a:r>
            <a:endParaRPr lang="en-US" sz="2800" dirty="0"/>
          </a:p>
        </p:txBody>
      </p:sp>
      <p:sp>
        <p:nvSpPr>
          <p:cNvPr id="4" name="Shape 2"/>
          <p:cNvSpPr/>
          <p:nvPr/>
        </p:nvSpPr>
        <p:spPr>
          <a:xfrm>
            <a:off x="548640" y="2103120"/>
            <a:ext cx="11091672" cy="2103120"/>
          </a:xfrm>
          <a:prstGeom prst="roundRect">
            <a:avLst>
              <a:gd name="adj" fmla="val 2609"/>
            </a:avLst>
          </a:prstGeom>
          <a:solidFill>
            <a:srgbClr val="EDF1F7"/>
          </a:solidFill>
          <a:ln/>
        </p:spPr>
      </p:sp>
      <p:sp>
        <p:nvSpPr>
          <p:cNvPr id="5" name="Text 3"/>
          <p:cNvSpPr txBox="1"/>
          <p:nvPr/>
        </p:nvSpPr>
        <p:spPr>
          <a:xfrm>
            <a:off x="914400" y="2377440"/>
            <a:ext cx="10360152" cy="1645920"/>
          </a:xfrm>
          <a:prstGeom prst="rect">
            <a:avLst/>
          </a:prstGeom>
          <a:noFill/>
          <a:ln/>
        </p:spPr>
        <p:txBody>
          <a:bodyPr wrap="square" lIns="0" tIns="0" rIns="0" bIns="0" rtlCol="0" anchor="ctr"/>
          <a:lstStyle/>
          <a:p>
            <a:pPr indent="0" marL="0">
              <a:lnSpc>
                <a:spcPct val="125000"/>
              </a:lnSpc>
              <a:buNone/>
            </a:pPr>
            <a:r>
              <a:rPr lang="en-US" sz="1700" dirty="0">
                <a:solidFill>
                  <a:srgbClr val="16213E"/>
                </a:solidFill>
                <a:latin typeface="Calibri" pitchFamily="34" charset="0"/>
                <a:ea typeface="Calibri" pitchFamily="34" charset="-122"/>
                <a:cs typeface="Calibri" pitchFamily="34" charset="-120"/>
              </a:rPr>
              <a:t>Every other module this term built on Zuccolotto and Manisera's textbook. This one builds on a question I study myself: can you tell, from an athlete's own real performance and workload data, when something has quietly drifted out of its normal range, before it turns into an injury?</a:t>
            </a:r>
            <a:endParaRPr lang="en-US" sz="1700" dirty="0"/>
          </a:p>
        </p:txBody>
      </p:sp>
      <p:sp>
        <p:nvSpPr>
          <p:cNvPr id="6" name="Text 4"/>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Muritala, Brown &amp; Haller (2026), Research in Sports Medicine. https://doi.org/10.1080/15438627.2026.2632610</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NEW TERM · PLAIN LANGUAGE</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A Control Chart: Watching a Number Over Time</a:t>
            </a:r>
            <a:endParaRPr lang="en-US" sz="2800" dirty="0"/>
          </a:p>
        </p:txBody>
      </p:sp>
      <p:sp>
        <p:nvSpPr>
          <p:cNvPr id="4" name="Shape 2"/>
          <p:cNvSpPr/>
          <p:nvPr/>
        </p:nvSpPr>
        <p:spPr>
          <a:xfrm>
            <a:off x="548640" y="2103120"/>
            <a:ext cx="11091672" cy="2103120"/>
          </a:xfrm>
          <a:prstGeom prst="roundRect">
            <a:avLst>
              <a:gd name="adj" fmla="val 2609"/>
            </a:avLst>
          </a:prstGeom>
          <a:solidFill>
            <a:srgbClr val="EDF1F7"/>
          </a:solidFill>
          <a:ln/>
        </p:spPr>
      </p:sp>
      <p:sp>
        <p:nvSpPr>
          <p:cNvPr id="5" name="Text 3"/>
          <p:cNvSpPr txBox="1"/>
          <p:nvPr/>
        </p:nvSpPr>
        <p:spPr>
          <a:xfrm>
            <a:off x="914400" y="2377440"/>
            <a:ext cx="10360152" cy="164592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Take a repeated real measurement of something, and plot it in order over time. Compute its real average and call that the center line. Then figure out how much it naturally bounces around, and set two outer limits. As long as a point stays inside those limits, it is ordinary variation. The moment it crosses outside, you have a real signal worth a second look.</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WATCH BEFORE WE CONTINUE</a:t>
            </a:r>
            <a:endParaRPr lang="en-US" sz="1300" dirty="0"/>
          </a:p>
        </p:txBody>
      </p:sp>
      <p:sp>
        <p:nvSpPr>
          <p:cNvPr id="3" name="Text 1"/>
          <p:cNvSpPr txBox="1"/>
          <p:nvPr/>
        </p:nvSpPr>
        <p:spPr>
          <a:xfrm>
            <a:off x="548640" y="1005840"/>
            <a:ext cx="11091672" cy="10058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Control Charts Simply Explained</a:t>
            </a:r>
            <a:endParaRPr lang="en-US" sz="2600" dirty="0"/>
          </a:p>
        </p:txBody>
      </p:sp>
      <p:sp>
        <p:nvSpPr>
          <p:cNvPr id="4" name="Shape 2"/>
          <p:cNvSpPr/>
          <p:nvPr/>
        </p:nvSpPr>
        <p:spPr>
          <a:xfrm>
            <a:off x="548640" y="2286000"/>
            <a:ext cx="11091672" cy="2651760"/>
          </a:xfrm>
          <a:prstGeom prst="roundRect">
            <a:avLst>
              <a:gd name="adj" fmla="val 2069"/>
            </a:avLst>
          </a:prstGeom>
          <a:solidFill>
            <a:srgbClr val="27496D"/>
          </a:solidFill>
          <a:ln/>
        </p:spPr>
      </p:sp>
      <p:sp>
        <p:nvSpPr>
          <p:cNvPr id="5" name="Shape 3"/>
          <p:cNvSpPr/>
          <p:nvPr/>
        </p:nvSpPr>
        <p:spPr>
          <a:xfrm>
            <a:off x="1005840" y="2651760"/>
            <a:ext cx="914400" cy="914400"/>
          </a:xfrm>
          <a:prstGeom prst="ellipse">
            <a:avLst/>
          </a:prstGeom>
          <a:solidFill>
            <a:srgbClr val="E4572E"/>
          </a:solidFill>
          <a:ln/>
        </p:spPr>
      </p:sp>
      <p:sp>
        <p:nvSpPr>
          <p:cNvPr id="6" name="Text 4"/>
          <p:cNvSpPr txBox="1"/>
          <p:nvPr/>
        </p:nvSpPr>
        <p:spPr>
          <a:xfrm>
            <a:off x="1005840" y="2651760"/>
            <a:ext cx="914400" cy="914400"/>
          </a:xfrm>
          <a:prstGeom prst="rect">
            <a:avLst/>
          </a:prstGeom>
          <a:noFill/>
          <a:ln/>
        </p:spPr>
        <p:txBody>
          <a:bodyPr wrap="square" lIns="0" tIns="0" rIns="0" bIns="0" rtlCol="0" anchor="ctr"/>
          <a:lstStyle/>
          <a:p>
            <a:pPr algn="ctr" indent="0" marL="0">
              <a:buNone/>
            </a:pPr>
            <a:r>
              <a:rPr lang="en-US" sz="3200" b="1" dirty="0">
                <a:solidFill>
                  <a:srgbClr val="FFFFFF"/>
                </a:solidFill>
              </a:rPr>
              <a:t>▶</a:t>
            </a:r>
            <a:endParaRPr lang="en-US" sz="3200" dirty="0"/>
          </a:p>
        </p:txBody>
      </p:sp>
      <p:sp>
        <p:nvSpPr>
          <p:cNvPr id="7" name="Text 5"/>
          <p:cNvSpPr txBox="1"/>
          <p:nvPr/>
        </p:nvSpPr>
        <p:spPr>
          <a:xfrm>
            <a:off x="2286000" y="2651760"/>
            <a:ext cx="8988552" cy="2011680"/>
          </a:xfrm>
          <a:prstGeom prst="rect">
            <a:avLst/>
          </a:prstGeom>
          <a:noFill/>
          <a:ln/>
        </p:spPr>
        <p:txBody>
          <a:bodyPr wrap="square" lIns="0" tIns="0" rIns="0" bIns="0" rtlCol="0" anchor="t"/>
          <a:lstStyle/>
          <a:p>
            <a:pPr indent="0" marL="0">
              <a:lnSpc>
                <a:spcPct val="130000"/>
              </a:lnSpc>
              <a:buNone/>
            </a:pPr>
            <a:r>
              <a:rPr lang="en-US" sz="1500" b="1" dirty="0">
                <a:solidFill>
                  <a:srgbClr val="FFFFFF"/>
                </a:solidFill>
                <a:latin typeface="Calibri" pitchFamily="34" charset="0"/>
                <a:ea typeface="Calibri" pitchFamily="34" charset="-122"/>
                <a:cs typeface="Calibri" pitchFamily="34" charset="-120"/>
              </a:rPr>
              <a:t>numiqo (YouTube)
</a:t>
            </a:r>
            <a:pPr indent="0" marL="0">
              <a:lnSpc>
                <a:spcPct val="130000"/>
              </a:lnSpc>
              <a:buNone/>
            </a:pPr>
            <a:r>
              <a:rPr lang="en-US" sz="1200" dirty="0">
                <a:solidFill>
                  <a:srgbClr val="AEBBD1"/>
                </a:solidFill>
                <a:latin typeface="Calibri" pitchFamily="34" charset="0"/>
                <a:ea typeface="Calibri" pitchFamily="34" charset="-122"/>
                <a:cs typeface="Calibri" pitchFamily="34" charset="-120"/>
              </a:rPr>
              <a:t>https://www.youtube.com/watch?v=iOJDBpOa3Ko
</a:t>
            </a:r>
            <a:pPr indent="0" marL="0">
              <a:lnSpc>
                <a:spcPct val="130000"/>
              </a:lnSpc>
              <a:buNone/>
            </a:pPr>
            <a:r>
              <a:rPr lang="en-US" sz="1200" i="1" dirty="0">
                <a:solidFill>
                  <a:srgbClr val="AEBBD1"/>
                </a:solidFill>
                <a:latin typeface="Calibri" pitchFamily="34" charset="0"/>
                <a:ea typeface="Calibri" pitchFamily="34" charset="-122"/>
                <a:cs typeface="Calibri" pitchFamily="34" charset="-120"/>
              </a:rPr>
              <a:t>Runtime not independently confirmed; chapter markers run at least 9 minutes.</a:t>
            </a:r>
            <a:endParaRPr lang="en-US" sz="1500" dirty="0"/>
          </a:p>
        </p:txBody>
      </p:sp>
      <p:sp>
        <p:nvSpPr>
          <p:cNvPr id="8" name="Text 6"/>
          <p:cNvSpPr txBox="1"/>
          <p:nvPr/>
        </p:nvSpPr>
        <p:spPr>
          <a:xfrm>
            <a:off x="548640" y="5120640"/>
            <a:ext cx="11091672" cy="822960"/>
          </a:xfrm>
          <a:prstGeom prst="rect">
            <a:avLst/>
          </a:prstGeom>
          <a:noFill/>
          <a:ln/>
        </p:spPr>
        <p:txBody>
          <a:bodyPr wrap="square" lIns="0" tIns="0" rIns="0" bIns="0" rtlCol="0" anchor="ctr"/>
          <a:lstStyle/>
          <a:p>
            <a:pPr indent="0" marL="0">
              <a:buNone/>
            </a:pPr>
            <a:r>
              <a:rPr lang="en-US" sz="1400" i="1" dirty="0">
                <a:solidFill>
                  <a:srgbClr val="AEBBD1"/>
                </a:solidFill>
                <a:latin typeface="Calibri" pitchFamily="34" charset="0"/>
                <a:ea typeface="Calibri" pitchFamily="34" charset="-122"/>
                <a:cs typeface="Calibri" pitchFamily="34" charset="-120"/>
              </a:rPr>
              <a:t>Watch for: how a center line and two control limits turn a plain-looking line chart into a decision tool.</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NEW TERM · THE FORMULA</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The I-MR Control Chart, Step by Step</a:t>
            </a:r>
            <a:endParaRPr lang="en-US" sz="2800" dirty="0"/>
          </a:p>
        </p:txBody>
      </p:sp>
      <p:sp>
        <p:nvSpPr>
          <p:cNvPr id="4" name="Shape 2"/>
          <p:cNvSpPr/>
          <p:nvPr/>
        </p:nvSpPr>
        <p:spPr>
          <a:xfrm>
            <a:off x="548640" y="2011680"/>
            <a:ext cx="11091672" cy="3017520"/>
          </a:xfrm>
          <a:prstGeom prst="roundRect">
            <a:avLst>
              <a:gd name="adj" fmla="val 1818"/>
            </a:avLst>
          </a:prstGeom>
          <a:solidFill>
            <a:srgbClr val="0B1D33"/>
          </a:solidFill>
          <a:ln/>
        </p:spPr>
      </p:sp>
      <p:sp>
        <p:nvSpPr>
          <p:cNvPr id="5" name="Text 3"/>
          <p:cNvSpPr txBox="1"/>
          <p:nvPr/>
        </p:nvSpPr>
        <p:spPr>
          <a:xfrm>
            <a:off x="914400" y="2240280"/>
            <a:ext cx="10360152" cy="2560320"/>
          </a:xfrm>
          <a:prstGeom prst="rect">
            <a:avLst/>
          </a:prstGeom>
          <a:noFill/>
          <a:ln/>
        </p:spPr>
        <p:txBody>
          <a:bodyPr wrap="square" lIns="0" tIns="0" rIns="0" bIns="0" rtlCol="0" anchor="ctr"/>
          <a:lstStyle/>
          <a:p>
            <a:pPr indent="0" marL="0">
              <a:buNone/>
            </a:pPr>
            <a:r>
              <a:rPr lang="en-US" sz="1600" dirty="0">
                <a:solidFill>
                  <a:srgbClr val="D9E2F3"/>
                </a:solidFill>
                <a:latin typeface="Courier New" pitchFamily="34" charset="0"/>
                <a:ea typeface="Courier New" pitchFamily="34" charset="-122"/>
                <a:cs typeface="Courier New" pitchFamily="34" charset="-120"/>
              </a:rPr>
              <a:t>center line (x-bar) = mean of the baseline measurements</a:t>
            </a:r>
            <a:endParaRPr lang="en-US" sz="1600" dirty="0"/>
          </a:p>
          <a:p>
            <a:pPr indent="0" marL="0">
              <a:buNone/>
            </a:pPr>
            <a:endParaRPr lang="en-US" sz="1600" dirty="0"/>
          </a:p>
          <a:p>
            <a:pPr indent="0" marL="0">
              <a:buNone/>
            </a:pPr>
            <a:r>
              <a:rPr lang="en-US" sz="1600" dirty="0">
                <a:solidFill>
                  <a:srgbClr val="D9E2F3"/>
                </a:solidFill>
                <a:latin typeface="Courier New" pitchFamily="34" charset="0"/>
                <a:ea typeface="Courier New" pitchFamily="34" charset="-122"/>
                <a:cs typeface="Courier New" pitchFamily="34" charset="-120"/>
              </a:rPr>
              <a:t>moving range (MR) = |difference between consecutive points|</a:t>
            </a:r>
            <a:endParaRPr lang="en-US" sz="1600" dirty="0"/>
          </a:p>
          <a:p>
            <a:pPr indent="0" marL="0">
              <a:buNone/>
            </a:pPr>
            <a:r>
              <a:rPr lang="en-US" sz="1600" dirty="0">
                <a:solidFill>
                  <a:srgbClr val="D9E2F3"/>
                </a:solidFill>
                <a:latin typeface="Courier New" pitchFamily="34" charset="0"/>
                <a:ea typeface="Courier New" pitchFamily="34" charset="-122"/>
                <a:cs typeface="Courier New" pitchFamily="34" charset="-120"/>
              </a:rPr>
              <a:t>mean moving range (MR-bar) = average of all moving ranges</a:t>
            </a:r>
            <a:endParaRPr lang="en-US" sz="1600" dirty="0"/>
          </a:p>
          <a:p>
            <a:pPr indent="0" marL="0">
              <a:buNone/>
            </a:pPr>
            <a:endParaRPr lang="en-US" sz="1600" dirty="0"/>
          </a:p>
          <a:p>
            <a:pPr indent="0" marL="0">
              <a:buNone/>
            </a:pPr>
            <a:r>
              <a:rPr lang="en-US" sz="1600" dirty="0">
                <a:solidFill>
                  <a:srgbClr val="D9E2F3"/>
                </a:solidFill>
                <a:latin typeface="Courier New" pitchFamily="34" charset="0"/>
                <a:ea typeface="Courier New" pitchFamily="34" charset="-122"/>
                <a:cs typeface="Courier New" pitchFamily="34" charset="-120"/>
              </a:rPr>
              <a:t>sigma-hat = MR-bar / 1.128</a:t>
            </a:r>
            <a:endParaRPr lang="en-US" sz="1600" dirty="0"/>
          </a:p>
          <a:p>
            <a:pPr indent="0" marL="0">
              <a:buNone/>
            </a:pPr>
            <a:endParaRPr lang="en-US" sz="1600" dirty="0"/>
          </a:p>
          <a:p>
            <a:pPr indent="0" marL="0">
              <a:buNone/>
            </a:pPr>
            <a:r>
              <a:rPr lang="en-US" sz="1600" dirty="0">
                <a:solidFill>
                  <a:srgbClr val="D9E2F3"/>
                </a:solidFill>
                <a:latin typeface="Courier New" pitchFamily="34" charset="0"/>
                <a:ea typeface="Courier New" pitchFamily="34" charset="-122"/>
                <a:cs typeface="Courier New" pitchFamily="34" charset="-120"/>
              </a:rPr>
              <a:t>UCL = x-bar + 3 * sigma-hat</a:t>
            </a:r>
            <a:endParaRPr lang="en-US" sz="1600" dirty="0"/>
          </a:p>
          <a:p>
            <a:pPr indent="0" marL="0">
              <a:buNone/>
            </a:pPr>
            <a:r>
              <a:rPr lang="en-US" sz="1600" dirty="0">
                <a:solidFill>
                  <a:srgbClr val="D9E2F3"/>
                </a:solidFill>
                <a:latin typeface="Courier New" pitchFamily="34" charset="0"/>
                <a:ea typeface="Courier New" pitchFamily="34" charset="-122"/>
                <a:cs typeface="Courier New" pitchFamily="34" charset="-120"/>
              </a:rPr>
              <a:t>LCL = x-bar - 3 * sigma-hat</a:t>
            </a:r>
            <a:endParaRPr lang="en-US" sz="1600" dirty="0"/>
          </a:p>
        </p:txBody>
      </p:sp>
      <p:sp>
        <p:nvSpPr>
          <p:cNvPr id="6" name="Text 4"/>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1.128 is the standard I-MR chart constant (d2) for a moving range of two consecutive points.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open RStudio and build Joel Embiid's real per-game shot count.</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Building a Real Per-Game Workload Series</a:t>
            </a:r>
            <a:endParaRPr lang="en-US" sz="2600" dirty="0"/>
          </a:p>
        </p:txBody>
      </p:sp>
      <p:sp>
        <p:nvSpPr>
          <p:cNvPr id="4" name="Shape 2"/>
          <p:cNvSpPr/>
          <p:nvPr/>
        </p:nvSpPr>
        <p:spPr>
          <a:xfrm>
            <a:off x="548640" y="2011680"/>
            <a:ext cx="11091672" cy="2834640"/>
          </a:xfrm>
          <a:prstGeom prst="roundRect">
            <a:avLst>
              <a:gd name="adj" fmla="val 1935"/>
            </a:avLst>
          </a:prstGeom>
          <a:solidFill>
            <a:srgbClr val="0B1D33"/>
          </a:solidFill>
          <a:ln/>
        </p:spPr>
      </p:sp>
      <p:sp>
        <p:nvSpPr>
          <p:cNvPr id="5" name="Text 3"/>
          <p:cNvSpPr txBox="1"/>
          <p:nvPr/>
        </p:nvSpPr>
        <p:spPr>
          <a:xfrm>
            <a:off x="914400" y="2240280"/>
            <a:ext cx="10360152" cy="2377440"/>
          </a:xfrm>
          <a:prstGeom prst="rect">
            <a:avLst/>
          </a:prstGeom>
          <a:noFill/>
          <a:ln/>
        </p:spPr>
        <p:txBody>
          <a:bodyPr wrap="square" lIns="0" tIns="0" rIns="0" bIns="0" rtlCol="0" anchor="ctr"/>
          <a:lstStyle/>
          <a:p>
            <a:pPr indent="0" marL="0">
              <a:buNone/>
            </a:pPr>
            <a:r>
              <a:rPr lang="en-US" sz="1500" dirty="0">
                <a:solidFill>
                  <a:srgbClr val="D9E2F3"/>
                </a:solidFill>
                <a:latin typeface="Courier New" pitchFamily="34" charset="0"/>
                <a:ea typeface="Courier New" pitchFamily="34" charset="-122"/>
                <a:cs typeface="Courier New" pitchFamily="34" charset="-120"/>
              </a:rPr>
              <a:t>shots &lt;- read.csv("shotdetail_2023.csv")</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emb &lt;- shots[shots$PLAYER_NAME == "Joel Embiid", ]</a:t>
            </a:r>
            <a:endParaRPr lang="en-US" sz="1500" dirty="0"/>
          </a:p>
          <a:p>
            <a:pPr indent="0" marL="0">
              <a:buNone/>
            </a:pP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by_game &lt;- aggregate(SHOT_ATTEMPTED_FLAG ~ GAME_ID + GAME_DATE,</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                      data = emb, FUN = sum)</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names(by_game)[3] &lt;- "FGA"</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by_game &lt;- by_game[order(by_game$GAME_DATE), ]</a:t>
            </a:r>
            <a:endParaRPr lang="en-US" sz="1500" dirty="0"/>
          </a:p>
        </p:txBody>
      </p:sp>
      <p:sp>
        <p:nvSpPr>
          <p:cNvPr id="6" name="Text 4"/>
          <p:cNvSpPr txBox="1"/>
          <p:nvPr/>
        </p:nvSpPr>
        <p:spPr>
          <a:xfrm>
            <a:off x="548640" y="5029200"/>
            <a:ext cx="11091672" cy="914400"/>
          </a:xfrm>
          <a:prstGeom prst="rect">
            <a:avLst/>
          </a:prstGeom>
          <a:noFill/>
          <a:ln/>
        </p:spPr>
        <p:txBody>
          <a:bodyPr wrap="square" lIns="0" tIns="0" rIns="0" bIns="0" rtlCol="0" anchor="t"/>
          <a:lstStyle/>
          <a:p>
            <a:pPr indent="0" marL="0">
              <a:lnSpc>
                <a:spcPct val="125000"/>
              </a:lnSpc>
              <a:buNone/>
            </a:pPr>
            <a:r>
              <a:rPr lang="en-US" sz="1300" i="1" dirty="0">
                <a:solidFill>
                  <a:srgbClr val="27496D"/>
                </a:solidFill>
                <a:latin typeface="Calibri" pitchFamily="34" charset="0"/>
                <a:ea typeface="Calibri" pitchFamily="34" charset="-122"/>
                <a:cs typeface="Calibri" pitchFamily="34" charset="-120"/>
              </a:rPr>
              <a:t>Run this yourself on the real 2023-24 shot log in this module's Coding_Exercise folder.</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Now let's compute his real center line and control limits together.</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Computing the Real Control Limits</a:t>
            </a:r>
            <a:endParaRPr lang="en-US" sz="2800" dirty="0"/>
          </a:p>
        </p:txBody>
      </p:sp>
      <p:sp>
        <p:nvSpPr>
          <p:cNvPr id="4" name="Shape 2"/>
          <p:cNvSpPr/>
          <p:nvPr/>
        </p:nvSpPr>
        <p:spPr>
          <a:xfrm>
            <a:off x="548640" y="2011680"/>
            <a:ext cx="11091672" cy="2834640"/>
          </a:xfrm>
          <a:prstGeom prst="roundRect">
            <a:avLst>
              <a:gd name="adj" fmla="val 1935"/>
            </a:avLst>
          </a:prstGeom>
          <a:solidFill>
            <a:srgbClr val="0B1D33"/>
          </a:solidFill>
          <a:ln/>
        </p:spPr>
      </p:sp>
      <p:sp>
        <p:nvSpPr>
          <p:cNvPr id="5" name="Text 3"/>
          <p:cNvSpPr txBox="1"/>
          <p:nvPr/>
        </p:nvSpPr>
        <p:spPr>
          <a:xfrm>
            <a:off x="914400" y="2240280"/>
            <a:ext cx="10360152" cy="2377440"/>
          </a:xfrm>
          <a:prstGeom prst="rect">
            <a:avLst/>
          </a:prstGeom>
          <a:noFill/>
          <a:ln/>
        </p:spPr>
        <p:txBody>
          <a:bodyPr wrap="square" lIns="0" tIns="0" rIns="0" bIns="0" rtlCol="0" anchor="ctr"/>
          <a:lstStyle/>
          <a:p>
            <a:pPr indent="0" marL="0">
              <a:buNone/>
            </a:pPr>
            <a:r>
              <a:rPr lang="en-US" sz="1500" dirty="0">
                <a:solidFill>
                  <a:srgbClr val="D9E2F3"/>
                </a:solidFill>
                <a:latin typeface="Courier New" pitchFamily="34" charset="0"/>
                <a:ea typeface="Courier New" pitchFamily="34" charset="-122"/>
                <a:cs typeface="Courier New" pitchFamily="34" charset="-120"/>
              </a:rPr>
              <a:t>preinjury &lt;- by_game[by_game$GAME_DATE &lt;= 20240130, ]</a:t>
            </a:r>
            <a:endParaRPr lang="en-US" sz="1500" dirty="0"/>
          </a:p>
          <a:p>
            <a:pPr indent="0" marL="0">
              <a:buNone/>
            </a:pP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xbar &lt;- mean(preinjury$FGA)</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mr_bar &lt;- mean(abs(diff(preinjury$FGA)))</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sigma_hat &lt;- mr_bar / 1.128</a:t>
            </a:r>
            <a:endParaRPr lang="en-US" sz="1500" dirty="0"/>
          </a:p>
          <a:p>
            <a:pPr indent="0" marL="0">
              <a:buNone/>
            </a:pP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UCL &lt;- xbar + 3 * sigma_hat</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LCL &lt;- max(0, xbar - 3 * sigma_hat)</a:t>
            </a:r>
            <a:endParaRPr lang="en-US" sz="1500" dirty="0"/>
          </a:p>
        </p:txBody>
      </p:sp>
      <p:sp>
        <p:nvSpPr>
          <p:cNvPr id="6" name="Text 4"/>
          <p:cNvSpPr txBox="1"/>
          <p:nvPr/>
        </p:nvSpPr>
        <p:spPr>
          <a:xfrm>
            <a:off x="548640" y="5029200"/>
            <a:ext cx="11091672" cy="914400"/>
          </a:xfrm>
          <a:prstGeom prst="rect">
            <a:avLst/>
          </a:prstGeom>
          <a:noFill/>
          <a:ln/>
        </p:spPr>
        <p:txBody>
          <a:bodyPr wrap="square" lIns="0" tIns="0" rIns="0" bIns="0" rtlCol="0" anchor="t"/>
          <a:lstStyle/>
          <a:p>
            <a:pPr indent="0" marL="0">
              <a:lnSpc>
                <a:spcPct val="125000"/>
              </a:lnSpc>
              <a:buNone/>
            </a:pPr>
            <a:r>
              <a:rPr lang="en-US" sz="1300" i="1" dirty="0">
                <a:solidFill>
                  <a:srgbClr val="27496D"/>
                </a:solidFill>
                <a:latin typeface="Calibri" pitchFamily="34" charset="0"/>
                <a:ea typeface="Calibri" pitchFamily="34" charset="-122"/>
                <a:cs typeface="Calibri" pitchFamily="34" charset="-120"/>
              </a:rPr>
              <a:t>We stop at January 30, 2024, his last game before his real reported knee procedure.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Embiid's Real Baseline, in Numbers</a:t>
            </a:r>
            <a:endParaRPr lang="en-US" sz="2800" dirty="0"/>
          </a:p>
        </p:txBody>
      </p:sp>
      <p:sp>
        <p:nvSpPr>
          <p:cNvPr id="4" name="Shape 2"/>
          <p:cNvSpPr/>
          <p:nvPr/>
        </p:nvSpPr>
        <p:spPr>
          <a:xfrm>
            <a:off x="548640" y="2103120"/>
            <a:ext cx="2567178" cy="2377440"/>
          </a:xfrm>
          <a:prstGeom prst="roundRect">
            <a:avLst>
              <a:gd name="adj" fmla="val 2308"/>
            </a:avLst>
          </a:prstGeom>
          <a:solidFill>
            <a:srgbClr val="27496D"/>
          </a:solidFill>
          <a:ln/>
        </p:spPr>
      </p:sp>
      <p:sp>
        <p:nvSpPr>
          <p:cNvPr id="5" name="Text 3"/>
          <p:cNvSpPr txBox="1"/>
          <p:nvPr/>
        </p:nvSpPr>
        <p:spPr>
          <a:xfrm>
            <a:off x="548640" y="2331720"/>
            <a:ext cx="2567178" cy="100584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22.18</a:t>
            </a:r>
            <a:endParaRPr lang="en-US" sz="3400" dirty="0"/>
          </a:p>
        </p:txBody>
      </p:sp>
      <p:sp>
        <p:nvSpPr>
          <p:cNvPr id="6" name="Text 4"/>
          <p:cNvSpPr txBox="1"/>
          <p:nvPr/>
        </p:nvSpPr>
        <p:spPr>
          <a:xfrm>
            <a:off x="685800" y="3383280"/>
            <a:ext cx="2292858" cy="91440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center line</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(mean FGA)</a:t>
            </a:r>
            <a:endParaRPr lang="en-US" sz="1300" dirty="0"/>
          </a:p>
        </p:txBody>
      </p:sp>
      <p:sp>
        <p:nvSpPr>
          <p:cNvPr id="7" name="Shape 5"/>
          <p:cNvSpPr/>
          <p:nvPr/>
        </p:nvSpPr>
        <p:spPr>
          <a:xfrm>
            <a:off x="3390138" y="2103120"/>
            <a:ext cx="2567178" cy="2377440"/>
          </a:xfrm>
          <a:prstGeom prst="roundRect">
            <a:avLst>
              <a:gd name="adj" fmla="val 2308"/>
            </a:avLst>
          </a:prstGeom>
          <a:solidFill>
            <a:srgbClr val="E4572E"/>
          </a:solidFill>
          <a:ln/>
        </p:spPr>
      </p:sp>
      <p:sp>
        <p:nvSpPr>
          <p:cNvPr id="8" name="Text 6"/>
          <p:cNvSpPr txBox="1"/>
          <p:nvPr/>
        </p:nvSpPr>
        <p:spPr>
          <a:xfrm>
            <a:off x="3390138" y="2331720"/>
            <a:ext cx="2567178" cy="100584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3.95</a:t>
            </a:r>
            <a:endParaRPr lang="en-US" sz="3400" dirty="0"/>
          </a:p>
        </p:txBody>
      </p:sp>
      <p:sp>
        <p:nvSpPr>
          <p:cNvPr id="9" name="Text 7"/>
          <p:cNvSpPr txBox="1"/>
          <p:nvPr/>
        </p:nvSpPr>
        <p:spPr>
          <a:xfrm>
            <a:off x="3527298" y="3383280"/>
            <a:ext cx="2292858" cy="91440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estimated</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sigma</a:t>
            </a:r>
            <a:endParaRPr lang="en-US" sz="1300" dirty="0"/>
          </a:p>
        </p:txBody>
      </p:sp>
      <p:sp>
        <p:nvSpPr>
          <p:cNvPr id="10" name="Shape 8"/>
          <p:cNvSpPr/>
          <p:nvPr/>
        </p:nvSpPr>
        <p:spPr>
          <a:xfrm>
            <a:off x="6231636" y="2103120"/>
            <a:ext cx="2567178" cy="2377440"/>
          </a:xfrm>
          <a:prstGeom prst="roundRect">
            <a:avLst>
              <a:gd name="adj" fmla="val 2308"/>
            </a:avLst>
          </a:prstGeom>
          <a:solidFill>
            <a:srgbClr val="27496D"/>
          </a:solidFill>
          <a:ln/>
        </p:spPr>
      </p:sp>
      <p:sp>
        <p:nvSpPr>
          <p:cNvPr id="11" name="Text 9"/>
          <p:cNvSpPr txBox="1"/>
          <p:nvPr/>
        </p:nvSpPr>
        <p:spPr>
          <a:xfrm>
            <a:off x="6231636" y="2331720"/>
            <a:ext cx="2567178" cy="100584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34.02</a:t>
            </a:r>
            <a:endParaRPr lang="en-US" sz="3400" dirty="0"/>
          </a:p>
        </p:txBody>
      </p:sp>
      <p:sp>
        <p:nvSpPr>
          <p:cNvPr id="12" name="Text 10"/>
          <p:cNvSpPr txBox="1"/>
          <p:nvPr/>
        </p:nvSpPr>
        <p:spPr>
          <a:xfrm>
            <a:off x="6368796" y="3383280"/>
            <a:ext cx="2292858" cy="91440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upper control</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limit</a:t>
            </a:r>
            <a:endParaRPr lang="en-US" sz="1300" dirty="0"/>
          </a:p>
        </p:txBody>
      </p:sp>
      <p:sp>
        <p:nvSpPr>
          <p:cNvPr id="13" name="Shape 11"/>
          <p:cNvSpPr/>
          <p:nvPr/>
        </p:nvSpPr>
        <p:spPr>
          <a:xfrm>
            <a:off x="9073134" y="2103120"/>
            <a:ext cx="2567178" cy="2377440"/>
          </a:xfrm>
          <a:prstGeom prst="roundRect">
            <a:avLst>
              <a:gd name="adj" fmla="val 2308"/>
            </a:avLst>
          </a:prstGeom>
          <a:solidFill>
            <a:srgbClr val="E4572E"/>
          </a:solidFill>
          <a:ln/>
        </p:spPr>
      </p:sp>
      <p:sp>
        <p:nvSpPr>
          <p:cNvPr id="14" name="Text 12"/>
          <p:cNvSpPr txBox="1"/>
          <p:nvPr/>
        </p:nvSpPr>
        <p:spPr>
          <a:xfrm>
            <a:off x="9073134" y="2331720"/>
            <a:ext cx="2567178" cy="100584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10.33</a:t>
            </a:r>
            <a:endParaRPr lang="en-US" sz="3400" dirty="0"/>
          </a:p>
        </p:txBody>
      </p:sp>
      <p:sp>
        <p:nvSpPr>
          <p:cNvPr id="15" name="Text 13"/>
          <p:cNvSpPr txBox="1"/>
          <p:nvPr/>
        </p:nvSpPr>
        <p:spPr>
          <a:xfrm>
            <a:off x="9210294" y="3383280"/>
            <a:ext cx="2292858" cy="91440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lower control</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limit</a:t>
            </a:r>
            <a:endParaRPr lang="en-US" sz="1300" dirty="0"/>
          </a:p>
        </p:txBody>
      </p:sp>
      <p:sp>
        <p:nvSpPr>
          <p:cNvPr id="16" name="Text 14"/>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Computed from 34 real pre-injury games, 2023-24 NBA season. Module10_control_chart.R.</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4</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The Full Real Chart</a:t>
            </a:r>
            <a:endParaRPr lang="en-US" sz="2800" dirty="0"/>
          </a:p>
        </p:txBody>
      </p:sp>
      <p:pic>
        <p:nvPicPr>
          <p:cNvPr id="4" name="Image 0" descr="module10_embiid_control_chart.png">    </p:cNvPr>
          <p:cNvPicPr>
            <a:picLocks noChangeAspect="1"/>
          </p:cNvPicPr>
          <p:nvPr/>
        </p:nvPicPr>
        <p:blipFill>
          <a:blip r:embed="rId1"/>
          <a:stretch>
            <a:fillRect/>
          </a:stretch>
        </p:blipFill>
        <p:spPr>
          <a:xfrm>
            <a:off x="822960" y="1691640"/>
            <a:ext cx="10332720" cy="3316224"/>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Real 2023-24 NBA shot log (shufinskiy/nba_data). Gray band marks games missed after the reported Feb 4, 2024 procedure.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READING THE SIGNAL HONESTLY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One Real Signal, Eight Days Before His Last Game</a:t>
            </a:r>
            <a:endParaRPr lang="en-US" sz="2600" dirty="0"/>
          </a:p>
        </p:txBody>
      </p:sp>
      <p:sp>
        <p:nvSpPr>
          <p:cNvPr id="4" name="Shape 2"/>
          <p:cNvSpPr/>
          <p:nvPr/>
        </p:nvSpPr>
        <p:spPr>
          <a:xfrm>
            <a:off x="548640" y="2103120"/>
            <a:ext cx="3840480" cy="3108960"/>
          </a:xfrm>
          <a:prstGeom prst="roundRect">
            <a:avLst>
              <a:gd name="adj" fmla="val 1765"/>
            </a:avLst>
          </a:prstGeom>
          <a:solidFill>
            <a:srgbClr val="E4572E"/>
          </a:solidFill>
          <a:ln/>
        </p:spPr>
      </p:sp>
      <p:sp>
        <p:nvSpPr>
          <p:cNvPr id="5" name="Text 3"/>
          <p:cNvSpPr txBox="1"/>
          <p:nvPr/>
        </p:nvSpPr>
        <p:spPr>
          <a:xfrm>
            <a:off x="548640" y="2468880"/>
            <a:ext cx="3840480" cy="1188720"/>
          </a:xfrm>
          <a:prstGeom prst="rect">
            <a:avLst/>
          </a:prstGeom>
          <a:noFill/>
          <a:ln/>
        </p:spPr>
        <p:txBody>
          <a:bodyPr wrap="square" lIns="0" tIns="0" rIns="0" bIns="0" rtlCol="0" anchor="ctr"/>
          <a:lstStyle/>
          <a:p>
            <a:pPr algn="ctr" indent="0" marL="0">
              <a:buNone/>
            </a:pPr>
            <a:r>
              <a:rPr lang="en-US" sz="6400" b="1" dirty="0">
                <a:solidFill>
                  <a:srgbClr val="FFFFFF"/>
                </a:solidFill>
                <a:latin typeface="Cambria" pitchFamily="34" charset="0"/>
                <a:ea typeface="Cambria" pitchFamily="34" charset="-122"/>
                <a:cs typeface="Cambria" pitchFamily="34" charset="-120"/>
              </a:rPr>
              <a:t>41</a:t>
            </a:r>
            <a:endParaRPr lang="en-US" sz="6400" dirty="0"/>
          </a:p>
        </p:txBody>
      </p:sp>
      <p:sp>
        <p:nvSpPr>
          <p:cNvPr id="6" name="Text 4"/>
          <p:cNvSpPr txBox="1"/>
          <p:nvPr/>
        </p:nvSpPr>
        <p:spPr>
          <a:xfrm>
            <a:off x="822960" y="3749040"/>
            <a:ext cx="3291840" cy="1280160"/>
          </a:xfrm>
          <a:prstGeom prst="rect">
            <a:avLst/>
          </a:prstGeom>
          <a:noFill/>
          <a:ln/>
        </p:spPr>
        <p:txBody>
          <a:bodyPr wrap="square" lIns="0" tIns="0" rIns="0" bIns="0" rtlCol="0" anchor="ctr"/>
          <a:lstStyle/>
          <a:p>
            <a:pPr algn="ctr" indent="0" marL="0">
              <a:lnSpc>
                <a:spcPct val="125000"/>
              </a:lnSpc>
              <a:buNone/>
            </a:pPr>
            <a:r>
              <a:rPr lang="en-US" sz="1200" dirty="0">
                <a:solidFill>
                  <a:srgbClr val="FFFFFF"/>
                </a:solidFill>
                <a:latin typeface="Calibri" pitchFamily="34" charset="0"/>
                <a:ea typeface="Calibri" pitchFamily="34" charset="-122"/>
                <a:cs typeface="Calibri" pitchFamily="34" charset="-120"/>
              </a:rPr>
              <a:t>real field goal attempts,</a:t>
            </a:r>
            <a:endParaRPr lang="en-US" sz="1200" dirty="0"/>
          </a:p>
          <a:p>
            <a:pPr algn="ctr" indent="0" marL="0">
              <a:lnSpc>
                <a:spcPct val="125000"/>
              </a:lnSpc>
              <a:buNone/>
            </a:pPr>
            <a:r>
              <a:rPr lang="en-US" sz="1200" dirty="0">
                <a:solidFill>
                  <a:srgbClr val="FFFFFF"/>
                </a:solidFill>
                <a:latin typeface="Calibri" pitchFamily="34" charset="0"/>
                <a:ea typeface="Calibri" pitchFamily="34" charset="-122"/>
                <a:cs typeface="Calibri" pitchFamily="34" charset="-120"/>
              </a:rPr>
              <a:t>January 22, 2024, the only</a:t>
            </a:r>
            <a:endParaRPr lang="en-US" sz="1200" dirty="0"/>
          </a:p>
          <a:p>
            <a:pPr algn="ctr" indent="0" marL="0">
              <a:lnSpc>
                <a:spcPct val="125000"/>
              </a:lnSpc>
              <a:buNone/>
            </a:pPr>
            <a:r>
              <a:rPr lang="en-US" sz="1200" dirty="0">
                <a:solidFill>
                  <a:srgbClr val="FFFFFF"/>
                </a:solidFill>
                <a:latin typeface="Calibri" pitchFamily="34" charset="0"/>
                <a:ea typeface="Calibri" pitchFamily="34" charset="-122"/>
                <a:cs typeface="Calibri" pitchFamily="34" charset="-120"/>
              </a:rPr>
              <a:t>out-of-control game in his</a:t>
            </a:r>
            <a:endParaRPr lang="en-US" sz="1200" dirty="0"/>
          </a:p>
          <a:p>
            <a:pPr algn="ctr" indent="0" marL="0">
              <a:lnSpc>
                <a:spcPct val="125000"/>
              </a:lnSpc>
              <a:buNone/>
            </a:pPr>
            <a:r>
              <a:rPr lang="en-US" sz="1200" dirty="0">
                <a:solidFill>
                  <a:srgbClr val="FFFFFF"/>
                </a:solidFill>
                <a:latin typeface="Calibri" pitchFamily="34" charset="0"/>
                <a:ea typeface="Calibri" pitchFamily="34" charset="-122"/>
                <a:cs typeface="Calibri" pitchFamily="34" charset="-120"/>
              </a:rPr>
              <a:t>pre-injury baseline</a:t>
            </a:r>
            <a:endParaRPr lang="en-US" sz="1200" dirty="0"/>
          </a:p>
        </p:txBody>
      </p:sp>
      <p:sp>
        <p:nvSpPr>
          <p:cNvPr id="7" name="Text 5"/>
          <p:cNvSpPr txBox="1"/>
          <p:nvPr/>
        </p:nvSpPr>
        <p:spPr>
          <a:xfrm>
            <a:off x="4663440" y="2103120"/>
            <a:ext cx="6428232" cy="3108960"/>
          </a:xfrm>
          <a:prstGeom prst="rect">
            <a:avLst/>
          </a:prstGeom>
          <a:noFill/>
          <a:ln/>
        </p:spPr>
        <p:txBody>
          <a:bodyPr wrap="square" lIns="0" tIns="0" rIns="0" bIns="0" rtlCol="0" anchor="t"/>
          <a:lstStyle/>
          <a:p>
            <a:pPr indent="0" marL="0">
              <a:lnSpc>
                <a:spcPct val="130000"/>
              </a:lnSpc>
              <a:buNone/>
            </a:pPr>
            <a:r>
              <a:rPr lang="en-US" sz="1500" b="1" dirty="0">
                <a:solidFill>
                  <a:srgbClr val="16213E"/>
                </a:solidFill>
                <a:latin typeface="Calibri" pitchFamily="34" charset="0"/>
                <a:ea typeface="Calibri" pitchFamily="34" charset="-122"/>
                <a:cs typeface="Calibri" pitchFamily="34" charset="-120"/>
              </a:rPr>
              <a:t>What this shows: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a real, honest statistical signal the chart would have flagged the moment it happened.
</a:t>
            </a:r>
            <a:pPr indent="0" marL="0">
              <a:lnSpc>
                <a:spcPct val="130000"/>
              </a:lnSpc>
              <a:buNone/>
            </a:pPr>
            <a:r>
              <a:rPr lang="en-US" sz="1500" b="1" dirty="0">
                <a:solidFill>
                  <a:srgbClr val="E4572E"/>
                </a:solidFill>
                <a:latin typeface="Calibri" pitchFamily="34" charset="0"/>
                <a:ea typeface="Calibri" pitchFamily="34" charset="-122"/>
                <a:cs typeface="Calibri" pitchFamily="34" charset="-120"/>
              </a:rPr>
              <a:t>What this does not show: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that the spike caused his later knee procedure. One case demonstrates a method; it does not establish causation.</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What Would You Want to Know Next?</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You are the team's data analyst. The chart just flagged Embiid's January 22 game.</a:t>
            </a:r>
            <a:endParaRPr lang="en-US" sz="1600" dirty="0"/>
          </a:p>
          <a:p>
            <a:pPr indent="0" marL="0">
              <a:lnSpc>
                <a:spcPct val="140000"/>
              </a:lnSpc>
              <a:buNone/>
            </a:pP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1. Name two pieces of real information, beyond shot attempts, you would want before raising this with the training staff.</a:t>
            </a: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2. Would you flag it immediately, or wait to see if another signal follows? Defend your answer.</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Control Charts, Covered</a:t>
            </a:r>
            <a:endParaRPr lang="en-US" sz="30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What a control chart is, the I-MR formula, and a full real chart built on Joel Embiid's 2023-24 workload, including its one honest signal.</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Segment 2 looks at the real research this method comes from, and what quality monitoring means in professional sports.</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74320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10-Minute Break</a:t>
            </a:r>
            <a:endParaRPr lang="en-US" sz="4000" dirty="0"/>
          </a:p>
        </p:txBody>
      </p:sp>
      <p:sp>
        <p:nvSpPr>
          <p:cNvPr id="3" name="Text 1"/>
          <p:cNvSpPr txBox="1"/>
          <p:nvPr/>
        </p:nvSpPr>
        <p:spPr>
          <a:xfrm>
            <a:off x="548640" y="3657600"/>
            <a:ext cx="11091672" cy="548640"/>
          </a:xfrm>
          <a:prstGeom prst="rect">
            <a:avLst/>
          </a:prstGeom>
          <a:noFill/>
          <a:ln/>
        </p:spPr>
        <p:txBody>
          <a:bodyPr wrap="square" lIns="0" tIns="0" rIns="0" bIns="0" rtlCol="0" anchor="ctr"/>
          <a:lstStyle/>
          <a:p>
            <a:pPr indent="0" marL="0">
              <a:buNone/>
            </a:pPr>
            <a:r>
              <a:rPr lang="en-US" sz="1600" dirty="0">
                <a:solidFill>
                  <a:srgbClr val="AEBBD1"/>
                </a:solidFill>
                <a:latin typeface="Calibri" pitchFamily="34" charset="0"/>
                <a:ea typeface="Calibri" pitchFamily="34" charset="-122"/>
                <a:cs typeface="Calibri" pitchFamily="34" charset="-120"/>
              </a:rPr>
              <a:t>Back at the top of the hour. Next: the real research behind this module.</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Quality Monitoring, Applied to MLB Pitchers</a:t>
            </a:r>
            <a:endParaRPr lang="en-US" sz="2800" dirty="0"/>
          </a:p>
        </p:txBody>
      </p:sp>
      <p:sp>
        <p:nvSpPr>
          <p:cNvPr id="4" name="Shape 2"/>
          <p:cNvSpPr/>
          <p:nvPr/>
        </p:nvSpPr>
        <p:spPr>
          <a:xfrm>
            <a:off x="548640" y="2103120"/>
            <a:ext cx="11091672" cy="3200400"/>
          </a:xfrm>
          <a:prstGeom prst="roundRect">
            <a:avLst>
              <a:gd name="adj" fmla="val 1714"/>
            </a:avLst>
          </a:prstGeom>
          <a:solidFill>
            <a:srgbClr val="27496D"/>
          </a:solidFill>
          <a:ln/>
        </p:spPr>
      </p:sp>
      <p:sp>
        <p:nvSpPr>
          <p:cNvPr id="5" name="Text 3"/>
          <p:cNvSpPr txBox="1"/>
          <p:nvPr/>
        </p:nvSpPr>
        <p:spPr>
          <a:xfrm>
            <a:off x="914400" y="2377440"/>
            <a:ext cx="10360152" cy="54864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Muritala, Brown &amp; Haller (2026)</a:t>
            </a:r>
            <a:endParaRPr lang="en-US" sz="1900" dirty="0"/>
          </a:p>
        </p:txBody>
      </p:sp>
      <p:sp>
        <p:nvSpPr>
          <p:cNvPr id="6" name="Text 4"/>
          <p:cNvSpPr txBox="1"/>
          <p:nvPr/>
        </p:nvSpPr>
        <p:spPr>
          <a:xfrm>
            <a:off x="914400" y="3017520"/>
            <a:ext cx="10360152" cy="2011680"/>
          </a:xfrm>
          <a:prstGeom prst="rect">
            <a:avLst/>
          </a:prstGeom>
          <a:noFill/>
          <a:ln/>
        </p:spPr>
        <p:txBody>
          <a:bodyPr wrap="square" lIns="0" tIns="0" rIns="0" bIns="0" rtlCol="0" anchor="t"/>
          <a:lstStyle/>
          <a:p>
            <a:pPr indent="0" marL="0">
              <a:lnSpc>
                <a:spcPct val="125000"/>
              </a:lnSpc>
              <a:buNone/>
            </a:pPr>
            <a:r>
              <a:rPr lang="en-US" sz="1500" dirty="0">
                <a:solidFill>
                  <a:srgbClr val="FFFFFF"/>
                </a:solidFill>
                <a:latin typeface="Calibri" pitchFamily="34" charset="0"/>
                <a:ea typeface="Calibri" pitchFamily="34" charset="-122"/>
                <a:cs typeface="Calibri" pitchFamily="34" charset="-120"/>
              </a:rPr>
              <a:t>"A Quality Monitoring Approach to Evaluating Reinjury Likelihood to Major League Baseball Pitchers," Research in Sports Medicine. This paper applies statistical process control, the same real family of methods you just used on Embiid, to a real pitcher's own workload and performance data across a season, looking for the same kind of real, honest signal: a point where the data drifts outside the pitcher's own established normal range.</a:t>
            </a:r>
            <a:endParaRPr lang="en-US" sz="1500" dirty="0"/>
          </a:p>
        </p:txBody>
      </p:sp>
      <p:sp>
        <p:nvSpPr>
          <p:cNvPr id="7" name="Text 5"/>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https://doi.org/10.1080/15438627.2026.2632610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WATCH BEFORE WE CONTINUE</a:t>
            </a:r>
            <a:endParaRPr lang="en-US" sz="1300" dirty="0"/>
          </a:p>
        </p:txBody>
      </p:sp>
      <p:sp>
        <p:nvSpPr>
          <p:cNvPr id="3" name="Text 1"/>
          <p:cNvSpPr txBox="1"/>
          <p:nvPr/>
        </p:nvSpPr>
        <p:spPr>
          <a:xfrm>
            <a:off x="548640" y="1005840"/>
            <a:ext cx="11091672" cy="10058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Pineda Has UCL Tear in Elbow</a:t>
            </a:r>
            <a:endParaRPr lang="en-US" sz="2600" dirty="0"/>
          </a:p>
        </p:txBody>
      </p:sp>
      <p:sp>
        <p:nvSpPr>
          <p:cNvPr id="4" name="Shape 2"/>
          <p:cNvSpPr/>
          <p:nvPr/>
        </p:nvSpPr>
        <p:spPr>
          <a:xfrm>
            <a:off x="548640" y="2286000"/>
            <a:ext cx="11091672" cy="2651760"/>
          </a:xfrm>
          <a:prstGeom prst="roundRect">
            <a:avLst>
              <a:gd name="adj" fmla="val 2069"/>
            </a:avLst>
          </a:prstGeom>
          <a:solidFill>
            <a:srgbClr val="27496D"/>
          </a:solidFill>
          <a:ln/>
        </p:spPr>
      </p:sp>
      <p:sp>
        <p:nvSpPr>
          <p:cNvPr id="5" name="Shape 3"/>
          <p:cNvSpPr/>
          <p:nvPr/>
        </p:nvSpPr>
        <p:spPr>
          <a:xfrm>
            <a:off x="1005840" y="2651760"/>
            <a:ext cx="914400" cy="914400"/>
          </a:xfrm>
          <a:prstGeom prst="ellipse">
            <a:avLst/>
          </a:prstGeom>
          <a:solidFill>
            <a:srgbClr val="E4572E"/>
          </a:solidFill>
          <a:ln/>
        </p:spPr>
      </p:sp>
      <p:sp>
        <p:nvSpPr>
          <p:cNvPr id="6" name="Text 4"/>
          <p:cNvSpPr txBox="1"/>
          <p:nvPr/>
        </p:nvSpPr>
        <p:spPr>
          <a:xfrm>
            <a:off x="1005840" y="2651760"/>
            <a:ext cx="914400" cy="914400"/>
          </a:xfrm>
          <a:prstGeom prst="rect">
            <a:avLst/>
          </a:prstGeom>
          <a:noFill/>
          <a:ln/>
        </p:spPr>
        <p:txBody>
          <a:bodyPr wrap="square" lIns="0" tIns="0" rIns="0" bIns="0" rtlCol="0" anchor="ctr"/>
          <a:lstStyle/>
          <a:p>
            <a:pPr algn="ctr" indent="0" marL="0">
              <a:buNone/>
            </a:pPr>
            <a:r>
              <a:rPr lang="en-US" sz="3200" b="1" dirty="0">
                <a:solidFill>
                  <a:srgbClr val="FFFFFF"/>
                </a:solidFill>
              </a:rPr>
              <a:t>▶</a:t>
            </a:r>
            <a:endParaRPr lang="en-US" sz="3200" dirty="0"/>
          </a:p>
        </p:txBody>
      </p:sp>
      <p:sp>
        <p:nvSpPr>
          <p:cNvPr id="7" name="Text 5"/>
          <p:cNvSpPr txBox="1"/>
          <p:nvPr/>
        </p:nvSpPr>
        <p:spPr>
          <a:xfrm>
            <a:off x="2286000" y="2651760"/>
            <a:ext cx="8988552" cy="2011680"/>
          </a:xfrm>
          <a:prstGeom prst="rect">
            <a:avLst/>
          </a:prstGeom>
          <a:noFill/>
          <a:ln/>
        </p:spPr>
        <p:txBody>
          <a:bodyPr wrap="square" lIns="0" tIns="0" rIns="0" bIns="0" rtlCol="0" anchor="t"/>
          <a:lstStyle/>
          <a:p>
            <a:pPr indent="0" marL="0">
              <a:lnSpc>
                <a:spcPct val="130000"/>
              </a:lnSpc>
              <a:buNone/>
            </a:pPr>
            <a:r>
              <a:rPr lang="en-US" sz="1500" b="1" dirty="0">
                <a:solidFill>
                  <a:srgbClr val="FFFFFF"/>
                </a:solidFill>
                <a:latin typeface="Calibri" pitchFamily="34" charset="0"/>
                <a:ea typeface="Calibri" pitchFamily="34" charset="-122"/>
                <a:cs typeface="Calibri" pitchFamily="34" charset="-120"/>
              </a:rPr>
              <a:t>MLB.com (Milwaukee Brewers, official)
</a:t>
            </a:r>
            <a:pPr indent="0" marL="0">
              <a:lnSpc>
                <a:spcPct val="130000"/>
              </a:lnSpc>
              <a:buNone/>
            </a:pPr>
            <a:r>
              <a:rPr lang="en-US" sz="1200" dirty="0">
                <a:solidFill>
                  <a:srgbClr val="AEBBD1"/>
                </a:solidFill>
                <a:latin typeface="Calibri" pitchFamily="34" charset="0"/>
                <a:ea typeface="Calibri" pitchFamily="34" charset="-122"/>
                <a:cs typeface="Calibri" pitchFamily="34" charset="-120"/>
              </a:rPr>
              <a:t>https://www.mlb.com/brewers/video/pineda-has-ucl-tear-in-elbow-c1603774083
</a:t>
            </a:r>
            <a:pPr indent="0" marL="0">
              <a:lnSpc>
                <a:spcPct val="130000"/>
              </a:lnSpc>
              <a:buNone/>
            </a:pPr>
            <a:r>
              <a:rPr lang="en-US" sz="1200" i="1" dirty="0">
                <a:solidFill>
                  <a:srgbClr val="AEBBD1"/>
                </a:solidFill>
                <a:latin typeface="Calibri" pitchFamily="34" charset="0"/>
                <a:ea typeface="Calibri" pitchFamily="34" charset="-122"/>
                <a:cs typeface="Calibri" pitchFamily="34" charset="-120"/>
              </a:rPr>
              <a:t>Confirmed runtime: approximately 23 seconds.</a:t>
            </a:r>
            <a:endParaRPr lang="en-US" sz="1500" dirty="0"/>
          </a:p>
        </p:txBody>
      </p:sp>
      <p:sp>
        <p:nvSpPr>
          <p:cNvPr id="8" name="Text 6"/>
          <p:cNvSpPr txBox="1"/>
          <p:nvPr/>
        </p:nvSpPr>
        <p:spPr>
          <a:xfrm>
            <a:off x="548640" y="5120640"/>
            <a:ext cx="11091672" cy="822960"/>
          </a:xfrm>
          <a:prstGeom prst="rect">
            <a:avLst/>
          </a:prstGeom>
          <a:noFill/>
          <a:ln/>
        </p:spPr>
        <p:txBody>
          <a:bodyPr wrap="square" lIns="0" tIns="0" rIns="0" bIns="0" rtlCol="0" anchor="ctr"/>
          <a:lstStyle/>
          <a:p>
            <a:pPr indent="0" marL="0">
              <a:buNone/>
            </a:pPr>
            <a:r>
              <a:rPr lang="en-US" sz="1400" i="1" dirty="0">
                <a:solidFill>
                  <a:srgbClr val="AEBBD1"/>
                </a:solidFill>
                <a:latin typeface="Calibri" pitchFamily="34" charset="0"/>
                <a:ea typeface="Calibri" pitchFamily="34" charset="-122"/>
                <a:cs typeface="Calibri" pitchFamily="34" charset="-120"/>
              </a:rPr>
              <a:t>Watch for: the real, in-game moment this entire research thread exists to catch earlier, if it can.</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This Method Is Bigger Than One Paper</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West, Ward, Plisky and colleagues' 2026 tutorial in the Journal of Strength and Conditioning Research makes the broader case directly: sport organizations now collect enormous amounts of athlete monitoring data, and statistical process control gives practitioners a disciplined, reproducible way to flag when that data has drifted, instead of relying on gut feel.</a:t>
            </a:r>
            <a:endParaRPr lang="en-US" sz="1600" dirty="0"/>
          </a:p>
        </p:txBody>
      </p:sp>
      <p:sp>
        <p:nvSpPr>
          <p:cNvPr id="6" name="Text 4"/>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West et al. (2026). Journal of Strength and Conditioning Research, 40(2), e202-e210. https://doi.org/10.1519/JSC.0000000000005341</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Pick Your Own Real Workload Signal</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Get into pairs. Pick any real player you know missed time to injury recently.</a:t>
            </a:r>
            <a:endParaRPr lang="en-US" sz="1600" dirty="0"/>
          </a:p>
          <a:p>
            <a:pPr indent="0" marL="0">
              <a:lnSpc>
                <a:spcPct val="140000"/>
              </a:lnSpc>
              <a:buNone/>
            </a:pP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1. Name one real, publicly available statistic for that player that could serve as a workload or performance signal.</a:t>
            </a: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2. In one sentence, explain why a control chart on that statistic might have been informative.</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The Research, Covered</a:t>
            </a:r>
            <a:endParaRPr lang="en-US" sz="30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Where this method comes from, the real MLB pitcher reinjury research it is built on, and why it generalizes well beyond one sport.</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Segment 3 looks at the most popular alternative framework in this space, and why its own math has real, documented problems.</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74320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10-Minute Break</a:t>
            </a:r>
            <a:endParaRPr lang="en-US" sz="4000" dirty="0"/>
          </a:p>
        </p:txBody>
      </p:sp>
      <p:sp>
        <p:nvSpPr>
          <p:cNvPr id="3" name="Text 1"/>
          <p:cNvSpPr txBox="1"/>
          <p:nvPr/>
        </p:nvSpPr>
        <p:spPr>
          <a:xfrm>
            <a:off x="548640" y="3657600"/>
            <a:ext cx="11091672" cy="548640"/>
          </a:xfrm>
          <a:prstGeom prst="rect">
            <a:avLst/>
          </a:prstGeom>
          <a:noFill/>
          <a:ln/>
        </p:spPr>
        <p:txBody>
          <a:bodyPr wrap="square" lIns="0" tIns="0" rIns="0" bIns="0" rtlCol="0" anchor="ctr"/>
          <a:lstStyle/>
          <a:p>
            <a:pPr indent="0" marL="0">
              <a:buNone/>
            </a:pPr>
            <a:r>
              <a:rPr lang="en-US" sz="1600" dirty="0">
                <a:solidFill>
                  <a:srgbClr val="AEBBD1"/>
                </a:solidFill>
                <a:latin typeface="Calibri" pitchFamily="34" charset="0"/>
                <a:ea typeface="Calibri" pitchFamily="34" charset="-122"/>
                <a:cs typeface="Calibri" pitchFamily="34" charset="-120"/>
              </a:rPr>
              <a:t>Back at the top of the hour. Next: the Acute:Chronic Workload Ratio.</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NEW TERM · PLAIN LANGUAGE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The Acute:Chronic Workload Ratio (ACWR)</a:t>
            </a:r>
            <a:endParaRPr lang="en-US" sz="2600" dirty="0"/>
          </a:p>
        </p:txBody>
      </p:sp>
      <p:sp>
        <p:nvSpPr>
          <p:cNvPr id="4" name="Shape 2"/>
          <p:cNvSpPr/>
          <p:nvPr/>
        </p:nvSpPr>
        <p:spPr>
          <a:xfrm>
            <a:off x="548640" y="2103120"/>
            <a:ext cx="11091672" cy="2103120"/>
          </a:xfrm>
          <a:prstGeom prst="roundRect">
            <a:avLst>
              <a:gd name="adj" fmla="val 2609"/>
            </a:avLst>
          </a:prstGeom>
          <a:solidFill>
            <a:srgbClr val="EDF1F7"/>
          </a:solidFill>
          <a:ln/>
        </p:spPr>
      </p:sp>
      <p:sp>
        <p:nvSpPr>
          <p:cNvPr id="5" name="Text 3"/>
          <p:cNvSpPr txBox="1"/>
          <p:nvPr/>
        </p:nvSpPr>
        <p:spPr>
          <a:xfrm>
            <a:off x="914400" y="2377440"/>
            <a:ext cx="10360152" cy="164592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If you read about athlete workload monitoring anywhere outside this course, you will run into the ACWR far more often than you will run into control charts. It compares an athlete's recent workload, typically the last week, against their longer-term average, typically the last four weeks, and flags risk when that ratio climbs too high too fast.</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NEW TERM · THE FORMULA</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How the ACWR Is Actually Computed</a:t>
            </a:r>
            <a:endParaRPr lang="en-US" sz="2800" dirty="0"/>
          </a:p>
        </p:txBody>
      </p:sp>
      <p:sp>
        <p:nvSpPr>
          <p:cNvPr id="4" name="Shape 2"/>
          <p:cNvSpPr/>
          <p:nvPr/>
        </p:nvSpPr>
        <p:spPr>
          <a:xfrm>
            <a:off x="548640" y="2011680"/>
            <a:ext cx="11091672" cy="2377440"/>
          </a:xfrm>
          <a:prstGeom prst="roundRect">
            <a:avLst>
              <a:gd name="adj" fmla="val 2308"/>
            </a:avLst>
          </a:prstGeom>
          <a:solidFill>
            <a:srgbClr val="0B1D33"/>
          </a:solidFill>
          <a:ln/>
        </p:spPr>
      </p:sp>
      <p:sp>
        <p:nvSpPr>
          <p:cNvPr id="5" name="Text 3"/>
          <p:cNvSpPr txBox="1"/>
          <p:nvPr/>
        </p:nvSpPr>
        <p:spPr>
          <a:xfrm>
            <a:off x="914400" y="2286000"/>
            <a:ext cx="10360152" cy="1828800"/>
          </a:xfrm>
          <a:prstGeom prst="rect">
            <a:avLst/>
          </a:prstGeom>
          <a:noFill/>
          <a:ln/>
        </p:spPr>
        <p:txBody>
          <a:bodyPr wrap="square" lIns="0" tIns="0" rIns="0" bIns="0" rtlCol="0" anchor="ctr"/>
          <a:lstStyle/>
          <a:p>
            <a:pPr indent="0" marL="0">
              <a:buNone/>
            </a:pPr>
            <a:r>
              <a:rPr lang="en-US" sz="1800" dirty="0">
                <a:solidFill>
                  <a:srgbClr val="D9E2F3"/>
                </a:solidFill>
                <a:latin typeface="Courier New" pitchFamily="34" charset="0"/>
                <a:ea typeface="Courier New" pitchFamily="34" charset="-122"/>
                <a:cs typeface="Courier New" pitchFamily="34" charset="-120"/>
              </a:rPr>
              <a:t>acute load  = total workload, most recent 7 days</a:t>
            </a:r>
            <a:endParaRPr lang="en-US" sz="1800" dirty="0"/>
          </a:p>
          <a:p>
            <a:pPr indent="0" marL="0">
              <a:buNone/>
            </a:pPr>
            <a:r>
              <a:rPr lang="en-US" sz="1800" dirty="0">
                <a:solidFill>
                  <a:srgbClr val="D9E2F3"/>
                </a:solidFill>
                <a:latin typeface="Courier New" pitchFamily="34" charset="0"/>
                <a:ea typeface="Courier New" pitchFamily="34" charset="-122"/>
                <a:cs typeface="Courier New" pitchFamily="34" charset="-120"/>
              </a:rPr>
              <a:t>chronic load = average weekly workload, trailing 28 days</a:t>
            </a:r>
            <a:endParaRPr lang="en-US" sz="1800" dirty="0"/>
          </a:p>
          <a:p>
            <a:pPr indent="0" marL="0">
              <a:buNone/>
            </a:pPr>
            <a:endParaRPr lang="en-US" sz="1800" dirty="0"/>
          </a:p>
          <a:p>
            <a:pPr indent="0" marL="0">
              <a:buNone/>
            </a:pPr>
            <a:r>
              <a:rPr lang="en-US" sz="1800" dirty="0">
                <a:solidFill>
                  <a:srgbClr val="D9E2F3"/>
                </a:solidFill>
                <a:latin typeface="Courier New" pitchFamily="34" charset="0"/>
                <a:ea typeface="Courier New" pitchFamily="34" charset="-122"/>
                <a:cs typeface="Courier New" pitchFamily="34" charset="-120"/>
              </a:rPr>
              <a:t>ACWR = acute load / chronic load</a:t>
            </a:r>
            <a:endParaRPr lang="en-US" sz="1800" dirty="0"/>
          </a:p>
        </p:txBody>
      </p:sp>
      <p:sp>
        <p:nvSpPr>
          <p:cNvPr id="6" name="Text 4"/>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Kanwal, Ahsan, Khan &amp; Khan (2025). Premier Journal of Science, 11, 100088.</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NEW TERM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Weakness 1: Mathematical Coupling</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The acute window (the last 7 days) is mathematically part of the chronic window's calculation in most common ACWR formulas, since the most recent week is included in the trailing four-week average. This shared data can manufacture a statistical relationship between the two numbers that exists because of how the ratio is built, not because of any real underlying physiological signal.</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400" b="1" dirty="0">
                <a:solidFill>
                  <a:srgbClr val="16213E"/>
                </a:solidFill>
                <a:latin typeface="Cambria" pitchFamily="34" charset="0"/>
                <a:ea typeface="Cambria" pitchFamily="34" charset="-122"/>
                <a:cs typeface="Cambria" pitchFamily="34" charset="-120"/>
              </a:rPr>
              <a:t>Weaknesses 2 and 3: Arbitrary Windows, Weak Early Evidence</a:t>
            </a:r>
            <a:endParaRPr lang="en-US" sz="2400" dirty="0"/>
          </a:p>
        </p:txBody>
      </p:sp>
      <p:sp>
        <p:nvSpPr>
          <p:cNvPr id="4" name="Shape 2"/>
          <p:cNvSpPr/>
          <p:nvPr/>
        </p:nvSpPr>
        <p:spPr>
          <a:xfrm>
            <a:off x="548640" y="2103120"/>
            <a:ext cx="5362956" cy="2834640"/>
          </a:xfrm>
          <a:prstGeom prst="roundRect">
            <a:avLst>
              <a:gd name="adj" fmla="val 1935"/>
            </a:avLst>
          </a:prstGeom>
          <a:solidFill>
            <a:srgbClr val="EDF1F7"/>
          </a:solidFill>
          <a:ln/>
        </p:spPr>
      </p:sp>
      <p:sp>
        <p:nvSpPr>
          <p:cNvPr id="5" name="Text 3"/>
          <p:cNvSpPr txBox="1"/>
          <p:nvPr/>
        </p:nvSpPr>
        <p:spPr>
          <a:xfrm>
            <a:off x="822960" y="2331720"/>
            <a:ext cx="4814316" cy="457200"/>
          </a:xfrm>
          <a:prstGeom prst="rect">
            <a:avLst/>
          </a:prstGeom>
          <a:noFill/>
          <a:ln/>
        </p:spPr>
        <p:txBody>
          <a:bodyPr wrap="square" lIns="0" tIns="0" rIns="0" bIns="0" rtlCol="0" anchor="ctr"/>
          <a:lstStyle/>
          <a:p>
            <a:pPr indent="0" marL="0">
              <a:buNone/>
            </a:pPr>
            <a:r>
              <a:rPr lang="en-US" sz="1500" b="1" dirty="0">
                <a:solidFill>
                  <a:srgbClr val="16213E"/>
                </a:solidFill>
                <a:latin typeface="Cambria" pitchFamily="34" charset="0"/>
                <a:ea typeface="Cambria" pitchFamily="34" charset="-122"/>
                <a:cs typeface="Cambria" pitchFamily="34" charset="-120"/>
              </a:rPr>
              <a:t>Arbitrary Windows</a:t>
            </a:r>
            <a:endParaRPr lang="en-US" sz="1500" dirty="0"/>
          </a:p>
        </p:txBody>
      </p:sp>
      <p:sp>
        <p:nvSpPr>
          <p:cNvPr id="6" name="Text 4"/>
          <p:cNvSpPr txBox="1"/>
          <p:nvPr/>
        </p:nvSpPr>
        <p:spPr>
          <a:xfrm>
            <a:off x="822960" y="2834640"/>
            <a:ext cx="4814316" cy="1828800"/>
          </a:xfrm>
          <a:prstGeom prst="rect">
            <a:avLst/>
          </a:prstGeom>
          <a:noFill/>
          <a:ln/>
        </p:spPr>
        <p:txBody>
          <a:bodyPr wrap="square" lIns="0" tIns="0" rIns="0" bIns="0" rtlCol="0" anchor="t"/>
          <a:lstStyle/>
          <a:p>
            <a:pPr indent="0" marL="0">
              <a:lnSpc>
                <a:spcPct val="125000"/>
              </a:lnSpc>
              <a:buNone/>
            </a:pPr>
            <a:r>
              <a:rPr lang="en-US" sz="1300" dirty="0">
                <a:solidFill>
                  <a:srgbClr val="16213E"/>
                </a:solidFill>
                <a:latin typeface="Calibri" pitchFamily="34" charset="0"/>
                <a:ea typeface="Calibri" pitchFamily="34" charset="-122"/>
                <a:cs typeface="Calibri" pitchFamily="34" charset="-120"/>
              </a:rPr>
              <a:t>The choice of window length and averaging method (a simple rolling average versus an exponentially weighted moving average) both change the real result, with no settled, principled reason to pick one over another.</a:t>
            </a:r>
            <a:endParaRPr lang="en-US" sz="1300" dirty="0"/>
          </a:p>
        </p:txBody>
      </p:sp>
      <p:sp>
        <p:nvSpPr>
          <p:cNvPr id="7" name="Shape 5"/>
          <p:cNvSpPr/>
          <p:nvPr/>
        </p:nvSpPr>
        <p:spPr>
          <a:xfrm>
            <a:off x="6277356" y="2103120"/>
            <a:ext cx="5362956" cy="2834640"/>
          </a:xfrm>
          <a:prstGeom prst="roundRect">
            <a:avLst>
              <a:gd name="adj" fmla="val 1935"/>
            </a:avLst>
          </a:prstGeom>
          <a:solidFill>
            <a:srgbClr val="EDF1F7"/>
          </a:solidFill>
          <a:ln/>
        </p:spPr>
      </p:sp>
      <p:sp>
        <p:nvSpPr>
          <p:cNvPr id="8" name="Text 6"/>
          <p:cNvSpPr txBox="1"/>
          <p:nvPr/>
        </p:nvSpPr>
        <p:spPr>
          <a:xfrm>
            <a:off x="6551676" y="2331720"/>
            <a:ext cx="4814316" cy="457200"/>
          </a:xfrm>
          <a:prstGeom prst="rect">
            <a:avLst/>
          </a:prstGeom>
          <a:noFill/>
          <a:ln/>
        </p:spPr>
        <p:txBody>
          <a:bodyPr wrap="square" lIns="0" tIns="0" rIns="0" bIns="0" rtlCol="0" anchor="ctr"/>
          <a:lstStyle/>
          <a:p>
            <a:pPr indent="0" marL="0">
              <a:buNone/>
            </a:pPr>
            <a:r>
              <a:rPr lang="en-US" sz="1500" b="1" dirty="0">
                <a:solidFill>
                  <a:srgbClr val="16213E"/>
                </a:solidFill>
                <a:latin typeface="Cambria" pitchFamily="34" charset="0"/>
                <a:ea typeface="Cambria" pitchFamily="34" charset="-122"/>
                <a:cs typeface="Cambria" pitchFamily="34" charset="-120"/>
              </a:rPr>
              <a:t>Weak Early Evidence</a:t>
            </a:r>
            <a:endParaRPr lang="en-US" sz="1500" dirty="0"/>
          </a:p>
        </p:txBody>
      </p:sp>
      <p:sp>
        <p:nvSpPr>
          <p:cNvPr id="9" name="Text 7"/>
          <p:cNvSpPr txBox="1"/>
          <p:nvPr/>
        </p:nvSpPr>
        <p:spPr>
          <a:xfrm>
            <a:off x="6551676" y="2834640"/>
            <a:ext cx="4814316" cy="1828800"/>
          </a:xfrm>
          <a:prstGeom prst="rect">
            <a:avLst/>
          </a:prstGeom>
          <a:noFill/>
          <a:ln/>
        </p:spPr>
        <p:txBody>
          <a:bodyPr wrap="square" lIns="0" tIns="0" rIns="0" bIns="0" rtlCol="0" anchor="t"/>
          <a:lstStyle/>
          <a:p>
            <a:pPr indent="0" marL="0">
              <a:lnSpc>
                <a:spcPct val="125000"/>
              </a:lnSpc>
              <a:buNone/>
            </a:pPr>
            <a:r>
              <a:rPr lang="en-US" sz="1300" dirty="0">
                <a:solidFill>
                  <a:srgbClr val="16213E"/>
                </a:solidFill>
                <a:latin typeface="Calibri" pitchFamily="34" charset="0"/>
                <a:ea typeface="Calibri" pitchFamily="34" charset="-122"/>
                <a:cs typeface="Calibri" pitchFamily="34" charset="-120"/>
              </a:rPr>
              <a:t>Early studies supporting the ACWR often used small, retrospective samples, a design prone to overstating a real predictive relationship that a larger, better-controlled study might not confirm.</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THE STRONGEST EVIDENCE AGAINST IT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400" b="1" dirty="0">
                <a:solidFill>
                  <a:srgbClr val="16213E"/>
                </a:solidFill>
                <a:latin typeface="Cambria" pitchFamily="34" charset="0"/>
                <a:ea typeface="Cambria" pitchFamily="34" charset="-122"/>
                <a:cs typeface="Cambria" pitchFamily="34" charset="-120"/>
              </a:rPr>
              <a:t>A Real Randomized Controlled Trial Found No Effect</a:t>
            </a:r>
            <a:endParaRPr lang="en-US" sz="2400" dirty="0"/>
          </a:p>
        </p:txBody>
      </p:sp>
      <p:sp>
        <p:nvSpPr>
          <p:cNvPr id="4" name="Shape 2"/>
          <p:cNvSpPr/>
          <p:nvPr/>
        </p:nvSpPr>
        <p:spPr>
          <a:xfrm>
            <a:off x="548640" y="2103120"/>
            <a:ext cx="3840480" cy="3108960"/>
          </a:xfrm>
          <a:prstGeom prst="roundRect">
            <a:avLst>
              <a:gd name="adj" fmla="val 1765"/>
            </a:avLst>
          </a:prstGeom>
          <a:solidFill>
            <a:srgbClr val="E4572E"/>
          </a:solidFill>
          <a:ln/>
        </p:spPr>
      </p:sp>
      <p:sp>
        <p:nvSpPr>
          <p:cNvPr id="5" name="Text 3"/>
          <p:cNvSpPr txBox="1"/>
          <p:nvPr/>
        </p:nvSpPr>
        <p:spPr>
          <a:xfrm>
            <a:off x="548640" y="2468880"/>
            <a:ext cx="3840480" cy="1188720"/>
          </a:xfrm>
          <a:prstGeom prst="rect">
            <a:avLst/>
          </a:prstGeom>
          <a:noFill/>
          <a:ln/>
        </p:spPr>
        <p:txBody>
          <a:bodyPr wrap="square" lIns="0" tIns="0" rIns="0" bIns="0" rtlCol="0" anchor="ctr"/>
          <a:lstStyle/>
          <a:p>
            <a:pPr algn="ctr" indent="0" marL="0">
              <a:buNone/>
            </a:pPr>
            <a:r>
              <a:rPr lang="en-US" sz="6400" b="1" dirty="0">
                <a:solidFill>
                  <a:srgbClr val="FFFFFF"/>
                </a:solidFill>
                <a:latin typeface="Cambria" pitchFamily="34" charset="0"/>
                <a:ea typeface="Cambria" pitchFamily="34" charset="-122"/>
                <a:cs typeface="Cambria" pitchFamily="34" charset="-120"/>
              </a:rPr>
              <a:t>10</a:t>
            </a:r>
            <a:endParaRPr lang="en-US" sz="6400" dirty="0"/>
          </a:p>
        </p:txBody>
      </p:sp>
      <p:sp>
        <p:nvSpPr>
          <p:cNvPr id="6" name="Text 4"/>
          <p:cNvSpPr txBox="1"/>
          <p:nvPr/>
        </p:nvSpPr>
        <p:spPr>
          <a:xfrm>
            <a:off x="822960" y="3749040"/>
            <a:ext cx="3291840" cy="1280160"/>
          </a:xfrm>
          <a:prstGeom prst="rect">
            <a:avLst/>
          </a:prstGeom>
          <a:noFill/>
          <a:ln/>
        </p:spPr>
        <p:txBody>
          <a:bodyPr wrap="square" lIns="0" tIns="0" rIns="0" bIns="0" rtlCol="0" anchor="ctr"/>
          <a:lstStyle/>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real months, elite youth</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football, ACWR-guided</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training vs. usual training</a:t>
            </a:r>
            <a:endParaRPr lang="en-US" sz="1300" dirty="0"/>
          </a:p>
        </p:txBody>
      </p:sp>
      <p:sp>
        <p:nvSpPr>
          <p:cNvPr id="7" name="Text 5"/>
          <p:cNvSpPr txBox="1"/>
          <p:nvPr/>
        </p:nvSpPr>
        <p:spPr>
          <a:xfrm>
            <a:off x="4663440" y="2103120"/>
            <a:ext cx="6428232" cy="3108960"/>
          </a:xfrm>
          <a:prstGeom prst="rect">
            <a:avLst/>
          </a:prstGeom>
          <a:noFill/>
          <a:ln/>
        </p:spPr>
        <p:txBody>
          <a:bodyPr wrap="square" lIns="0" tIns="0" rIns="0" bIns="0" rtlCol="0" anchor="t"/>
          <a:lstStyle/>
          <a:p>
            <a:pPr indent="0" marL="0">
              <a:lnSpc>
                <a:spcPct val="130000"/>
              </a:lnSpc>
              <a:buNone/>
            </a:pPr>
            <a:r>
              <a:rPr lang="en-US" sz="1500" b="1" dirty="0">
                <a:solidFill>
                  <a:srgbClr val="16213E"/>
                </a:solidFill>
                <a:latin typeface="Calibri" pitchFamily="34" charset="0"/>
                <a:ea typeface="Calibri" pitchFamily="34" charset="-122"/>
                <a:cs typeface="Calibri" pitchFamily="34" charset="-120"/>
              </a:rPr>
              <a:t>The finding: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no significant reduction in real injury or health problems from ACWR-guided training compared to normal training.
</a:t>
            </a:r>
            <a:pPr indent="0" marL="0">
              <a:lnSpc>
                <a:spcPct val="130000"/>
              </a:lnSpc>
              <a:buNone/>
            </a:pPr>
            <a:r>
              <a:rPr lang="en-US" sz="1500" b="1" dirty="0">
                <a:solidFill>
                  <a:srgbClr val="E4572E"/>
                </a:solidFill>
                <a:latin typeface="Calibri" pitchFamily="34" charset="0"/>
                <a:ea typeface="Calibri" pitchFamily="34" charset="-122"/>
                <a:cs typeface="Calibri" pitchFamily="34" charset="-120"/>
              </a:rPr>
              <a:t>Why it matters: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a real RCT directly tests whether an intervention causes an outcome. A null result here is stronger evidence against a confident claim than a small association study is evidence for one.</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Brief the Front Office</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40000"/>
              </a:lnSpc>
              <a:buNone/>
            </a:pPr>
            <a:r>
              <a:rPr lang="en-US" sz="1500" dirty="0">
                <a:solidFill>
                  <a:srgbClr val="16213E"/>
                </a:solidFill>
                <a:latin typeface="Calibri" pitchFamily="34" charset="0"/>
                <a:ea typeface="Calibri" pitchFamily="34" charset="-122"/>
                <a:cs typeface="Calibri" pitchFamily="34" charset="-120"/>
              </a:rPr>
              <a:t>Get into small groups. I'll assign your group one of the three real ACWR weaknesses from today: mathematical coupling, arbitrary windows, or weak early evidence.</a:t>
            </a:r>
            <a:endParaRPr lang="en-US" sz="1500" dirty="0"/>
          </a:p>
          <a:p>
            <a:pPr indent="0" marL="0">
              <a:lnSpc>
                <a:spcPct val="140000"/>
              </a:lnSpc>
              <a:buNone/>
            </a:pPr>
            <a:endParaRPr lang="en-US" sz="1500" dirty="0"/>
          </a:p>
          <a:p>
            <a:pPr indent="0" marL="0">
              <a:lnSpc>
                <a:spcPct val="140000"/>
              </a:lnSpc>
              <a:buNone/>
            </a:pPr>
            <a:r>
              <a:rPr lang="en-US" sz="1500" dirty="0">
                <a:solidFill>
                  <a:srgbClr val="16213E"/>
                </a:solidFill>
                <a:latin typeface="Calibri" pitchFamily="34" charset="0"/>
                <a:ea typeface="Calibri" pitchFamily="34" charset="-122"/>
                <a:cs typeface="Calibri" pitchFamily="34" charset="-120"/>
              </a:rPr>
              <a:t>Prepare a thirty-second real explanation of your weakness, as if you are briefing a front office that is considering adopting the ACWR. Be ready to present.</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The ACWR, Covered</a:t>
            </a:r>
            <a:endParaRPr lang="en-US" sz="30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The ACWR's formula and its three real documented weaknesses, including a real null RCT result that challenges confident use of its thresholds.</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We close out the course: the throughline this module completes, and what to carry forward.</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27496D"/>
                </a:solidFill>
                <a:latin typeface="Calibri" pitchFamily="34" charset="0"/>
                <a:ea typeface="Calibri" pitchFamily="34" charset="-122"/>
                <a:cs typeface="Calibri" pitchFamily="34" charset="-120"/>
              </a:rPr>
              <a:t>THROUGHLINE · INJURY DETECTION &amp; PREDICTION</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Where This Course's Injury Thread Lands</a:t>
            </a:r>
            <a:endParaRPr lang="en-US" sz="2800" dirty="0"/>
          </a:p>
        </p:txBody>
      </p:sp>
      <p:sp>
        <p:nvSpPr>
          <p:cNvPr id="4" name="Shape 2"/>
          <p:cNvSpPr/>
          <p:nvPr/>
        </p:nvSpPr>
        <p:spPr>
          <a:xfrm>
            <a:off x="548640" y="1920240"/>
            <a:ext cx="54864" cy="2926080"/>
          </a:xfrm>
          <a:prstGeom prst="rect">
            <a:avLst/>
          </a:prstGeom>
          <a:solidFill>
            <a:srgbClr val="27496D"/>
          </a:solidFill>
          <a:ln/>
        </p:spPr>
      </p:sp>
      <p:sp>
        <p:nvSpPr>
          <p:cNvPr id="5" name="Text 3"/>
          <p:cNvSpPr txBox="1"/>
          <p:nvPr/>
        </p:nvSpPr>
        <p:spPr>
          <a:xfrm>
            <a:off x="914400" y="2011680"/>
            <a:ext cx="10725912" cy="365760"/>
          </a:xfrm>
          <a:prstGeom prst="rect">
            <a:avLst/>
          </a:prstGeom>
          <a:noFill/>
          <a:ln/>
        </p:spPr>
        <p:txBody>
          <a:bodyPr wrap="square" lIns="0" tIns="0" rIns="0" bIns="0" rtlCol="0" anchor="ctr"/>
          <a:lstStyle/>
          <a:p>
            <a:pPr indent="0" marL="0">
              <a:buNone/>
            </a:pPr>
            <a:r>
              <a:rPr lang="en-US" sz="1300" b="1" dirty="0">
                <a:solidFill>
                  <a:srgbClr val="27496D"/>
                </a:solidFill>
                <a:latin typeface="Calibri" pitchFamily="34" charset="0"/>
                <a:ea typeface="Calibri" pitchFamily="34" charset="-122"/>
                <a:cs typeface="Calibri" pitchFamily="34" charset="-120"/>
              </a:rPr>
              <a:t>The question:</a:t>
            </a:r>
            <a:endParaRPr lang="en-US" sz="1300" dirty="0"/>
          </a:p>
        </p:txBody>
      </p:sp>
      <p:sp>
        <p:nvSpPr>
          <p:cNvPr id="6" name="Text 4"/>
          <p:cNvSpPr txBox="1"/>
          <p:nvPr/>
        </p:nvSpPr>
        <p:spPr>
          <a:xfrm>
            <a:off x="914400" y="2377440"/>
            <a:ext cx="10725912" cy="822960"/>
          </a:xfrm>
          <a:prstGeom prst="rect">
            <a:avLst/>
          </a:prstGeom>
          <a:noFill/>
          <a:ln/>
        </p:spPr>
        <p:txBody>
          <a:bodyPr wrap="square" lIns="0" tIns="0" rIns="0" bIns="0" rtlCol="0" anchor="t"/>
          <a:lstStyle/>
          <a:p>
            <a:pPr indent="0" marL="0">
              <a:lnSpc>
                <a:spcPct val="125000"/>
              </a:lnSpc>
              <a:buNone/>
            </a:pPr>
            <a:r>
              <a:rPr lang="en-US" sz="1700" i="1" dirty="0">
                <a:solidFill>
                  <a:srgbClr val="16213E"/>
                </a:solidFill>
                <a:latin typeface="Calibri" pitchFamily="34" charset="0"/>
                <a:ea typeface="Calibri" pitchFamily="34" charset="-122"/>
                <a:cs typeface="Calibri" pitchFamily="34" charset="-120"/>
              </a:rPr>
              <a:t>Can real, ordinary performance data, tracked over time, give an honest early warning before an injury happens?</a:t>
            </a:r>
            <a:endParaRPr lang="en-US" sz="1700" dirty="0"/>
          </a:p>
        </p:txBody>
      </p:sp>
      <p:sp>
        <p:nvSpPr>
          <p:cNvPr id="7" name="Text 5"/>
          <p:cNvSpPr txBox="1"/>
          <p:nvPr/>
        </p:nvSpPr>
        <p:spPr>
          <a:xfrm>
            <a:off x="914400" y="3383280"/>
            <a:ext cx="10725912" cy="137160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This module is this course's deepest answer to that question. It will not be the last time you encounter this kind of thinking. Any career in sports analytics will eventually ask you to monitor something over time, not just compute it once, and the habit of checking whether a signal is real, and what it does and does not prove, will serve you in every one of those situations.</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PRACTICE</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Read Your Own Real Chart</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Look back at Embiid's full control chart.</a:t>
            </a:r>
            <a:endParaRPr lang="en-US" sz="1600" dirty="0"/>
          </a:p>
          <a:p>
            <a:pPr indent="0" marL="0">
              <a:lnSpc>
                <a:spcPct val="140000"/>
              </a:lnSpc>
              <a:buNone/>
            </a:pP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1. How many real games fall between the center line and the upper control limit versus between the center line and the lower control limit?</a:t>
            </a: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2. Does that balance surprise you? What would a perfectly symmetric real process look like on this chart?</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SUMMARY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What to Carry Forward</a:t>
            </a:r>
            <a:endParaRPr lang="en-US" sz="3000" dirty="0"/>
          </a:p>
        </p:txBody>
      </p:sp>
      <p:sp>
        <p:nvSpPr>
          <p:cNvPr id="4" name="Shape 2"/>
          <p:cNvSpPr/>
          <p:nvPr/>
        </p:nvSpPr>
        <p:spPr>
          <a:xfrm>
            <a:off x="548640" y="1965960"/>
            <a:ext cx="164592" cy="164592"/>
          </a:xfrm>
          <a:prstGeom prst="rect">
            <a:avLst/>
          </a:prstGeom>
          <a:solidFill>
            <a:srgbClr val="27496D"/>
          </a:solidFill>
          <a:ln/>
        </p:spPr>
      </p:sp>
      <p:sp>
        <p:nvSpPr>
          <p:cNvPr id="5" name="Text 3"/>
          <p:cNvSpPr txBox="1"/>
          <p:nvPr/>
        </p:nvSpPr>
        <p:spPr>
          <a:xfrm>
            <a:off x="914400" y="1828800"/>
            <a:ext cx="10725912" cy="86868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A control chart turns a repeated real measurement into a center line and control limits, flagging real signals worth a second look.</a:t>
            </a:r>
            <a:endParaRPr lang="en-US" sz="1400" dirty="0"/>
          </a:p>
        </p:txBody>
      </p:sp>
      <p:sp>
        <p:nvSpPr>
          <p:cNvPr id="6" name="Shape 4"/>
          <p:cNvSpPr/>
          <p:nvPr/>
        </p:nvSpPr>
        <p:spPr>
          <a:xfrm>
            <a:off x="548640" y="2926080"/>
            <a:ext cx="164592" cy="164592"/>
          </a:xfrm>
          <a:prstGeom prst="rect">
            <a:avLst/>
          </a:prstGeom>
          <a:solidFill>
            <a:srgbClr val="E4572E"/>
          </a:solidFill>
          <a:ln/>
        </p:spPr>
      </p:sp>
      <p:sp>
        <p:nvSpPr>
          <p:cNvPr id="7" name="Text 5"/>
          <p:cNvSpPr txBox="1"/>
          <p:nvPr/>
        </p:nvSpPr>
        <p:spPr>
          <a:xfrm>
            <a:off x="914400" y="2788920"/>
            <a:ext cx="10725912" cy="86868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Embiid's real 2023-24 shot-attempt data produced exactly one out-of-control game, eight days before his last pre-surgery appearance, a real pattern worth noticing, not proof of causation.</a:t>
            </a:r>
            <a:endParaRPr lang="en-US" sz="1400" dirty="0"/>
          </a:p>
        </p:txBody>
      </p:sp>
      <p:sp>
        <p:nvSpPr>
          <p:cNvPr id="8" name="Shape 6"/>
          <p:cNvSpPr/>
          <p:nvPr/>
        </p:nvSpPr>
        <p:spPr>
          <a:xfrm>
            <a:off x="548640" y="3886200"/>
            <a:ext cx="164592" cy="164592"/>
          </a:xfrm>
          <a:prstGeom prst="rect">
            <a:avLst/>
          </a:prstGeom>
          <a:solidFill>
            <a:srgbClr val="27496D"/>
          </a:solidFill>
          <a:ln/>
        </p:spPr>
      </p:sp>
      <p:sp>
        <p:nvSpPr>
          <p:cNvPr id="9" name="Text 7"/>
          <p:cNvSpPr txBox="1"/>
          <p:nvPr/>
        </p:nvSpPr>
        <p:spPr>
          <a:xfrm>
            <a:off x="914400" y="3749040"/>
            <a:ext cx="10725912" cy="86868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This method comes directly from my own published quality-monitoring research on MLB pitcher reinjury risk, and from a broader real literature making the same case across sport science.</a:t>
            </a:r>
            <a:endParaRPr lang="en-US" sz="1400" dirty="0"/>
          </a:p>
        </p:txBody>
      </p:sp>
      <p:sp>
        <p:nvSpPr>
          <p:cNvPr id="10" name="Shape 8"/>
          <p:cNvSpPr/>
          <p:nvPr/>
        </p:nvSpPr>
        <p:spPr>
          <a:xfrm>
            <a:off x="548640" y="4846320"/>
            <a:ext cx="164592" cy="164592"/>
          </a:xfrm>
          <a:prstGeom prst="rect">
            <a:avLst/>
          </a:prstGeom>
          <a:solidFill>
            <a:srgbClr val="E4572E"/>
          </a:solidFill>
          <a:ln/>
        </p:spPr>
      </p:sp>
      <p:sp>
        <p:nvSpPr>
          <p:cNvPr id="11" name="Text 9"/>
          <p:cNvSpPr txBox="1"/>
          <p:nvPr/>
        </p:nvSpPr>
        <p:spPr>
          <a:xfrm>
            <a:off x="914400" y="4709160"/>
            <a:ext cx="10725912" cy="86868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The ACWR, the field's most common workload tool, carries real, documented statistical weaknesses, including a null result from a real randomized controlled trial.</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CLOSING OUT THE COURSE</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Two Things Before We Close This Out</a:t>
            </a:r>
            <a:endParaRPr lang="en-US" sz="2800" dirty="0"/>
          </a:p>
        </p:txBody>
      </p:sp>
      <p:sp>
        <p:nvSpPr>
          <p:cNvPr id="4" name="Shape 2"/>
          <p:cNvSpPr/>
          <p:nvPr/>
        </p:nvSpPr>
        <p:spPr>
          <a:xfrm>
            <a:off x="548640" y="2103120"/>
            <a:ext cx="5362956" cy="2377440"/>
          </a:xfrm>
          <a:prstGeom prst="roundRect">
            <a:avLst>
              <a:gd name="adj" fmla="val 2308"/>
            </a:avLst>
          </a:prstGeom>
          <a:solidFill>
            <a:srgbClr val="EDF1F7"/>
          </a:solidFill>
          <a:ln/>
        </p:spPr>
      </p:sp>
      <p:sp>
        <p:nvSpPr>
          <p:cNvPr id="5" name="Text 3"/>
          <p:cNvSpPr txBox="1"/>
          <p:nvPr/>
        </p:nvSpPr>
        <p:spPr>
          <a:xfrm>
            <a:off x="822960" y="233172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Do</a:t>
            </a:r>
            <a:endParaRPr lang="en-US" sz="1300" dirty="0"/>
          </a:p>
        </p:txBody>
      </p:sp>
      <p:sp>
        <p:nvSpPr>
          <p:cNvPr id="6" name="Text 4"/>
          <p:cNvSpPr txBox="1"/>
          <p:nvPr/>
        </p:nvSpPr>
        <p:spPr>
          <a:xfrm>
            <a:off x="822960" y="2743200"/>
            <a:ext cx="4814316" cy="146304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Complete Lab 10 (your own real player's control chart), the practice questions, and the Module 10 quiz on D2L.</a:t>
            </a:r>
            <a:endParaRPr lang="en-US" sz="1400" dirty="0"/>
          </a:p>
        </p:txBody>
      </p:sp>
      <p:sp>
        <p:nvSpPr>
          <p:cNvPr id="7" name="Shape 5"/>
          <p:cNvSpPr/>
          <p:nvPr/>
        </p:nvSpPr>
        <p:spPr>
          <a:xfrm>
            <a:off x="6277356" y="2103120"/>
            <a:ext cx="5362956" cy="2377440"/>
          </a:xfrm>
          <a:prstGeom prst="roundRect">
            <a:avLst>
              <a:gd name="adj" fmla="val 2308"/>
            </a:avLst>
          </a:prstGeom>
          <a:solidFill>
            <a:srgbClr val="EDF1F7"/>
          </a:solidFill>
          <a:ln/>
        </p:spPr>
      </p:sp>
      <p:sp>
        <p:nvSpPr>
          <p:cNvPr id="8" name="Text 6"/>
          <p:cNvSpPr txBox="1"/>
          <p:nvPr/>
        </p:nvSpPr>
        <p:spPr>
          <a:xfrm>
            <a:off x="6551676" y="233172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Reflect</a:t>
            </a:r>
            <a:endParaRPr lang="en-US" sz="1300" dirty="0"/>
          </a:p>
        </p:txBody>
      </p:sp>
      <p:sp>
        <p:nvSpPr>
          <p:cNvPr id="9" name="Text 7"/>
          <p:cNvSpPr txBox="1"/>
          <p:nvPr/>
        </p:nvSpPr>
        <p:spPr>
          <a:xfrm>
            <a:off x="6551676" y="2743200"/>
            <a:ext cx="4814316" cy="146304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This closes the ten-module sequence. Your Final Project is where everything from Module 1 through today comes together.</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FULL READING LIST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References Cited Today</a:t>
            </a:r>
            <a:endParaRPr lang="en-US" sz="3000" dirty="0"/>
          </a:p>
        </p:txBody>
      </p:sp>
      <p:sp>
        <p:nvSpPr>
          <p:cNvPr id="4" name="Text 2"/>
          <p:cNvSpPr txBox="1"/>
          <p:nvPr/>
        </p:nvSpPr>
        <p:spPr>
          <a:xfrm>
            <a:off x="548640" y="1920240"/>
            <a:ext cx="11091672" cy="914400"/>
          </a:xfrm>
          <a:prstGeom prst="rect">
            <a:avLst/>
          </a:prstGeom>
          <a:noFill/>
          <a:ln/>
        </p:spPr>
        <p:txBody>
          <a:bodyPr wrap="square" lIns="0" tIns="0" rIns="0" bIns="0" rtlCol="0" anchor="t"/>
          <a:lstStyle/>
          <a:p>
            <a:pPr indent="0" marL="0">
              <a:lnSpc>
                <a:spcPct val="150000"/>
              </a:lnSpc>
              <a:buNone/>
            </a:pPr>
            <a:r>
              <a:rPr lang="en-US" sz="1300" dirty="0">
                <a:solidFill>
                  <a:srgbClr val="16213E"/>
                </a:solidFill>
                <a:latin typeface="Calibri" pitchFamily="34" charset="0"/>
                <a:ea typeface="Calibri" pitchFamily="34" charset="-122"/>
                <a:cs typeface="Calibri" pitchFamily="34" charset="-120"/>
              </a:rPr>
              <a:t>Muritala, F., Brown, A. R., &amp; Haller, A. (2026). A quality monitoring approach to evaluating reinjury likelihood to Major League Baseball pitchers. Research in Sports Medicine.</a:t>
            </a:r>
            <a:endParaRPr lang="en-US" sz="1300" dirty="0"/>
          </a:p>
          <a:p>
            <a:pPr indent="0" marL="0">
              <a:lnSpc>
                <a:spcPct val="150000"/>
              </a:lnSpc>
              <a:buNone/>
            </a:pPr>
            <a:endParaRPr lang="en-US" sz="1300" dirty="0"/>
          </a:p>
          <a:p>
            <a:pPr indent="0" marL="0">
              <a:lnSpc>
                <a:spcPct val="150000"/>
              </a:lnSpc>
              <a:buNone/>
            </a:pPr>
            <a:r>
              <a:rPr lang="en-US" sz="1300" dirty="0">
                <a:solidFill>
                  <a:srgbClr val="16213E"/>
                </a:solidFill>
                <a:latin typeface="Calibri" pitchFamily="34" charset="0"/>
                <a:ea typeface="Calibri" pitchFamily="34" charset="-122"/>
                <a:cs typeface="Calibri" pitchFamily="34" charset="-120"/>
              </a:rPr>
              <a:t>West, S., Ward, P., Plisky, P., et al. (2026). Getting the most from your data: Using statistical process controls for data quality assurance in sport science data. Journal of Strength and Conditioning Research, 40(2), e202-e210.</a:t>
            </a:r>
            <a:endParaRPr lang="en-US" sz="1300" dirty="0"/>
          </a:p>
          <a:p>
            <a:pPr indent="0" marL="0">
              <a:lnSpc>
                <a:spcPct val="150000"/>
              </a:lnSpc>
              <a:buNone/>
            </a:pPr>
            <a:endParaRPr lang="en-US" sz="1300" dirty="0"/>
          </a:p>
          <a:p>
            <a:pPr indent="0" marL="0">
              <a:lnSpc>
                <a:spcPct val="150000"/>
              </a:lnSpc>
              <a:buNone/>
            </a:pPr>
            <a:r>
              <a:rPr lang="en-US" sz="1300" dirty="0">
                <a:solidFill>
                  <a:srgbClr val="16213E"/>
                </a:solidFill>
                <a:latin typeface="Calibri" pitchFamily="34" charset="0"/>
                <a:ea typeface="Calibri" pitchFamily="34" charset="-122"/>
                <a:cs typeface="Calibri" pitchFamily="34" charset="-120"/>
              </a:rPr>
              <a:t>Kanwal, S., Ahsan, M. T., Khan, R. N., &amp; Khan, A. (2025). Load management and injury prevention in elite athletes: A narrative review. Premier Journal of Science, 11, 100088.</a:t>
            </a:r>
            <a:endParaRPr lang="en-US" sz="1300" dirty="0"/>
          </a:p>
          <a:p>
            <a:pPr indent="0" marL="0">
              <a:lnSpc>
                <a:spcPct val="150000"/>
              </a:lnSpc>
              <a:buNone/>
            </a:pPr>
            <a:endParaRPr lang="en-US" sz="1300" dirty="0"/>
          </a:p>
          <a:p>
            <a:pPr indent="0" marL="0">
              <a:lnSpc>
                <a:spcPct val="150000"/>
              </a:lnSpc>
              <a:buNone/>
            </a:pPr>
            <a:r>
              <a:rPr lang="en-US" sz="1300" dirty="0">
                <a:solidFill>
                  <a:srgbClr val="16213E"/>
                </a:solidFill>
                <a:latin typeface="Calibri" pitchFamily="34" charset="0"/>
                <a:ea typeface="Calibri" pitchFamily="34" charset="-122"/>
                <a:cs typeface="Calibri" pitchFamily="34" charset="-120"/>
              </a:rPr>
              <a:t>shufinskiy (2026). nba_data: NBA play-by-play and shot detail data [Data repository]. GitHub.</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468880"/>
            <a:ext cx="11091672"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That's the Course.</a:t>
            </a:r>
            <a:endParaRPr lang="en-US" sz="4400" dirty="0"/>
          </a:p>
        </p:txBody>
      </p:sp>
      <p:sp>
        <p:nvSpPr>
          <p:cNvPr id="3" name="Text 1"/>
          <p:cNvSpPr txBox="1"/>
          <p:nvPr/>
        </p:nvSpPr>
        <p:spPr>
          <a:xfrm>
            <a:off x="548640" y="3566160"/>
            <a:ext cx="11091672" cy="548640"/>
          </a:xfrm>
          <a:prstGeom prst="rect">
            <a:avLst/>
          </a:prstGeom>
          <a:noFill/>
          <a:ln/>
        </p:spPr>
        <p:txBody>
          <a:bodyPr wrap="square" lIns="0" tIns="0" rIns="0" bIns="0" rtlCol="0" anchor="ctr"/>
          <a:lstStyle/>
          <a:p>
            <a:pPr indent="0" marL="0">
              <a:buNone/>
            </a:pPr>
            <a:r>
              <a:rPr lang="en-US" sz="1800" dirty="0">
                <a:solidFill>
                  <a:srgbClr val="AEBBD1"/>
                </a:solidFill>
                <a:latin typeface="Calibri" pitchFamily="34" charset="0"/>
                <a:ea typeface="Calibri" pitchFamily="34" charset="-122"/>
                <a:cs typeface="Calibri" pitchFamily="34" charset="-120"/>
              </a:rPr>
              <a:t>Ten modules, real data every time. Final Project next.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2026-10-18T11:47:54Z</dcterms:created>
  <dcterms:modified xsi:type="dcterms:W3CDTF">2026-10-18T11:47:54Z</dcterms:modified>
</cp:coreProperties>
</file>