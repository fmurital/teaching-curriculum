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before showing any code, ask the class which of this season's teams they think will have the HIGHEST scoring inequality, and why. Write two or three guesses on the board before moving on. Timing: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push students past 'it shows the player is good or bad' toward the actual coaching use case, shot selection for THIS player specifically. Ask: should a coach tell Harden and Paul to take the exact same shots? Why might the answer be no even though they're on the same team. Timing: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BasketballAnalyzeR Package, Applied as One Toolkit</a:t>
            </a:r>
            <a:endParaRPr lang="en-US" sz="3600" dirty="0"/>
          </a:p>
        </p:txBody>
      </p:sp>
      <p:sp>
        <p:nvSpPr>
          <p:cNvPr id="4" name="Text 2"/>
          <p:cNvSpPr txBox="1"/>
          <p:nvPr/>
        </p:nvSpPr>
        <p:spPr>
          <a:xfrm>
            <a:off x="548640" y="361188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09 · Undergraduate · 3-hour session</a:t>
            </a:r>
            <a:endParaRPr lang="en-US" sz="2000" dirty="0"/>
          </a:p>
        </p:txBody>
      </p:sp>
      <p:sp>
        <p:nvSpPr>
          <p:cNvPr id="5" name="Shape 3"/>
          <p:cNvSpPr/>
          <p:nvPr/>
        </p:nvSpPr>
        <p:spPr>
          <a:xfrm>
            <a:off x="548640" y="4343400"/>
            <a:ext cx="3291840" cy="777240"/>
          </a:xfrm>
          <a:prstGeom prst="roundRect">
            <a:avLst>
              <a:gd name="adj" fmla="val 7059"/>
            </a:avLst>
          </a:prstGeom>
          <a:solidFill>
            <a:srgbClr val="16213E"/>
          </a:solidFill>
          <a:ln/>
        </p:spPr>
      </p:sp>
      <p:sp>
        <p:nvSpPr>
          <p:cNvPr id="6" name="Text 4"/>
          <p:cNvSpPr txBox="1"/>
          <p:nvPr/>
        </p:nvSpPr>
        <p:spPr>
          <a:xfrm>
            <a:off x="731520" y="434340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9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34340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BasketballAnalyzeR (R package), Zuccolotto, Manisera &amp; Sandri.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560320"/>
          </a:xfrm>
          <a:prstGeom prst="roundRect">
            <a:avLst>
              <a:gd name="adj" fmla="val 2143"/>
            </a:avLst>
          </a:prstGeom>
          <a:solidFill>
            <a:srgbClr val="EDF1F7"/>
          </a:solidFill>
          <a:ln/>
        </p:spPr>
      </p:sp>
      <p:sp>
        <p:nvSpPr>
          <p:cNvPr id="5" name="Text 3"/>
          <p:cNvSpPr txBox="1"/>
          <p:nvPr/>
        </p:nvSpPr>
        <p:spPr>
          <a:xfrm>
            <a:off x="914400" y="2194560"/>
            <a:ext cx="10360152" cy="210312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Modules 2 through 8 each handed you one piece of the analyst's toolkit: pace and ratings, visual team and player profiles, shot charts, correlation and assist networks, clustering, and regression. I am not adding a brand new statistical idea today. I am pulling back the curtain on the toolkit itself and handing you four more real functions from BasketballAnalyzeR so you leave this course able to build a full scouting profile on any team, starting from nothing but raw play-by-play.</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Every number today comes from the real 2017-18 NBA season: BasketballAnalyzeR::PbP.BDB, Pbox, and Tbox.</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Where a box score actually comes from: rebuilding it live with TOPboxes()</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How evenly scoring is spread, with inequality(), plus the whole league at once with bubbleplot()</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Whether a shot is good for this specific player, with expectedpts()</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9, the Module 9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how BasketballAnalyzeR::TOPboxes() rebuilds a box score directly from raw play-by-play, and why a rebuilt total can honestly differ from the full-season Tbox total.</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and interpret a real Gini index of scoring concentration with inequality(), and state what a value near 0 versus near 100 means.</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four-statistic league-wide chart with bubbleplot() and read a team's position, color, and size together.</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expectedpts() for an individual player and explain how it differs from a single team-wide expected-points number.</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Combine all four tools into one scouting-style profile for a team of your choosing.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Where Does a Box Score Actually Come From?</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All course long I have handed you Tbox and Pbox as if they simply existed. They do not. Every column in those data frames was built by counting real events out of raw play-by-play, one shot, one rebound, one turnover at a time. BasketballAnalyzeR::TOPboxes() does exactly that counting for you, live, for any one team, straight from PbP.BDB.</a:t>
            </a:r>
            <a:endParaRPr lang="en-US" sz="1600" dirty="0"/>
          </a:p>
        </p:txBody>
      </p:sp>
      <p:sp>
        <p:nvSpPr>
          <p:cNvPr id="6" name="Text 4"/>
          <p:cNvSpPr txBox="1"/>
          <p:nvPr/>
        </p:nvSpPr>
        <p:spPr>
          <a:xfrm>
            <a:off x="548640" y="4114800"/>
            <a:ext cx="11091672" cy="914400"/>
          </a:xfrm>
          <a:prstGeom prst="rect">
            <a:avLst/>
          </a:prstGeom>
          <a:noFill/>
          <a:ln/>
        </p:spPr>
        <p:txBody>
          <a:bodyPr wrap="square" lIns="0" tIns="0" rIns="0" bIns="0" rtlCol="0" anchor="t"/>
          <a:lstStyle/>
          <a:p>
            <a:pPr indent="0" marL="0">
              <a:lnSpc>
                <a:spcPct val="125000"/>
              </a:lnSpc>
              <a:buNone/>
            </a:pPr>
            <a:r>
              <a:rPr lang="en-US" sz="2000" b="1" dirty="0">
                <a:solidFill>
                  <a:srgbClr val="E4572E"/>
                </a:solidFill>
                <a:latin typeface="Calibri" pitchFamily="34" charset="0"/>
                <a:ea typeface="Calibri" pitchFamily="34" charset="-122"/>
                <a:cs typeface="Calibri" pitchFamily="34" charset="-120"/>
              </a:rPr>
              <a:t>Today we build a box score from scratch.</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rebuild the Rockets' box score from raw play-by-play.</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Rebuilding a Box Score with TOPboxes()</a:t>
            </a:r>
            <a:endParaRPr lang="en-US" sz="27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PbP &lt;- PbPmanipulation(PbP.BDB)</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out_hou &lt;- TOPboxes(PbP, team = "HOU")</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out_hou$Tbox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out_hou$Pbox</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We'll compare the result to the built-in Tbox row on the next slide.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Rebuilt Total vs. the Built-In Total</a:t>
            </a:r>
            <a:endParaRPr lang="en-US" sz="2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1645920"/>
        </p:xfrm>
        <a:graphic>
          <a:graphicData uri="http://schemas.openxmlformats.org/drawingml/2006/table">
            <a:tbl>
              <a:tblPr/>
              <a:tblGrid>
                <a:gridCol w="7434072"/>
                <a:gridCol w="3657600"/>
              </a:tblGrid>
              <a:tr h="54864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Source</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Houston Rockets Points</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48640">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Built-in Tbox (full 2017-18 season)</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9,213</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Rebuilt with TOPboxes() from PbP.BDB</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600" dirty="0">
                          <a:solidFill>
                            <a:srgbClr val="16213E"/>
                          </a:solidFill>
                          <a:latin typeface="Calibri" pitchFamily="34" charset="0"/>
                          <a:ea typeface="Calibri" pitchFamily="34" charset="-122"/>
                          <a:cs typeface="Calibri" pitchFamily="34" charset="-120"/>
                        </a:rPr>
                        <a:t>352</a:t>
                      </a:r>
                      <a:endParaRPr lang="en-US" sz="16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02336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27496D"/>
                </a:solidFill>
                <a:latin typeface="Calibri" pitchFamily="34" charset="0"/>
                <a:ea typeface="Calibri" pitchFamily="34" charset="-122"/>
                <a:cs typeface="Calibri" pitchFamily="34" charset="-120"/>
              </a:rPr>
              <a:t>That is not an error. PbP.BDB is built around Golden State's complete 82-game schedule. Every other team's rows, including the Rockets', are that team's own games against Golden State specifically, and only three such games exist in this dataset.</a:t>
            </a:r>
            <a:endParaRPr lang="en-US" sz="15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TOPboxes(PbPmanipulation(PbP.BDB), team = "HOU") versus BasketballAnalyzeR::Tbox, 2017-18 season.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rebuild Golden State's box score the same way and compare.</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Confirming the Coverage Difference Directly</a:t>
            </a:r>
            <a:endParaRPr lang="en-US" sz="27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out_gsw &lt;- TOPboxes(PbP, team = "GSW")</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out_hou$Tbox$GP   # 3</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out_gsw$Tbox$GP   # 82</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Golden State's rebuilt game count should match its real, complete season. The Rockets' should not.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A SMALL SAMPLE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Small Real Sample Can Surprise You</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65 vs 49</a:t>
            </a:r>
            <a:endParaRPr lang="en-US" sz="48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Chris Paul's points vs. James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Harden's, across the 3 games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this dataset covers</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This is not a contradiction.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Harden was the real 2017-18 MVP and the league's leading scorer over the full season.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lesson: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three-game sample can look nothing like an 82-game season, and the size of your sample should always travel with any number you report.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Rockets' Top Scorers, This 3-Game Sample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194560"/>
        </p:xfrm>
        <a:graphic>
          <a:graphicData uri="http://schemas.openxmlformats.org/drawingml/2006/table">
            <a:tbl>
              <a:tblPr/>
              <a:tblGrid>
                <a:gridCol w="2862072"/>
                <a:gridCol w="1828800"/>
                <a:gridCol w="1828800"/>
                <a:gridCol w="2286000"/>
                <a:gridCol w="228600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GP (of 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Chris Paul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Eric Gordon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James Harden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Clint Capela</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62.5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out_hou$Pbox from TOPboxes(PbPmanipulation(PbP.BDB), team = "HOU"), 3 games vs. Golden State, 2017-18 season.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Would You Need to Trust This Table?</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Turn to the person next to you.</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If someone showed you only this table, with no label on the number of games, what conclusion might they wrongly draw about Chris Paul versus James Harden?</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What is the minimum piece of information this table needs, right in the sentence reporting it, to stay honest?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Where Numbers Come From, Covered</a:t>
            </a:r>
            <a:endParaRPr lang="en-US" sz="28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TOPboxes() rebuilds a box score directly from play-by-play. The Rockets' rebuilt total looked tiny next to the season total, for a real, honest, documented reason, not an error.</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asks how evenly scoring is spread across a roster, then zooms out to the whole league at once.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scoring inequality and the whole league at once.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Evenly Is Scoring Actually Spread?</a:t>
            </a:r>
            <a:endParaRPr lang="en-US" sz="3000" dirty="0"/>
          </a:p>
        </p:txBody>
      </p:sp>
      <p:sp>
        <p:nvSpPr>
          <p:cNvPr id="4" name="Shape 2"/>
          <p:cNvSpPr/>
          <p:nvPr/>
        </p:nvSpPr>
        <p:spPr>
          <a:xfrm>
            <a:off x="548640" y="2103120"/>
            <a:ext cx="5362956" cy="3017520"/>
          </a:xfrm>
          <a:prstGeom prst="roundRect">
            <a:avLst>
              <a:gd name="adj" fmla="val 1818"/>
            </a:avLst>
          </a:prstGeom>
          <a:solidFill>
            <a:srgbClr val="27496D"/>
          </a:solidFill>
          <a:ln/>
        </p:spPr>
      </p:sp>
      <p:sp>
        <p:nvSpPr>
          <p:cNvPr id="5" name="Text 3"/>
          <p:cNvSpPr txBox="1"/>
          <p:nvPr/>
        </p:nvSpPr>
        <p:spPr>
          <a:xfrm>
            <a:off x="868680" y="2377440"/>
            <a:ext cx="4722876"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Gini Index</a:t>
            </a:r>
            <a:endParaRPr lang="en-US" sz="1800" dirty="0"/>
          </a:p>
        </p:txBody>
      </p:sp>
      <p:sp>
        <p:nvSpPr>
          <p:cNvPr id="6" name="Text 4"/>
          <p:cNvSpPr txBox="1"/>
          <p:nvPr/>
        </p:nvSpPr>
        <p:spPr>
          <a:xfrm>
            <a:off x="868680" y="3017520"/>
            <a:ext cx="4722876" cy="19202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inequality() borrows the real Gini coefficient, the same tool economists use to measure income inequality, and points it at a team's own scoring distribution.</a:t>
            </a:r>
            <a:endParaRPr lang="en-US" sz="1400" dirty="0"/>
          </a:p>
        </p:txBody>
      </p:sp>
      <p:sp>
        <p:nvSpPr>
          <p:cNvPr id="7" name="Shape 5"/>
          <p:cNvSpPr/>
          <p:nvPr/>
        </p:nvSpPr>
        <p:spPr>
          <a:xfrm>
            <a:off x="6277356" y="2103120"/>
            <a:ext cx="5362956" cy="3017520"/>
          </a:xfrm>
          <a:prstGeom prst="roundRect">
            <a:avLst>
              <a:gd name="adj" fmla="val 1818"/>
            </a:avLst>
          </a:prstGeom>
          <a:solidFill>
            <a:srgbClr val="E4572E"/>
          </a:solidFill>
          <a:ln/>
        </p:spPr>
      </p:sp>
      <p:sp>
        <p:nvSpPr>
          <p:cNvPr id="8" name="Text 6"/>
          <p:cNvSpPr txBox="1"/>
          <p:nvPr/>
        </p:nvSpPr>
        <p:spPr>
          <a:xfrm>
            <a:off x="6597396" y="2377440"/>
            <a:ext cx="4722876"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Reading the Number</a:t>
            </a:r>
            <a:endParaRPr lang="en-US" sz="1800" dirty="0"/>
          </a:p>
        </p:txBody>
      </p:sp>
      <p:sp>
        <p:nvSpPr>
          <p:cNvPr id="9" name="Text 7"/>
          <p:cNvSpPr txBox="1"/>
          <p:nvPr/>
        </p:nvSpPr>
        <p:spPr>
          <a:xfrm>
            <a:off x="6597396" y="3017520"/>
            <a:ext cx="4722876" cy="19202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A Gini index near 0 means scoring is spread evenly across the roster. A Gini index closer to 100 means a small number of players account for most of the points.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compute the Rockets' real Gini index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Computing the Gini Index for the Rockets</a:t>
            </a:r>
            <a:endParaRPr lang="en-US" sz="27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data(Pbox)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Pbox.HOU &lt;- Pbox[Pbox$Team == "Houston Rockets", ]</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ineq_hou &lt;- inequality(Pbox.HOU$PTS, nplayers = 8)</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This uses the full-season Pbox, not the 3-game rebuild from Segment 1. Run it and read off the Gini index.</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Houston's Scoring Concentration</a:t>
            </a:r>
            <a:endParaRPr lang="en-US" sz="2800" dirty="0"/>
          </a:p>
        </p:txBody>
      </p:sp>
      <p:pic>
        <p:nvPicPr>
          <p:cNvPr id="4" name="Image 0" descr="images/module9_hou_scoring_lorenz.png">    </p:cNvPr>
          <p:cNvPicPr>
            <a:picLocks noChangeAspect="1"/>
          </p:cNvPicPr>
          <p:nvPr/>
        </p:nvPicPr>
        <p:blipFill>
          <a:blip r:embed="rId1"/>
          <a:stretch>
            <a:fillRect/>
          </a:stretch>
        </p:blipFill>
        <p:spPr>
          <a:xfrm>
            <a:off x="731520" y="1783080"/>
            <a:ext cx="4754880" cy="4114800"/>
          </a:xfrm>
          <a:prstGeom prst="rect">
            <a:avLst/>
          </a:prstGeom>
        </p:spPr>
      </p:pic>
      <p:sp>
        <p:nvSpPr>
          <p:cNvPr id="5" name="Shape 2"/>
          <p:cNvSpPr/>
          <p:nvPr/>
        </p:nvSpPr>
        <p:spPr>
          <a:xfrm>
            <a:off x="6035040" y="2194560"/>
            <a:ext cx="5029200" cy="1828800"/>
          </a:xfrm>
          <a:prstGeom prst="roundRect">
            <a:avLst>
              <a:gd name="adj" fmla="val 3000"/>
            </a:avLst>
          </a:prstGeom>
          <a:solidFill>
            <a:srgbClr val="EDF1F7"/>
          </a:solidFill>
          <a:ln/>
        </p:spPr>
      </p:sp>
      <p:sp>
        <p:nvSpPr>
          <p:cNvPr id="6" name="Text 3"/>
          <p:cNvSpPr txBox="1"/>
          <p:nvPr/>
        </p:nvSpPr>
        <p:spPr>
          <a:xfrm>
            <a:off x="6309360" y="2377440"/>
            <a:ext cx="2286000" cy="914400"/>
          </a:xfrm>
          <a:prstGeom prst="rect">
            <a:avLst/>
          </a:prstGeom>
          <a:noFill/>
          <a:ln/>
        </p:spPr>
        <p:txBody>
          <a:bodyPr wrap="square" lIns="0" tIns="0" rIns="0" bIns="0" rtlCol="0" anchor="ctr"/>
          <a:lstStyle/>
          <a:p>
            <a:pPr indent="0" marL="0">
              <a:buNone/>
            </a:pPr>
            <a:r>
              <a:rPr lang="en-US" sz="4400" b="1" dirty="0">
                <a:solidFill>
                  <a:srgbClr val="E4572E"/>
                </a:solidFill>
                <a:latin typeface="Cambria" pitchFamily="34" charset="0"/>
                <a:ea typeface="Cambria" pitchFamily="34" charset="-122"/>
                <a:cs typeface="Cambria" pitchFamily="34" charset="-120"/>
              </a:rPr>
              <a:t>30.95</a:t>
            </a:r>
            <a:endParaRPr lang="en-US" sz="4400" dirty="0"/>
          </a:p>
        </p:txBody>
      </p:sp>
      <p:sp>
        <p:nvSpPr>
          <p:cNvPr id="7" name="Text 4"/>
          <p:cNvSpPr txBox="1"/>
          <p:nvPr/>
        </p:nvSpPr>
        <p:spPr>
          <a:xfrm>
            <a:off x="6309360" y="3291840"/>
            <a:ext cx="4389120" cy="64008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Houston Rockets Gini index</a:t>
            </a:r>
            <a:endParaRPr lang="en-US" sz="1300" dirty="0"/>
          </a:p>
          <a:p>
            <a:pPr indent="0" marL="0">
              <a:buNone/>
            </a:pPr>
            <a:r>
              <a:rPr lang="en-US" sz="1300" dirty="0">
                <a:solidFill>
                  <a:srgbClr val="16213E"/>
                </a:solidFill>
                <a:latin typeface="Calibri" pitchFamily="34" charset="0"/>
                <a:ea typeface="Calibri" pitchFamily="34" charset="-122"/>
                <a:cs typeface="Calibri" pitchFamily="34" charset="-120"/>
              </a:rPr>
              <a:t>(top 8 scorers, full 2017-18 season)</a:t>
            </a:r>
            <a:endParaRPr lang="en-US" sz="1300" dirty="0"/>
          </a:p>
        </p:txBody>
      </p:sp>
      <p:sp>
        <p:nvSpPr>
          <p:cNvPr id="8"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inequality(Pbox.HOU$PTS, nplayers = 8), BasketballAnalyzeR, full 2017-18 season.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 COLD CALL</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Before I Reveal Golden State's Number</a:t>
            </a:r>
            <a:endParaRPr lang="en-US" sz="28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Houston's Rockets scored around one isolation-heavy superstar in James Harden. Golden State was famous for its egalitarian motion offense that season.</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Will the Warriors' Gini index be higher or lower than Houston's 30.95? Raise your hand for higher, then for lower.</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Golden State's Scoring Concentration</a:t>
            </a:r>
            <a:endParaRPr lang="en-US" sz="2800" dirty="0"/>
          </a:p>
        </p:txBody>
      </p:sp>
      <p:pic>
        <p:nvPicPr>
          <p:cNvPr id="4" name="Image 0" descr="images/module9_gsw_scoring_lorenz.png">    </p:cNvPr>
          <p:cNvPicPr>
            <a:picLocks noChangeAspect="1"/>
          </p:cNvPicPr>
          <p:nvPr/>
        </p:nvPicPr>
        <p:blipFill>
          <a:blip r:embed="rId1"/>
          <a:stretch>
            <a:fillRect/>
          </a:stretch>
        </p:blipFill>
        <p:spPr>
          <a:xfrm>
            <a:off x="731520" y="1783080"/>
            <a:ext cx="4754880" cy="4114800"/>
          </a:xfrm>
          <a:prstGeom prst="rect">
            <a:avLst/>
          </a:prstGeom>
        </p:spPr>
      </p:pic>
      <p:sp>
        <p:nvSpPr>
          <p:cNvPr id="5" name="Shape 2"/>
          <p:cNvSpPr/>
          <p:nvPr/>
        </p:nvSpPr>
        <p:spPr>
          <a:xfrm>
            <a:off x="6035040" y="2194560"/>
            <a:ext cx="5029200" cy="1828800"/>
          </a:xfrm>
          <a:prstGeom prst="roundRect">
            <a:avLst>
              <a:gd name="adj" fmla="val 3000"/>
            </a:avLst>
          </a:prstGeom>
          <a:solidFill>
            <a:srgbClr val="EDF1F7"/>
          </a:solidFill>
          <a:ln/>
        </p:spPr>
      </p:sp>
      <p:sp>
        <p:nvSpPr>
          <p:cNvPr id="6" name="Text 3"/>
          <p:cNvSpPr txBox="1"/>
          <p:nvPr/>
        </p:nvSpPr>
        <p:spPr>
          <a:xfrm>
            <a:off x="6309360" y="2377440"/>
            <a:ext cx="2286000" cy="914400"/>
          </a:xfrm>
          <a:prstGeom prst="rect">
            <a:avLst/>
          </a:prstGeom>
          <a:noFill/>
          <a:ln/>
        </p:spPr>
        <p:txBody>
          <a:bodyPr wrap="square" lIns="0" tIns="0" rIns="0" bIns="0" rtlCol="0" anchor="ctr"/>
          <a:lstStyle/>
          <a:p>
            <a:pPr indent="0" marL="0">
              <a:buNone/>
            </a:pPr>
            <a:r>
              <a:rPr lang="en-US" sz="4400" b="1" dirty="0">
                <a:solidFill>
                  <a:srgbClr val="E4572E"/>
                </a:solidFill>
                <a:latin typeface="Cambria" pitchFamily="34" charset="0"/>
                <a:ea typeface="Cambria" pitchFamily="34" charset="-122"/>
                <a:cs typeface="Cambria" pitchFamily="34" charset="-120"/>
              </a:rPr>
              <a:t>35.46</a:t>
            </a:r>
            <a:endParaRPr lang="en-US" sz="4400" dirty="0"/>
          </a:p>
        </p:txBody>
      </p:sp>
      <p:sp>
        <p:nvSpPr>
          <p:cNvPr id="7" name="Text 4"/>
          <p:cNvSpPr txBox="1"/>
          <p:nvPr/>
        </p:nvSpPr>
        <p:spPr>
          <a:xfrm>
            <a:off x="6309360" y="3291840"/>
            <a:ext cx="4389120" cy="64008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Golden State Warriors Gini index</a:t>
            </a:r>
            <a:endParaRPr lang="en-US" sz="1300" dirty="0"/>
          </a:p>
          <a:p>
            <a:pPr indent="0" marL="0">
              <a:buNone/>
            </a:pPr>
            <a:r>
              <a:rPr lang="en-US" sz="1300" dirty="0">
                <a:solidFill>
                  <a:srgbClr val="16213E"/>
                </a:solidFill>
                <a:latin typeface="Calibri" pitchFamily="34" charset="0"/>
                <a:ea typeface="Calibri" pitchFamily="34" charset="-122"/>
                <a:cs typeface="Calibri" pitchFamily="34" charset="-120"/>
              </a:rPr>
              <a:t>(top 8 scorers, full 2017-18 season)</a:t>
            </a:r>
            <a:endParaRPr lang="en-US" sz="1300" dirty="0"/>
          </a:p>
        </p:txBody>
      </p:sp>
      <p:sp>
        <p:nvSpPr>
          <p:cNvPr id="8"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inequality(Pbox.GSW$PTS, nplayers = 8), BasketballAnalyzeR, full 2017-18 season.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TEAM'S REPUTATION ISN'T ITS DATA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Warriors Were the More Top-Heavy Team</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377440"/>
            <a:ext cx="3840480" cy="146304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35.46</a:t>
            </a:r>
            <a:endParaRPr lang="en-US" sz="3600" dirty="0"/>
          </a:p>
          <a:p>
            <a:pPr algn="ctr" indent="0" marL="0">
              <a:buNone/>
            </a:pPr>
            <a:r>
              <a:rPr lang="en-US" sz="3600" b="1" dirty="0">
                <a:solidFill>
                  <a:srgbClr val="FFFFFF"/>
                </a:solidFill>
                <a:latin typeface="Cambria" pitchFamily="34" charset="0"/>
                <a:ea typeface="Cambria" pitchFamily="34" charset="-122"/>
                <a:cs typeface="Cambria" pitchFamily="34" charset="-120"/>
              </a:rPr>
              <a:t>&gt; 30.95</a:t>
            </a:r>
            <a:endParaRPr lang="en-US" sz="3600" dirty="0"/>
          </a:p>
        </p:txBody>
      </p:sp>
      <p:sp>
        <p:nvSpPr>
          <p:cNvPr id="6" name="Text 4"/>
          <p:cNvSpPr txBox="1"/>
          <p:nvPr/>
        </p:nvSpPr>
        <p:spPr>
          <a:xfrm>
            <a:off x="822960" y="3931920"/>
            <a:ext cx="3291840" cy="109728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Golden State's Gini index vs.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Houston's, top 8 scorers each</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I expected the opposite.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I expected the Rockets, built around one isolation-heavy star, to show more scoring inequality than the Warriors, a team famous for ball movement. I was wrong.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lesson: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team's offensive system and a team's reputation are not the same thing as what the numbers say, and the only way to know which one is true is to run the function and look.</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Whole League, Four Numbers at Once</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bubbleplot() puts four statistics on one chart at once: a team's position on the x and y axes, a team's color, and a team's bubble size. I built a league-wide version using 2-point percentage on the x-axis, 3-point percentage on the y-axis, free throw percentage as color, and total shots attempted as bubble size.</a:t>
            </a:r>
            <a:endParaRPr lang="en-US" sz="1500" dirty="0"/>
          </a:p>
        </p:txBody>
      </p:sp>
      <p:sp>
        <p:nvSpPr>
          <p:cNvPr id="6" name="Text 4"/>
          <p:cNvSpPr txBox="1"/>
          <p:nvPr/>
        </p:nvSpPr>
        <p:spPr>
          <a:xfrm>
            <a:off x="548640" y="4114800"/>
            <a:ext cx="11091672" cy="914400"/>
          </a:xfrm>
          <a:prstGeom prst="rect">
            <a:avLst/>
          </a:prstGeom>
          <a:noFill/>
          <a:ln/>
        </p:spPr>
        <p:txBody>
          <a:bodyPr wrap="square" lIns="0" tIns="0" rIns="0" bIns="0" rtlCol="0" anchor="t"/>
          <a:lstStyle/>
          <a:p>
            <a:pPr indent="0" marL="0">
              <a:lnSpc>
                <a:spcPct val="125000"/>
              </a:lnSpc>
              <a:buNone/>
            </a:pPr>
            <a:r>
              <a:rPr lang="en-US" sz="1600" b="1" dirty="0">
                <a:solidFill>
                  <a:srgbClr val="E4572E"/>
                </a:solidFill>
                <a:latin typeface="Calibri" pitchFamily="34" charset="0"/>
                <a:ea typeface="Calibri" pitchFamily="34" charset="-122"/>
                <a:cs typeface="Calibri" pitchFamily="34" charset="-120"/>
              </a:rPr>
              <a:t>Not a new statistic. A better way to see several you already trust, together.</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league-wide bubble chart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Building the League-Wide Bubble Chart</a:t>
            </a:r>
            <a:endParaRPr lang="en-US" sz="27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data(Tbox)</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attach(Tbox)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X &lt;- data.frame(</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P2M / P2A, P3M / P3A,</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FTM / FTA, P2A + P3A</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detach(Tbox)</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labs &lt;- c("2P%", "3P%", "FT%", "FGA")</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bubbleplot(Tbox, id = "Team", x = "P2M", y = "P3M",</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col = "FTM", size = "P2A", labels = labs)</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together, then find your own favorite team on the chart.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All 30 Teams, Four Statistics at Once</a:t>
            </a:r>
            <a:endParaRPr lang="en-US" sz="2800" dirty="0"/>
          </a:p>
        </p:txBody>
      </p:sp>
      <p:pic>
        <p:nvPicPr>
          <p:cNvPr id="4" name="Image 0" descr="images/module9_league_bubbleplot.png">    </p:cNvPr>
          <p:cNvPicPr>
            <a:picLocks noChangeAspect="1"/>
          </p:cNvPicPr>
          <p:nvPr/>
        </p:nvPicPr>
        <p:blipFill>
          <a:blip r:embed="rId1"/>
          <a:stretch>
            <a:fillRect/>
          </a:stretch>
        </p:blipFill>
        <p:spPr>
          <a:xfrm>
            <a:off x="1188720" y="1691640"/>
            <a:ext cx="978408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bubbleplot(), BasketballAnalyzeR. Data: Tbox, 2017-18 NBA season.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Finding the Rockets on the Chart</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0000"/>
              </a:lnSpc>
              <a:buNone/>
            </a:pPr>
            <a:r>
              <a:rPr lang="en-US" sz="1800" b="1" dirty="0">
                <a:solidFill>
                  <a:srgbClr val="E4572E"/>
                </a:solidFill>
                <a:latin typeface="Calibri" pitchFamily="34" charset="0"/>
                <a:ea typeface="Calibri" pitchFamily="34" charset="-122"/>
                <a:cs typeface="Calibri" pitchFamily="34" charset="-120"/>
              </a:rPr>
              <a:t>55.8%</a:t>
            </a:r>
            <a:pPr indent="0" marL="0">
              <a:lnSpc>
                <a:spcPct val="130000"/>
              </a:lnSpc>
              <a:buNone/>
            </a:pPr>
            <a:r>
              <a:rPr lang="en-US" sz="1800" dirty="0">
                <a:solidFill>
                  <a:srgbClr val="16213E"/>
                </a:solidFill>
                <a:latin typeface="Calibri" pitchFamily="34" charset="0"/>
                <a:ea typeface="Calibri" pitchFamily="34" charset="-122"/>
                <a:cs typeface="Calibri" pitchFamily="34" charset="-120"/>
              </a:rPr>
              <a:t> on 2-point shots
</a:t>
            </a:r>
            <a:pPr indent="0" marL="0">
              <a:lnSpc>
                <a:spcPct val="130000"/>
              </a:lnSpc>
              <a:buNone/>
            </a:pPr>
            <a:r>
              <a:rPr lang="en-US" sz="1800" b="1" dirty="0">
                <a:solidFill>
                  <a:srgbClr val="E4572E"/>
                </a:solidFill>
                <a:latin typeface="Calibri" pitchFamily="34" charset="0"/>
                <a:ea typeface="Calibri" pitchFamily="34" charset="-122"/>
                <a:cs typeface="Calibri" pitchFamily="34" charset="-120"/>
              </a:rPr>
              <a:t>36.2%</a:t>
            </a:r>
            <a:pPr indent="0" marL="0">
              <a:lnSpc>
                <a:spcPct val="130000"/>
              </a:lnSpc>
              <a:buNone/>
            </a:pPr>
            <a:r>
              <a:rPr lang="en-US" sz="1800" dirty="0">
                <a:solidFill>
                  <a:srgbClr val="16213E"/>
                </a:solidFill>
                <a:latin typeface="Calibri" pitchFamily="34" charset="0"/>
                <a:ea typeface="Calibri" pitchFamily="34" charset="-122"/>
                <a:cs typeface="Calibri" pitchFamily="34" charset="-120"/>
              </a:rPr>
              <a:t> on 3-point shots
</a:t>
            </a:r>
            <a:pPr indent="0" marL="0">
              <a:lnSpc>
                <a:spcPct val="130000"/>
              </a:lnSpc>
              <a:buNone/>
            </a:pPr>
            <a:r>
              <a:rPr lang="en-US" sz="1800" b="1" dirty="0">
                <a:solidFill>
                  <a:srgbClr val="E4572E"/>
                </a:solidFill>
                <a:latin typeface="Calibri" pitchFamily="34" charset="0"/>
                <a:ea typeface="Calibri" pitchFamily="34" charset="-122"/>
                <a:cs typeface="Calibri" pitchFamily="34" charset="-120"/>
              </a:rPr>
              <a:t>78.1%</a:t>
            </a:r>
            <a:pPr indent="0" marL="0">
              <a:lnSpc>
                <a:spcPct val="130000"/>
              </a:lnSpc>
              <a:buNone/>
            </a:pPr>
            <a:r>
              <a:rPr lang="en-US" sz="1800" dirty="0">
                <a:solidFill>
                  <a:srgbClr val="16213E"/>
                </a:solidFill>
                <a:latin typeface="Calibri" pitchFamily="34" charset="0"/>
                <a:ea typeface="Calibri" pitchFamily="34" charset="-122"/>
                <a:cs typeface="Calibri" pitchFamily="34" charset="-120"/>
              </a:rPr>
              <a:t> on free throws
</a:t>
            </a:r>
            <a:pPr indent="0" marL="0">
              <a:lnSpc>
                <a:spcPct val="130000"/>
              </a:lnSpc>
              <a:buNone/>
            </a:pPr>
            <a:r>
              <a:rPr lang="en-US" sz="1800" i="1" dirty="0">
                <a:solidFill>
                  <a:srgbClr val="16213E"/>
                </a:solidFill>
                <a:latin typeface="Calibri" pitchFamily="34" charset="0"/>
                <a:ea typeface="Calibri" pitchFamily="34" charset="-122"/>
                <a:cs typeface="Calibri" pitchFamily="34" charset="-120"/>
              </a:rPr>
              <a:t>Among the league's better combinations on all three at once.</a:t>
            </a:r>
            <a:endParaRPr lang="en-US" sz="18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Tbox, Houston Rockets row, 2017-18 NBA season, BasketballAnalyzeR.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Give a Team a One-Sentence Identity</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Pair up. I'll assign your pair one team from the bubble chart.</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Find your team's position, color, and bubble size.</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Write one sentence describing your team's shooting identity, using only what the chart shows.</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3. Be ready to share your sentence with the class.</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Spread and Scale,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inequality() measures scoring concentration with a real Gini index, and surprised us by showing Golden State more top-heavy than Houston. bubbleplot() showed the whole league on four statistics at once.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asks a sharper question than whether a shot is good: whether it is good for this specific player.</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is this shot good for this specific player?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Is This Shot Good for This Specific Player?</a:t>
            </a:r>
            <a:endParaRPr lang="en-US" sz="2800" dirty="0"/>
          </a:p>
        </p:txBody>
      </p:sp>
      <p:sp>
        <p:nvSpPr>
          <p:cNvPr id="4" name="Shape 2"/>
          <p:cNvSpPr/>
          <p:nvPr/>
        </p:nvSpPr>
        <p:spPr>
          <a:xfrm>
            <a:off x="548640" y="2103120"/>
            <a:ext cx="5362956" cy="3017520"/>
          </a:xfrm>
          <a:prstGeom prst="roundRect">
            <a:avLst>
              <a:gd name="adj" fmla="val 1818"/>
            </a:avLst>
          </a:prstGeom>
          <a:solidFill>
            <a:srgbClr val="27496D"/>
          </a:solidFill>
          <a:ln/>
        </p:spPr>
      </p:sp>
      <p:sp>
        <p:nvSpPr>
          <p:cNvPr id="5" name="Text 3"/>
          <p:cNvSpPr txBox="1"/>
          <p:nvPr/>
        </p:nvSpPr>
        <p:spPr>
          <a:xfrm>
            <a:off x="868680" y="2377440"/>
            <a:ext cx="4722876"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Beyond Shot Location</a:t>
            </a:r>
            <a:endParaRPr lang="en-US" sz="1800" dirty="0"/>
          </a:p>
        </p:txBody>
      </p:sp>
      <p:sp>
        <p:nvSpPr>
          <p:cNvPr id="6" name="Text 4"/>
          <p:cNvSpPr txBox="1"/>
          <p:nvPr/>
        </p:nvSpPr>
        <p:spPr>
          <a:xfrm>
            <a:off x="868680" y="3017520"/>
            <a:ext cx="4722876" cy="19202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Module 4 gave you where a shot was taken. expectedpts() goes one step further: it asks whether a shot from a given distance is a good shot for one specific player.</a:t>
            </a:r>
            <a:endParaRPr lang="en-US" sz="1400" dirty="0"/>
          </a:p>
        </p:txBody>
      </p:sp>
      <p:sp>
        <p:nvSpPr>
          <p:cNvPr id="7" name="Shape 5"/>
          <p:cNvSpPr/>
          <p:nvPr/>
        </p:nvSpPr>
        <p:spPr>
          <a:xfrm>
            <a:off x="6277356" y="2103120"/>
            <a:ext cx="5362956" cy="3017520"/>
          </a:xfrm>
          <a:prstGeom prst="roundRect">
            <a:avLst>
              <a:gd name="adj" fmla="val 1818"/>
            </a:avLst>
          </a:prstGeom>
          <a:solidFill>
            <a:srgbClr val="E4572E"/>
          </a:solidFill>
          <a:ln/>
        </p:spPr>
      </p:sp>
      <p:sp>
        <p:nvSpPr>
          <p:cNvPr id="8" name="Text 6"/>
          <p:cNvSpPr txBox="1"/>
          <p:nvPr/>
        </p:nvSpPr>
        <p:spPr>
          <a:xfrm>
            <a:off x="6597396" y="2377440"/>
            <a:ext cx="4722876"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Relative to the Team</a:t>
            </a:r>
            <a:endParaRPr lang="en-US" sz="1800" dirty="0"/>
          </a:p>
        </p:txBody>
      </p:sp>
      <p:sp>
        <p:nvSpPr>
          <p:cNvPr id="9" name="Text 7"/>
          <p:cNvSpPr txBox="1"/>
          <p:nvPr/>
        </p:nvSpPr>
        <p:spPr>
          <a:xfrm>
            <a:off x="6597396" y="3017520"/>
            <a:ext cx="4722876" cy="19202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It compares that player's shots to their own team's expected points at that same distance, not to a single league-wide number.</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expected-points-by-distance chart for Harden and Paul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Comparing Two Players to Their Team's Average</a:t>
            </a:r>
            <a:endParaRPr lang="en-US" sz="27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plrys &lt;- c("James Harden", "Chris Paul")</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expectedpts(data = PbP.HOU, bw = 10,</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players = plrys,</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col.team = "dodgerblue")</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This uses the 3-game PbP.HOU subset from Segment 1. Run it and look at where each player's curve separates from the team average.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Harden and Paul vs. the Team Average</a:t>
            </a:r>
            <a:endParaRPr lang="en-US" sz="2700" dirty="0"/>
          </a:p>
        </p:txBody>
      </p:sp>
      <p:pic>
        <p:nvPicPr>
          <p:cNvPr id="4" name="Image 0" descr="images/module9_hou_expectedpts_by_distance.png">    </p:cNvPr>
          <p:cNvPicPr>
            <a:picLocks noChangeAspect="1"/>
          </p:cNvPicPr>
          <p:nvPr/>
        </p:nvPicPr>
        <p:blipFill>
          <a:blip r:embed="rId1"/>
          <a:stretch>
            <a:fillRect/>
          </a:stretch>
        </p:blipFill>
        <p:spPr>
          <a:xfrm>
            <a:off x="1188720" y="1691640"/>
            <a:ext cx="9784080" cy="420624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expectedpts(data = PbP.HOU, bw = 10, players = c("James Harden","Chris Paul")), BasketballAnalyzeR.</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Where Do the Curves Separate?</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Look at the chart on the previous slide.</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At roughly what distance does each player's curve pull away from the team average?</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What would a scout or coach actually do with this information that they couldn't do with a single team-wide expected-points number?</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 SMALL GROUPS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Build the Same Chart for a Different Team</a:t>
            </a:r>
            <a:endParaRPr lang="en-US" sz="2800" dirty="0"/>
          </a:p>
        </p:txBody>
      </p:sp>
      <p:sp>
        <p:nvSpPr>
          <p:cNvPr id="4" name="Shape 2"/>
          <p:cNvSpPr/>
          <p:nvPr/>
        </p:nvSpPr>
        <p:spPr>
          <a:xfrm>
            <a:off x="548640" y="2103120"/>
            <a:ext cx="11091672" cy="2103120"/>
          </a:xfrm>
          <a:prstGeom prst="roundRect">
            <a:avLst>
              <a:gd name="adj" fmla="val 2609"/>
            </a:avLst>
          </a:prstGeom>
          <a:solidFill>
            <a:srgbClr val="EDF1F7"/>
          </a:solidFill>
          <a:ln/>
        </p:spPr>
      </p:sp>
      <p:sp>
        <p:nvSpPr>
          <p:cNvPr id="5" name="Text 3"/>
          <p:cNvSpPr txBox="1"/>
          <p:nvPr/>
        </p:nvSpPr>
        <p:spPr>
          <a:xfrm>
            <a:off x="914400" y="2377440"/>
            <a:ext cx="10360152" cy="173736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Groups of 3-4. Each group picks a different pair of Golden State players.</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Build the expectedpts() chart for your pair, using PbP.GSW.</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Find one distance where your two players' curves separate from each other or from the team average.</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3. Report your one finding back to the class.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PULLING THE TOOLKIT TOGETHER</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Team, Four Tools, One Profile</a:t>
            </a:r>
            <a:endParaRPr lang="en-US" sz="2800" dirty="0"/>
          </a:p>
        </p:txBody>
      </p:sp>
      <p:sp>
        <p:nvSpPr>
          <p:cNvPr id="4" name="Shape 2"/>
          <p:cNvSpPr/>
          <p:nvPr/>
        </p:nvSpPr>
        <p:spPr>
          <a:xfrm>
            <a:off x="548640" y="1965960"/>
            <a:ext cx="11091672" cy="914400"/>
          </a:xfrm>
          <a:prstGeom prst="roundRect">
            <a:avLst>
              <a:gd name="adj" fmla="val 6000"/>
            </a:avLst>
          </a:prstGeom>
          <a:solidFill>
            <a:srgbClr val="EDF1F7"/>
          </a:solidFill>
          <a:ln/>
        </p:spPr>
      </p:sp>
      <p:sp>
        <p:nvSpPr>
          <p:cNvPr id="5" name="Text 3"/>
          <p:cNvSpPr txBox="1"/>
          <p:nvPr/>
        </p:nvSpPr>
        <p:spPr>
          <a:xfrm>
            <a:off x="822960" y="1965960"/>
            <a:ext cx="2377440" cy="914400"/>
          </a:xfrm>
          <a:prstGeom prst="rect">
            <a:avLst/>
          </a:prstGeom>
          <a:noFill/>
          <a:ln/>
        </p:spPr>
        <p:txBody>
          <a:bodyPr wrap="square" lIns="0" tIns="0" rIns="0" bIns="0" rtlCol="0" anchor="ctr"/>
          <a:lstStyle/>
          <a:p>
            <a:pPr indent="0" marL="0">
              <a:buNone/>
            </a:pPr>
            <a:r>
              <a:rPr lang="en-US" sz="1400" b="1" dirty="0">
                <a:solidFill>
                  <a:srgbClr val="27496D"/>
                </a:solidFill>
                <a:latin typeface="Courier New" pitchFamily="34" charset="0"/>
                <a:ea typeface="Courier New" pitchFamily="34" charset="-122"/>
                <a:cs typeface="Courier New" pitchFamily="34" charset="-120"/>
              </a:rPr>
              <a:t>TOPboxes()</a:t>
            </a:r>
            <a:endParaRPr lang="en-US" sz="1400" dirty="0"/>
          </a:p>
        </p:txBody>
      </p:sp>
      <p:sp>
        <p:nvSpPr>
          <p:cNvPr id="6" name="Text 4"/>
          <p:cNvSpPr txBox="1"/>
          <p:nvPr/>
        </p:nvSpPr>
        <p:spPr>
          <a:xfrm>
            <a:off x="3383280" y="196596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Where the raw numbers come from, and how much game coverage actually backs them.</a:t>
            </a:r>
            <a:endParaRPr lang="en-US" sz="1400" dirty="0"/>
          </a:p>
        </p:txBody>
      </p:sp>
      <p:sp>
        <p:nvSpPr>
          <p:cNvPr id="7" name="Shape 5"/>
          <p:cNvSpPr/>
          <p:nvPr/>
        </p:nvSpPr>
        <p:spPr>
          <a:xfrm>
            <a:off x="548640" y="3017520"/>
            <a:ext cx="11091672" cy="914400"/>
          </a:xfrm>
          <a:prstGeom prst="roundRect">
            <a:avLst>
              <a:gd name="adj" fmla="val 6000"/>
            </a:avLst>
          </a:prstGeom>
          <a:solidFill>
            <a:srgbClr val="EDF1F7"/>
          </a:solidFill>
          <a:ln/>
        </p:spPr>
      </p:sp>
      <p:sp>
        <p:nvSpPr>
          <p:cNvPr id="8" name="Text 6"/>
          <p:cNvSpPr txBox="1"/>
          <p:nvPr/>
        </p:nvSpPr>
        <p:spPr>
          <a:xfrm>
            <a:off x="822960" y="3017520"/>
            <a:ext cx="2377440" cy="914400"/>
          </a:xfrm>
          <a:prstGeom prst="rect">
            <a:avLst/>
          </a:prstGeom>
          <a:noFill/>
          <a:ln/>
        </p:spPr>
        <p:txBody>
          <a:bodyPr wrap="square" lIns="0" tIns="0" rIns="0" bIns="0" rtlCol="0" anchor="ctr"/>
          <a:lstStyle/>
          <a:p>
            <a:pPr indent="0" marL="0">
              <a:buNone/>
            </a:pPr>
            <a:r>
              <a:rPr lang="en-US" sz="1400" b="1" dirty="0">
                <a:solidFill>
                  <a:srgbClr val="27496D"/>
                </a:solidFill>
                <a:latin typeface="Courier New" pitchFamily="34" charset="0"/>
                <a:ea typeface="Courier New" pitchFamily="34" charset="-122"/>
                <a:cs typeface="Courier New" pitchFamily="34" charset="-120"/>
              </a:rPr>
              <a:t>inequality()</a:t>
            </a:r>
            <a:endParaRPr lang="en-US" sz="1400" dirty="0"/>
          </a:p>
        </p:txBody>
      </p:sp>
      <p:sp>
        <p:nvSpPr>
          <p:cNvPr id="9" name="Text 7"/>
          <p:cNvSpPr txBox="1"/>
          <p:nvPr/>
        </p:nvSpPr>
        <p:spPr>
          <a:xfrm>
            <a:off x="3383280" y="301752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Whether scoring is spread across the roster or concentrated in a few players.</a:t>
            </a:r>
            <a:endParaRPr lang="en-US" sz="1400" dirty="0"/>
          </a:p>
        </p:txBody>
      </p:sp>
      <p:sp>
        <p:nvSpPr>
          <p:cNvPr id="10" name="Shape 8"/>
          <p:cNvSpPr/>
          <p:nvPr/>
        </p:nvSpPr>
        <p:spPr>
          <a:xfrm>
            <a:off x="548640" y="4069080"/>
            <a:ext cx="11091672" cy="914400"/>
          </a:xfrm>
          <a:prstGeom prst="roundRect">
            <a:avLst>
              <a:gd name="adj" fmla="val 6000"/>
            </a:avLst>
          </a:prstGeom>
          <a:solidFill>
            <a:srgbClr val="EDF1F7"/>
          </a:solidFill>
          <a:ln/>
        </p:spPr>
      </p:sp>
      <p:sp>
        <p:nvSpPr>
          <p:cNvPr id="11" name="Text 9"/>
          <p:cNvSpPr txBox="1"/>
          <p:nvPr/>
        </p:nvSpPr>
        <p:spPr>
          <a:xfrm>
            <a:off x="822960" y="4069080"/>
            <a:ext cx="2377440" cy="914400"/>
          </a:xfrm>
          <a:prstGeom prst="rect">
            <a:avLst/>
          </a:prstGeom>
          <a:noFill/>
          <a:ln/>
        </p:spPr>
        <p:txBody>
          <a:bodyPr wrap="square" lIns="0" tIns="0" rIns="0" bIns="0" rtlCol="0" anchor="ctr"/>
          <a:lstStyle/>
          <a:p>
            <a:pPr indent="0" marL="0">
              <a:buNone/>
            </a:pPr>
            <a:r>
              <a:rPr lang="en-US" sz="1400" b="1" dirty="0">
                <a:solidFill>
                  <a:srgbClr val="27496D"/>
                </a:solidFill>
                <a:latin typeface="Courier New" pitchFamily="34" charset="0"/>
                <a:ea typeface="Courier New" pitchFamily="34" charset="-122"/>
                <a:cs typeface="Courier New" pitchFamily="34" charset="-120"/>
              </a:rPr>
              <a:t>bubbleplot()</a:t>
            </a:r>
            <a:endParaRPr lang="en-US" sz="1400" dirty="0"/>
          </a:p>
        </p:txBody>
      </p:sp>
      <p:sp>
        <p:nvSpPr>
          <p:cNvPr id="12" name="Text 10"/>
          <p:cNvSpPr txBox="1"/>
          <p:nvPr/>
        </p:nvSpPr>
        <p:spPr>
          <a:xfrm>
            <a:off x="3383280" y="406908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How a team compares to the whole league on several statistics at once.</a:t>
            </a:r>
            <a:endParaRPr lang="en-US" sz="1400" dirty="0"/>
          </a:p>
        </p:txBody>
      </p:sp>
      <p:sp>
        <p:nvSpPr>
          <p:cNvPr id="13" name="Shape 11"/>
          <p:cNvSpPr/>
          <p:nvPr/>
        </p:nvSpPr>
        <p:spPr>
          <a:xfrm>
            <a:off x="548640" y="5120640"/>
            <a:ext cx="11091672" cy="914400"/>
          </a:xfrm>
          <a:prstGeom prst="roundRect">
            <a:avLst>
              <a:gd name="adj" fmla="val 6000"/>
            </a:avLst>
          </a:prstGeom>
          <a:solidFill>
            <a:srgbClr val="EDF1F7"/>
          </a:solidFill>
          <a:ln/>
        </p:spPr>
      </p:sp>
      <p:sp>
        <p:nvSpPr>
          <p:cNvPr id="14" name="Text 12"/>
          <p:cNvSpPr txBox="1"/>
          <p:nvPr/>
        </p:nvSpPr>
        <p:spPr>
          <a:xfrm>
            <a:off x="822960" y="5120640"/>
            <a:ext cx="2377440" cy="914400"/>
          </a:xfrm>
          <a:prstGeom prst="rect">
            <a:avLst/>
          </a:prstGeom>
          <a:noFill/>
          <a:ln/>
        </p:spPr>
        <p:txBody>
          <a:bodyPr wrap="square" lIns="0" tIns="0" rIns="0" bIns="0" rtlCol="0" anchor="ctr"/>
          <a:lstStyle/>
          <a:p>
            <a:pPr indent="0" marL="0">
              <a:buNone/>
            </a:pPr>
            <a:r>
              <a:rPr lang="en-US" sz="1400" b="1" dirty="0">
                <a:solidFill>
                  <a:srgbClr val="27496D"/>
                </a:solidFill>
                <a:latin typeface="Courier New" pitchFamily="34" charset="0"/>
                <a:ea typeface="Courier New" pitchFamily="34" charset="-122"/>
                <a:cs typeface="Courier New" pitchFamily="34" charset="-120"/>
              </a:rPr>
              <a:t>expectedpts()</a:t>
            </a:r>
            <a:endParaRPr lang="en-US" sz="1400" dirty="0"/>
          </a:p>
        </p:txBody>
      </p:sp>
      <p:sp>
        <p:nvSpPr>
          <p:cNvPr id="15" name="Text 13"/>
          <p:cNvSpPr txBox="1"/>
          <p:nvPr/>
        </p:nvSpPr>
        <p:spPr>
          <a:xfrm>
            <a:off x="3383280" y="512064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Whether a specific player's shots are good shots for that player, not just in general.</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 WRAP-UP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Write a Scouting Profile, One Paragraph</a:t>
            </a:r>
            <a:endParaRPr lang="en-US" sz="28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31720"/>
            <a:ext cx="10360152" cy="1920240"/>
          </a:xfrm>
          <a:prstGeom prst="rect">
            <a:avLst/>
          </a:prstGeom>
          <a:noFill/>
          <a:ln/>
        </p:spPr>
        <p:txBody>
          <a:bodyPr wrap="square" lIns="0" tIns="0" rIns="0" bIns="0" rtlCol="0" anchor="ctr"/>
          <a:lstStyle/>
          <a:p>
            <a:pPr indent="0" marL="0">
              <a:lnSpc>
                <a:spcPct val="130000"/>
              </a:lnSpc>
              <a:buNone/>
            </a:pPr>
            <a:r>
              <a:rPr lang="en-US" sz="1400" dirty="0">
                <a:solidFill>
                  <a:srgbClr val="16213E"/>
                </a:solidFill>
                <a:latin typeface="Calibri" pitchFamily="34" charset="0"/>
                <a:ea typeface="Calibri" pitchFamily="34" charset="-122"/>
                <a:cs typeface="Calibri" pitchFamily="34" charset="-120"/>
              </a:rPr>
              <a:t>Pick any team in Tbox. In one paragraph, using all four tools from today, describe:</a:t>
            </a:r>
            <a:endParaRPr lang="en-US" sz="1400" dirty="0"/>
          </a:p>
          <a:p>
            <a:pPr indent="0" marL="0">
              <a:lnSpc>
                <a:spcPct val="130000"/>
              </a:lnSpc>
              <a:buNone/>
            </a:pPr>
            <a:endParaRPr lang="en-US" sz="1400" dirty="0"/>
          </a:p>
          <a:p>
            <a:pPr indent="0" marL="0">
              <a:lnSpc>
                <a:spcPct val="130000"/>
              </a:lnSpc>
              <a:buNone/>
            </a:pPr>
            <a:r>
              <a:rPr lang="en-US" sz="1400" dirty="0">
                <a:solidFill>
                  <a:srgbClr val="16213E"/>
                </a:solidFill>
                <a:latin typeface="Calibri" pitchFamily="34" charset="0"/>
                <a:ea typeface="Calibri" pitchFamily="34" charset="-122"/>
                <a:cs typeface="Calibri" pitchFamily="34" charset="-120"/>
              </a:rPr>
              <a:t>1. How much of that team's data you could actually trust, and why.</a:t>
            </a:r>
            <a:endParaRPr lang="en-US" sz="1400" dirty="0"/>
          </a:p>
          <a:p>
            <a:pPr indent="0" marL="0">
              <a:lnSpc>
                <a:spcPct val="130000"/>
              </a:lnSpc>
              <a:buNone/>
            </a:pPr>
            <a:r>
              <a:rPr lang="en-US" sz="1400" dirty="0">
                <a:solidFill>
                  <a:srgbClr val="16213E"/>
                </a:solidFill>
                <a:latin typeface="Calibri" pitchFamily="34" charset="0"/>
                <a:ea typeface="Calibri" pitchFamily="34" charset="-122"/>
                <a:cs typeface="Calibri" pitchFamily="34" charset="-120"/>
              </a:rPr>
              <a:t>2. Whether its scoring is concentrated or spread out.</a:t>
            </a:r>
            <a:endParaRPr lang="en-US" sz="1400" dirty="0"/>
          </a:p>
          <a:p>
            <a:pPr indent="0" marL="0">
              <a:lnSpc>
                <a:spcPct val="130000"/>
              </a:lnSpc>
              <a:buNone/>
            </a:pPr>
            <a:r>
              <a:rPr lang="en-US" sz="1400" dirty="0">
                <a:solidFill>
                  <a:srgbClr val="16213E"/>
                </a:solidFill>
                <a:latin typeface="Calibri" pitchFamily="34" charset="0"/>
                <a:ea typeface="Calibri" pitchFamily="34" charset="-122"/>
                <a:cs typeface="Calibri" pitchFamily="34" charset="-120"/>
              </a:rPr>
              <a:t>3. Where it sits among the league on the bubble chart.</a:t>
            </a:r>
            <a:endParaRPr lang="en-US" sz="1400" dirty="0"/>
          </a:p>
          <a:p>
            <a:pPr indent="0" marL="0">
              <a:lnSpc>
                <a:spcPct val="130000"/>
              </a:lnSpc>
              <a:buNone/>
            </a:pPr>
            <a:r>
              <a:rPr lang="en-US" sz="1400" dirty="0">
                <a:solidFill>
                  <a:srgbClr val="16213E"/>
                </a:solidFill>
                <a:latin typeface="Calibri" pitchFamily="34" charset="0"/>
                <a:ea typeface="Calibri" pitchFamily="34" charset="-122"/>
                <a:cs typeface="Calibri" pitchFamily="34" charset="-120"/>
              </a:rPr>
              <a:t>4. One thing you would want to know about an individual player's shot selection before trusting a team-wide number for them.</a:t>
            </a:r>
            <a:endParaRPr lang="en-US" sz="14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This paragraph is the starting point for the Lab 9 extension.</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The Full Toolkit,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expectedpts() compares an individual player's shots to their own team's average, giving a sharper question than whether a shot is simply good.</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10 turns this same applied mindset toward quality monitoring and injury risk, using real statistical process control methods.</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TOPboxes() rebuilds a box score directly from play-by-play, and a rebuilt total can honestly differ from a season total for a documented, real reason.</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inequality() measures scoring concentration with a real Gini index -- a team's reputation and its real numbers are not always the same thing.</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bubbleplot() puts several trusted statistics on one chart at once, for the whole league simultaneously.</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expectedpts() asks a sharper question than whether a shot is good: whether it is good for this specific player, relative to their own team.</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9 (the four-tool scouting profile), the practice questions, and the Module 9 quiz.</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Looking Ahead</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10: quality monitoring and injury risk, using real statistical process control methods on real data.</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500" dirty="0">
                <a:solidFill>
                  <a:srgbClr val="16213E"/>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500" dirty="0"/>
          </a:p>
          <a:p>
            <a:pPr indent="0" marL="0">
              <a:lnSpc>
                <a:spcPct val="160000"/>
              </a:lnSpc>
              <a:buNone/>
            </a:pPr>
            <a:endParaRPr lang="en-US" sz="1500" dirty="0"/>
          </a:p>
          <a:p>
            <a:pPr indent="0" marL="0">
              <a:lnSpc>
                <a:spcPct val="160000"/>
              </a:lnSpc>
              <a:buNone/>
            </a:pPr>
            <a:r>
              <a:rPr lang="en-US" sz="1500" dirty="0">
                <a:solidFill>
                  <a:srgbClr val="16213E"/>
                </a:solidFill>
                <a:latin typeface="Calibri" pitchFamily="34" charset="0"/>
                <a:ea typeface="Calibri" pitchFamily="34" charset="-122"/>
                <a:cs typeface="Calibri" pitchFamily="34" charset="-120"/>
              </a:rPr>
              <a:t>Sandri, M., Zuccolotto, P., &amp; Manisera, M. BasketballAnalyzeR (R package): TOPboxes(), inequality(), bubbleplot(), expectedpts(). CRAN.</a:t>
            </a:r>
            <a:endParaRPr lang="en-US" sz="1500" dirty="0"/>
          </a:p>
          <a:p>
            <a:pPr indent="0" marL="0">
              <a:lnSpc>
                <a:spcPct val="160000"/>
              </a:lnSpc>
              <a:buNone/>
            </a:pPr>
            <a:endParaRPr lang="en-US" sz="1500" dirty="0"/>
          </a:p>
          <a:p>
            <a:pPr indent="0" marL="0">
              <a:lnSpc>
                <a:spcPct val="160000"/>
              </a:lnSpc>
              <a:buNone/>
            </a:pPr>
            <a:r>
              <a:rPr lang="en-US" sz="1500" dirty="0">
                <a:solidFill>
                  <a:srgbClr val="16213E"/>
                </a:solidFill>
                <a:latin typeface="Calibri" pitchFamily="34" charset="0"/>
                <a:ea typeface="Calibri" pitchFamily="34" charset="-122"/>
                <a:cs typeface="Calibri" pitchFamily="34" charset="-120"/>
              </a:rPr>
              <a:t>All figures in this module were computed directly from BasketballAnalyzeR::PbP.BDB, Pbox, and Tbox, 2017-18 NBA season, and can be reproduced by running Coding_Exercise/module9_applied_toolkit.R.</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10</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Quality Monitoring and Injury Risk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2026-10-04T10:44:57Z</dcterms:created>
  <dcterms:modified xsi:type="dcterms:W3CDTF">2026-10-04T10:44:57Z</dcterms:modified>
</cp:coreProperties>
</file>