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diagonal of 1.00s is trivial (every stat correlates perfectly with itself). Ask the class to scan for the largest off-diagonal numbers before I reveal the plotted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which node has no connections at all (STLpm), and what does that tell you about steals relative to the other six stats? Note the five connections drawn: OREB-DREB, OREB-BLK, DREB-BLK, AST-TOV, PTS-TOV.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place to raise correlation-versus-causation without using that exact jargon phrase as a slide bullet: ask the class whether OREB causes DREB, or whether some third thing (size, position, strength) causes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two or three volunteers. Pull up the printed matrix from Step 4 and verify their guess against the real number live, whether it confirms or contradicts their intuition.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matters: make sure the class hears clearly that these are regular-season games against Golden State only, not a playoff run, before we look at the real assist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three different real players (Paul, Harden, Gordon) each contributed double-digit assists here, before we contrast this with Cleveland.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look at how many players have thick, dark edges connecting to Chris Paul, Harden, and Gordon, rather than everything running through one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Houston table: LeBron's 31.6% is the single largest individual share on either table, and the gap down to the second player (Wade at 23.7%) is smaller than Houston's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compare this picture to Houston's: notice how many of the thickest edges here point directly at or away from LeBron James, compared to Houston's more spread-out thick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centerpiece comparison of the whole module. Let it sit for a moment before moving on: same league, same season, same opponent (Golden State), two genuinely different real offensive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youtube.com/watch?v=qC9_mohleao"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youtube.com/watch?v=X12BoYpIjyw"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www.youtube.com/watch?v=m0fzhcJTSdc" TargetMode="Externa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www.youtube.com/watch?v=5xav-WV0tWo" TargetMode="Externa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Discovering Patterns: Correlation and Player Networks</a:t>
            </a:r>
            <a:endParaRPr lang="en-US" sz="38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05 - Correlation and Player Networks</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5
</a:t>
            </a:r>
            <a:pPr indent="0" marL="0">
              <a:buNone/>
            </a:pPr>
            <a:r>
              <a:rPr lang="en-US" sz="1300" dirty="0">
                <a:solidFill>
                  <a:srgbClr val="FFFFFF"/>
                </a:solidFill>
                <a:latin typeface="Calibri" pitchFamily="34" charset="0"/>
                <a:ea typeface="Calibri" pitchFamily="34" charset="-122"/>
                <a:cs typeface="Calibri" pitchFamily="34" charset="-120"/>
              </a:rPr>
              <a:t>Undergraduate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3A:</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P., &amp; Manisera, M. (2020). Basketball Data Science: With Applications in R. Chapman &amp; Hall/CRC.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Module 4 gave us a new variable, location, and showed that a single shooting percentage hides where a player actually gets his points. Today I want us to step back from any one variable and ask a different question: when I have several box score numbers for the same player, how do they move together? A player who grabs a lot of offensive rebounds, does he also block a lot of shots? A player who racks up a lot of assists, does he also turn the ball over more?</a:t>
            </a:r>
            <a:endParaRPr lang="en-US" sz="15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600" i="1" dirty="0">
                <a:solidFill>
                  <a:srgbClr val="27496D"/>
                </a:solidFill>
                <a:latin typeface="Calibri" pitchFamily="34" charset="0"/>
                <a:ea typeface="Calibri" pitchFamily="34" charset="-122"/>
                <a:cs typeface="Calibri" pitchFamily="34" charset="-120"/>
              </a:rPr>
              <a:t>Correlation is the tool for answering exactly that question.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What a correlation coefficient is, and building a real 7-by-7 correlation matrix from 2017-18 per-minute rates</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Reading the strongest real correlations, then moving from stats that move together to players who connect to each other</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Building real assist networks for Houston and Cleveland, and comparing two very different real offenses</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5, the Module 5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920240"/>
            <a:ext cx="411480" cy="411480"/>
          </a:xfrm>
          <a:prstGeom prst="ellipse">
            <a:avLst/>
          </a:prstGeom>
          <a:solidFill>
            <a:srgbClr val="27496D"/>
          </a:solidFill>
          <a:ln/>
        </p:spPr>
      </p:sp>
      <p:sp>
        <p:nvSpPr>
          <p:cNvPr id="5" name="Text 3"/>
          <p:cNvSpPr txBox="1"/>
          <p:nvPr/>
        </p:nvSpPr>
        <p:spPr>
          <a:xfrm>
            <a:off x="548640" y="19202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8745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what a correlation coefficient measures and what values close to 1, -1, and 0 each tell you.</a:t>
            </a:r>
            <a:endParaRPr lang="en-US" sz="1600" dirty="0"/>
          </a:p>
        </p:txBody>
      </p:sp>
      <p:sp>
        <p:nvSpPr>
          <p:cNvPr id="7" name="Shape 5"/>
          <p:cNvSpPr/>
          <p:nvPr/>
        </p:nvSpPr>
        <p:spPr>
          <a:xfrm>
            <a:off x="548640" y="2743200"/>
            <a:ext cx="411480" cy="411480"/>
          </a:xfrm>
          <a:prstGeom prst="ellipse">
            <a:avLst/>
          </a:prstGeom>
          <a:solidFill>
            <a:srgbClr val="E4572E"/>
          </a:solidFill>
          <a:ln/>
        </p:spPr>
      </p:sp>
      <p:sp>
        <p:nvSpPr>
          <p:cNvPr id="8" name="Text 6"/>
          <p:cNvSpPr txBox="1"/>
          <p:nvPr/>
        </p:nvSpPr>
        <p:spPr>
          <a:xfrm>
            <a:off x="548640" y="27432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69748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real per-minute rate variables from BasketballAnalyzeR::Pbox and explain why a minutes filter matters.</a:t>
            </a:r>
            <a:endParaRPr lang="en-US" sz="1600" dirty="0"/>
          </a:p>
        </p:txBody>
      </p:sp>
      <p:sp>
        <p:nvSpPr>
          <p:cNvPr id="10" name="Shape 8"/>
          <p:cNvSpPr/>
          <p:nvPr/>
        </p:nvSpPr>
        <p:spPr>
          <a:xfrm>
            <a:off x="548640" y="3566160"/>
            <a:ext cx="411480" cy="411480"/>
          </a:xfrm>
          <a:prstGeom prst="ellipse">
            <a:avLst/>
          </a:prstGeom>
          <a:solidFill>
            <a:srgbClr val="27496D"/>
          </a:solidFill>
          <a:ln/>
        </p:spPr>
      </p:sp>
      <p:sp>
        <p:nvSpPr>
          <p:cNvPr id="11" name="Text 9"/>
          <p:cNvSpPr txBox="1"/>
          <p:nvPr/>
        </p:nvSpPr>
        <p:spPr>
          <a:xfrm>
            <a:off x="548640" y="3566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204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and read a real 7-by-7 correlation matrix with corranalysis() and identify the strongest pairs.</a:t>
            </a:r>
            <a:endParaRPr lang="en-US" sz="1600" dirty="0"/>
          </a:p>
        </p:txBody>
      </p:sp>
      <p:sp>
        <p:nvSpPr>
          <p:cNvPr id="13" name="Shape 11"/>
          <p:cNvSpPr/>
          <p:nvPr/>
        </p:nvSpPr>
        <p:spPr>
          <a:xfrm>
            <a:off x="548640" y="4389120"/>
            <a:ext cx="411480" cy="411480"/>
          </a:xfrm>
          <a:prstGeom prst="ellipse">
            <a:avLst/>
          </a:prstGeom>
          <a:solidFill>
            <a:srgbClr val="E4572E"/>
          </a:solidFill>
          <a:ln/>
        </p:spPr>
      </p:sp>
      <p:sp>
        <p:nvSpPr>
          <p:cNvPr id="14" name="Text 12"/>
          <p:cNvSpPr txBox="1"/>
          <p:nvPr/>
        </p:nvSpPr>
        <p:spPr>
          <a:xfrm>
            <a:off x="548640" y="43891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4340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in real basketball terms, why offensive/defensive rebounding, assists/turnovers, and rebounds/blocks each correlate the way they do.</a:t>
            </a:r>
            <a:endParaRPr lang="en-US" sz="1600" dirty="0"/>
          </a:p>
        </p:txBody>
      </p:sp>
      <p:sp>
        <p:nvSpPr>
          <p:cNvPr id="16" name="Shape 14"/>
          <p:cNvSpPr/>
          <p:nvPr/>
        </p:nvSpPr>
        <p:spPr>
          <a:xfrm>
            <a:off x="548640" y="5212080"/>
            <a:ext cx="411480" cy="411480"/>
          </a:xfrm>
          <a:prstGeom prst="ellipse">
            <a:avLst/>
          </a:prstGeom>
          <a:solidFill>
            <a:srgbClr val="27496D"/>
          </a:solidFill>
          <a:ln/>
        </p:spPr>
      </p:sp>
      <p:sp>
        <p:nvSpPr>
          <p:cNvPr id="17" name="Text 15"/>
          <p:cNvSpPr txBox="1"/>
          <p:nvPr/>
        </p:nvSpPr>
        <p:spPr>
          <a:xfrm>
            <a:off x="548640" y="52120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16636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 real assist network with assistnet() and use it to tell the difference between a distributed offense and a hub-and-spoke offense.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From One Variable to Many</a:t>
            </a:r>
            <a:endParaRPr lang="en-US" sz="3000" dirty="0"/>
          </a:p>
        </p:txBody>
      </p:sp>
      <p:sp>
        <p:nvSpPr>
          <p:cNvPr id="4" name="Shape 2"/>
          <p:cNvSpPr/>
          <p:nvPr/>
        </p:nvSpPr>
        <p:spPr>
          <a:xfrm>
            <a:off x="548640" y="2103120"/>
            <a:ext cx="11091672" cy="1554480"/>
          </a:xfrm>
          <a:prstGeom prst="roundRect">
            <a:avLst>
              <a:gd name="adj" fmla="val 3529"/>
            </a:avLst>
          </a:prstGeom>
          <a:solidFill>
            <a:srgbClr val="EDF1F7"/>
          </a:solidFill>
          <a:ln/>
        </p:spPr>
      </p:sp>
      <p:sp>
        <p:nvSpPr>
          <p:cNvPr id="5" name="Text 3"/>
          <p:cNvSpPr txBox="1"/>
          <p:nvPr/>
        </p:nvSpPr>
        <p:spPr>
          <a:xfrm>
            <a:off x="914400" y="2377440"/>
            <a:ext cx="10360152" cy="100584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So far this course has mostly looked at one number at a time, or one number plotted against wins. Real players produce many numbers at once every game: points, assists, turnovers, rebounds, blocks. Today's question is how those numbers relate to each other across an entire league of real players.</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800" b="1" dirty="0">
                <a:solidFill>
                  <a:srgbClr val="E4572E"/>
                </a:solidFill>
                <a:latin typeface="Calibri" pitchFamily="34" charset="0"/>
                <a:ea typeface="Calibri" pitchFamily="34" charset="-122"/>
                <a:cs typeface="Calibri" pitchFamily="34" charset="-120"/>
              </a:rPr>
              <a:t>That's what a correlation matrix is built to show.</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Is a Correlation Coefficient?</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correlation coefficient is a single number between -1 and 1 that tells you how closely two variables move together across a group of players. If one variable tends to be high whenever the other is high, the correlation is positive. If one tends to be high when the other is low, the correlation is negative. If knowing one variable tells you nothing about the other, the correlation sits near zero.</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The real value shows up when you run this across every pair of stats at once, which is exactly what a correlation matrix does.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Reading the -1 to 1 Scale</a:t>
            </a:r>
            <a:endParaRPr lang="en-US" sz="2800" dirty="0"/>
          </a:p>
        </p:txBody>
      </p:sp>
      <p:sp>
        <p:nvSpPr>
          <p:cNvPr id="4" name="Shape 2"/>
          <p:cNvSpPr/>
          <p:nvPr/>
        </p:nvSpPr>
        <p:spPr>
          <a:xfrm>
            <a:off x="548640" y="2194560"/>
            <a:ext cx="3575304" cy="2011680"/>
          </a:xfrm>
          <a:prstGeom prst="roundRect">
            <a:avLst>
              <a:gd name="adj" fmla="val 2727"/>
            </a:avLst>
          </a:prstGeom>
          <a:solidFill>
            <a:srgbClr val="27496D"/>
          </a:solidFill>
          <a:ln/>
        </p:spPr>
      </p:sp>
      <p:sp>
        <p:nvSpPr>
          <p:cNvPr id="5" name="Text 3"/>
          <p:cNvSpPr txBox="1"/>
          <p:nvPr/>
        </p:nvSpPr>
        <p:spPr>
          <a:xfrm>
            <a:off x="548640" y="2377440"/>
            <a:ext cx="3575304"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a:t>
            </a:r>
            <a:endParaRPr lang="en-US" sz="4400" dirty="0"/>
          </a:p>
        </p:txBody>
      </p:sp>
      <p:sp>
        <p:nvSpPr>
          <p:cNvPr id="6" name="Text 4"/>
          <p:cNvSpPr txBox="1"/>
          <p:nvPr/>
        </p:nvSpPr>
        <p:spPr>
          <a:xfrm>
            <a:off x="731520" y="3337560"/>
            <a:ext cx="3209544" cy="73152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Perfectly opposite</a:t>
            </a:r>
            <a:endParaRPr lang="en-US" sz="1400" dirty="0"/>
          </a:p>
        </p:txBody>
      </p:sp>
      <p:sp>
        <p:nvSpPr>
          <p:cNvPr id="7" name="Shape 5"/>
          <p:cNvSpPr/>
          <p:nvPr/>
        </p:nvSpPr>
        <p:spPr>
          <a:xfrm>
            <a:off x="4306824" y="2194560"/>
            <a:ext cx="3575304" cy="2011680"/>
          </a:xfrm>
          <a:prstGeom prst="roundRect">
            <a:avLst>
              <a:gd name="adj" fmla="val 2727"/>
            </a:avLst>
          </a:prstGeom>
          <a:solidFill>
            <a:srgbClr val="6B7A99"/>
          </a:solidFill>
          <a:ln/>
        </p:spPr>
      </p:sp>
      <p:sp>
        <p:nvSpPr>
          <p:cNvPr id="8" name="Text 6"/>
          <p:cNvSpPr txBox="1"/>
          <p:nvPr/>
        </p:nvSpPr>
        <p:spPr>
          <a:xfrm>
            <a:off x="4306824" y="2377440"/>
            <a:ext cx="3575304"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0</a:t>
            </a:r>
            <a:endParaRPr lang="en-US" sz="4400" dirty="0"/>
          </a:p>
        </p:txBody>
      </p:sp>
      <p:sp>
        <p:nvSpPr>
          <p:cNvPr id="9" name="Text 7"/>
          <p:cNvSpPr txBox="1"/>
          <p:nvPr/>
        </p:nvSpPr>
        <p:spPr>
          <a:xfrm>
            <a:off x="4489704" y="3337560"/>
            <a:ext cx="3209544" cy="73152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No relationship</a:t>
            </a:r>
            <a:endParaRPr lang="en-US" sz="1400" dirty="0"/>
          </a:p>
        </p:txBody>
      </p:sp>
      <p:sp>
        <p:nvSpPr>
          <p:cNvPr id="10" name="Shape 8"/>
          <p:cNvSpPr/>
          <p:nvPr/>
        </p:nvSpPr>
        <p:spPr>
          <a:xfrm>
            <a:off x="8065008" y="2194560"/>
            <a:ext cx="3575304" cy="2011680"/>
          </a:xfrm>
          <a:prstGeom prst="roundRect">
            <a:avLst>
              <a:gd name="adj" fmla="val 2727"/>
            </a:avLst>
          </a:prstGeom>
          <a:solidFill>
            <a:srgbClr val="E4572E"/>
          </a:solidFill>
          <a:ln/>
        </p:spPr>
      </p:sp>
      <p:sp>
        <p:nvSpPr>
          <p:cNvPr id="11" name="Text 9"/>
          <p:cNvSpPr txBox="1"/>
          <p:nvPr/>
        </p:nvSpPr>
        <p:spPr>
          <a:xfrm>
            <a:off x="8065008" y="2377440"/>
            <a:ext cx="3575304"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a:t>
            </a:r>
            <a:endParaRPr lang="en-US" sz="4400" dirty="0"/>
          </a:p>
        </p:txBody>
      </p:sp>
      <p:sp>
        <p:nvSpPr>
          <p:cNvPr id="12" name="Text 10"/>
          <p:cNvSpPr txBox="1"/>
          <p:nvPr/>
        </p:nvSpPr>
        <p:spPr>
          <a:xfrm>
            <a:off x="8247888" y="3337560"/>
            <a:ext cx="3209544" cy="73152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Perfectly together</a:t>
            </a:r>
            <a:endParaRPr lang="en-US" sz="1400" dirty="0"/>
          </a:p>
        </p:txBody>
      </p:sp>
      <p:sp>
        <p:nvSpPr>
          <p:cNvPr id="13" name="Text 11"/>
          <p:cNvSpPr txBox="1"/>
          <p:nvPr/>
        </p:nvSpPr>
        <p:spPr>
          <a:xfrm>
            <a:off x="548640" y="4572000"/>
            <a:ext cx="11091672" cy="914400"/>
          </a:xfrm>
          <a:prstGeom prst="rect">
            <a:avLst/>
          </a:prstGeom>
          <a:noFill/>
          <a:ln/>
        </p:spPr>
        <p:txBody>
          <a:bodyPr wrap="square" lIns="0" tIns="0" rIns="0" bIns="0" rtlCol="0" anchor="t"/>
          <a:lstStyle/>
          <a:p>
            <a:pPr indent="0" marL="0">
              <a:lnSpc>
                <a:spcPct val="135000"/>
              </a:lnSpc>
              <a:buNone/>
            </a:pPr>
            <a:r>
              <a:rPr lang="en-US" sz="1400" dirty="0">
                <a:solidFill>
                  <a:srgbClr val="27496D"/>
                </a:solidFill>
                <a:latin typeface="Calibri" pitchFamily="34" charset="0"/>
                <a:ea typeface="Calibri" pitchFamily="34" charset="-122"/>
                <a:cs typeface="Calibri" pitchFamily="34" charset="-120"/>
              </a:rPr>
              <a:t>In this module I'll set a threshold of 0.5: any pair of stats with a correlation at or above that in absolute value gets drawn as a connection when I plot the matrix. Anything weaker gets left off the picture so the strongest real patterns stand out.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VIDEO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See Correlation Before We Compute It</a:t>
            </a:r>
            <a:endParaRPr lang="en-US" sz="2800" dirty="0"/>
          </a:p>
        </p:txBody>
      </p:sp>
      <p:sp>
        <p:nvSpPr>
          <p:cNvPr id="4" name="Shape 2"/>
          <p:cNvSpPr/>
          <p:nvPr/>
        </p:nvSpPr>
        <p:spPr>
          <a:xfrm>
            <a:off x="548640" y="2011680"/>
            <a:ext cx="11091672" cy="3108960"/>
          </a:xfrm>
          <a:prstGeom prst="roundRect">
            <a:avLst>
              <a:gd name="adj" fmla="val 1765"/>
            </a:avLst>
          </a:prstGeom>
          <a:solidFill>
            <a:srgbClr val="0B1D33"/>
          </a:solidFill>
          <a:ln/>
        </p:spPr>
      </p:sp>
      <p:sp>
        <p:nvSpPr>
          <p:cNvPr id="5" name="Shape 3"/>
          <p:cNvSpPr/>
          <p:nvPr/>
        </p:nvSpPr>
        <p:spPr>
          <a:xfrm>
            <a:off x="1005840" y="2514600"/>
            <a:ext cx="1188720" cy="1188720"/>
          </a:xfrm>
          <a:prstGeom prst="ellipse">
            <a:avLst/>
          </a:prstGeom>
          <a:solidFill>
            <a:srgbClr val="E4572E"/>
          </a:solidFill>
          <a:ln/>
        </p:spPr>
      </p:sp>
      <p:sp>
        <p:nvSpPr>
          <p:cNvPr id="6" name="Shape 4"/>
          <p:cNvSpPr/>
          <p:nvPr/>
        </p:nvSpPr>
        <p:spPr>
          <a:xfrm rot="5400000">
            <a:off x="1344168" y="2852928"/>
            <a:ext cx="512064" cy="512064"/>
          </a:xfrm>
          <a:prstGeom prst="triangle">
            <a:avLst/>
          </a:prstGeom>
          <a:solidFill>
            <a:srgbClr val="FFFFFF"/>
          </a:solidFill>
          <a:ln/>
        </p:spPr>
      </p:sp>
      <p:sp>
        <p:nvSpPr>
          <p:cNvPr id="7" name="Text 5"/>
          <p:cNvSpPr txBox="1"/>
          <p:nvPr/>
        </p:nvSpPr>
        <p:spPr>
          <a:xfrm>
            <a:off x="2468880" y="2331720"/>
            <a:ext cx="8714232" cy="7315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Correlation - The Basic Idea Explained</a:t>
            </a:r>
            <a:endParaRPr lang="en-US" sz="2000" dirty="0"/>
          </a:p>
        </p:txBody>
      </p:sp>
      <p:sp>
        <p:nvSpPr>
          <p:cNvPr id="8" name="Text 6"/>
          <p:cNvSpPr txBox="1"/>
          <p:nvPr/>
        </p:nvSpPr>
        <p:spPr>
          <a:xfrm>
            <a:off x="2468880" y="3017520"/>
            <a:ext cx="8714232" cy="365760"/>
          </a:xfrm>
          <a:prstGeom prst="rect">
            <a:avLst/>
          </a:prstGeom>
          <a:noFill/>
          <a:ln/>
        </p:spPr>
        <p:txBody>
          <a:bodyPr wrap="square" lIns="0" tIns="0" rIns="0" bIns="0" rtlCol="0" anchor="ctr"/>
          <a:lstStyle/>
          <a:p>
            <a:pPr indent="0" marL="0">
              <a:buNone/>
            </a:pPr>
            <a:r>
              <a:rPr lang="en-US" sz="1400" i="1" dirty="0">
                <a:solidFill>
                  <a:srgbClr val="AEBBD1"/>
                </a:solidFill>
                <a:latin typeface="Calibri" pitchFamily="34" charset="0"/>
                <a:ea typeface="Calibri" pitchFamily="34" charset="-122"/>
                <a:cs typeface="Calibri" pitchFamily="34" charset="-120"/>
              </a:rPr>
              <a:t>YouTube (channel not confirmed - verify before class)</a:t>
            </a:r>
            <a:endParaRPr lang="en-US" sz="1400" dirty="0"/>
          </a:p>
        </p:txBody>
      </p:sp>
      <p:sp>
        <p:nvSpPr>
          <p:cNvPr id="9" name="Text 7">
            <a:hlinkClick r:id="rId1" tooltip=""/>
          </p:cNvPr>
          <p:cNvSpPr txBox="1"/>
          <p:nvPr/>
        </p:nvSpPr>
        <p:spPr>
          <a:xfrm>
            <a:off x="2468880" y="3429000"/>
            <a:ext cx="8714232" cy="365760"/>
          </a:xfrm>
          <a:prstGeom prst="rect">
            <a:avLst/>
          </a:prstGeom>
          <a:noFill/>
          <a:ln/>
        </p:spPr>
        <p:txBody>
          <a:bodyPr wrap="square" lIns="0" tIns="0" rIns="0" bIns="0" rtlCol="0" anchor="ctr"/>
          <a:lstStyle/>
          <a:p>
            <a:pPr indent="0" marL="0">
              <a:buNone/>
            </a:pPr>
            <a:r>
              <a:rPr lang="en-US" sz="1300" u="sng" dirty="0">
                <a:solidFill>
                  <a:srgbClr val="8FB6E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https://www.youtube.com/watch?v=qC9_mohleao</a:t>
            </a:r>
            <a:endParaRPr lang="en-US" sz="1300" dirty="0"/>
          </a:p>
        </p:txBody>
      </p:sp>
      <p:sp>
        <p:nvSpPr>
          <p:cNvPr id="10" name="Text 8"/>
          <p:cNvSpPr txBox="1"/>
          <p:nvPr/>
        </p:nvSpPr>
        <p:spPr>
          <a:xfrm>
            <a:off x="2468880" y="3886200"/>
            <a:ext cx="8714232" cy="100584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A short, non-basketball walkthrough of what a correlation coefficient actually means, before we build our own real 7-by-7 matrix from 2017-18 NBA per-minute rates.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Building Fair Rate Variables</a:t>
            </a:r>
            <a:endParaRPr lang="en-US" sz="2800" dirty="0"/>
          </a:p>
        </p:txBody>
      </p:sp>
      <p:sp>
        <p:nvSpPr>
          <p:cNvPr id="4" name="Shape 2"/>
          <p:cNvSpPr/>
          <p:nvPr/>
        </p:nvSpPr>
        <p:spPr>
          <a:xfrm>
            <a:off x="548640" y="2103120"/>
            <a:ext cx="5362956" cy="2834640"/>
          </a:xfrm>
          <a:prstGeom prst="roundRect">
            <a:avLst>
              <a:gd name="adj" fmla="val 1935"/>
            </a:avLst>
          </a:prstGeom>
          <a:solidFill>
            <a:srgbClr val="EDF1F7"/>
          </a:solidFill>
          <a:ln/>
        </p:spPr>
      </p:sp>
      <p:sp>
        <p:nvSpPr>
          <p:cNvPr id="5" name="Text 3"/>
          <p:cNvSpPr txBox="1"/>
          <p:nvPr/>
        </p:nvSpPr>
        <p:spPr>
          <a:xfrm>
            <a:off x="822960" y="2331720"/>
            <a:ext cx="481431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Why per-minute?</a:t>
            </a:r>
            <a:endParaRPr lang="en-US" sz="1600" dirty="0"/>
          </a:p>
        </p:txBody>
      </p:sp>
      <p:sp>
        <p:nvSpPr>
          <p:cNvPr id="6" name="Text 4"/>
          <p:cNvSpPr txBox="1"/>
          <p:nvPr/>
        </p:nvSpPr>
        <p:spPr>
          <a:xfrm>
            <a:off x="822960"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player who plays 35 minutes a night will always out-total a player who plays 15, on almost every counting stat. Dividing every stat by minutes played puts every player on the same clock before we ask how the stats relate.</a:t>
            </a:r>
            <a:endParaRPr lang="en-US" sz="1400" dirty="0"/>
          </a:p>
        </p:txBody>
      </p:sp>
      <p:sp>
        <p:nvSpPr>
          <p:cNvPr id="7" name="Shape 5"/>
          <p:cNvSpPr/>
          <p:nvPr/>
        </p:nvSpPr>
        <p:spPr>
          <a:xfrm>
            <a:off x="6277356" y="2103120"/>
            <a:ext cx="5362956" cy="2834640"/>
          </a:xfrm>
          <a:prstGeom prst="roundRect">
            <a:avLst>
              <a:gd name="adj" fmla="val 1935"/>
            </a:avLst>
          </a:prstGeom>
          <a:solidFill>
            <a:srgbClr val="EDF1F7"/>
          </a:solidFill>
          <a:ln/>
        </p:spPr>
      </p:sp>
      <p:sp>
        <p:nvSpPr>
          <p:cNvPr id="8" name="Text 6"/>
          <p:cNvSpPr txBox="1"/>
          <p:nvPr/>
        </p:nvSpPr>
        <p:spPr>
          <a:xfrm>
            <a:off x="6551676" y="2331720"/>
            <a:ext cx="481431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Why filter to 500+ minutes?</a:t>
            </a:r>
            <a:endParaRPr lang="en-US" sz="1600" dirty="0"/>
          </a:p>
        </p:txBody>
      </p:sp>
      <p:sp>
        <p:nvSpPr>
          <p:cNvPr id="9" name="Text 7"/>
          <p:cNvSpPr txBox="1"/>
          <p:nvPr/>
        </p:nvSpPr>
        <p:spPr>
          <a:xfrm>
            <a:off x="6551676"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player who logs only 40 total minutes can post a wild per-minute rate off a tiny sample. Restricting to real players with at least 500 minutes played keeps the correlation honest.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per-minute rates and filter Pbox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Filtering to Players Who Played Enough to Trust</a:t>
            </a:r>
            <a:endParaRPr lang="en-US" sz="2600" dirty="0"/>
          </a:p>
        </p:txBody>
      </p:sp>
      <p:sp>
        <p:nvSpPr>
          <p:cNvPr id="4" name="Shape 2"/>
          <p:cNvSpPr/>
          <p:nvPr/>
        </p:nvSpPr>
        <p:spPr>
          <a:xfrm>
            <a:off x="548640" y="2103120"/>
            <a:ext cx="5362956" cy="2743200"/>
          </a:xfrm>
          <a:prstGeom prst="roundRect">
            <a:avLst>
              <a:gd name="adj" fmla="val 2000"/>
            </a:avLst>
          </a:prstGeom>
          <a:solidFill>
            <a:srgbClr val="27496D"/>
          </a:solidFill>
          <a:ln/>
        </p:spPr>
      </p:sp>
      <p:sp>
        <p:nvSpPr>
          <p:cNvPr id="5" name="Text 3"/>
          <p:cNvSpPr txBox="1"/>
          <p:nvPr/>
        </p:nvSpPr>
        <p:spPr>
          <a:xfrm>
            <a:off x="548640" y="2377440"/>
            <a:ext cx="5362956"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605</a:t>
            </a:r>
            <a:endParaRPr lang="en-US" sz="6000" dirty="0"/>
          </a:p>
        </p:txBody>
      </p:sp>
      <p:sp>
        <p:nvSpPr>
          <p:cNvPr id="6" name="Text 4"/>
          <p:cNvSpPr txBox="1"/>
          <p:nvPr/>
        </p:nvSpPr>
        <p:spPr>
          <a:xfrm>
            <a:off x="822960" y="3566160"/>
            <a:ext cx="4814316" cy="914400"/>
          </a:xfrm>
          <a:prstGeom prst="rect">
            <a:avLst/>
          </a:prstGeom>
          <a:noFill/>
          <a:ln/>
        </p:spPr>
        <p:txBody>
          <a:bodyPr wrap="square" lIns="0" tIns="0" rIns="0" bIns="0" rtlCol="0" anchor="ctr"/>
          <a:lstStyle/>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total real players in Pbox,</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2017-18 NBA season</a:t>
            </a:r>
            <a:endParaRPr lang="en-US" sz="1400" dirty="0"/>
          </a:p>
        </p:txBody>
      </p:sp>
      <p:sp>
        <p:nvSpPr>
          <p:cNvPr id="7" name="Shape 5"/>
          <p:cNvSpPr/>
          <p:nvPr/>
        </p:nvSpPr>
        <p:spPr>
          <a:xfrm>
            <a:off x="6277356" y="2103120"/>
            <a:ext cx="5362956" cy="2743200"/>
          </a:xfrm>
          <a:prstGeom prst="roundRect">
            <a:avLst>
              <a:gd name="adj" fmla="val 2000"/>
            </a:avLst>
          </a:prstGeom>
          <a:solidFill>
            <a:srgbClr val="E4572E"/>
          </a:solidFill>
          <a:ln/>
        </p:spPr>
      </p:sp>
      <p:sp>
        <p:nvSpPr>
          <p:cNvPr id="8" name="Text 6"/>
          <p:cNvSpPr txBox="1"/>
          <p:nvPr/>
        </p:nvSpPr>
        <p:spPr>
          <a:xfrm>
            <a:off x="6277356" y="2377440"/>
            <a:ext cx="5362956"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361</a:t>
            </a:r>
            <a:endParaRPr lang="en-US" sz="6000" dirty="0"/>
          </a:p>
        </p:txBody>
      </p:sp>
      <p:sp>
        <p:nvSpPr>
          <p:cNvPr id="9" name="Text 7"/>
          <p:cNvSpPr txBox="1"/>
          <p:nvPr/>
        </p:nvSpPr>
        <p:spPr>
          <a:xfrm>
            <a:off x="6551676" y="3566160"/>
            <a:ext cx="4814316" cy="914400"/>
          </a:xfrm>
          <a:prstGeom prst="rect">
            <a:avLst/>
          </a:prstGeom>
          <a:noFill/>
          <a:ln/>
        </p:spPr>
        <p:txBody>
          <a:bodyPr wrap="square" lIns="0" tIns="0" rIns="0" bIns="0" rtlCol="0" anchor="ctr"/>
          <a:lstStyle/>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real players left after</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filtering to 500+ minutes played</a:t>
            </a:r>
            <a:endParaRPr lang="en-US" sz="1400" dirty="0"/>
          </a:p>
        </p:txBody>
      </p:sp>
      <p:sp>
        <p:nvSpPr>
          <p:cNvPr id="10" name="Text 8"/>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BasketballAnalyzeR::Pbox, 2017-18 NBA season.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One Function, Every Pair of Stats at Once</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With seven real per-minute rates (points, assists, turnovers, offensive rebounds, defensive rebounds, steals, blocks), there are 21 possible pairs to compare. Rather than running cor() 21 separate times, BasketballAnalyzeR::corranalysis() computes the full matrix in one call, and can plot only the pairs that clear a threshold we choose, so the strongest real patterns are easy to spot.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Computing the Real Correlation Matrix</a:t>
            </a:r>
            <a:endParaRPr lang="en-US" sz="28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194560"/>
            <a:ext cx="10360152" cy="246888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rates &lt;- Pbox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filter(MIN &gt;= 500)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mutate(PTSpm = PTS/MIN, ASTpm = AST/MIN, TOVpm = TOV/MIN,</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OREBpm = OREB/MIN, DREBpm = DREB/MIN,</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STLpm = STL/MIN, BLKpm = BLK/MIN)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select(Player, PTSpm, ASTpm, TOVpm, OREBpm, DREBpm, STLpm, BLKpm)</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cc &lt;- corranalysis(rates %&gt;% select(-Player), threshold = 0.5)</a:t>
            </a:r>
            <a:endParaRPr lang="en-US" sz="14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yourself. You should get the same matrix on the next slide.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VIDEO - CODING SYNTAX</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See the R Syntax in Action</a:t>
            </a:r>
            <a:endParaRPr lang="en-US" sz="2800" dirty="0"/>
          </a:p>
        </p:txBody>
      </p:sp>
      <p:sp>
        <p:nvSpPr>
          <p:cNvPr id="4" name="Shape 2"/>
          <p:cNvSpPr/>
          <p:nvPr/>
        </p:nvSpPr>
        <p:spPr>
          <a:xfrm>
            <a:off x="548640" y="2011680"/>
            <a:ext cx="11091672" cy="3108960"/>
          </a:xfrm>
          <a:prstGeom prst="roundRect">
            <a:avLst>
              <a:gd name="adj" fmla="val 1765"/>
            </a:avLst>
          </a:prstGeom>
          <a:solidFill>
            <a:srgbClr val="0B1D33"/>
          </a:solidFill>
          <a:ln/>
        </p:spPr>
      </p:sp>
      <p:sp>
        <p:nvSpPr>
          <p:cNvPr id="5" name="Shape 3"/>
          <p:cNvSpPr/>
          <p:nvPr/>
        </p:nvSpPr>
        <p:spPr>
          <a:xfrm>
            <a:off x="1005840" y="2514600"/>
            <a:ext cx="1188720" cy="1188720"/>
          </a:xfrm>
          <a:prstGeom prst="ellipse">
            <a:avLst/>
          </a:prstGeom>
          <a:solidFill>
            <a:srgbClr val="E4572E"/>
          </a:solidFill>
          <a:ln/>
        </p:spPr>
      </p:sp>
      <p:sp>
        <p:nvSpPr>
          <p:cNvPr id="6" name="Shape 4"/>
          <p:cNvSpPr/>
          <p:nvPr/>
        </p:nvSpPr>
        <p:spPr>
          <a:xfrm rot="5400000">
            <a:off x="1344168" y="2852928"/>
            <a:ext cx="512064" cy="512064"/>
          </a:xfrm>
          <a:prstGeom prst="triangle">
            <a:avLst/>
          </a:prstGeom>
          <a:solidFill>
            <a:srgbClr val="FFFFFF"/>
          </a:solidFill>
          <a:ln/>
        </p:spPr>
      </p:sp>
      <p:sp>
        <p:nvSpPr>
          <p:cNvPr id="7" name="Text 5"/>
          <p:cNvSpPr txBox="1"/>
          <p:nvPr/>
        </p:nvSpPr>
        <p:spPr>
          <a:xfrm>
            <a:off x="2468880" y="2331720"/>
            <a:ext cx="8714232" cy="7315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How to Create Correlation Plots in R</a:t>
            </a:r>
            <a:endParaRPr lang="en-US" sz="2000" dirty="0"/>
          </a:p>
        </p:txBody>
      </p:sp>
      <p:sp>
        <p:nvSpPr>
          <p:cNvPr id="8" name="Text 6"/>
          <p:cNvSpPr txBox="1"/>
          <p:nvPr/>
        </p:nvSpPr>
        <p:spPr>
          <a:xfrm>
            <a:off x="2468880" y="3017520"/>
            <a:ext cx="8714232" cy="365760"/>
          </a:xfrm>
          <a:prstGeom prst="rect">
            <a:avLst/>
          </a:prstGeom>
          <a:noFill/>
          <a:ln/>
        </p:spPr>
        <p:txBody>
          <a:bodyPr wrap="square" lIns="0" tIns="0" rIns="0" bIns="0" rtlCol="0" anchor="ctr"/>
          <a:lstStyle/>
          <a:p>
            <a:pPr indent="0" marL="0">
              <a:buNone/>
            </a:pPr>
            <a:r>
              <a:rPr lang="en-US" sz="1400" i="1" dirty="0">
                <a:solidFill>
                  <a:srgbClr val="AEBBD1"/>
                </a:solidFill>
                <a:latin typeface="Calibri" pitchFamily="34" charset="0"/>
                <a:ea typeface="Calibri" pitchFamily="34" charset="-122"/>
                <a:cs typeface="Calibri" pitchFamily="34" charset="-120"/>
              </a:rPr>
              <a:t>YouTube (channel not confirmed - verify before class)</a:t>
            </a:r>
            <a:endParaRPr lang="en-US" sz="1400" dirty="0"/>
          </a:p>
        </p:txBody>
      </p:sp>
      <p:sp>
        <p:nvSpPr>
          <p:cNvPr id="9" name="Text 7">
            <a:hlinkClick r:id="rId1" tooltip=""/>
          </p:cNvPr>
          <p:cNvSpPr txBox="1"/>
          <p:nvPr/>
        </p:nvSpPr>
        <p:spPr>
          <a:xfrm>
            <a:off x="2468880" y="3429000"/>
            <a:ext cx="8714232" cy="365760"/>
          </a:xfrm>
          <a:prstGeom prst="rect">
            <a:avLst/>
          </a:prstGeom>
          <a:noFill/>
          <a:ln/>
        </p:spPr>
        <p:txBody>
          <a:bodyPr wrap="square" lIns="0" tIns="0" rIns="0" bIns="0" rtlCol="0" anchor="ctr"/>
          <a:lstStyle/>
          <a:p>
            <a:pPr indent="0" marL="0">
              <a:buNone/>
            </a:pPr>
            <a:r>
              <a:rPr lang="en-US" sz="1300" u="sng" dirty="0">
                <a:solidFill>
                  <a:srgbClr val="8FB6E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https://www.youtube.com/watch?v=X12BoYpIjyw</a:t>
            </a:r>
            <a:endParaRPr lang="en-US" sz="1300" dirty="0"/>
          </a:p>
        </p:txBody>
      </p:sp>
      <p:sp>
        <p:nvSpPr>
          <p:cNvPr id="10" name="Text 8"/>
          <p:cNvSpPr txBox="1"/>
          <p:nvPr/>
        </p:nvSpPr>
        <p:spPr>
          <a:xfrm>
            <a:off x="2468880" y="3886200"/>
            <a:ext cx="8714232" cy="100584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A supplementary coding-syntax walkthrough on building and reading correlation plots in R, alongside our own live corranalysis() demonstration.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run corranalysis() together and look at the real output.</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Real 7-by-7 Correlation Matrix</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0" cy="3108960"/>
        </p:xfrm>
        <a:graphic>
          <a:graphicData uri="http://schemas.openxmlformats.org/drawingml/2006/table">
            <a:tbl>
              <a:tblPr/>
              <a:tblGrid>
                <a:gridCol w="914400"/>
                <a:gridCol w="914400"/>
                <a:gridCol w="914400"/>
                <a:gridCol w="914400"/>
                <a:gridCol w="914400"/>
                <a:gridCol w="914400"/>
                <a:gridCol w="914400"/>
                <a:gridCol w="914400"/>
              </a:tblGrid>
              <a:tr h="388620">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PTSpm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ASTpm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TOVpm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OREBpm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DREBpm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STLpm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BLKpm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88620">
                <a:tc>
                  <a:txBody>
                    <a:bodyPr/>
                    <a:lstStyle/>
                    <a:p>
                      <a:pPr algn="ctr" indent="0" marL="0">
                        <a:buNone/>
                      </a:pPr>
                      <a:r>
                        <a:rPr lang="en-US" sz="1150" b="1" dirty="0">
                          <a:solidFill>
                            <a:srgbClr val="16213E"/>
                          </a:solidFill>
                          <a:latin typeface="Calibri" pitchFamily="34" charset="0"/>
                          <a:ea typeface="Calibri" pitchFamily="34" charset="-122"/>
                          <a:cs typeface="Calibri" pitchFamily="34" charset="-120"/>
                        </a:rPr>
                        <a:t>PTSpm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0.28</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0.52</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0.18</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-0.01</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0.02</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88620">
                <a:tc>
                  <a:txBody>
                    <a:bodyPr/>
                    <a:lstStyle/>
                    <a:p>
                      <a:pPr algn="ctr" indent="0" marL="0">
                        <a:buNone/>
                      </a:pPr>
                      <a:r>
                        <a:rPr lang="en-US" sz="1150" b="1" dirty="0">
                          <a:solidFill>
                            <a:srgbClr val="16213E"/>
                          </a:solidFill>
                          <a:latin typeface="Calibri" pitchFamily="34" charset="0"/>
                          <a:ea typeface="Calibri" pitchFamily="34" charset="-122"/>
                          <a:cs typeface="Calibri" pitchFamily="34" charset="-120"/>
                        </a:rPr>
                        <a:t>ASTpm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0.28</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0.69</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-0.31</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-0.17</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0.34</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-0.25</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r>
              <a:tr h="388620">
                <a:tc>
                  <a:txBody>
                    <a:bodyPr/>
                    <a:lstStyle/>
                    <a:p>
                      <a:pPr algn="ctr" indent="0" marL="0">
                        <a:buNone/>
                      </a:pPr>
                      <a:r>
                        <a:rPr lang="en-US" sz="1150" b="1" dirty="0">
                          <a:solidFill>
                            <a:srgbClr val="16213E"/>
                          </a:solidFill>
                          <a:latin typeface="Calibri" pitchFamily="34" charset="0"/>
                          <a:ea typeface="Calibri" pitchFamily="34" charset="-122"/>
                          <a:cs typeface="Calibri" pitchFamily="34" charset="-120"/>
                        </a:rPr>
                        <a:t>TOVpm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0.52</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0.69</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0.05</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0.20</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0.23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0.08</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88620">
                <a:tc>
                  <a:txBody>
                    <a:bodyPr/>
                    <a:lstStyle/>
                    <a:p>
                      <a:pPr algn="ctr" indent="0" marL="0">
                        <a:buNone/>
                      </a:pPr>
                      <a:r>
                        <a:rPr lang="en-US" sz="1150" b="1" dirty="0">
                          <a:solidFill>
                            <a:srgbClr val="16213E"/>
                          </a:solidFill>
                          <a:latin typeface="Calibri" pitchFamily="34" charset="0"/>
                          <a:ea typeface="Calibri" pitchFamily="34" charset="-122"/>
                          <a:cs typeface="Calibri" pitchFamily="34" charset="-120"/>
                        </a:rPr>
                        <a:t>OREBpm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-0.31</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0.05</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0.73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-0.15</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0.63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r>
              <a:tr h="388620">
                <a:tc>
                  <a:txBody>
                    <a:bodyPr/>
                    <a:lstStyle/>
                    <a:p>
                      <a:pPr algn="ctr" indent="0" marL="0">
                        <a:buNone/>
                      </a:pPr>
                      <a:r>
                        <a:rPr lang="en-US" sz="1150" b="1" dirty="0">
                          <a:solidFill>
                            <a:srgbClr val="16213E"/>
                          </a:solidFill>
                          <a:latin typeface="Calibri" pitchFamily="34" charset="0"/>
                          <a:ea typeface="Calibri" pitchFamily="34" charset="-122"/>
                          <a:cs typeface="Calibri" pitchFamily="34" charset="-120"/>
                        </a:rPr>
                        <a:t>DREBpm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0.18</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-0.17</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0.20</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0.73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-0.15</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0.58</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88620">
                <a:tc>
                  <a:txBody>
                    <a:bodyPr/>
                    <a:lstStyle/>
                    <a:p>
                      <a:pPr algn="ctr" indent="0" marL="0">
                        <a:buNone/>
                      </a:pPr>
                      <a:r>
                        <a:rPr lang="en-US" sz="1150" b="1" dirty="0">
                          <a:solidFill>
                            <a:srgbClr val="16213E"/>
                          </a:solidFill>
                          <a:latin typeface="Calibri" pitchFamily="34" charset="0"/>
                          <a:ea typeface="Calibri" pitchFamily="34" charset="-122"/>
                          <a:cs typeface="Calibri" pitchFamily="34" charset="-120"/>
                        </a:rPr>
                        <a:t>STLpm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-0.01</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0.34</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0.23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-0.15</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-0.15</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9FC"/>
                    </a:solidFill>
                  </a:tcPr>
                </a:tc>
              </a:tr>
              <a:tr h="388620">
                <a:tc>
                  <a:txBody>
                    <a:bodyPr/>
                    <a:lstStyle/>
                    <a:p>
                      <a:pPr algn="ctr" indent="0" marL="0">
                        <a:buNone/>
                      </a:pPr>
                      <a:r>
                        <a:rPr lang="en-US" sz="1150" b="1" dirty="0">
                          <a:solidFill>
                            <a:srgbClr val="16213E"/>
                          </a:solidFill>
                          <a:latin typeface="Calibri" pitchFamily="34" charset="0"/>
                          <a:ea typeface="Calibri" pitchFamily="34" charset="-122"/>
                          <a:cs typeface="Calibri" pitchFamily="34" charset="-120"/>
                        </a:rPr>
                        <a:t>BLKpm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0.02</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-0.25</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0.08</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0.63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0.58</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-0.03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6213E"/>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corranalysis() on real per-minute rates, BasketballAnalyzeR::Pbox, 2017-18 NBA season, 361 players with 500+ minutes.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Now let's plot this matrix together and see it as a picture.</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Matrix, Thresholded at 0.5</a:t>
            </a:r>
            <a:endParaRPr lang="en-US" sz="2800" dirty="0"/>
          </a:p>
        </p:txBody>
      </p:sp>
      <p:pic>
        <p:nvPicPr>
          <p:cNvPr id="4" name="Image 0" descr="module5_correlation_plot.png">    </p:cNvPr>
          <p:cNvPicPr>
            <a:picLocks noChangeAspect="1"/>
          </p:cNvPicPr>
          <p:nvPr/>
        </p:nvPicPr>
        <p:blipFill>
          <a:blip r:embed="rId1"/>
          <a:stretch>
            <a:fillRect/>
          </a:stretch>
        </p:blipFill>
        <p:spPr>
          <a:xfrm>
            <a:off x="3574161" y="1691640"/>
            <a:ext cx="5040630" cy="448056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plot(cc), BasketballAnalyzeR's corranalysis() output. Only pairs at or above 0.5 in absolute value are drawn.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Find the Three Strongest Correlations</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Turn to a partner. Look back at the real matrix and the plotted version.</a:t>
            </a:r>
            <a:endParaRPr lang="en-US" sz="1500" dirty="0"/>
          </a:p>
          <a:p>
            <a:pPr indent="0" marL="0">
              <a:lnSpc>
                <a:spcPct val="140000"/>
              </a:lnSpc>
              <a:buNone/>
            </a:pPr>
            <a:endParaRPr lang="en-US" sz="1500" dirty="0"/>
          </a:p>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1. Find the three strongest real correlations, positive or negative.</a:t>
            </a:r>
            <a:endParaRPr lang="en-US" sz="1500" dirty="0"/>
          </a:p>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2. For each one, write one sentence guessing why those two stats might move together on a real basketball floor.</a:t>
            </a:r>
            <a:endParaRPr lang="en-US" sz="1500" dirty="0"/>
          </a:p>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3. Be ready to share before I walk through what each one actually means.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Correlation,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correlation coefficient measures how closely two variables move together, from -1 to 1. We built real per-minute rates, filtered to 361 players with 500+ minutes, and computed a full 7-by-7 real correlation matrix.</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reads the strongest real correlations one at a time, then moves from stats that move together to players who connect to each other.</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reading what these real correlations actually mean.</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Reading the Real Correlations</a:t>
            </a:r>
            <a:endParaRPr lang="en-US" sz="3200" dirty="0"/>
          </a:p>
        </p:txBody>
      </p:sp>
      <p:sp>
        <p:nvSpPr>
          <p:cNvPr id="4" name="Text 2"/>
          <p:cNvSpPr txBox="1"/>
          <p:nvPr/>
        </p:nvSpPr>
        <p:spPr>
          <a:xfrm>
            <a:off x="548640" y="2194560"/>
            <a:ext cx="11091672" cy="914400"/>
          </a:xfrm>
          <a:prstGeom prst="rect">
            <a:avLst/>
          </a:prstGeom>
          <a:noFill/>
          <a:ln/>
        </p:spPr>
        <p:txBody>
          <a:bodyPr wrap="square" lIns="0" tIns="0" rIns="0" bIns="0" rtlCol="0" anchor="t"/>
          <a:lstStyle/>
          <a:p>
            <a:pPr indent="0" marL="0">
              <a:lnSpc>
                <a:spcPct val="125000"/>
              </a:lnSpc>
              <a:buNone/>
            </a:pPr>
            <a:r>
              <a:rPr lang="en-US" sz="1800" dirty="0">
                <a:solidFill>
                  <a:srgbClr val="AEBBD1"/>
                </a:solidFill>
                <a:latin typeface="Calibri" pitchFamily="34" charset="0"/>
                <a:ea typeface="Calibri" pitchFamily="34" charset="-122"/>
                <a:cs typeface="Calibri" pitchFamily="34" charset="-120"/>
              </a:rPr>
              <a:t>Three real pairs out of our 7-by-7 matrix are worth sitting with. Each one has a real basketball reason behind it, not just a number.</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THE STRONGEST PAIR IN THE MATRIX</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Offensive and Defensive Rebounding</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0.729</a:t>
            </a:r>
            <a:endParaRPr lang="en-US" sz="56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correlation between offensive</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rebounds per minute and defensive</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rebounds per minute</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The strongest real correlation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in the whole matrix.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Why: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think about what actually produces a rebound: size, positioning near the rim, and physical strength on the glass. A player built to grab a defensive rebound is, almost by definition, built to grab an offensive one too.</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corranalysis() on real per-minute rates, BasketballAnalyzeR::Pbox, 2017-18 NBA season.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One Skill, Two Numbers</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This isn't one stat causing the other. It's both stats being driven by the same real underlying trait: winning position under the basket. A center who boxes out well and plays physically near the rim will show up high on both offensive and defensive rebound rate, because both numbers are really just two different readings of the same skill.</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A NUMBER THAT LOOKS BACKWARDS AT FIRST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Assists and Turnovers</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0.687</a:t>
            </a:r>
            <a:endParaRPr lang="en-US" sz="56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correlation between assists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per minute and turnovers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per minute</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Shouldn't a good passer turn the ball over less?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The real explanation: usage.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A player who handles the ball constantly and threads difficult, high-value passes into tight windows racks up real assists specifically because he's taking those risks, and that same ball-handling volume also produces more chances for a pass to be picked off or thrown away.</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corranalysis() on real per-minute rates, BasketballAnalyzeR::Pbox, 2017-18 NBA season.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 "Good" Stat and a "Bad" Stat, Same Player</a:t>
            </a:r>
            <a:endParaRPr lang="en-US" sz="26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Point guards who run an offense generate both assists and turnovers together. Players who rarely touch the ball generate neither. The lesson isn't that turnovers are secretly good; it's that a single stat can't be judged in isolation from how much a player actually handles the ball.</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THE THIRD STRONGEST REAL PAIR</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Offensive Rebounds and Blocks</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0.630</a:t>
            </a:r>
            <a:endParaRPr lang="en-US" sz="56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correlation between offensive</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rebounds per minute and</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blocks per minute</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Both of these depend on the same real thing: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being tall, long, and stationed near the basket rather than out on the perimeter.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The connection: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a player chasing blocks is protecting the rim, and a player chasing offensive boards is fighting for position at the rim. Both stats are really two different readings of how much of a player's game happens close to the basket.</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corranalysis() on real per-minute rates, BasketballAnalyzeR::Pbox, 2017-18 NBA season.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Living Near the Rim</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None of these three real pairs is a coincidence, and none of them proves that one stat causes the other. What they show is that certain box score numbers cluster together because they're driven by the same underlying role or skill set on the floor. Once you can see that clustering in a real correlation matrix, you stop treating each stat as if it lived in its own separate world.</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 Few More Pairs Worth Noticing</a:t>
            </a:r>
            <a:endParaRPr lang="en-US" sz="2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194560"/>
        </p:xfrm>
        <a:graphic>
          <a:graphicData uri="http://schemas.openxmlformats.org/drawingml/2006/table">
            <a:tbl>
              <a:tblPr/>
              <a:tblGrid>
                <a:gridCol w="3776472"/>
                <a:gridCol w="1828800"/>
                <a:gridCol w="5486400"/>
              </a:tblGrid>
              <a:tr h="54864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Pair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Correlation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Quick Read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548640">
                <a:tc>
                  <a:txBody>
                    <a:bodyPr/>
                    <a:lstStyle/>
                    <a:p>
                      <a:pPr algn="l" indent="0" marL="0">
                        <a:buNone/>
                      </a:pPr>
                      <a:r>
                        <a:rPr lang="en-US" sz="1400" dirty="0">
                          <a:solidFill>
                            <a:srgbClr val="16213E"/>
                          </a:solidFill>
                          <a:latin typeface="Calibri" pitchFamily="34" charset="0"/>
                          <a:ea typeface="Calibri" pitchFamily="34" charset="-122"/>
                          <a:cs typeface="Calibri" pitchFamily="34" charset="-120"/>
                        </a:rPr>
                        <a:t>Defensive rebounds and blocks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16213E"/>
                          </a:solidFill>
                          <a:latin typeface="Calibri" pitchFamily="34" charset="0"/>
                          <a:ea typeface="Calibri" pitchFamily="34" charset="-122"/>
                          <a:cs typeface="Calibri" pitchFamily="34" charset="-120"/>
                        </a:rPr>
                        <a:t>0.581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16213E"/>
                          </a:solidFill>
                          <a:latin typeface="Calibri" pitchFamily="34" charset="0"/>
                          <a:ea typeface="Calibri" pitchFamily="34" charset="-122"/>
                          <a:cs typeface="Calibri" pitchFamily="34" charset="-120"/>
                        </a:rPr>
                        <a:t>Same rim-protection skill as OREB/BLK</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algn="l" indent="0" marL="0">
                        <a:buNone/>
                      </a:pPr>
                      <a:r>
                        <a:rPr lang="en-US" sz="1400" dirty="0">
                          <a:solidFill>
                            <a:srgbClr val="16213E"/>
                          </a:solidFill>
                          <a:latin typeface="Calibri" pitchFamily="34" charset="0"/>
                          <a:ea typeface="Calibri" pitchFamily="34" charset="-122"/>
                          <a:cs typeface="Calibri" pitchFamily="34" charset="-120"/>
                        </a:rPr>
                        <a:t>Points and turnovers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l" indent="0" marL="0">
                        <a:buNone/>
                      </a:pPr>
                      <a:r>
                        <a:rPr lang="en-US" sz="1400" dirty="0">
                          <a:solidFill>
                            <a:srgbClr val="16213E"/>
                          </a:solidFill>
                          <a:latin typeface="Calibri" pitchFamily="34" charset="0"/>
                          <a:ea typeface="Calibri" pitchFamily="34" charset="-122"/>
                          <a:cs typeface="Calibri" pitchFamily="34" charset="-120"/>
                        </a:rPr>
                        <a:t>0.524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l" indent="0" marL="0">
                        <a:buNone/>
                      </a:pPr>
                      <a:r>
                        <a:rPr lang="en-US" sz="1400" dirty="0">
                          <a:solidFill>
                            <a:srgbClr val="16213E"/>
                          </a:solidFill>
                          <a:latin typeface="Calibri" pitchFamily="34" charset="0"/>
                          <a:ea typeface="Calibri" pitchFamily="34" charset="-122"/>
                          <a:cs typeface="Calibri" pitchFamily="34" charset="-120"/>
                        </a:rPr>
                        <a:t>High scorers also touch the ball more, so more chances to give it away</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548640">
                <a:tc>
                  <a:txBody>
                    <a:bodyPr/>
                    <a:lstStyle/>
                    <a:p>
                      <a:pPr algn="l" indent="0" marL="0">
                        <a:buNone/>
                      </a:pPr>
                      <a:r>
                        <a:rPr lang="en-US" sz="1400" dirty="0">
                          <a:solidFill>
                            <a:srgbClr val="16213E"/>
                          </a:solidFill>
                          <a:latin typeface="Calibri" pitchFamily="34" charset="0"/>
                          <a:ea typeface="Calibri" pitchFamily="34" charset="-122"/>
                          <a:cs typeface="Calibri" pitchFamily="34" charset="-120"/>
                        </a:rPr>
                        <a:t>Assists and offensive rebounds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16213E"/>
                          </a:solidFill>
                          <a:latin typeface="Calibri" pitchFamily="34" charset="0"/>
                          <a:ea typeface="Calibri" pitchFamily="34" charset="-122"/>
                          <a:cs typeface="Calibri" pitchFamily="34" charset="-120"/>
                        </a:rPr>
                        <a:t>-0.308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16213E"/>
                          </a:solidFill>
                          <a:latin typeface="Calibri" pitchFamily="34" charset="0"/>
                          <a:ea typeface="Calibri" pitchFamily="34" charset="-122"/>
                          <a:cs typeface="Calibri" pitchFamily="34" charset="-120"/>
                        </a:rPr>
                        <a:t>Perimeter passers and rim-area rebounders tend to be different players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corranalysis() on real per-minute rates, BasketballAnalyzeR::Pbox, 2017-18 NBA season.</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Propose Your Own Pair</a:t>
            </a:r>
            <a:endParaRPr lang="en-US" sz="2800" dirty="0"/>
          </a:p>
        </p:txBody>
      </p:sp>
      <p:sp>
        <p:nvSpPr>
          <p:cNvPr id="4" name="Shape 2"/>
          <p:cNvSpPr/>
          <p:nvPr/>
        </p:nvSpPr>
        <p:spPr>
          <a:xfrm>
            <a:off x="548640" y="2103120"/>
            <a:ext cx="11091672" cy="2011680"/>
          </a:xfrm>
          <a:prstGeom prst="roundRect">
            <a:avLst>
              <a:gd name="adj" fmla="val 2727"/>
            </a:avLst>
          </a:prstGeom>
          <a:solidFill>
            <a:srgbClr val="EDF1F7"/>
          </a:solidFill>
          <a:ln/>
        </p:spPr>
      </p:sp>
      <p:sp>
        <p:nvSpPr>
          <p:cNvPr id="5" name="Text 3"/>
          <p:cNvSpPr txBox="1"/>
          <p:nvPr/>
        </p:nvSpPr>
        <p:spPr>
          <a:xfrm>
            <a:off x="914400" y="2377440"/>
            <a:ext cx="10360152" cy="146304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the full matrix from Step 4. Propose one more real pair of stats you think might be correlated, and tell me why you think so before we check the real number together.</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a Correlation Matrix Can't Tell You</a:t>
            </a:r>
            <a:endParaRPr lang="en-US" sz="2800" dirty="0"/>
          </a:p>
        </p:txBody>
      </p:sp>
      <p:sp>
        <p:nvSpPr>
          <p:cNvPr id="4" name="Shape 2"/>
          <p:cNvSpPr/>
          <p:nvPr/>
        </p:nvSpPr>
        <p:spPr>
          <a:xfrm>
            <a:off x="548640" y="2103120"/>
            <a:ext cx="11091672" cy="2468880"/>
          </a:xfrm>
          <a:prstGeom prst="roundRect">
            <a:avLst>
              <a:gd name="adj" fmla="val 2222"/>
            </a:avLst>
          </a:prstGeom>
          <a:solidFill>
            <a:srgbClr val="EDF1F7"/>
          </a:solidFill>
          <a:ln/>
        </p:spPr>
      </p:sp>
      <p:sp>
        <p:nvSpPr>
          <p:cNvPr id="5" name="Text 3"/>
          <p:cNvSpPr txBox="1"/>
          <p:nvPr/>
        </p:nvSpPr>
        <p:spPr>
          <a:xfrm>
            <a:off x="914400" y="2377440"/>
            <a:ext cx="10360152" cy="201168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correlation matrix answers "which stats move together." It does not answer a question that matters just as much to a coach or a scout: on this specific team, who is actually setting up whom? Two teams can have similar team-wide assist totals while one runs its offense through a single ball-handler and the other spreads playmaking across four or five players, and a correlation matrix built from season totals cannot tell the two situations apart.</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Is an Assist Network?</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An assist network turns every real assisted basket into a connection between the player who passed and the player who scored. Each player is a node. Each real assist is an edge, drawn from the passer to the scorer, with the number of assists between them setting how strong that connection looks. Instead of asking how variables relate to each other, an assist network asks how players relate to each other.</a:t>
            </a:r>
            <a:endParaRPr lang="en-US" sz="15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Built with BasketballAnalyzeR::assistnet().</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7</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Reading a Player's Row in the Network</a:t>
            </a:r>
            <a:endParaRPr lang="en-US" sz="27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2743200"/>
        </p:xfrm>
        <a:graphic>
          <a:graphicData uri="http://schemas.openxmlformats.org/drawingml/2006/table">
            <a:tbl>
              <a:tblPr/>
              <a:tblGrid>
                <a:gridCol w="2377440"/>
                <a:gridCol w="5971032"/>
                <a:gridCol w="2743200"/>
              </a:tblGrid>
              <a:tr h="457200">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Column</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What It Means</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Chris Paul's Real Row</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57200">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AST</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Real assists this player gave to teammates</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27</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ASTPTS</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Real points created by those assists</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68</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57200">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FGM</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This player's own real made shots</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22</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FGM_AST</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Of those makes, how many a teammate assisted</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57200">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FGM_ASTp</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Percent of his own makes that were assisted</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50" dirty="0">
                          <a:solidFill>
                            <a:srgbClr val="16213E"/>
                          </a:solidFill>
                          <a:latin typeface="Calibri" pitchFamily="34" charset="0"/>
                          <a:ea typeface="Calibri" pitchFamily="34" charset="-122"/>
                          <a:cs typeface="Calibri" pitchFamily="34" charset="-120"/>
                        </a:rPr>
                        <a:t>18.2%</a:t>
                      </a:r>
                      <a:endParaRPr lang="en-US" sz="13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846320"/>
            <a:ext cx="11091672" cy="914400"/>
          </a:xfrm>
          <a:prstGeom prst="rect">
            <a:avLst/>
          </a:prstGeom>
          <a:noFill/>
          <a:ln/>
        </p:spPr>
        <p:txBody>
          <a:bodyPr wrap="square" lIns="0" tIns="0" rIns="0" bIns="0" rtlCol="0" anchor="t"/>
          <a:lstStyle/>
          <a:p>
            <a:pPr indent="0" marL="0">
              <a:lnSpc>
                <a:spcPct val="130000"/>
              </a:lnSpc>
              <a:buNone/>
            </a:pPr>
            <a:r>
              <a:rPr lang="en-US" sz="1300" dirty="0">
                <a:solidFill>
                  <a:srgbClr val="27496D"/>
                </a:solidFill>
                <a:latin typeface="Calibri" pitchFamily="34" charset="0"/>
                <a:ea typeface="Calibri" pitchFamily="34" charset="-122"/>
                <a:cs typeface="Calibri" pitchFamily="34" charset="-120"/>
              </a:rPr>
              <a:t>Notice the two directions here: AST and ASTPTS describe Chris Paul as a passer. FGM, FGM_AST, and FGM_ASTp describe him as a scorer. Only 18.2% of his own makes were assisted, meaning most of his scoring was self-created, exactly what you'd expect from a lead ball-handler.</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VIDEO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See What an Assist Chain Looks Like</a:t>
            </a:r>
            <a:endParaRPr lang="en-US" sz="2800" dirty="0"/>
          </a:p>
        </p:txBody>
      </p:sp>
      <p:sp>
        <p:nvSpPr>
          <p:cNvPr id="4" name="Shape 2"/>
          <p:cNvSpPr/>
          <p:nvPr/>
        </p:nvSpPr>
        <p:spPr>
          <a:xfrm>
            <a:off x="548640" y="2011680"/>
            <a:ext cx="11091672" cy="3108960"/>
          </a:xfrm>
          <a:prstGeom prst="roundRect">
            <a:avLst>
              <a:gd name="adj" fmla="val 1765"/>
            </a:avLst>
          </a:prstGeom>
          <a:solidFill>
            <a:srgbClr val="0B1D33"/>
          </a:solidFill>
          <a:ln/>
        </p:spPr>
      </p:sp>
      <p:sp>
        <p:nvSpPr>
          <p:cNvPr id="5" name="Shape 3"/>
          <p:cNvSpPr/>
          <p:nvPr/>
        </p:nvSpPr>
        <p:spPr>
          <a:xfrm>
            <a:off x="1005840" y="2514600"/>
            <a:ext cx="1188720" cy="1188720"/>
          </a:xfrm>
          <a:prstGeom prst="ellipse">
            <a:avLst/>
          </a:prstGeom>
          <a:solidFill>
            <a:srgbClr val="E4572E"/>
          </a:solidFill>
          <a:ln/>
        </p:spPr>
      </p:sp>
      <p:sp>
        <p:nvSpPr>
          <p:cNvPr id="6" name="Shape 4"/>
          <p:cNvSpPr/>
          <p:nvPr/>
        </p:nvSpPr>
        <p:spPr>
          <a:xfrm rot="5400000">
            <a:off x="1344168" y="2852928"/>
            <a:ext cx="512064" cy="512064"/>
          </a:xfrm>
          <a:prstGeom prst="triangle">
            <a:avLst/>
          </a:prstGeom>
          <a:solidFill>
            <a:srgbClr val="FFFFFF"/>
          </a:solidFill>
          <a:ln/>
        </p:spPr>
      </p:sp>
      <p:sp>
        <p:nvSpPr>
          <p:cNvPr id="7" name="Text 5"/>
          <p:cNvSpPr txBox="1"/>
          <p:nvPr/>
        </p:nvSpPr>
        <p:spPr>
          <a:xfrm>
            <a:off x="2468880" y="2331720"/>
            <a:ext cx="8714232" cy="7315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Is A Hockey Assist In College Basketball?</a:t>
            </a:r>
            <a:endParaRPr lang="en-US" sz="2000" dirty="0"/>
          </a:p>
        </p:txBody>
      </p:sp>
      <p:sp>
        <p:nvSpPr>
          <p:cNvPr id="8" name="Text 6"/>
          <p:cNvSpPr txBox="1"/>
          <p:nvPr/>
        </p:nvSpPr>
        <p:spPr>
          <a:xfrm>
            <a:off x="2468880" y="3017520"/>
            <a:ext cx="8714232" cy="365760"/>
          </a:xfrm>
          <a:prstGeom prst="rect">
            <a:avLst/>
          </a:prstGeom>
          <a:noFill/>
          <a:ln/>
        </p:spPr>
        <p:txBody>
          <a:bodyPr wrap="square" lIns="0" tIns="0" rIns="0" bIns="0" rtlCol="0" anchor="ctr"/>
          <a:lstStyle/>
          <a:p>
            <a:pPr indent="0" marL="0">
              <a:buNone/>
            </a:pPr>
            <a:r>
              <a:rPr lang="en-US" sz="1400" i="1" dirty="0">
                <a:solidFill>
                  <a:srgbClr val="AEBBD1"/>
                </a:solidFill>
                <a:latin typeface="Calibri" pitchFamily="34" charset="0"/>
                <a:ea typeface="Calibri" pitchFamily="34" charset="-122"/>
                <a:cs typeface="Calibri" pitchFamily="34" charset="-120"/>
              </a:rPr>
              <a:t>College Basketball Insiders</a:t>
            </a:r>
            <a:endParaRPr lang="en-US" sz="1400" dirty="0"/>
          </a:p>
        </p:txBody>
      </p:sp>
      <p:sp>
        <p:nvSpPr>
          <p:cNvPr id="9" name="Text 7">
            <a:hlinkClick r:id="rId1" tooltip=""/>
          </p:cNvPr>
          <p:cNvSpPr txBox="1"/>
          <p:nvPr/>
        </p:nvSpPr>
        <p:spPr>
          <a:xfrm>
            <a:off x="2468880" y="3429000"/>
            <a:ext cx="8714232" cy="365760"/>
          </a:xfrm>
          <a:prstGeom prst="rect">
            <a:avLst/>
          </a:prstGeom>
          <a:noFill/>
          <a:ln/>
        </p:spPr>
        <p:txBody>
          <a:bodyPr wrap="square" lIns="0" tIns="0" rIns="0" bIns="0" rtlCol="0" anchor="ctr"/>
          <a:lstStyle/>
          <a:p>
            <a:pPr indent="0" marL="0">
              <a:buNone/>
            </a:pPr>
            <a:r>
              <a:rPr lang="en-US" sz="1300" u="sng" dirty="0">
                <a:solidFill>
                  <a:srgbClr val="8FB6E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https://www.youtube.com/watch?v=m0fzhcJTSdc</a:t>
            </a:r>
            <a:endParaRPr lang="en-US" sz="1300" dirty="0"/>
          </a:p>
        </p:txBody>
      </p:sp>
      <p:sp>
        <p:nvSpPr>
          <p:cNvPr id="10" name="Text 8"/>
          <p:cNvSpPr txBox="1"/>
          <p:nvPr/>
        </p:nvSpPr>
        <p:spPr>
          <a:xfrm>
            <a:off x="2468880" y="3886200"/>
            <a:ext cx="8714232" cy="100584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A concept explainer on the pass that sets up the pass that leads to a score, useful for seeing that an assist network is really a chain of connected decisions on the floor, not just a single box score number.</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From Stats to Players</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Walked through the real basketball reasons behind offensive/defensive rebounding (0.729), assists/turnovers (0.687), and offensive rebounds/blocks (0.630). Introduced the assist network: nodes are players, edges are real assists.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builds two real assist networks, Houston and Cleveland, and compares how differently their offenses actually worked.</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two real teams, two very different offenses.</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CASE STUDY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Houston Versus Cleveland: Two Real Networks</a:t>
            </a:r>
            <a:endParaRPr lang="en-US" sz="3000" dirty="0"/>
          </a:p>
        </p:txBody>
      </p:sp>
      <p:sp>
        <p:nvSpPr>
          <p:cNvPr id="4" name="Text 2"/>
          <p:cNvSpPr txBox="1"/>
          <p:nvPr/>
        </p:nvSpPr>
        <p:spPr>
          <a:xfrm>
            <a:off x="548640" y="2286000"/>
            <a:ext cx="11091672" cy="1097280"/>
          </a:xfrm>
          <a:prstGeom prst="rect">
            <a:avLst/>
          </a:prstGeom>
          <a:noFill/>
          <a:ln/>
        </p:spPr>
        <p:txBody>
          <a:bodyPr wrap="square" lIns="0" tIns="0" rIns="0" bIns="0" rtlCol="0" anchor="t"/>
          <a:lstStyle/>
          <a:p>
            <a:pPr indent="0" marL="0">
              <a:lnSpc>
                <a:spcPct val="125000"/>
              </a:lnSpc>
              <a:buNone/>
            </a:pPr>
            <a:r>
              <a:rPr lang="en-US" sz="1700" dirty="0">
                <a:solidFill>
                  <a:srgbClr val="AEBBD1"/>
                </a:solidFill>
                <a:latin typeface="Calibri" pitchFamily="34" charset="0"/>
                <a:ea typeface="Calibri" pitchFamily="34" charset="-122"/>
                <a:cs typeface="Calibri" pitchFamily="34" charset="-120"/>
              </a:rPr>
              <a:t>We're going to build a real assist network for Houston and a real assist network for Cleveland, using real 2017-18 regular-season games, and see how differently each offense actually distributed playmaking.</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Dataset: Built Around Golden State's Schedule</a:t>
            </a:r>
            <a:endParaRPr lang="en-US" sz="2600" dirty="0"/>
          </a:p>
        </p:txBody>
      </p:sp>
      <p:sp>
        <p:nvSpPr>
          <p:cNvPr id="4" name="Shape 2"/>
          <p:cNvSpPr/>
          <p:nvPr/>
        </p:nvSpPr>
        <p:spPr>
          <a:xfrm>
            <a:off x="548640" y="2011680"/>
            <a:ext cx="11091672" cy="2651760"/>
          </a:xfrm>
          <a:prstGeom prst="roundRect">
            <a:avLst>
              <a:gd name="adj" fmla="val 2069"/>
            </a:avLst>
          </a:prstGeom>
          <a:solidFill>
            <a:srgbClr val="EDF1F7"/>
          </a:solidFill>
          <a:ln/>
        </p:spPr>
      </p:sp>
      <p:sp>
        <p:nvSpPr>
          <p:cNvPr id="5" name="Text 3"/>
          <p:cNvSpPr txBox="1"/>
          <p:nvPr/>
        </p:nvSpPr>
        <p:spPr>
          <a:xfrm>
            <a:off x="914400" y="2286000"/>
            <a:ext cx="10360152" cy="210312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BasketballAnalyzeR::PbP.BDB is real, event-level play-by-play data built around the Golden State Warriors' full 82-game 2017-18 regular season schedule. Every other team's rows in it are that team's own real regular-season games against Golden State specifically, not a playoff series. That's an important distinction to get right: this is regular-season data, and it only includes each opponent's games against Golden State.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8</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Two Real, Different-Sized Samples</a:t>
            </a:r>
            <a:endParaRPr lang="en-US" sz="2700" dirty="0"/>
          </a:p>
        </p:txBody>
      </p:sp>
      <p:sp>
        <p:nvSpPr>
          <p:cNvPr id="4" name="Shape 2"/>
          <p:cNvSpPr/>
          <p:nvPr/>
        </p:nvSpPr>
        <p:spPr>
          <a:xfrm>
            <a:off x="548640" y="2103120"/>
            <a:ext cx="5362956" cy="2926080"/>
          </a:xfrm>
          <a:prstGeom prst="roundRect">
            <a:avLst>
              <a:gd name="adj" fmla="val 1875"/>
            </a:avLst>
          </a:prstGeom>
          <a:solidFill>
            <a:srgbClr val="27496D"/>
          </a:solidFill>
          <a:ln/>
        </p:spPr>
      </p:sp>
      <p:sp>
        <p:nvSpPr>
          <p:cNvPr id="5" name="Text 3"/>
          <p:cNvSpPr txBox="1"/>
          <p:nvPr/>
        </p:nvSpPr>
        <p:spPr>
          <a:xfrm>
            <a:off x="822960" y="2331720"/>
            <a:ext cx="4814316"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Houston Rockets</a:t>
            </a:r>
            <a:endParaRPr lang="en-US" sz="1800" dirty="0"/>
          </a:p>
        </p:txBody>
      </p:sp>
      <p:sp>
        <p:nvSpPr>
          <p:cNvPr id="6" name="Text 4"/>
          <p:cNvSpPr txBox="1"/>
          <p:nvPr/>
        </p:nvSpPr>
        <p:spPr>
          <a:xfrm>
            <a:off x="822960" y="2880360"/>
            <a:ext cx="4814316" cy="201168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3 real 2017-18 regular-season games against Golden State, including the real season opener on October 17, 2017, which Houston won at Golden State 122-121, on the way to a 2-1 real record in this sample.</a:t>
            </a:r>
            <a:endParaRPr lang="en-US" sz="1400" dirty="0"/>
          </a:p>
        </p:txBody>
      </p:sp>
      <p:sp>
        <p:nvSpPr>
          <p:cNvPr id="7" name="Shape 5"/>
          <p:cNvSpPr/>
          <p:nvPr/>
        </p:nvSpPr>
        <p:spPr>
          <a:xfrm>
            <a:off x="6277356" y="2103120"/>
            <a:ext cx="5362956" cy="2926080"/>
          </a:xfrm>
          <a:prstGeom prst="roundRect">
            <a:avLst>
              <a:gd name="adj" fmla="val 1875"/>
            </a:avLst>
          </a:prstGeom>
          <a:solidFill>
            <a:srgbClr val="E4572E"/>
          </a:solidFill>
          <a:ln/>
        </p:spPr>
      </p:sp>
      <p:sp>
        <p:nvSpPr>
          <p:cNvPr id="8" name="Text 6"/>
          <p:cNvSpPr txBox="1"/>
          <p:nvPr/>
        </p:nvSpPr>
        <p:spPr>
          <a:xfrm>
            <a:off x="6551676" y="2331720"/>
            <a:ext cx="4814316"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Cleveland Cavaliers</a:t>
            </a:r>
            <a:endParaRPr lang="en-US" sz="1800" dirty="0"/>
          </a:p>
        </p:txBody>
      </p:sp>
      <p:sp>
        <p:nvSpPr>
          <p:cNvPr id="9" name="Text 7"/>
          <p:cNvSpPr txBox="1"/>
          <p:nvPr/>
        </p:nvSpPr>
        <p:spPr>
          <a:xfrm>
            <a:off x="6551676" y="2880360"/>
            <a:ext cx="4814316" cy="201168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2 real 2017-18 regular-season games against Golden State, including the real, nationally televised Christmas Day game, which Golden State won 99-92, on the way to a real 2-0 sweep of Cleveland in this sample.</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VIDEO - REAL GAME FOOTAGE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See a Distributed Offense on the Floor</a:t>
            </a:r>
            <a:endParaRPr lang="en-US" sz="2800" dirty="0"/>
          </a:p>
        </p:txBody>
      </p:sp>
      <p:sp>
        <p:nvSpPr>
          <p:cNvPr id="4" name="Shape 2"/>
          <p:cNvSpPr/>
          <p:nvPr/>
        </p:nvSpPr>
        <p:spPr>
          <a:xfrm>
            <a:off x="548640" y="2011680"/>
            <a:ext cx="11091672" cy="3108960"/>
          </a:xfrm>
          <a:prstGeom prst="roundRect">
            <a:avLst>
              <a:gd name="adj" fmla="val 1765"/>
            </a:avLst>
          </a:prstGeom>
          <a:solidFill>
            <a:srgbClr val="0B1D33"/>
          </a:solidFill>
          <a:ln/>
        </p:spPr>
      </p:sp>
      <p:sp>
        <p:nvSpPr>
          <p:cNvPr id="5" name="Shape 3"/>
          <p:cNvSpPr/>
          <p:nvPr/>
        </p:nvSpPr>
        <p:spPr>
          <a:xfrm>
            <a:off x="1005840" y="2514600"/>
            <a:ext cx="1188720" cy="1188720"/>
          </a:xfrm>
          <a:prstGeom prst="ellipse">
            <a:avLst/>
          </a:prstGeom>
          <a:solidFill>
            <a:srgbClr val="E4572E"/>
          </a:solidFill>
          <a:ln/>
        </p:spPr>
      </p:sp>
      <p:sp>
        <p:nvSpPr>
          <p:cNvPr id="6" name="Shape 4"/>
          <p:cNvSpPr/>
          <p:nvPr/>
        </p:nvSpPr>
        <p:spPr>
          <a:xfrm rot="5400000">
            <a:off x="1344168" y="2852928"/>
            <a:ext cx="512064" cy="512064"/>
          </a:xfrm>
          <a:prstGeom prst="triangle">
            <a:avLst/>
          </a:prstGeom>
          <a:solidFill>
            <a:srgbClr val="FFFFFF"/>
          </a:solidFill>
          <a:ln/>
        </p:spPr>
      </p:sp>
      <p:sp>
        <p:nvSpPr>
          <p:cNvPr id="7" name="Text 5"/>
          <p:cNvSpPr txBox="1"/>
          <p:nvPr/>
        </p:nvSpPr>
        <p:spPr>
          <a:xfrm>
            <a:off x="2468880" y="2331720"/>
            <a:ext cx="8714232" cy="7315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2017 Warriors Had Such ELITE Ball Movement</a:t>
            </a:r>
            <a:endParaRPr lang="en-US" sz="2000" dirty="0"/>
          </a:p>
        </p:txBody>
      </p:sp>
      <p:sp>
        <p:nvSpPr>
          <p:cNvPr id="8" name="Text 6"/>
          <p:cNvSpPr txBox="1"/>
          <p:nvPr/>
        </p:nvSpPr>
        <p:spPr>
          <a:xfrm>
            <a:off x="2468880" y="3017520"/>
            <a:ext cx="8714232" cy="365760"/>
          </a:xfrm>
          <a:prstGeom prst="rect">
            <a:avLst/>
          </a:prstGeom>
          <a:noFill/>
          <a:ln/>
        </p:spPr>
        <p:txBody>
          <a:bodyPr wrap="square" lIns="0" tIns="0" rIns="0" bIns="0" rtlCol="0" anchor="ctr"/>
          <a:lstStyle/>
          <a:p>
            <a:pPr indent="0" marL="0">
              <a:buNone/>
            </a:pPr>
            <a:r>
              <a:rPr lang="en-US" sz="1400" i="1" dirty="0">
                <a:solidFill>
                  <a:srgbClr val="AEBBD1"/>
                </a:solidFill>
                <a:latin typeface="Calibri" pitchFamily="34" charset="0"/>
                <a:ea typeface="Calibri" pitchFamily="34" charset="-122"/>
                <a:cs typeface="Calibri" pitchFamily="34" charset="-120"/>
              </a:rPr>
              <a:t>YouTube (channel not confirmed - verify before class)</a:t>
            </a:r>
            <a:endParaRPr lang="en-US" sz="1400" dirty="0"/>
          </a:p>
        </p:txBody>
      </p:sp>
      <p:sp>
        <p:nvSpPr>
          <p:cNvPr id="9" name="Text 7">
            <a:hlinkClick r:id="rId1" tooltip=""/>
          </p:cNvPr>
          <p:cNvSpPr txBox="1"/>
          <p:nvPr/>
        </p:nvSpPr>
        <p:spPr>
          <a:xfrm>
            <a:off x="2468880" y="3429000"/>
            <a:ext cx="8714232" cy="365760"/>
          </a:xfrm>
          <a:prstGeom prst="rect">
            <a:avLst/>
          </a:prstGeom>
          <a:noFill/>
          <a:ln/>
        </p:spPr>
        <p:txBody>
          <a:bodyPr wrap="square" lIns="0" tIns="0" rIns="0" bIns="0" rtlCol="0" anchor="ctr"/>
          <a:lstStyle/>
          <a:p>
            <a:pPr indent="0" marL="0">
              <a:buNone/>
            </a:pPr>
            <a:r>
              <a:rPr lang="en-US" sz="1300" u="sng" dirty="0">
                <a:solidFill>
                  <a:srgbClr val="8FB6E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https://www.youtube.com/watch?v=5xav-WV0tWo</a:t>
            </a:r>
            <a:endParaRPr lang="en-US" sz="1300" dirty="0"/>
          </a:p>
        </p:txBody>
      </p:sp>
      <p:sp>
        <p:nvSpPr>
          <p:cNvPr id="10" name="Text 8"/>
          <p:cNvSpPr txBox="1"/>
          <p:nvPr/>
        </p:nvSpPr>
        <p:spPr>
          <a:xfrm>
            <a:off x="2468880" y="3886200"/>
            <a:ext cx="8714232" cy="100584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Real game footage of the Golden State Warriors' 2017-18 ball movement, the same team and season this module's assist-network data is built around, before we compare Houston's and Cleveland's real networks.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Houston's real assist network together, live.</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9</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Houston's Real Playmakers</a:t>
            </a:r>
            <a:endParaRPr lang="en-US" sz="28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468880"/>
        </p:xfrm>
        <a:graphic>
          <a:graphicData uri="http://schemas.openxmlformats.org/drawingml/2006/table">
            <a:tbl>
              <a:tblPr/>
              <a:tblGrid>
                <a:gridCol w="3776472"/>
                <a:gridCol w="1828800"/>
                <a:gridCol w="1828800"/>
                <a:gridCol w="3657600"/>
              </a:tblGrid>
              <a:tr h="4114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Player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AST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ASTPTS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Share of Team's 67 AST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1148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Chris Paul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40.3%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James Harden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26.9%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1148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Eric Gordon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14.9%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Trevor Ariza</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1148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Ryan Anderson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assistnet(subset(PbP, team == "HOU")), 3 real 2017-18 regular-season games vs. Golden State. Team total: 67 real assists.</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Now let's plot Houston's real network and see the shape of it.</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10</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Houston's Real Assist Network</a:t>
            </a:r>
            <a:endParaRPr lang="en-US" sz="2800" dirty="0"/>
          </a:p>
        </p:txBody>
      </p:sp>
      <p:pic>
        <p:nvPicPr>
          <p:cNvPr id="4" name="Image 0" descr="module5_hou_assist_network.png">    </p:cNvPr>
          <p:cNvPicPr>
            <a:picLocks noChangeAspect="1"/>
          </p:cNvPicPr>
          <p:nvPr/>
        </p:nvPicPr>
        <p:blipFill>
          <a:blip r:embed="rId1"/>
          <a:stretch>
            <a:fillRect/>
          </a:stretch>
        </p:blipFill>
        <p:spPr>
          <a:xfrm>
            <a:off x="3408426" y="1737360"/>
            <a:ext cx="5372100" cy="429768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plot(anet_hou), BasketballAnalyzeR::assistnet(). Edge color/weight = number of real assists between two players.</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HOUSTON, DISTRIBUTED</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No Single Player Dominates the Ball</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40%</a:t>
            </a:r>
            <a:endParaRPr lang="en-US" sz="56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of Houston's 67 real assists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came from Chris Paul, the</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team's real assist leader</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Chris Paul led the team with 27 real assists worth 68 real points created.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But: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James Harden (18 assists, 41 points created) and Eric Gordon (10 assists, 26 points created) both contributed heavily too. Houston's playmaking was real and distributed across three genuine ball-handlers.</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assistnet(subset(PbP, team == "HOU")), BasketballAnalyzeR::PbP.BDB.</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Cleveland's real assist network the same way.</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Cleveland's Real Playmakers</a:t>
            </a:r>
            <a:endParaRPr lang="en-US" sz="2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468880"/>
        </p:xfrm>
        <a:graphic>
          <a:graphicData uri="http://schemas.openxmlformats.org/drawingml/2006/table">
            <a:tbl>
              <a:tblPr/>
              <a:tblGrid>
                <a:gridCol w="3776472"/>
                <a:gridCol w="1828800"/>
                <a:gridCol w="1828800"/>
                <a:gridCol w="3657600"/>
              </a:tblGrid>
              <a:tr h="4114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Player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AST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ASTPTS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Share of Team's 38 AST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1148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LeBron James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31.6%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Dwyane Wade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23.7%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1148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JR Smith</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Isaiah Thomas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10.5%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1148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Kevin Love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7.9%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assistnet(subset(PbP, team == "CLE")), 2 real 2017-18 regular-season games vs. Golden State. Team total: 38 real assists.</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plot Cleveland's real network next to Houston's.</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Cleveland's Real Assist Network</a:t>
            </a:r>
            <a:endParaRPr lang="en-US" sz="2800" dirty="0"/>
          </a:p>
        </p:txBody>
      </p:sp>
      <p:pic>
        <p:nvPicPr>
          <p:cNvPr id="4" name="Image 0" descr="module5_cle_assist_network.png">    </p:cNvPr>
          <p:cNvPicPr>
            <a:picLocks noChangeAspect="1"/>
          </p:cNvPicPr>
          <p:nvPr/>
        </p:nvPicPr>
        <p:blipFill>
          <a:blip r:embed="rId1"/>
          <a:stretch>
            <a:fillRect/>
          </a:stretch>
        </p:blipFill>
        <p:spPr>
          <a:xfrm>
            <a:off x="3408426" y="1737360"/>
            <a:ext cx="5372100" cy="429768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plot(anet_cle), BasketballAnalyzeR::assistnet(). Edge color/weight = number of real assists between two players.</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CLEVELAND, HUB AND SPOKE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One Player Runs the Offense</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31.6%</a:t>
            </a:r>
            <a:endParaRPr lang="en-US" sz="56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of Cleveland's 38 real assists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came from LeBron James alone,</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the team's real assist leader</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LeBron James recorded 12 real assists out of Cleveland's 38 total in this sample.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The contrast: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Cleveland's playmaking told the opposite story from Houston's. The ball, and the offense's actual creation, ran through one player far more than any other.</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assistnet(subset(PbP, team == "CLE")), BasketballAnalyzeR::PbP.BDB.</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THE BIG REVEAL</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Distributed Versus Hub-and-Spoke</a:t>
            </a:r>
            <a:endParaRPr lang="en-US" sz="3000" dirty="0"/>
          </a:p>
        </p:txBody>
      </p:sp>
      <p:sp>
        <p:nvSpPr>
          <p:cNvPr id="4" name="Shape 2"/>
          <p:cNvSpPr/>
          <p:nvPr/>
        </p:nvSpPr>
        <p:spPr>
          <a:xfrm>
            <a:off x="548640" y="2103120"/>
            <a:ext cx="5362956" cy="3200400"/>
          </a:xfrm>
          <a:prstGeom prst="roundRect">
            <a:avLst>
              <a:gd name="adj" fmla="val 1714"/>
            </a:avLst>
          </a:prstGeom>
          <a:solidFill>
            <a:srgbClr val="27496D"/>
          </a:solidFill>
          <a:ln/>
        </p:spPr>
      </p:sp>
      <p:sp>
        <p:nvSpPr>
          <p:cNvPr id="5" name="Text 3"/>
          <p:cNvSpPr txBox="1"/>
          <p:nvPr/>
        </p:nvSpPr>
        <p:spPr>
          <a:xfrm>
            <a:off x="822960" y="2331720"/>
            <a:ext cx="4814316"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Houston: Distributed</a:t>
            </a:r>
            <a:endParaRPr lang="en-US" sz="1800" dirty="0"/>
          </a:p>
        </p:txBody>
      </p:sp>
      <p:sp>
        <p:nvSpPr>
          <p:cNvPr id="6" name="Text 4"/>
          <p:cNvSpPr txBox="1"/>
          <p:nvPr/>
        </p:nvSpPr>
        <p:spPr>
          <a:xfrm>
            <a:off x="822960" y="2880360"/>
            <a:ext cx="4814316" cy="2194560"/>
          </a:xfrm>
          <a:prstGeom prst="rect">
            <a:avLst/>
          </a:prstGeom>
          <a:noFill/>
          <a:ln/>
        </p:spPr>
        <p:txBody>
          <a:bodyPr wrap="square" lIns="0" tIns="0" rIns="0" bIns="0" rtlCol="0" anchor="t"/>
          <a:lstStyle/>
          <a:p>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Chris Paul: 27 AST, 68 pts created (40.3%)</a:t>
            </a:r>
            <a:endParaRPr lang="en-US" sz="1400" dirty="0"/>
          </a:p>
          <a:p>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James Harden: 18 AST, 41 pts created (26.9%)</a:t>
            </a:r>
            <a:endParaRPr lang="en-US" sz="1400" dirty="0"/>
          </a:p>
          <a:p>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Eric Gordon: 10 AST, 26 pts created (14.9%)</a:t>
            </a:r>
            <a:endParaRPr lang="en-US" sz="1400" dirty="0"/>
          </a:p>
          <a:p>
            <a:pPr indent="0" marL="0">
              <a:lnSpc>
                <a:spcPct val="140000"/>
              </a:lnSpc>
              <a:buNone/>
            </a:pPr>
            <a:endParaRPr lang="en-US" sz="1400" dirty="0"/>
          </a:p>
          <a:p>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Three real playmakers sharing the load.</a:t>
            </a:r>
            <a:endParaRPr lang="en-US" sz="1400" dirty="0"/>
          </a:p>
        </p:txBody>
      </p:sp>
      <p:sp>
        <p:nvSpPr>
          <p:cNvPr id="7" name="Shape 5"/>
          <p:cNvSpPr/>
          <p:nvPr/>
        </p:nvSpPr>
        <p:spPr>
          <a:xfrm>
            <a:off x="6277356" y="2103120"/>
            <a:ext cx="5362956" cy="3200400"/>
          </a:xfrm>
          <a:prstGeom prst="roundRect">
            <a:avLst>
              <a:gd name="adj" fmla="val 1714"/>
            </a:avLst>
          </a:prstGeom>
          <a:solidFill>
            <a:srgbClr val="E4572E"/>
          </a:solidFill>
          <a:ln/>
        </p:spPr>
      </p:sp>
      <p:sp>
        <p:nvSpPr>
          <p:cNvPr id="8" name="Text 6"/>
          <p:cNvSpPr txBox="1"/>
          <p:nvPr/>
        </p:nvSpPr>
        <p:spPr>
          <a:xfrm>
            <a:off x="6551676" y="2331720"/>
            <a:ext cx="4814316"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Cleveland: Hub and Spoke</a:t>
            </a:r>
            <a:endParaRPr lang="en-US" sz="1800" dirty="0"/>
          </a:p>
        </p:txBody>
      </p:sp>
      <p:sp>
        <p:nvSpPr>
          <p:cNvPr id="9" name="Text 7"/>
          <p:cNvSpPr txBox="1"/>
          <p:nvPr/>
        </p:nvSpPr>
        <p:spPr>
          <a:xfrm>
            <a:off x="6551676" y="2880360"/>
            <a:ext cx="4814316" cy="2194560"/>
          </a:xfrm>
          <a:prstGeom prst="rect">
            <a:avLst/>
          </a:prstGeom>
          <a:noFill/>
          <a:ln/>
        </p:spPr>
        <p:txBody>
          <a:bodyPr wrap="square" lIns="0" tIns="0" rIns="0" bIns="0" rtlCol="0" anchor="t"/>
          <a:lstStyle/>
          <a:p>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LeBron James: 12 AST, 31 pts created (31.6%)</a:t>
            </a:r>
            <a:endParaRPr lang="en-US" sz="1400" dirty="0"/>
          </a:p>
          <a:p>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Dwyane Wade: 9 AST, 23 pts created (23.7%)</a:t>
            </a:r>
            <a:endParaRPr lang="en-US" sz="1400" dirty="0"/>
          </a:p>
          <a:p>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Rest of team: shared remainder</a:t>
            </a:r>
            <a:endParaRPr lang="en-US" sz="1400" dirty="0"/>
          </a:p>
          <a:p>
            <a:pPr indent="0" marL="0">
              <a:lnSpc>
                <a:spcPct val="140000"/>
              </a:lnSpc>
              <a:buNone/>
            </a:pPr>
            <a:endParaRPr lang="en-US" sz="1400" dirty="0"/>
          </a:p>
          <a:p>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One central playmaker, everyone else spoked around him.</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Small Groups: Compare the Two Real Networks</a:t>
            </a:r>
            <a:endParaRPr lang="en-US" sz="2700" dirty="0"/>
          </a:p>
        </p:txBody>
      </p:sp>
      <p:sp>
        <p:nvSpPr>
          <p:cNvPr id="4" name="Shape 2"/>
          <p:cNvSpPr/>
          <p:nvPr/>
        </p:nvSpPr>
        <p:spPr>
          <a:xfrm>
            <a:off x="548640" y="2103120"/>
            <a:ext cx="11091672" cy="2468880"/>
          </a:xfrm>
          <a:prstGeom prst="roundRect">
            <a:avLst>
              <a:gd name="adj" fmla="val 2222"/>
            </a:avLst>
          </a:prstGeom>
          <a:solidFill>
            <a:srgbClr val="EDF1F7"/>
          </a:solidFill>
          <a:ln/>
        </p:spPr>
      </p:sp>
      <p:sp>
        <p:nvSpPr>
          <p:cNvPr id="5" name="Text 3"/>
          <p:cNvSpPr txBox="1"/>
          <p:nvPr/>
        </p:nvSpPr>
        <p:spPr>
          <a:xfrm>
            <a:off x="914400" y="2377440"/>
            <a:ext cx="10360152" cy="1920240"/>
          </a:xfrm>
          <a:prstGeom prst="rect">
            <a:avLst/>
          </a:prstGeom>
          <a:noFill/>
          <a:ln/>
        </p:spPr>
        <p:txBody>
          <a:bodyPr wrap="square" lIns="0" tIns="0" rIns="0" bIns="0" rtlCol="0" anchor="ctr"/>
          <a:lstStyle/>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Get into groups of 3-4.</a:t>
            </a:r>
            <a:endParaRPr lang="en-US" sz="1500" dirty="0"/>
          </a:p>
          <a:p>
            <a:pPr indent="0" marL="0">
              <a:lnSpc>
                <a:spcPct val="140000"/>
              </a:lnSpc>
              <a:buNone/>
            </a:pPr>
            <a:endParaRPr lang="en-US" sz="1500" dirty="0"/>
          </a:p>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1. Using the real assist share numbers, decide together whether Houston's or Cleveland's offense looks more "hub and spoke" versus distributed.</a:t>
            </a:r>
            <a:endParaRPr lang="en-US" sz="1500" dirty="0"/>
          </a:p>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2. Write one sentence per team describing its real playmaking identity.</a:t>
            </a:r>
            <a:endParaRPr lang="en-US" sz="1500" dirty="0"/>
          </a:p>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3. Be ready to report your group's answer to the class.</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 PLAYER PERFORMANCE &amp; GAME ANALYSIS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Why This Matters Beyond One Comparison</a:t>
            </a:r>
            <a:endParaRPr lang="en-US" sz="2700" dirty="0"/>
          </a:p>
        </p:txBody>
      </p:sp>
      <p:sp>
        <p:nvSpPr>
          <p:cNvPr id="4" name="Shape 2"/>
          <p:cNvSpPr/>
          <p:nvPr/>
        </p:nvSpPr>
        <p:spPr>
          <a:xfrm>
            <a:off x="548640" y="1920240"/>
            <a:ext cx="54864" cy="310896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73152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What does a team's real playmaking structure tell you about its risk?</a:t>
            </a:r>
            <a:endParaRPr lang="en-US" sz="1700" dirty="0"/>
          </a:p>
        </p:txBody>
      </p:sp>
      <p:sp>
        <p:nvSpPr>
          <p:cNvPr id="7" name="Text 5"/>
          <p:cNvSpPr txBox="1"/>
          <p:nvPr/>
        </p:nvSpPr>
        <p:spPr>
          <a:xfrm>
            <a:off x="914400" y="3200400"/>
            <a:ext cx="10725912" cy="173736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team whose offense depends this heavily on one player is more exposed if that player is off the floor, injured, or having an off night, while a team that distributes playmaking across several real, capable ball-handlers has more paths to a good possession when any one of them isn't clicking. This is also a real bridge to how teams get built and paid: a roster built around one true offensive hub carries a very different kind of real risk, and a very different real salary allocation problem, than a roster built to distribute playmaking across several players.</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Real Offenses, Two Real Structures</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Built real assist networks for Houston (distributed, three real playmakers) and Cleveland (hub and spoke, centered on LeBron James), using real 2017-18 regular-season games against Golden State.</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We close today by connecting this to real roster construction and salary questions, then preview Module 6.</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PRACTICE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 a Real Network Yourself</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either the Houston or Cleveland network image.</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Find the player with the most, and the thickest, edges pointing away from him.</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In one sentence, describe that player's real role in the offense.</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3. Does your one-sentence description match his real assist share from the table?</a:t>
            </a:r>
            <a:endParaRPr lang="en-US" sz="16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1920240"/>
            <a:ext cx="164592" cy="164592"/>
          </a:xfrm>
          <a:prstGeom prst="rect">
            <a:avLst/>
          </a:prstGeom>
          <a:solidFill>
            <a:srgbClr val="27496D"/>
          </a:solidFill>
          <a:ln/>
        </p:spPr>
      </p:sp>
      <p:sp>
        <p:nvSpPr>
          <p:cNvPr id="5" name="Text 3"/>
          <p:cNvSpPr txBox="1"/>
          <p:nvPr/>
        </p:nvSpPr>
        <p:spPr>
          <a:xfrm>
            <a:off x="914400" y="1783080"/>
            <a:ext cx="10725912" cy="82296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correlation coefficient measures how closely two variables move together, from -1 to 1, and a full matrix lets you scan every pair of stats at once.</a:t>
            </a:r>
            <a:endParaRPr lang="en-US" sz="1400" dirty="0"/>
          </a:p>
        </p:txBody>
      </p:sp>
      <p:sp>
        <p:nvSpPr>
          <p:cNvPr id="6" name="Shape 4"/>
          <p:cNvSpPr/>
          <p:nvPr/>
        </p:nvSpPr>
        <p:spPr>
          <a:xfrm>
            <a:off x="548640" y="2816352"/>
            <a:ext cx="164592" cy="164592"/>
          </a:xfrm>
          <a:prstGeom prst="rect">
            <a:avLst/>
          </a:prstGeom>
          <a:solidFill>
            <a:srgbClr val="E4572E"/>
          </a:solidFill>
          <a:ln/>
        </p:spPr>
      </p:sp>
      <p:sp>
        <p:nvSpPr>
          <p:cNvPr id="7" name="Text 5"/>
          <p:cNvSpPr txBox="1"/>
          <p:nvPr/>
        </p:nvSpPr>
        <p:spPr>
          <a:xfrm>
            <a:off x="914400" y="2679192"/>
            <a:ext cx="10725912" cy="82296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Offensive/defensive rebounding (0.729), assists/turnovers (0.687), and offensive rebounds/blocks (0.630) each cluster together because they share a real underlying skill, not because one causes the other.</a:t>
            </a:r>
            <a:endParaRPr lang="en-US" sz="1400" dirty="0"/>
          </a:p>
        </p:txBody>
      </p:sp>
      <p:sp>
        <p:nvSpPr>
          <p:cNvPr id="8" name="Shape 6"/>
          <p:cNvSpPr/>
          <p:nvPr/>
        </p:nvSpPr>
        <p:spPr>
          <a:xfrm>
            <a:off x="548640" y="3712464"/>
            <a:ext cx="164592" cy="164592"/>
          </a:xfrm>
          <a:prstGeom prst="rect">
            <a:avLst/>
          </a:prstGeom>
          <a:solidFill>
            <a:srgbClr val="27496D"/>
          </a:solidFill>
          <a:ln/>
        </p:spPr>
      </p:sp>
      <p:sp>
        <p:nvSpPr>
          <p:cNvPr id="9" name="Text 7"/>
          <p:cNvSpPr txBox="1"/>
          <p:nvPr/>
        </p:nvSpPr>
        <p:spPr>
          <a:xfrm>
            <a:off x="914400" y="3575304"/>
            <a:ext cx="10725912" cy="82296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An assist network answers a different question than correlation: not which stats move together, but which real players connect to each other.</a:t>
            </a:r>
            <a:endParaRPr lang="en-US" sz="1400" dirty="0"/>
          </a:p>
        </p:txBody>
      </p:sp>
      <p:sp>
        <p:nvSpPr>
          <p:cNvPr id="10" name="Shape 8"/>
          <p:cNvSpPr/>
          <p:nvPr/>
        </p:nvSpPr>
        <p:spPr>
          <a:xfrm>
            <a:off x="548640" y="4608576"/>
            <a:ext cx="164592" cy="164592"/>
          </a:xfrm>
          <a:prstGeom prst="rect">
            <a:avLst/>
          </a:prstGeom>
          <a:solidFill>
            <a:srgbClr val="E4572E"/>
          </a:solidFill>
          <a:ln/>
        </p:spPr>
      </p:sp>
      <p:sp>
        <p:nvSpPr>
          <p:cNvPr id="11" name="Text 9"/>
          <p:cNvSpPr txBox="1"/>
          <p:nvPr/>
        </p:nvSpPr>
        <p:spPr>
          <a:xfrm>
            <a:off x="914400" y="4471416"/>
            <a:ext cx="10725912" cy="82296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Houston's real offense was distributed across three genuine playmakers; Cleveland's ran through one hub, LeBron James, far more heavily.</a:t>
            </a:r>
            <a:endParaRPr lang="en-US" sz="1400" dirty="0"/>
          </a:p>
        </p:txBody>
      </p:sp>
      <p:sp>
        <p:nvSpPr>
          <p:cNvPr id="12" name="Shape 10"/>
          <p:cNvSpPr/>
          <p:nvPr/>
        </p:nvSpPr>
        <p:spPr>
          <a:xfrm>
            <a:off x="548640" y="5504688"/>
            <a:ext cx="164592" cy="164592"/>
          </a:xfrm>
          <a:prstGeom prst="rect">
            <a:avLst/>
          </a:prstGeom>
          <a:solidFill>
            <a:srgbClr val="27496D"/>
          </a:solidFill>
          <a:ln/>
        </p:spPr>
      </p:sp>
      <p:sp>
        <p:nvSpPr>
          <p:cNvPr id="13" name="Text 11"/>
          <p:cNvSpPr txBox="1"/>
          <p:nvPr/>
        </p:nvSpPr>
        <p:spPr>
          <a:xfrm>
            <a:off x="914400" y="5367528"/>
            <a:ext cx="10725912" cy="82296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Every number in this module came from corranalysis() and assistnet() on real, freely available BasketballAnalyzeR data, reproducible by anyone who runs the script.</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Basketball Data Science, Chapter 3, part A (correlation and player networks) if you haven't already, and skim ahead to part B on event density.</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5 (correlation and player networks), the practice questions, and the Module 5 quiz.</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Zuccolotto, P., &amp; Manisera, M. (2020). Basketball Data Science: With Applications in R, Chapter 3, part A ("Discovering Patterns"). Chapman &amp; Hall/CRC.</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Zuccolotto, Manisera &amp; Sandri. BasketballAnalyzeR (R package): corranalysis() and assistnet() functions, with the Pbox and PbP.BDB datasets. CRAN.</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"Temporal passing network in basketball: the effect of time pressure on the dynamics of team organization at micro and meso levels." Psychology of Sport and Exercise (Elsevier), 2025. PubMed ID 40403945; preprint arXiv 2506.04808.</a:t>
            </a:r>
            <a:endParaRPr lang="en-US" sz="1400" dirty="0"/>
          </a:p>
        </p:txBody>
      </p:sp>
      <p:sp>
        <p:nvSpPr>
          <p:cNvPr id="5"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Every real number in this module is reproducible by running Coding_Exercise/module5_correlation_networks.R.</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06</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Event Density and Shooting Under Pressure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2026-09-22T22:25:46Z</dcterms:created>
  <dcterms:modified xsi:type="dcterms:W3CDTF">2026-09-22T22:25:46Z</dcterms:modified>
</cp:coreProperties>
</file>