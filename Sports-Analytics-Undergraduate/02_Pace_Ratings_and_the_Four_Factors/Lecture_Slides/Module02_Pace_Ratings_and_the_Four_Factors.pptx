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Basketball Data Science</a:t>
            </a:r>
            <a:endParaRPr lang="en-US" sz="44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02 · Pace, Ratings, and the Four Factors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2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2A:</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1 made one point over and over: a descriptive number, on its own, is not an evaluation. Points per game correlated with wins at about 0.70 across the 2017-18 season, but plenty was still missing from that one number -- pace, defense, and schedule, to name three. Today we build the tools that actually account for those gaps.</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textbook, same real 2017-18 data, same BasketballAnalyzeR package.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Pace and ratings: putting every team's raw stats on the same clock (~50 min)</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Dean Oliver's Four Factors, computed on real data in small groups (~50 min)</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Net rating, the whole-league picture, and one team case study (~50 min)</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2, the Module 2 quiz, and the practice questions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By the End of Today, You Will Be Able To</a:t>
            </a:r>
            <a:endParaRPr lang="en-US" sz="30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pace measures and why you need both a team's box score and its opponents' to compute it.</a:t>
            </a:r>
            <a:endParaRPr lang="en-US" sz="1600" dirty="0"/>
          </a:p>
        </p:txBody>
      </p:sp>
      <p:sp>
        <p:nvSpPr>
          <p:cNvPr id="7" name="Shape 5"/>
          <p:cNvSpPr/>
          <p:nvPr/>
        </p:nvSpPr>
        <p:spPr>
          <a:xfrm>
            <a:off x="548640" y="2761488"/>
            <a:ext cx="411480" cy="411480"/>
          </a:xfrm>
          <a:prstGeom prst="ellipse">
            <a:avLst/>
          </a:prstGeom>
          <a:solidFill>
            <a:srgbClr val="E4572E"/>
          </a:solidFill>
          <a:ln/>
        </p:spPr>
      </p:sp>
      <p:sp>
        <p:nvSpPr>
          <p:cNvPr id="8" name="Text 6"/>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1576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offensive and defensive rating from real team data and explain why they beat raw scoring averages.</a:t>
            </a:r>
            <a:endParaRPr lang="en-US" sz="1600" dirty="0"/>
          </a:p>
        </p:txBody>
      </p:sp>
      <p:sp>
        <p:nvSpPr>
          <p:cNvPr id="10" name="Shape 8"/>
          <p:cNvSpPr/>
          <p:nvPr/>
        </p:nvSpPr>
        <p:spPr>
          <a:xfrm>
            <a:off x="548640" y="3557016"/>
            <a:ext cx="411480" cy="411480"/>
          </a:xfrm>
          <a:prstGeom prst="ellipse">
            <a:avLst/>
          </a:prstGeom>
          <a:solidFill>
            <a:srgbClr val="27496D"/>
          </a:solidFill>
          <a:ln/>
        </p:spPr>
      </p:sp>
      <p:sp>
        <p:nvSpPr>
          <p:cNvPr id="11" name="Text 9"/>
          <p:cNvSpPr txBox="1"/>
          <p:nvPr/>
        </p:nvSpPr>
        <p:spPr>
          <a:xfrm>
            <a:off x="548640" y="35570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1129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Name Dean Oliver's Four Factors, define each one, and state his original relative weighting.</a:t>
            </a:r>
            <a:endParaRPr lang="en-US" sz="1600" dirty="0"/>
          </a:p>
        </p:txBody>
      </p:sp>
      <p:sp>
        <p:nvSpPr>
          <p:cNvPr id="13" name="Shape 11"/>
          <p:cNvSpPr/>
          <p:nvPr/>
        </p:nvSpPr>
        <p:spPr>
          <a:xfrm>
            <a:off x="548640" y="4352544"/>
            <a:ext cx="411480" cy="411480"/>
          </a:xfrm>
          <a:prstGeom prst="ellipse">
            <a:avLst/>
          </a:prstGeom>
          <a:solidFill>
            <a:srgbClr val="E4572E"/>
          </a:solidFill>
          <a:ln/>
        </p:spPr>
      </p:sp>
      <p:sp>
        <p:nvSpPr>
          <p:cNvPr id="14" name="Text 12"/>
          <p:cNvSpPr txBox="1"/>
          <p:nvPr/>
        </p:nvSpPr>
        <p:spPr>
          <a:xfrm>
            <a:off x="548640" y="4352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06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all four factors, offense and defense, for every NBA team using BasketballAnalyzeR's fourfactors() function.</a:t>
            </a:r>
            <a:endParaRPr lang="en-US" sz="1600" dirty="0"/>
          </a:p>
        </p:txBody>
      </p:sp>
      <p:sp>
        <p:nvSpPr>
          <p:cNvPr id="16" name="Shape 14"/>
          <p:cNvSpPr/>
          <p:nvPr/>
        </p:nvSpPr>
        <p:spPr>
          <a:xfrm>
            <a:off x="548640" y="5148072"/>
            <a:ext cx="411480" cy="411480"/>
          </a:xfrm>
          <a:prstGeom prst="ellipse">
            <a:avLst/>
          </a:prstGeom>
          <a:solidFill>
            <a:srgbClr val="27496D"/>
          </a:solidFill>
          <a:ln/>
        </p:spPr>
      </p:sp>
      <p:sp>
        <p:nvSpPr>
          <p:cNvPr id="17" name="Text 15"/>
          <p:cNvSpPr txBox="1"/>
          <p:nvPr/>
        </p:nvSpPr>
        <p:spPr>
          <a:xfrm>
            <a:off x="548640" y="51480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0235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using a real correlation you compute yourself, why net rating predicts wins better than any single factor.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Same Points, Different Number of Chances</a:t>
            </a:r>
            <a:endParaRPr lang="en-US" sz="2800" dirty="0"/>
          </a:p>
        </p:txBody>
      </p:sp>
      <p:sp>
        <p:nvSpPr>
          <p:cNvPr id="4" name="Shape 2"/>
          <p:cNvSpPr/>
          <p:nvPr/>
        </p:nvSpPr>
        <p:spPr>
          <a:xfrm>
            <a:off x="548640" y="2103120"/>
            <a:ext cx="11091672" cy="1463040"/>
          </a:xfrm>
          <a:prstGeom prst="roundRect">
            <a:avLst>
              <a:gd name="adj" fmla="val 3750"/>
            </a:avLst>
          </a:prstGeom>
          <a:solidFill>
            <a:srgbClr val="EDF1F7"/>
          </a:solidFill>
          <a:ln/>
        </p:spPr>
      </p:sp>
      <p:sp>
        <p:nvSpPr>
          <p:cNvPr id="5" name="Text 3"/>
          <p:cNvSpPr txBox="1"/>
          <p:nvPr/>
        </p:nvSpPr>
        <p:spPr>
          <a:xfrm>
            <a:off x="914400" y="2377440"/>
            <a:ext cx="10360152" cy="914400"/>
          </a:xfrm>
          <a:prstGeom prst="rect">
            <a:avLst/>
          </a:prstGeom>
          <a:noFill/>
          <a:ln/>
        </p:spPr>
        <p:txBody>
          <a:bodyPr wrap="square" lIns="0" tIns="0" rIns="0" bIns="0" rtlCol="0" anchor="ctr"/>
          <a:lstStyle/>
          <a:p>
            <a:pPr indent="0" marL="0">
              <a:lnSpc>
                <a:spcPct val="125000"/>
              </a:lnSpc>
              <a:buNone/>
            </a:pPr>
            <a:r>
              <a:rPr lang="en-US" sz="1700" dirty="0">
                <a:solidFill>
                  <a:srgbClr val="16213E"/>
                </a:solidFill>
                <a:latin typeface="Calibri" pitchFamily="34" charset="0"/>
                <a:ea typeface="Calibri" pitchFamily="34" charset="-122"/>
                <a:cs typeface="Calibri" pitchFamily="34" charset="-120"/>
              </a:rPr>
              <a:t>A team that scores 110 points a game by playing fast is not automatically a better offense than a team that scores 105 a game slowly. Before comparing any two teams on offense or defense, you first have to know how many possessions each one actually used.</a:t>
            </a:r>
            <a:endParaRPr lang="en-US" sz="17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2000" b="1" dirty="0">
                <a:solidFill>
                  <a:srgbClr val="E4572E"/>
                </a:solidFill>
                <a:latin typeface="Calibri" pitchFamily="34" charset="0"/>
                <a:ea typeface="Calibri" pitchFamily="34" charset="-122"/>
                <a:cs typeface="Calibri" pitchFamily="34" charset="-120"/>
              </a:rPr>
              <a:t>That's what pace measures.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Pace: Possessions Per 48 Minutes</a:t>
            </a:r>
            <a:endParaRPr lang="en-US" sz="2800" dirty="0"/>
          </a:p>
        </p:txBody>
      </p:sp>
      <p:sp>
        <p:nvSpPr>
          <p:cNvPr id="4" name="Shape 2"/>
          <p:cNvSpPr/>
          <p:nvPr/>
        </p:nvSpPr>
        <p:spPr>
          <a:xfrm>
            <a:off x="548640" y="2103120"/>
            <a:ext cx="11091672" cy="1554480"/>
          </a:xfrm>
          <a:prstGeom prst="roundRect">
            <a:avLst>
              <a:gd name="adj" fmla="val 3529"/>
            </a:avLst>
          </a:prstGeom>
          <a:solidFill>
            <a:srgbClr val="27496D"/>
          </a:solidFill>
          <a:ln/>
        </p:spPr>
      </p:sp>
      <p:sp>
        <p:nvSpPr>
          <p:cNvPr id="5" name="Text 3"/>
          <p:cNvSpPr txBox="1"/>
          <p:nvPr/>
        </p:nvSpPr>
        <p:spPr>
          <a:xfrm>
            <a:off x="914400" y="2331720"/>
            <a:ext cx="10360152"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A possession ends with a make, a defensive rebound, a turnover, or the end of a free-throw trip. Because a possession is only fully defined by what BOTH teams did, computing pace correctly requires a team's own box score AND its opponents' box score together.</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This is exactly why BasketballAnalyzeR's fourfactors() function takes two arguments: TEAM and OPP.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Computing Pace and the Four Factors</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library(BasketballAnalyzeR)</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data(Tbox)</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data(Obox)</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FF &lt;- fourfactors(Tbox, Obox)</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FF$Team &lt;- Tbox$Team</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FF$W &lt;- Tbox$W</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FF$Pace48 &lt;- round(FF$PACE.Off * 48, 1)</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FF[order(-FF$Pace48), c("Team","Pace48","W")][1:5, ]</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You should get the same table on the next slide.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Five Fastest Teams, 2017-18</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194560"/>
        </p:xfrm>
        <a:graphic>
          <a:graphicData uri="http://schemas.openxmlformats.org/drawingml/2006/table">
            <a:tbl>
              <a:tblPr/>
              <a:tblGrid>
                <a:gridCol w="5605272"/>
                <a:gridCol w="2743200"/>
                <a:gridCol w="274320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Pace (per 48 min)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Wins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Phoenix Suns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Los Angeles Lakers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102.6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New Orleans Pelicans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Philadelphia 76ers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Brooklyn Nets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101.3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League average pace was 99.6 possessions per 48 minutes, ranging from 97.1 to 102.9 across all 30 teams. Notice the fastest teams span the entire standings, from 21 wins to 52 wins.</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fourfactors(Tbox, Obox), BasketballAnalyzeR (Zuccolotto &amp; Manisera, 2020).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Ratings: Points Per 100 Possessions</a:t>
            </a:r>
            <a:endParaRPr lang="en-US" sz="2800" dirty="0"/>
          </a:p>
        </p:txBody>
      </p:sp>
      <p:sp>
        <p:nvSpPr>
          <p:cNvPr id="4" name="Shape 2"/>
          <p:cNvSpPr/>
          <p:nvPr/>
        </p:nvSpPr>
        <p:spPr>
          <a:xfrm>
            <a:off x="548640" y="2103120"/>
            <a:ext cx="11091672" cy="1463040"/>
          </a:xfrm>
          <a:prstGeom prst="roundRect">
            <a:avLst>
              <a:gd name="adj" fmla="val 3750"/>
            </a:avLst>
          </a:prstGeom>
          <a:solidFill>
            <a:srgbClr val="EDF1F7"/>
          </a:solidFill>
          <a:ln/>
        </p:spPr>
      </p:sp>
      <p:sp>
        <p:nvSpPr>
          <p:cNvPr id="5" name="Text 3"/>
          <p:cNvSpPr txBox="1"/>
          <p:nvPr/>
        </p:nvSpPr>
        <p:spPr>
          <a:xfrm>
            <a:off x="914400" y="2377440"/>
            <a:ext cx="10360152" cy="9144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Once you know how many possessions a team used, you can ask a fairer question than "how many points did they score": how many points did they score per possession? Offensive rating (ORtg) and defensive rating (DRtg) scale this to points per 100 possessions.</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Same idea as pace: this puts every team's offense and defense on the same footing, regardless of how fast they play.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Best Offenses and Best Defenses, 2017-18</a:t>
            </a:r>
            <a:endParaRPr lang="en-US" sz="2600" dirty="0"/>
          </a:p>
        </p:txBody>
      </p:sp>
      <p:sp>
        <p:nvSpPr>
          <p:cNvPr id="4" name="Text 2"/>
          <p:cNvSpPr txBox="1"/>
          <p:nvPr/>
        </p:nvSpPr>
        <p:spPr>
          <a:xfrm>
            <a:off x="548640" y="1874520"/>
            <a:ext cx="5362956" cy="32004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Top 5 Offensive Rating</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5362956" cy="2103120"/>
        </p:xfrm>
        <a:graphic>
          <a:graphicData uri="http://schemas.openxmlformats.org/drawingml/2006/table">
            <a:tbl>
              <a:tblPr/>
              <a:tblGrid>
                <a:gridCol w="3986784"/>
                <a:gridCol w="1554480"/>
              </a:tblGrid>
              <a:tr h="3505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Team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ORtg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Golden State Warriors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112.3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Houston Rockets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112.2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Toronto Raptors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111.0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Minnesota Timberwolves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110.8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Cleveland Cavaliers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110.6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3"/>
          <p:cNvSpPr txBox="1"/>
          <p:nvPr/>
        </p:nvSpPr>
        <p:spPr>
          <a:xfrm>
            <a:off x="6277356" y="1874520"/>
            <a:ext cx="5362956" cy="32004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Top 5 Defensive Rating (lowest)</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77356" y="2240280"/>
          <a:ext cx="5362956" cy="2103120"/>
        </p:xfrm>
        <a:graphic>
          <a:graphicData uri="http://schemas.openxmlformats.org/drawingml/2006/table">
            <a:tbl>
              <a:tblPr/>
              <a:tblGrid>
                <a:gridCol w="3986784"/>
                <a:gridCol w="1554480"/>
              </a:tblGrid>
              <a:tr h="3505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Team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DRtg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Boston Celtics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101.5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Utah Jazz</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101.6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Philadelphia 76ers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102.0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San Antonio Spurs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102.5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5052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Toronto Raptors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103.4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Text 4"/>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The Toronto Raptors show up on both lists -- exactly what you would expect from a 59-win team.</a:t>
            </a:r>
            <a:endParaRPr lang="en-US" sz="1400" dirty="0"/>
          </a:p>
        </p:txBody>
      </p:sp>
      <p:sp>
        <p:nvSpPr>
          <p:cNvPr id="9"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fourfactors(Tbox, Obox), BasketballAnalyzeR (Zuccolotto &amp; Manisera, 2020).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CORE IDEA OF THIS MODULE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Net Rating Beats Any Single Shooting Stat</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0.96</a:t>
            </a:r>
            <a:endParaRPr lang="en-US" sz="60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correlation between net rating</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(ORtg minus DRtg) and wins,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across all 30 teams</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Compare that to: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effective field goal percentage alone correlates with wins at only 0.77.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the gap: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net rating combines both ends of the floor and reflects everything that contributes to scoring and preventing points, not just one dimension of performance.</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Computed with cor() in R on the real fourfactors(Tbox, Obox) output.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(10 MIN)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Does Playing Fast Mean Winning More?</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pace table from Step 2. The five fastest teams ranged from 21 wins to 52 wins.</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Based on that alone, does pace predict winning?</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What would you need to know about a team, beyond its pace, before saying whether playing fast is working for them?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Pace and Ratings,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Pace puts every team's raw stats on the same clock. Ratings put scoring and defense on a per-possession basis. Net rating already beats any single shooting stat at predicting wins.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breaks net rating apart into Dean Oliver's Four Factors, and you'll compute them yourselves in small groups.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Dean Oliver's Four Factors.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Dean Oliver's Four Factors</a:t>
            </a:r>
            <a:endParaRPr lang="en-US" sz="3200" dirty="0"/>
          </a:p>
        </p:txBody>
      </p:sp>
      <p:sp>
        <p:nvSpPr>
          <p:cNvPr id="4" name="Shape 2"/>
          <p:cNvSpPr/>
          <p:nvPr/>
        </p:nvSpPr>
        <p:spPr>
          <a:xfrm>
            <a:off x="548640" y="2103120"/>
            <a:ext cx="5362956" cy="3291840"/>
          </a:xfrm>
          <a:prstGeom prst="roundRect">
            <a:avLst>
              <a:gd name="adj" fmla="val 1667"/>
            </a:avLst>
          </a:prstGeom>
          <a:solidFill>
            <a:srgbClr val="27496D"/>
          </a:solidFill>
          <a:ln/>
        </p:spPr>
      </p:sp>
      <p:sp>
        <p:nvSpPr>
          <p:cNvPr id="5" name="Text 3"/>
          <p:cNvSpPr txBox="1"/>
          <p:nvPr/>
        </p:nvSpPr>
        <p:spPr>
          <a:xfrm>
            <a:off x="868680" y="2377440"/>
            <a:ext cx="4722876"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Basketball on Paper (2004)</a:t>
            </a:r>
            <a:endParaRPr lang="en-US" sz="1800" dirty="0"/>
          </a:p>
        </p:txBody>
      </p:sp>
      <p:sp>
        <p:nvSpPr>
          <p:cNvPr id="6" name="Text 4"/>
          <p:cNvSpPr txBox="1"/>
          <p:nvPr/>
        </p:nvSpPr>
        <p:spPr>
          <a:xfrm>
            <a:off x="868680" y="3200400"/>
            <a:ext cx="4722876" cy="210312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Dean Oliver, the NBA's first full-time analyst (hired by Seattle in 2004), broke offensive performance into four measurable factors and proposed a rough weighting for how much each matters.</a:t>
            </a:r>
            <a:endParaRPr lang="en-US" sz="1400" dirty="0"/>
          </a:p>
        </p:txBody>
      </p:sp>
      <p:sp>
        <p:nvSpPr>
          <p:cNvPr id="7" name="Shape 5"/>
          <p:cNvSpPr/>
          <p:nvPr/>
        </p:nvSpPr>
        <p:spPr>
          <a:xfrm>
            <a:off x="6277356" y="2103120"/>
            <a:ext cx="5362956" cy="3291840"/>
          </a:xfrm>
          <a:prstGeom prst="roundRect">
            <a:avLst>
              <a:gd name="adj" fmla="val 1667"/>
            </a:avLst>
          </a:prstGeom>
          <a:solidFill>
            <a:srgbClr val="E4572E"/>
          </a:solidFill>
          <a:ln/>
        </p:spPr>
      </p:sp>
      <p:sp>
        <p:nvSpPr>
          <p:cNvPr id="8" name="Text 6"/>
          <p:cNvSpPr txBox="1"/>
          <p:nvPr/>
        </p:nvSpPr>
        <p:spPr>
          <a:xfrm>
            <a:off x="6597396" y="2377440"/>
            <a:ext cx="4722876"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Oliver's Weights</a:t>
            </a:r>
            <a:endParaRPr lang="en-US" sz="1800" dirty="0"/>
          </a:p>
        </p:txBody>
      </p:sp>
      <p:sp>
        <p:nvSpPr>
          <p:cNvPr id="9" name="Text 7"/>
          <p:cNvSpPr txBox="1"/>
          <p:nvPr/>
        </p:nvSpPr>
        <p:spPr>
          <a:xfrm>
            <a:off x="6597396" y="3200400"/>
            <a:ext cx="4722876" cy="210312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Shooting: 40%</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Turnovers: 25%</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Rebounding: 20%</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Free Throw Rate: 15%</a:t>
            </a:r>
            <a:endParaRPr lang="en-US" sz="1400" dirty="0"/>
          </a:p>
          <a:p>
            <a:pPr indent="0" marL="0">
              <a:lnSpc>
                <a:spcPct val="130000"/>
              </a:lnSpc>
              <a:buNone/>
            </a:pP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The same four factors apply to defense, using what a team allows instead of what it does.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The Four Factors, Defined</a:t>
            </a:r>
            <a:endParaRPr lang="en-US" sz="3000" dirty="0"/>
          </a:p>
        </p:txBody>
      </p:sp>
      <p:sp>
        <p:nvSpPr>
          <p:cNvPr id="4" name="Shape 2"/>
          <p:cNvSpPr/>
          <p:nvPr/>
        </p:nvSpPr>
        <p:spPr>
          <a:xfrm>
            <a:off x="548640" y="1965960"/>
            <a:ext cx="11091672" cy="914400"/>
          </a:xfrm>
          <a:prstGeom prst="roundRect">
            <a:avLst>
              <a:gd name="adj" fmla="val 6000"/>
            </a:avLst>
          </a:prstGeom>
          <a:solidFill>
            <a:srgbClr val="EDF1F7"/>
          </a:solidFill>
          <a:ln/>
        </p:spPr>
      </p:sp>
      <p:sp>
        <p:nvSpPr>
          <p:cNvPr id="5" name="Text 3"/>
          <p:cNvSpPr txBox="1"/>
          <p:nvPr/>
        </p:nvSpPr>
        <p:spPr>
          <a:xfrm>
            <a:off x="822960" y="196596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eFG%</a:t>
            </a:r>
            <a:endParaRPr lang="en-US" sz="1500" dirty="0"/>
          </a:p>
        </p:txBody>
      </p:sp>
      <p:sp>
        <p:nvSpPr>
          <p:cNvPr id="6" name="Text 4"/>
          <p:cNvSpPr txBox="1"/>
          <p:nvPr/>
        </p:nvSpPr>
        <p:spPr>
          <a:xfrm>
            <a:off x="3383280" y="196596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Effective field goal %. Shooting efficiency, adjusted so a three-pointer counts for more than a two-pointer.</a:t>
            </a:r>
            <a:endParaRPr lang="en-US" sz="1400" dirty="0"/>
          </a:p>
        </p:txBody>
      </p:sp>
      <p:sp>
        <p:nvSpPr>
          <p:cNvPr id="7" name="Shape 5"/>
          <p:cNvSpPr/>
          <p:nvPr/>
        </p:nvSpPr>
        <p:spPr>
          <a:xfrm>
            <a:off x="548640" y="3017520"/>
            <a:ext cx="11091672" cy="914400"/>
          </a:xfrm>
          <a:prstGeom prst="roundRect">
            <a:avLst>
              <a:gd name="adj" fmla="val 6000"/>
            </a:avLst>
          </a:prstGeom>
          <a:solidFill>
            <a:srgbClr val="EDF1F7"/>
          </a:solidFill>
          <a:ln/>
        </p:spPr>
      </p:sp>
      <p:sp>
        <p:nvSpPr>
          <p:cNvPr id="8" name="Text 6"/>
          <p:cNvSpPr txBox="1"/>
          <p:nvPr/>
        </p:nvSpPr>
        <p:spPr>
          <a:xfrm>
            <a:off x="822960" y="301752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TOV rate</a:t>
            </a:r>
            <a:endParaRPr lang="en-US" sz="1500" dirty="0"/>
          </a:p>
        </p:txBody>
      </p:sp>
      <p:sp>
        <p:nvSpPr>
          <p:cNvPr id="9" name="Text 7"/>
          <p:cNvSpPr txBox="1"/>
          <p:nvPr/>
        </p:nvSpPr>
        <p:spPr>
          <a:xfrm>
            <a:off x="3383280" y="301752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Turnover rate. Turnovers as a share of possessions used -- possessions given away for free.</a:t>
            </a:r>
            <a:endParaRPr lang="en-US" sz="1400" dirty="0"/>
          </a:p>
        </p:txBody>
      </p:sp>
      <p:sp>
        <p:nvSpPr>
          <p:cNvPr id="10" name="Shape 8"/>
          <p:cNvSpPr/>
          <p:nvPr/>
        </p:nvSpPr>
        <p:spPr>
          <a:xfrm>
            <a:off x="548640" y="4069080"/>
            <a:ext cx="11091672" cy="914400"/>
          </a:xfrm>
          <a:prstGeom prst="roundRect">
            <a:avLst>
              <a:gd name="adj" fmla="val 6000"/>
            </a:avLst>
          </a:prstGeom>
          <a:solidFill>
            <a:srgbClr val="EDF1F7"/>
          </a:solidFill>
          <a:ln/>
        </p:spPr>
      </p:sp>
      <p:sp>
        <p:nvSpPr>
          <p:cNvPr id="11" name="Text 9"/>
          <p:cNvSpPr txBox="1"/>
          <p:nvPr/>
        </p:nvSpPr>
        <p:spPr>
          <a:xfrm>
            <a:off x="822960" y="406908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ORB / DRB rate</a:t>
            </a:r>
            <a:endParaRPr lang="en-US" sz="1500" dirty="0"/>
          </a:p>
        </p:txBody>
      </p:sp>
      <p:sp>
        <p:nvSpPr>
          <p:cNvPr id="12" name="Text 10"/>
          <p:cNvSpPr txBox="1"/>
          <p:nvPr/>
        </p:nvSpPr>
        <p:spPr>
          <a:xfrm>
            <a:off x="3383280" y="406908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Rebound rate. The share of available rebounds a team actually grabs, on offense or defense.</a:t>
            </a:r>
            <a:endParaRPr lang="en-US" sz="1400" dirty="0"/>
          </a:p>
        </p:txBody>
      </p:sp>
      <p:sp>
        <p:nvSpPr>
          <p:cNvPr id="13" name="Shape 11"/>
          <p:cNvSpPr/>
          <p:nvPr/>
        </p:nvSpPr>
        <p:spPr>
          <a:xfrm>
            <a:off x="548640" y="5120640"/>
            <a:ext cx="11091672" cy="914400"/>
          </a:xfrm>
          <a:prstGeom prst="roundRect">
            <a:avLst>
              <a:gd name="adj" fmla="val 6000"/>
            </a:avLst>
          </a:prstGeom>
          <a:solidFill>
            <a:srgbClr val="EDF1F7"/>
          </a:solidFill>
          <a:ln/>
        </p:spPr>
      </p:sp>
      <p:sp>
        <p:nvSpPr>
          <p:cNvPr id="14" name="Text 12"/>
          <p:cNvSpPr txBox="1"/>
          <p:nvPr/>
        </p:nvSpPr>
        <p:spPr>
          <a:xfrm>
            <a:off x="822960" y="512064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FT rate</a:t>
            </a:r>
            <a:endParaRPr lang="en-US" sz="1500" dirty="0"/>
          </a:p>
        </p:txBody>
      </p:sp>
      <p:sp>
        <p:nvSpPr>
          <p:cNvPr id="15" name="Text 13"/>
          <p:cNvSpPr txBox="1"/>
          <p:nvPr/>
        </p:nvSpPr>
        <p:spPr>
          <a:xfrm>
            <a:off x="3383280" y="512064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Free throw rate. How often a team gets to the line relative to its field goal attempts.</a:t>
            </a:r>
            <a:endParaRPr lang="en-US" sz="1400" dirty="0"/>
          </a:p>
        </p:txBody>
      </p:sp>
      <p:sp>
        <p:nvSpPr>
          <p:cNvPr id="16" name="Text 1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fourfactors(Tbox, Obox) returns all eight of these (four offensive, four defensive) in one call.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Which Factor Matters Most, In This Data?</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c(</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eFG     = cor(FF$F1.Off, FF$W),</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TOVrate = cor(FF$F2.Off, FF$W),</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ORBrate = cor(FF$F3.Off, FF$W),</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FTrate  = cor(FF$F4.Off, FF$W)</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a:t>
            </a:r>
            <a:endParaRPr lang="en-US" sz="16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in your small group for the offensive factors, then again with F1.Def through F4.Def for the defensive factors.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The Four Offensive Factors, Ranked by Wins Correlation</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011680"/>
        </p:xfrm>
        <a:graphic>
          <a:graphicData uri="http://schemas.openxmlformats.org/drawingml/2006/table">
            <a:tbl>
              <a:tblPr/>
              <a:tblGrid>
                <a:gridCol w="7434072"/>
                <a:gridCol w="3657600"/>
              </a:tblGrid>
              <a:tr h="402336">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Factor</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Correlation with Wins</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02336">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Effective field goal % (eFG%)</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0.769</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Free throw rate</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0.397</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02336">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Offensive rebound rate</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0.251</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Turnover rate</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-0.143</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38912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Shooting efficiency comes out on top, matching Oliver's 40% weight. But turnover rate -- weighted second-highest by Oliver at 25% -- barely correlates with wins at all in this specific season.</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fourfactors(Tbox, Obox), 2017-18 NBA season, BasketballAnalyzeR.</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NUMBER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A Framework's Weights Don't Have to Match Reality</a:t>
            </a:r>
            <a:endParaRPr lang="en-US" sz="24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-0.14</a:t>
            </a:r>
            <a:endParaRPr lang="en-US" sz="56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correlation between turnover</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rate and wins, this season --</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weaker than the 25% weight</a:t>
            </a:r>
            <a:endParaRPr lang="en-US" sz="1200" dirty="0"/>
          </a:p>
          <a:p>
            <a:pPr algn="ctr" indent="0" marL="0">
              <a:lnSpc>
                <a:spcPct val="125000"/>
              </a:lnSpc>
              <a:buNone/>
            </a:pPr>
            <a:r>
              <a:rPr lang="en-US" sz="1200" dirty="0">
                <a:solidFill>
                  <a:srgbClr val="FFFFFF"/>
                </a:solidFill>
                <a:latin typeface="Calibri" pitchFamily="34" charset="0"/>
                <a:ea typeface="Calibri" pitchFamily="34" charset="-122"/>
                <a:cs typeface="Calibri" pitchFamily="34" charset="-120"/>
              </a:rPr>
              <a:t>Oliver assigned it</a:t>
            </a:r>
            <a:endParaRPr lang="en-US" sz="12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This is not an error.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Oliver's weights came from a different era of data. A framework proposed once does not automatically hold in every season or league.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habit to build: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check a rule of thumb against the data in front of you, every time, rather than repeating it from memory.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(20 MIN · SMALL GROUPS)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Give Two Teams a Statistical Identity</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In groups of 3-4, your instructor will assign your group two teams from FF$Team.</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Pull each team's full row of offensive and defensive factors.</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Write one sentence per team describing its identity as a team, based only on the numbers.</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3. Be ready to report your two teams and their win totals to the class.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The Four Factors,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Oliver's Four Factors and his original weighting. Computed and ranked all four offensive factors by their real correlation with wins, and found one surprise along the way.</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puts pace, ratings, and the Four Factors together in one team's full profile, and looks at the whole league at once.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one team, all the way through.</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CASE STUDY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One Team, All the Way Through: Houston Rockets</a:t>
            </a:r>
            <a:endParaRPr lang="en-US" sz="2600" dirty="0"/>
          </a:p>
        </p:txBody>
      </p:sp>
      <p:sp>
        <p:nvSpPr>
          <p:cNvPr id="4" name="Text 2"/>
          <p:cNvSpPr txBox="1"/>
          <p:nvPr/>
        </p:nvSpPr>
        <p:spPr>
          <a:xfrm>
            <a:off x="548640" y="2148840"/>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Wins</a:t>
            </a:r>
            <a:endParaRPr lang="en-US" sz="1400" dirty="0"/>
          </a:p>
        </p:txBody>
      </p:sp>
      <p:sp>
        <p:nvSpPr>
          <p:cNvPr id="5" name="Text 3"/>
          <p:cNvSpPr txBox="1"/>
          <p:nvPr/>
        </p:nvSpPr>
        <p:spPr>
          <a:xfrm>
            <a:off x="3657600" y="214884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65 (most in the league)</a:t>
            </a:r>
            <a:endParaRPr lang="en-US" sz="1500" dirty="0"/>
          </a:p>
        </p:txBody>
      </p:sp>
      <p:sp>
        <p:nvSpPr>
          <p:cNvPr id="6" name="Text 4"/>
          <p:cNvSpPr txBox="1"/>
          <p:nvPr/>
        </p:nvSpPr>
        <p:spPr>
          <a:xfrm>
            <a:off x="548640" y="2807208"/>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Pace</a:t>
            </a:r>
            <a:endParaRPr lang="en-US" sz="1400" dirty="0"/>
          </a:p>
        </p:txBody>
      </p:sp>
      <p:sp>
        <p:nvSpPr>
          <p:cNvPr id="7" name="Text 5"/>
          <p:cNvSpPr txBox="1"/>
          <p:nvPr/>
        </p:nvSpPr>
        <p:spPr>
          <a:xfrm>
            <a:off x="3657600" y="2807208"/>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99.7 possessions per 48 min (about league average)</a:t>
            </a:r>
            <a:endParaRPr lang="en-US" sz="1500" dirty="0"/>
          </a:p>
        </p:txBody>
      </p:sp>
      <p:sp>
        <p:nvSpPr>
          <p:cNvPr id="8" name="Text 6"/>
          <p:cNvSpPr txBox="1"/>
          <p:nvPr/>
        </p:nvSpPr>
        <p:spPr>
          <a:xfrm>
            <a:off x="548640" y="3465576"/>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Offensive Rating</a:t>
            </a:r>
            <a:endParaRPr lang="en-US" sz="1400" dirty="0"/>
          </a:p>
        </p:txBody>
      </p:sp>
      <p:sp>
        <p:nvSpPr>
          <p:cNvPr id="9" name="Text 7"/>
          <p:cNvSpPr txBox="1"/>
          <p:nvPr/>
        </p:nvSpPr>
        <p:spPr>
          <a:xfrm>
            <a:off x="3657600" y="3465576"/>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112.2 (2nd in the league)</a:t>
            </a:r>
            <a:endParaRPr lang="en-US" sz="1500" dirty="0"/>
          </a:p>
        </p:txBody>
      </p:sp>
      <p:sp>
        <p:nvSpPr>
          <p:cNvPr id="10" name="Text 8"/>
          <p:cNvSpPr txBox="1"/>
          <p:nvPr/>
        </p:nvSpPr>
        <p:spPr>
          <a:xfrm>
            <a:off x="548640" y="4123944"/>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Defensive Rating</a:t>
            </a:r>
            <a:endParaRPr lang="en-US" sz="1400" dirty="0"/>
          </a:p>
        </p:txBody>
      </p:sp>
      <p:sp>
        <p:nvSpPr>
          <p:cNvPr id="11" name="Text 9"/>
          <p:cNvSpPr txBox="1"/>
          <p:nvPr/>
        </p:nvSpPr>
        <p:spPr>
          <a:xfrm>
            <a:off x="3657600" y="4123944"/>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103.8 (middle of the pack)</a:t>
            </a:r>
            <a:endParaRPr lang="en-US" sz="1500" dirty="0"/>
          </a:p>
        </p:txBody>
      </p:sp>
      <p:sp>
        <p:nvSpPr>
          <p:cNvPr id="12" name="Text 10"/>
          <p:cNvSpPr txBox="1"/>
          <p:nvPr/>
        </p:nvSpPr>
        <p:spPr>
          <a:xfrm>
            <a:off x="6400800" y="2148840"/>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eFG%</a:t>
            </a:r>
            <a:endParaRPr lang="en-US" sz="1400" dirty="0"/>
          </a:p>
        </p:txBody>
      </p:sp>
      <p:sp>
        <p:nvSpPr>
          <p:cNvPr id="13" name="Text 11"/>
          <p:cNvSpPr txBox="1"/>
          <p:nvPr/>
        </p:nvSpPr>
        <p:spPr>
          <a:xfrm>
            <a:off x="9509760" y="2148840"/>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55.1%</a:t>
            </a:r>
            <a:endParaRPr lang="en-US" sz="1500" dirty="0"/>
          </a:p>
        </p:txBody>
      </p:sp>
      <p:sp>
        <p:nvSpPr>
          <p:cNvPr id="14" name="Text 12"/>
          <p:cNvSpPr txBox="1"/>
          <p:nvPr/>
        </p:nvSpPr>
        <p:spPr>
          <a:xfrm>
            <a:off x="6400800" y="2807208"/>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Turnover rate</a:t>
            </a:r>
            <a:endParaRPr lang="en-US" sz="1400" dirty="0"/>
          </a:p>
        </p:txBody>
      </p:sp>
      <p:sp>
        <p:nvSpPr>
          <p:cNvPr id="15" name="Text 13"/>
          <p:cNvSpPr txBox="1"/>
          <p:nvPr/>
        </p:nvSpPr>
        <p:spPr>
          <a:xfrm>
            <a:off x="9509760" y="2807208"/>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13.8%</a:t>
            </a:r>
            <a:endParaRPr lang="en-US" sz="1500" dirty="0"/>
          </a:p>
        </p:txBody>
      </p:sp>
      <p:sp>
        <p:nvSpPr>
          <p:cNvPr id="16" name="Text 14"/>
          <p:cNvSpPr txBox="1"/>
          <p:nvPr/>
        </p:nvSpPr>
        <p:spPr>
          <a:xfrm>
            <a:off x="6400800" y="3465576"/>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Offensive rebound rate</a:t>
            </a:r>
            <a:endParaRPr lang="en-US" sz="1400" dirty="0"/>
          </a:p>
        </p:txBody>
      </p:sp>
      <p:sp>
        <p:nvSpPr>
          <p:cNvPr id="17" name="Text 15"/>
          <p:cNvSpPr txBox="1"/>
          <p:nvPr/>
        </p:nvSpPr>
        <p:spPr>
          <a:xfrm>
            <a:off x="9509760" y="3465576"/>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21.3%</a:t>
            </a:r>
            <a:endParaRPr lang="en-US" sz="1500" dirty="0"/>
          </a:p>
        </p:txBody>
      </p:sp>
      <p:sp>
        <p:nvSpPr>
          <p:cNvPr id="18" name="Text 16"/>
          <p:cNvSpPr txBox="1"/>
          <p:nvPr/>
        </p:nvSpPr>
        <p:spPr>
          <a:xfrm>
            <a:off x="6400800" y="4123944"/>
            <a:ext cx="3108960" cy="54864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Free throw rate</a:t>
            </a:r>
            <a:endParaRPr lang="en-US" sz="1400" dirty="0"/>
          </a:p>
        </p:txBody>
      </p:sp>
      <p:sp>
        <p:nvSpPr>
          <p:cNvPr id="19" name="Text 17"/>
          <p:cNvSpPr txBox="1"/>
          <p:nvPr/>
        </p:nvSpPr>
        <p:spPr>
          <a:xfrm>
            <a:off x="9509760" y="4123944"/>
            <a:ext cx="23774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23.3%</a:t>
            </a:r>
            <a:endParaRPr lang="en-US" sz="1500" dirty="0"/>
          </a:p>
        </p:txBody>
      </p:sp>
      <p:sp>
        <p:nvSpPr>
          <p:cNvPr id="20" name="Text 1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fourfactors(Tbox, Obox), 2017-18 NBA season, BasketballAnalyzeR. No single factor made this team -- the combination did.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All 30 Teams, Four Panels at Once</a:t>
            </a:r>
            <a:endParaRPr lang="en-US" sz="2800" dirty="0"/>
          </a:p>
        </p:txBody>
      </p:sp>
      <p:pic>
        <p:nvPicPr>
          <p:cNvPr id="4" name="Image 0" descr="module2_four_factors_plot.png">    </p:cNvPr>
          <p:cNvPicPr>
            <a:picLocks noChangeAspect="1"/>
          </p:cNvPicPr>
          <p:nvPr/>
        </p:nvPicPr>
        <p:blipFill>
          <a:blip r:embed="rId1"/>
          <a:stretch>
            <a:fillRect/>
          </a:stretch>
        </p:blipFill>
        <p:spPr>
          <a:xfrm>
            <a:off x="1051560" y="1691640"/>
            <a:ext cx="10058400" cy="448056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plot(FF), BasketballAnalyzeR's built-in Four Factors chart. Data: fourfactors(Tbox, Obox), 2017-18 NBA season.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GAME ANALYSIS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Reading Why a Team Won or Lost</a:t>
            </a:r>
            <a:endParaRPr lang="en-US" sz="30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Reading a team's real data to explain what actually happened, not just reporting the final score.</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Pace, ratings, and the Four Factors are the standard toolkit NBA front offices and broadcast analysts use to explain a team's season, one possession-based number at a time, rather than pointing at the scoreboard alone. Module 6 goes further, into event-level and clutch-time game analysis.</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Oliver, D. (2004). Basketball on Paper. Potomac Books.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 (5 MIN)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the Four-Panel Chart Yourself</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plot(FF) chart.</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Pick one team and find it in all four panels.</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In one sentence, describe that team's identity: fast or slow, efficient or not, strong or weak on the boards.</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3. Does your one-sentence identity match their actual win total?</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(10 MIN)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Broadcast Analyst vs. a Front-Office Analyst</a:t>
            </a:r>
            <a:endParaRPr lang="en-US" sz="2600" dirty="0"/>
          </a:p>
        </p:txBody>
      </p:sp>
      <p:sp>
        <p:nvSpPr>
          <p:cNvPr id="4" name="Shape 2"/>
          <p:cNvSpPr/>
          <p:nvPr/>
        </p:nvSpPr>
        <p:spPr>
          <a:xfrm>
            <a:off x="548640" y="2103120"/>
            <a:ext cx="5362956" cy="2834640"/>
          </a:xfrm>
          <a:prstGeom prst="roundRect">
            <a:avLst>
              <a:gd name="adj" fmla="val 193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Broadcast Analyst</a:t>
            </a:r>
            <a:endParaRPr lang="en-US" sz="1500" dirty="0"/>
          </a:p>
        </p:txBody>
      </p:sp>
      <p:sp>
        <p:nvSpPr>
          <p:cNvPr id="6" name="Text 4"/>
          <p:cNvSpPr txBox="1"/>
          <p:nvPr/>
        </p:nvSpPr>
        <p:spPr>
          <a:xfrm>
            <a:off x="822960"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Has one game, live, and needs a number the audience can understand in seconds. Which of today's numbers works for that, and which doesn't?</a:t>
            </a:r>
            <a:endParaRPr lang="en-US" sz="1400" dirty="0"/>
          </a:p>
        </p:txBody>
      </p:sp>
      <p:sp>
        <p:nvSpPr>
          <p:cNvPr id="7" name="Shape 5"/>
          <p:cNvSpPr/>
          <p:nvPr/>
        </p:nvSpPr>
        <p:spPr>
          <a:xfrm>
            <a:off x="6277356" y="2103120"/>
            <a:ext cx="5362956" cy="2834640"/>
          </a:xfrm>
          <a:prstGeom prst="roundRect">
            <a:avLst>
              <a:gd name="adj" fmla="val 1935"/>
            </a:avLst>
          </a:prstGeom>
          <a:solidFill>
            <a:srgbClr val="EDF1F7"/>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Front-Office Analyst</a:t>
            </a:r>
            <a:endParaRPr lang="en-US" sz="1500" dirty="0"/>
          </a:p>
        </p:txBody>
      </p:sp>
      <p:sp>
        <p:nvSpPr>
          <p:cNvPr id="9" name="Text 7"/>
          <p:cNvSpPr txBox="1"/>
          <p:nvPr/>
        </p:nvSpPr>
        <p:spPr>
          <a:xfrm>
            <a:off x="6551676"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Has a full season of data and needs to explain why a trade or lineup change would help. Which of today's numbers works best for that, and why?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Everything, Together</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Walked one real team (Houston Rockets) through pace, ratings, and all four factors, then saw the whole league at once in a single chart.</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3 moves from single-number summaries to visualizing entire team and player profiles side by side.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Pace and ratings put every team's offense and defense on the same, fair footing.</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Net rating (ORtg minus DRtg) predicts wins far better than any single factor -- 0.96 versus 0.77 for shooting alone, in this real season.</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Dean Oliver's Four Factors break performance into shooting, turnovers, rebounding, and free throw rate -- but his original weights do not always match a given season's real data, and that's worth checking, not assuming.</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Every number in this module came from fourfactors(Tbox, Obox), reproducible by anyone who runs the script.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Basketball Data Science, Ch. 2 (the second half, on comparison plots and visualizing team and player profiles).</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2 (Four Factors and team ratings), the practice questions, and the Module 2 quiz on D2L.</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P., &amp; Manisera, M. (2020). Basketball Data Science: With Applications in R, Ch. 2. Chapman &amp; Hall/CRC.</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Oliver, D. (2004). Basketball on Paper: Rules and Tools for Performance Analysis. Potomac Books.</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BasketballAnalyzeR (R package), fourfactors() function. Zuccolotto, Manisera &amp; Sandri. CRAN.</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Wikipedia contributors. Three-point revolution. Background on NBA pace and shot-selection trends.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03</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Visualizing Team and Player Profiles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2026-09-18T15:59:34Z</dcterms:created>
  <dcterms:modified xsi:type="dcterms:W3CDTF">2026-09-18T15:59:34Z</dcterms:modified>
</cp:coreProperties>
</file>